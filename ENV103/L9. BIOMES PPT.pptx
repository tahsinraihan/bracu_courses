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7.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8.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28"/>
  </p:notesMasterIdLst>
  <p:handoutMasterIdLst>
    <p:handoutMasterId r:id="rId29"/>
  </p:handoutMasterIdLst>
  <p:sldIdLst>
    <p:sldId id="264" r:id="rId2"/>
    <p:sldId id="273" r:id="rId3"/>
    <p:sldId id="279" r:id="rId4"/>
    <p:sldId id="260" r:id="rId5"/>
    <p:sldId id="261" r:id="rId6"/>
    <p:sldId id="272" r:id="rId7"/>
    <p:sldId id="289" r:id="rId8"/>
    <p:sldId id="290" r:id="rId9"/>
    <p:sldId id="267" r:id="rId10"/>
    <p:sldId id="266" r:id="rId11"/>
    <p:sldId id="283" r:id="rId12"/>
    <p:sldId id="291" r:id="rId13"/>
    <p:sldId id="292" r:id="rId14"/>
    <p:sldId id="296" r:id="rId15"/>
    <p:sldId id="293" r:id="rId16"/>
    <p:sldId id="294" r:id="rId17"/>
    <p:sldId id="295" r:id="rId18"/>
    <p:sldId id="275" r:id="rId19"/>
    <p:sldId id="280" r:id="rId20"/>
    <p:sldId id="277" r:id="rId21"/>
    <p:sldId id="263" r:id="rId22"/>
    <p:sldId id="278" r:id="rId23"/>
    <p:sldId id="297" r:id="rId24"/>
    <p:sldId id="286" r:id="rId25"/>
    <p:sldId id="287" r:id="rId26"/>
    <p:sldId id="298" r:id="rId27"/>
  </p:sldIdLst>
  <p:sldSz cx="9144000" cy="6858000" type="screen4x3"/>
  <p:notesSz cx="6881813"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5" autoAdjust="0"/>
    <p:restoredTop sz="94660"/>
  </p:normalViewPr>
  <p:slideViewPr>
    <p:cSldViewPr>
      <p:cViewPr>
        <p:scale>
          <a:sx n="70" d="100"/>
          <a:sy n="70" d="100"/>
        </p:scale>
        <p:origin x="1128"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97313" y="0"/>
            <a:ext cx="2982912" cy="465138"/>
          </a:xfrm>
          <a:prstGeom prst="rect">
            <a:avLst/>
          </a:prstGeom>
        </p:spPr>
        <p:txBody>
          <a:bodyPr vert="horz" lIns="91440" tIns="45720" rIns="91440" bIns="45720" rtlCol="0"/>
          <a:lstStyle>
            <a:lvl1pPr algn="r">
              <a:defRPr sz="1200"/>
            </a:lvl1pPr>
          </a:lstStyle>
          <a:p>
            <a:fld id="{C8ECF0FB-799B-46EA-A835-C9D7C2C4F312}" type="datetimeFigureOut">
              <a:rPr lang="en-US" smtClean="0"/>
              <a:pPr/>
              <a:t>3/2/2022</a:t>
            </a:fld>
            <a:endParaRPr lang="en-US"/>
          </a:p>
        </p:txBody>
      </p:sp>
      <p:sp>
        <p:nvSpPr>
          <p:cNvPr id="4" name="Footer Placeholder 3"/>
          <p:cNvSpPr>
            <a:spLocks noGrp="1"/>
          </p:cNvSpPr>
          <p:nvPr>
            <p:ph type="ftr" sz="quarter" idx="2"/>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97313" y="8829675"/>
            <a:ext cx="2982912" cy="465138"/>
          </a:xfrm>
          <a:prstGeom prst="rect">
            <a:avLst/>
          </a:prstGeom>
        </p:spPr>
        <p:txBody>
          <a:bodyPr vert="horz" lIns="91440" tIns="45720" rIns="91440" bIns="45720" rtlCol="0" anchor="b"/>
          <a:lstStyle>
            <a:lvl1pPr algn="r">
              <a:defRPr sz="1200"/>
            </a:lvl1pPr>
          </a:lstStyle>
          <a:p>
            <a:fld id="{A7BA0443-C80F-4595-B112-8B8C0A3F7E0B}" type="slidenum">
              <a:rPr lang="en-US" smtClean="0"/>
              <a:pPr/>
              <a:t>‹#›</a:t>
            </a:fld>
            <a:endParaRPr lang="en-US"/>
          </a:p>
        </p:txBody>
      </p:sp>
    </p:spTree>
    <p:extLst>
      <p:ext uri="{BB962C8B-B14F-4D97-AF65-F5344CB8AC3E}">
        <p14:creationId xmlns:p14="http://schemas.microsoft.com/office/powerpoint/2010/main" val="676615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97313" y="0"/>
            <a:ext cx="2982912" cy="465138"/>
          </a:xfrm>
          <a:prstGeom prst="rect">
            <a:avLst/>
          </a:prstGeom>
        </p:spPr>
        <p:txBody>
          <a:bodyPr vert="horz" lIns="91440" tIns="45720" rIns="91440" bIns="45720" rtlCol="0"/>
          <a:lstStyle>
            <a:lvl1pPr algn="r">
              <a:defRPr sz="1200"/>
            </a:lvl1pPr>
          </a:lstStyle>
          <a:p>
            <a:fld id="{43A56063-5998-4D81-8820-D47268AFD437}" type="datetimeFigureOut">
              <a:rPr lang="en-US" smtClean="0"/>
              <a:pPr/>
              <a:t>3/2/2022</a:t>
            </a:fld>
            <a:endParaRPr lang="en-US"/>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8975" y="4416425"/>
            <a:ext cx="5505450" cy="41830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97313" y="8829675"/>
            <a:ext cx="2982912" cy="465138"/>
          </a:xfrm>
          <a:prstGeom prst="rect">
            <a:avLst/>
          </a:prstGeom>
        </p:spPr>
        <p:txBody>
          <a:bodyPr vert="horz" lIns="91440" tIns="45720" rIns="91440" bIns="45720" rtlCol="0" anchor="b"/>
          <a:lstStyle>
            <a:lvl1pPr algn="r">
              <a:defRPr sz="1200"/>
            </a:lvl1pPr>
          </a:lstStyle>
          <a:p>
            <a:fld id="{AC87D4BA-5DC1-4F07-B729-34A8B475F75B}" type="slidenum">
              <a:rPr lang="en-US" smtClean="0"/>
              <a:pPr/>
              <a:t>‹#›</a:t>
            </a:fld>
            <a:endParaRPr lang="en-US"/>
          </a:p>
        </p:txBody>
      </p:sp>
    </p:spTree>
    <p:extLst>
      <p:ext uri="{BB962C8B-B14F-4D97-AF65-F5344CB8AC3E}">
        <p14:creationId xmlns:p14="http://schemas.microsoft.com/office/powerpoint/2010/main" val="2448748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87D4BA-5DC1-4F07-B729-34A8B475F75B}" type="slidenum">
              <a:rPr lang="en-US" smtClean="0"/>
              <a:pPr/>
              <a:t>1</a:t>
            </a:fld>
            <a:endParaRPr lang="en-US"/>
          </a:p>
        </p:txBody>
      </p:sp>
    </p:spTree>
    <p:extLst>
      <p:ext uri="{BB962C8B-B14F-4D97-AF65-F5344CB8AC3E}">
        <p14:creationId xmlns:p14="http://schemas.microsoft.com/office/powerpoint/2010/main" val="3972443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1C35B60D-A801-4311-ACE7-F12FB99B21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86E6721-6693-4F98-9111-9CA8CDBD9675}" type="slidenum">
              <a:rPr lang="en-US" altLang="en-US" sz="1200"/>
              <a:pPr/>
              <a:t>4</a:t>
            </a:fld>
            <a:endParaRPr lang="en-US" altLang="en-US" sz="1200"/>
          </a:p>
        </p:txBody>
      </p:sp>
      <p:sp>
        <p:nvSpPr>
          <p:cNvPr id="14339" name="Rectangle 2">
            <a:extLst>
              <a:ext uri="{FF2B5EF4-FFF2-40B4-BE49-F238E27FC236}">
                <a16:creationId xmlns:a16="http://schemas.microsoft.com/office/drawing/2014/main" id="{CFE1D1C0-6BBC-4E66-A09B-D54A85184639}"/>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424FC98E-7B51-482B-9FC4-E3C114C180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774FF731-9D9E-49B3-801A-8E0059BCA3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282DBC6-4EFF-4E57-B4B4-2F8C42574478}" type="slidenum">
              <a:rPr lang="en-US" altLang="en-US" sz="1200"/>
              <a:pPr/>
              <a:t>5</a:t>
            </a:fld>
            <a:endParaRPr lang="en-US" altLang="en-US" sz="1200"/>
          </a:p>
        </p:txBody>
      </p:sp>
      <p:sp>
        <p:nvSpPr>
          <p:cNvPr id="16387" name="Rectangle 2">
            <a:extLst>
              <a:ext uri="{FF2B5EF4-FFF2-40B4-BE49-F238E27FC236}">
                <a16:creationId xmlns:a16="http://schemas.microsoft.com/office/drawing/2014/main" id="{A52848EE-F7A5-4AD2-8398-56F3156157D2}"/>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95543621-A795-4CAD-ABB5-04ACC8946E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1F1529A1-D22D-4FFD-96BA-BBDA1C112A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E2C8190-FF35-4799-82D2-B72A5680B214}" type="slidenum">
              <a:rPr lang="en-US" altLang="en-US" sz="1200"/>
              <a:pPr/>
              <a:t>9</a:t>
            </a:fld>
            <a:endParaRPr lang="en-US" altLang="en-US" sz="1200"/>
          </a:p>
        </p:txBody>
      </p:sp>
      <p:sp>
        <p:nvSpPr>
          <p:cNvPr id="21507" name="Rectangle 2">
            <a:extLst>
              <a:ext uri="{FF2B5EF4-FFF2-40B4-BE49-F238E27FC236}">
                <a16:creationId xmlns:a16="http://schemas.microsoft.com/office/drawing/2014/main" id="{2A616F4A-E4FD-423C-8A12-1C78F88E23F7}"/>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14C5E966-C7C3-4B9C-BDFC-7BC847C6F6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5885A753-FEEE-4CE7-A4E6-9A817DB24B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90759413-77E4-4CCF-A80F-D163B5C339DA}" type="slidenum">
              <a:rPr lang="en-US" altLang="en-US" sz="1200"/>
              <a:pPr/>
              <a:t>10</a:t>
            </a:fld>
            <a:endParaRPr lang="en-US" altLang="en-US" sz="1200"/>
          </a:p>
        </p:txBody>
      </p:sp>
      <p:sp>
        <p:nvSpPr>
          <p:cNvPr id="23555" name="Rectangle 2">
            <a:extLst>
              <a:ext uri="{FF2B5EF4-FFF2-40B4-BE49-F238E27FC236}">
                <a16:creationId xmlns:a16="http://schemas.microsoft.com/office/drawing/2014/main" id="{EC7E6471-7798-49C5-B246-92B88F05C219}"/>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7219882F-A554-4828-86A2-373A58185F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2622B2A0-B97A-4390-89F8-E1939832CC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B0C33EE1-DA67-4E3F-A190-2D5E43582C02}" type="slidenum">
              <a:rPr lang="en-US" altLang="en-US" sz="1200"/>
              <a:pPr/>
              <a:t>11</a:t>
            </a:fld>
            <a:endParaRPr lang="en-US" altLang="en-US" sz="1200"/>
          </a:p>
        </p:txBody>
      </p:sp>
      <p:sp>
        <p:nvSpPr>
          <p:cNvPr id="25603" name="Rectangle 2">
            <a:extLst>
              <a:ext uri="{FF2B5EF4-FFF2-40B4-BE49-F238E27FC236}">
                <a16:creationId xmlns:a16="http://schemas.microsoft.com/office/drawing/2014/main" id="{9D1D4A09-9F3A-4718-9F92-71DB8B926AA0}"/>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A3DA1441-1918-46E6-A604-3005A5B5AB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F22FE562-B438-483B-BDEC-F32E1DE7B2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C7F53D8-9FD7-4FE3-9955-336403831712}" type="slidenum">
              <a:rPr lang="en-US" altLang="en-US" sz="1200"/>
              <a:pPr/>
              <a:t>21</a:t>
            </a:fld>
            <a:endParaRPr lang="en-US" altLang="en-US" sz="1200"/>
          </a:p>
        </p:txBody>
      </p:sp>
      <p:sp>
        <p:nvSpPr>
          <p:cNvPr id="35843" name="Rectangle 2">
            <a:extLst>
              <a:ext uri="{FF2B5EF4-FFF2-40B4-BE49-F238E27FC236}">
                <a16:creationId xmlns:a16="http://schemas.microsoft.com/office/drawing/2014/main" id="{FBA00B36-0234-4F08-A92B-4E3680E19115}"/>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FE700921-CE19-4853-8198-C64E4581C3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646075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7468E237-2C5B-42C2-A5C0-830F008C78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754063F-9783-417C-B982-2B559464575D}" type="slidenum">
              <a:rPr lang="en-US" altLang="en-US" sz="1200"/>
              <a:pPr/>
              <a:t>23</a:t>
            </a:fld>
            <a:endParaRPr lang="en-US" altLang="en-US" sz="1200"/>
          </a:p>
        </p:txBody>
      </p:sp>
      <p:sp>
        <p:nvSpPr>
          <p:cNvPr id="38915" name="Rectangle 2">
            <a:extLst>
              <a:ext uri="{FF2B5EF4-FFF2-40B4-BE49-F238E27FC236}">
                <a16:creationId xmlns:a16="http://schemas.microsoft.com/office/drawing/2014/main" id="{900BEB88-A6E4-4271-8D93-444EFCFD2FF3}"/>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DFAF6329-AB82-4909-BDAD-C61B11B92B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243941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1D8BD707-D9CF-40AE-B4C6-C98DA3205C09}" type="datetimeFigureOut">
              <a:rPr lang="en-US" smtClean="0"/>
              <a:pPr/>
              <a:t>3/2/2022</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B6F15528-21DE-4FAA-801E-634DDDAF4B2B}" type="slidenum">
              <a:rPr lang="en-US" smtClean="0"/>
              <a:pPr/>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3558786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1D8BD707-D9CF-40AE-B4C6-C98DA3205C09}" type="datetimeFigureOut">
              <a:rPr lang="en-US" smtClean="0"/>
              <a:pPr/>
              <a:t>3/2/2022</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B6F15528-21DE-4FAA-801E-634DDDAF4B2B}" type="slidenum">
              <a:rPr lang="en-US" smtClean="0"/>
              <a:pPr/>
              <a:t>‹#›</a:t>
            </a:fld>
            <a:endParaRPr lang="en-US"/>
          </a:p>
        </p:txBody>
      </p:sp>
      <p:pic>
        <p:nvPicPr>
          <p:cNvPr id="8" name="Picture 7" descr="A picture containing drawing, shirt&#10;&#10;Description automatically generated">
            <a:extLst>
              <a:ext uri="{FF2B5EF4-FFF2-40B4-BE49-F238E27FC236}">
                <a16:creationId xmlns:a16="http://schemas.microsoft.com/office/drawing/2014/main" id="{0F306AE3-F028-4200-B8D2-2C8359AA75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050" y="5981700"/>
            <a:ext cx="876300" cy="876300"/>
          </a:xfrm>
          <a:prstGeom prst="rect">
            <a:avLst/>
          </a:prstGeom>
        </p:spPr>
      </p:pic>
      <p:sp>
        <p:nvSpPr>
          <p:cNvPr id="9" name="TextBox 8">
            <a:extLst>
              <a:ext uri="{FF2B5EF4-FFF2-40B4-BE49-F238E27FC236}">
                <a16:creationId xmlns:a16="http://schemas.microsoft.com/office/drawing/2014/main" id="{7A9FCBA1-3AA0-420E-91C7-1BFEE49F484A}"/>
              </a:ext>
            </a:extLst>
          </p:cNvPr>
          <p:cNvSpPr txBox="1"/>
          <p:nvPr userDrawn="1"/>
        </p:nvSpPr>
        <p:spPr>
          <a:xfrm>
            <a:off x="8001000" y="76200"/>
            <a:ext cx="1066800" cy="381000"/>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t>ENV-103</a:t>
            </a:r>
          </a:p>
        </p:txBody>
      </p:sp>
    </p:spTree>
    <p:extLst>
      <p:ext uri="{BB962C8B-B14F-4D97-AF65-F5344CB8AC3E}">
        <p14:creationId xmlns:p14="http://schemas.microsoft.com/office/powerpoint/2010/main" val="1844462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91579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3/2/2022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16068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3/2/2022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13261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3/2/2022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55310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75598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720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3/2/2022</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05952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22941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378453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0996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67437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983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281330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43406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5062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D8BD707-D9CF-40AE-B4C6-C98DA3205C09}" type="datetimeFigureOut">
              <a:rPr lang="en-US" smtClean="0"/>
              <a:pPr/>
              <a:t>3/2/2022</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20480779"/>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3.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4.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8.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9.xml"/><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10.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hyperlink" Target="http://www.businessdictionary.com/definition/clearing.html" TargetMode="Externa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20.xml"/><Relationship Id="rId4" Type="http://schemas.openxmlformats.org/officeDocument/2006/relationships/image" Target="../media/image11.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22.xml"/><Relationship Id="rId4" Type="http://schemas.openxmlformats.org/officeDocument/2006/relationships/image" Target="../media/image12.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79" name="Group 46">
            <a:extLst>
              <a:ext uri="{FF2B5EF4-FFF2-40B4-BE49-F238E27FC236}">
                <a16:creationId xmlns:a16="http://schemas.microsoft.com/office/drawing/2014/main" id="{E9D059B6-ADD8-488A-B346-63289E90D1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48" name="Freeform 6">
              <a:extLst>
                <a:ext uri="{FF2B5EF4-FFF2-40B4-BE49-F238E27FC236}">
                  <a16:creationId xmlns:a16="http://schemas.microsoft.com/office/drawing/2014/main" id="{F69B42B4-BC82-4495-A6F9-A28167B56A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49" name="Freeform 7">
              <a:extLst>
                <a:ext uri="{FF2B5EF4-FFF2-40B4-BE49-F238E27FC236}">
                  <a16:creationId xmlns:a16="http://schemas.microsoft.com/office/drawing/2014/main" id="{83CC168C-2AD4-4FFB-9F25-420ED6514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50" name="Freeform 9">
              <a:extLst>
                <a:ext uri="{FF2B5EF4-FFF2-40B4-BE49-F238E27FC236}">
                  <a16:creationId xmlns:a16="http://schemas.microsoft.com/office/drawing/2014/main" id="{6C9F369A-6158-4AE8-BA04-138A9DFFA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51" name="Freeform 10">
              <a:extLst>
                <a:ext uri="{FF2B5EF4-FFF2-40B4-BE49-F238E27FC236}">
                  <a16:creationId xmlns:a16="http://schemas.microsoft.com/office/drawing/2014/main" id="{FC7B1DF4-AD98-42A8-820F-667A3DCC4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52" name="Freeform 11">
              <a:extLst>
                <a:ext uri="{FF2B5EF4-FFF2-40B4-BE49-F238E27FC236}">
                  <a16:creationId xmlns:a16="http://schemas.microsoft.com/office/drawing/2014/main" id="{61C58B74-3656-4FD5-AC47-EE3A59EBB8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53" name="Freeform 12">
              <a:extLst>
                <a:ext uri="{FF2B5EF4-FFF2-40B4-BE49-F238E27FC236}">
                  <a16:creationId xmlns:a16="http://schemas.microsoft.com/office/drawing/2014/main" id="{8B349A01-D803-4A18-B608-47BFCED43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useBgFill="1">
        <p:nvSpPr>
          <p:cNvPr id="80" name="Rectangle 54">
            <a:extLst>
              <a:ext uri="{FF2B5EF4-FFF2-40B4-BE49-F238E27FC236}">
                <a16:creationId xmlns:a16="http://schemas.microsoft.com/office/drawing/2014/main" id="{9CD9ACDE-8038-488C-AB0C-5FD1A373C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DA6C2449-5F66-4753-AAA3-4AD81E57A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554794"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pSp>
        <p:nvGrpSpPr>
          <p:cNvPr id="59" name="Group 58">
            <a:extLst>
              <a:ext uri="{FF2B5EF4-FFF2-40B4-BE49-F238E27FC236}">
                <a16:creationId xmlns:a16="http://schemas.microsoft.com/office/drawing/2014/main" id="{329F7DAB-18F4-436A-A0D8-61013DEB6F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6068" y="1"/>
            <a:ext cx="2443597" cy="6858000"/>
            <a:chOff x="141424" y="1"/>
            <a:chExt cx="3258129" cy="6858000"/>
          </a:xfrm>
        </p:grpSpPr>
        <p:sp>
          <p:nvSpPr>
            <p:cNvPr id="60" name="Freeform 6">
              <a:extLst>
                <a:ext uri="{FF2B5EF4-FFF2-40B4-BE49-F238E27FC236}">
                  <a16:creationId xmlns:a16="http://schemas.microsoft.com/office/drawing/2014/main" id="{AA2A446D-5444-4251-A0C1-1C33937BB1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95233" y="1"/>
              <a:ext cx="858884" cy="2780957"/>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sp>
        <p:sp>
          <p:nvSpPr>
            <p:cNvPr id="61" name="Freeform 7">
              <a:extLst>
                <a:ext uri="{FF2B5EF4-FFF2-40B4-BE49-F238E27FC236}">
                  <a16:creationId xmlns:a16="http://schemas.microsoft.com/office/drawing/2014/main" id="{E013EF53-9F7F-40D2-9E88-917DCF6430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1424" y="1"/>
              <a:ext cx="835810" cy="2671495"/>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62" name="Freeform 12">
              <a:extLst>
                <a:ext uri="{FF2B5EF4-FFF2-40B4-BE49-F238E27FC236}">
                  <a16:creationId xmlns:a16="http://schemas.microsoft.com/office/drawing/2014/main" id="{210AE139-2815-4F3D-A56C-2608DB3D77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1424" y="2585830"/>
              <a:ext cx="2175413" cy="4272171"/>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63" name="Freeform 13">
              <a:extLst>
                <a:ext uri="{FF2B5EF4-FFF2-40B4-BE49-F238E27FC236}">
                  <a16:creationId xmlns:a16="http://schemas.microsoft.com/office/drawing/2014/main" id="{7C52B438-B53F-4BCB-A9A8-183E8815A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99078" y="2695292"/>
              <a:ext cx="2690743" cy="4162709"/>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64" name="Freeform: Shape 63">
              <a:extLst>
                <a:ext uri="{FF2B5EF4-FFF2-40B4-BE49-F238E27FC236}">
                  <a16:creationId xmlns:a16="http://schemas.microsoft.com/office/drawing/2014/main" id="{557375C8-AF41-41DF-8F04-72401D4B9E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95233" y="2690532"/>
              <a:ext cx="2904320" cy="4167469"/>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sp>
        <p:sp>
          <p:nvSpPr>
            <p:cNvPr id="65" name="Freeform 15">
              <a:extLst>
                <a:ext uri="{FF2B5EF4-FFF2-40B4-BE49-F238E27FC236}">
                  <a16:creationId xmlns:a16="http://schemas.microsoft.com/office/drawing/2014/main" id="{1B37C1D7-483C-4CD7-85AB-F4EEA6E573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1424" y="2581071"/>
              <a:ext cx="2894568" cy="427693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pic>
        <p:nvPicPr>
          <p:cNvPr id="3" name="Picture 2" descr="A picture containing drawing, shirt&#10;&#10;Description automatically generated">
            <a:extLst>
              <a:ext uri="{FF2B5EF4-FFF2-40B4-BE49-F238E27FC236}">
                <a16:creationId xmlns:a16="http://schemas.microsoft.com/office/drawing/2014/main" id="{97CD00F5-D549-4417-A28E-565ECE44EE1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24799" y="5619948"/>
            <a:ext cx="1238051" cy="1238051"/>
          </a:xfrm>
          <a:prstGeom prst="rect">
            <a:avLst/>
          </a:prstGeom>
        </p:spPr>
      </p:pic>
      <p:sp>
        <p:nvSpPr>
          <p:cNvPr id="5" name="Rectangle: Rounded Corners 4">
            <a:extLst>
              <a:ext uri="{FF2B5EF4-FFF2-40B4-BE49-F238E27FC236}">
                <a16:creationId xmlns:a16="http://schemas.microsoft.com/office/drawing/2014/main" id="{68DBE504-36DD-4DF3-BFA6-D020600871BA}"/>
              </a:ext>
            </a:extLst>
          </p:cNvPr>
          <p:cNvSpPr/>
          <p:nvPr/>
        </p:nvSpPr>
        <p:spPr>
          <a:xfrm>
            <a:off x="7428157" y="205760"/>
            <a:ext cx="1609775" cy="457200"/>
          </a:xfrm>
          <a:prstGeom prst="roundRect">
            <a:avLst>
              <a:gd name="adj" fmla="val 50000"/>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ENV 103</a:t>
            </a:r>
          </a:p>
        </p:txBody>
      </p:sp>
      <p:sp>
        <p:nvSpPr>
          <p:cNvPr id="23" name="Rectangle 2">
            <a:extLst>
              <a:ext uri="{FF2B5EF4-FFF2-40B4-BE49-F238E27FC236}">
                <a16:creationId xmlns:a16="http://schemas.microsoft.com/office/drawing/2014/main" id="{77913868-540B-49F7-8167-11A8876FCCE4}"/>
              </a:ext>
            </a:extLst>
          </p:cNvPr>
          <p:cNvSpPr txBox="1">
            <a:spLocks noChangeArrowheads="1"/>
          </p:cNvSpPr>
          <p:nvPr/>
        </p:nvSpPr>
        <p:spPr>
          <a:xfrm>
            <a:off x="2587816" y="2142490"/>
            <a:ext cx="3849633" cy="732975"/>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defRPr/>
            </a:pPr>
            <a:r>
              <a:rPr lang="en-US" dirty="0">
                <a:solidFill>
                  <a:schemeClr val="tx2">
                    <a:satMod val="130000"/>
                  </a:schemeClr>
                </a:solidFill>
              </a:rPr>
              <a:t>Biomes</a:t>
            </a:r>
          </a:p>
        </p:txBody>
      </p:sp>
      <p:sp>
        <p:nvSpPr>
          <p:cNvPr id="25" name="TextBox 24">
            <a:extLst>
              <a:ext uri="{FF2B5EF4-FFF2-40B4-BE49-F238E27FC236}">
                <a16:creationId xmlns:a16="http://schemas.microsoft.com/office/drawing/2014/main" id="{F171F9F3-8B9E-42E7-A912-08B771B61001}"/>
              </a:ext>
            </a:extLst>
          </p:cNvPr>
          <p:cNvSpPr txBox="1"/>
          <p:nvPr/>
        </p:nvSpPr>
        <p:spPr>
          <a:xfrm>
            <a:off x="2289464" y="3244334"/>
            <a:ext cx="5254336" cy="369332"/>
          </a:xfrm>
          <a:prstGeom prst="rect">
            <a:avLst/>
          </a:prstGeom>
          <a:noFill/>
        </p:spPr>
        <p:txBody>
          <a:bodyPr wrap="square">
            <a:spAutoFit/>
          </a:bodyPr>
          <a:lstStyle/>
          <a:p>
            <a:pPr algn="ctr" eaLnBrk="1" fontAlgn="auto" hangingPunct="1">
              <a:spcAft>
                <a:spcPts val="0"/>
              </a:spcAft>
              <a:buFont typeface="Wingdings 2"/>
              <a:buNone/>
              <a:defRPr/>
            </a:pPr>
            <a:r>
              <a:rPr lang="en-US" dirty="0"/>
              <a:t>Major varieties of world ecosystems</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5">
                                            <p:txEl>
                                              <p:pRg st="0" end="0"/>
                                            </p:txEl>
                                          </p:spTgt>
                                        </p:tgtEl>
                                        <p:attrNameLst>
                                          <p:attrName>style.visibility</p:attrName>
                                        </p:attrNameLst>
                                      </p:cBhvr>
                                      <p:to>
                                        <p:strVal val="visible"/>
                                      </p:to>
                                    </p:set>
                                    <p:animEffect transition="in" filter="fade">
                                      <p:cBhvr>
                                        <p:cTn id="14" dur="1000"/>
                                        <p:tgtEl>
                                          <p:spTgt spid="25">
                                            <p:txEl>
                                              <p:pRg st="0" end="0"/>
                                            </p:txEl>
                                          </p:spTgt>
                                        </p:tgtEl>
                                      </p:cBhvr>
                                    </p:animEffect>
                                    <p:anim calcmode="lin" valueType="num">
                                      <p:cBhvr>
                                        <p:cTn id="15" dur="1000" fill="hold"/>
                                        <p:tgtEl>
                                          <p:spTgt spid="2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CE898CC8-2E42-47BC-8237-BEF1C9943D43}"/>
              </a:ext>
            </a:extLst>
          </p:cNvPr>
          <p:cNvSpPr>
            <a:spLocks noGrp="1"/>
          </p:cNvSpPr>
          <p:nvPr>
            <p:ph idx="1"/>
          </p:nvPr>
        </p:nvSpPr>
        <p:spPr>
          <a:xfrm>
            <a:off x="685800" y="304800"/>
            <a:ext cx="8001000" cy="6248400"/>
          </a:xfrm>
        </p:spPr>
        <p:txBody>
          <a:bodyPr/>
          <a:lstStyle/>
          <a:p>
            <a:pPr eaLnBrk="1" hangingPunct="1">
              <a:lnSpc>
                <a:spcPct val="80000"/>
              </a:lnSpc>
              <a:buFont typeface="Wingdings" panose="05000000000000000000" pitchFamily="2" charset="2"/>
              <a:buNone/>
            </a:pPr>
            <a:endParaRPr lang="en-US" altLang="en-US" sz="2800" b="1" dirty="0"/>
          </a:p>
          <a:p>
            <a:pPr algn="just" eaLnBrk="1" hangingPunct="1">
              <a:lnSpc>
                <a:spcPct val="80000"/>
              </a:lnSpc>
              <a:buFont typeface="Wingdings" panose="05000000000000000000" pitchFamily="2" charset="2"/>
              <a:buNone/>
            </a:pPr>
            <a:r>
              <a:rPr lang="en-US" altLang="en-US" sz="3100" b="1" dirty="0">
                <a:latin typeface="Garamond" panose="02020404030301010803" pitchFamily="18" charset="0"/>
              </a:rPr>
              <a:t>   </a:t>
            </a:r>
            <a:r>
              <a:rPr lang="en-US" altLang="en-US" b="1" dirty="0">
                <a:latin typeface="Garamond" panose="02020404030301010803" pitchFamily="18" charset="0"/>
              </a:rPr>
              <a:t>Biomes</a:t>
            </a:r>
            <a:r>
              <a:rPr lang="en-US" altLang="en-US" dirty="0">
                <a:latin typeface="Garamond" panose="02020404030301010803" pitchFamily="18" charset="0"/>
              </a:rPr>
              <a:t> are climatically and geographically defined as similar climatic conditions on the Earth, such as communities of plants, animals, and soil organisms, and are often referred to as ecosystems. Some parts of the earth have more or less the same kind of abiotic and biotic factors spread over a large area creating a typical ecosystem over that area. Such major ecosystems are termed as biomes. Biomes are defined by factors such as plant structures (such as trees, shrubs, and grasses), leaf types (such as broadleaf and needle leaf), plant spacing (forest, woodland, savanna), and climate</a:t>
            </a:r>
            <a:r>
              <a:rPr lang="en-US" altLang="en-US" sz="3100" dirty="0">
                <a:latin typeface="Garamond" panose="02020404030301010803" pitchFamily="18" charset="0"/>
              </a:rPr>
              <a:t>.</a:t>
            </a:r>
          </a:p>
        </p:txBody>
      </p:sp>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a:extLst>
              <a:ext uri="{FF2B5EF4-FFF2-40B4-BE49-F238E27FC236}">
                <a16:creationId xmlns:a16="http://schemas.microsoft.com/office/drawing/2014/main" id="{F0F3F722-2467-4832-AA53-E045A329239B}"/>
              </a:ext>
            </a:extLst>
          </p:cNvPr>
          <p:cNvSpPr>
            <a:spLocks noGrp="1"/>
          </p:cNvSpPr>
          <p:nvPr>
            <p:ph idx="1"/>
          </p:nvPr>
        </p:nvSpPr>
        <p:spPr>
          <a:xfrm>
            <a:off x="762000" y="381000"/>
            <a:ext cx="8077200" cy="6172200"/>
          </a:xfrm>
        </p:spPr>
        <p:txBody>
          <a:bodyPr/>
          <a:lstStyle/>
          <a:p>
            <a:pPr algn="just" eaLnBrk="1" hangingPunct="1"/>
            <a:r>
              <a:rPr lang="en-US" altLang="en-US" dirty="0"/>
              <a:t> </a:t>
            </a:r>
            <a:r>
              <a:rPr lang="en-US" altLang="en-US" b="1" dirty="0">
                <a:latin typeface="Garamond" panose="02020404030301010803" pitchFamily="18" charset="0"/>
              </a:rPr>
              <a:t>Biomes:</a:t>
            </a:r>
            <a:r>
              <a:rPr lang="en-US" altLang="en-US" dirty="0">
                <a:latin typeface="Garamond" panose="02020404030301010803" pitchFamily="18" charset="0"/>
              </a:rPr>
              <a:t> ecosystem of life zones, consisting of similar climatic, topographic, soil conditions (abiotic components) and similar biological communities (biotic components).</a:t>
            </a:r>
          </a:p>
          <a:p>
            <a:pPr algn="just" eaLnBrk="1" hangingPunct="1"/>
            <a:r>
              <a:rPr lang="en-US" altLang="en-US" dirty="0">
                <a:latin typeface="Garamond" panose="02020404030301010803" pitchFamily="18" charset="0"/>
              </a:rPr>
              <a:t>Defined first by climate zone, then by major plant type.</a:t>
            </a:r>
          </a:p>
          <a:p>
            <a:pPr lvl="1" algn="just" eaLnBrk="1" hangingPunct="1"/>
            <a:r>
              <a:rPr lang="en-US" altLang="en-US" sz="2400" dirty="0">
                <a:latin typeface="Garamond" panose="02020404030301010803" pitchFamily="18" charset="0"/>
              </a:rPr>
              <a:t>Temperature and precipitation are most important determinants in biome distribution</a:t>
            </a:r>
          </a:p>
          <a:p>
            <a:pPr lvl="1" algn="just" eaLnBrk="1" hangingPunct="1"/>
            <a:r>
              <a:rPr lang="en-US" altLang="en-US" sz="2400" dirty="0">
                <a:latin typeface="Garamond" panose="02020404030301010803" pitchFamily="18" charset="0"/>
              </a:rPr>
              <a:t>Most terrestrial biomes are identified by the dominant plants of their communities</a:t>
            </a:r>
            <a:r>
              <a:rPr lang="en-US" altLang="en-US" sz="3200" dirty="0">
                <a:latin typeface="Garamond" panose="02020404030301010803" pitchFamily="18" charset="0"/>
              </a:rPr>
              <a:t>.</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0242">
                                            <p:txEl>
                                              <p:pRg st="0" end="0"/>
                                            </p:txEl>
                                          </p:spTgt>
                                        </p:tgtEl>
                                        <p:attrNameLst>
                                          <p:attrName>style.visibility</p:attrName>
                                        </p:attrNameLst>
                                      </p:cBhvr>
                                      <p:to>
                                        <p:strVal val="visible"/>
                                      </p:to>
                                    </p:set>
                                    <p:animEffect transition="in" filter="fade">
                                      <p:cBhvr>
                                        <p:cTn id="7" dur="1000"/>
                                        <p:tgtEl>
                                          <p:spTgt spid="10242">
                                            <p:txEl>
                                              <p:pRg st="0" end="0"/>
                                            </p:txEl>
                                          </p:spTgt>
                                        </p:tgtEl>
                                      </p:cBhvr>
                                    </p:animEffect>
                                    <p:anim calcmode="lin" valueType="num">
                                      <p:cBhvr>
                                        <p:cTn id="8" dur="1000" fill="hold"/>
                                        <p:tgtEl>
                                          <p:spTgt spid="1024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24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4" fill="hold" nodeType="clickEffect">
                                  <p:stCondLst>
                                    <p:cond delay="0"/>
                                  </p:stCondLst>
                                  <p:childTnLst>
                                    <p:set>
                                      <p:cBhvr>
                                        <p:cTn id="13" dur="1" fill="hold">
                                          <p:stCondLst>
                                            <p:cond delay="0"/>
                                          </p:stCondLst>
                                        </p:cTn>
                                        <p:tgtEl>
                                          <p:spTgt spid="10242">
                                            <p:txEl>
                                              <p:pRg st="1" end="1"/>
                                            </p:txEl>
                                          </p:spTgt>
                                        </p:tgtEl>
                                        <p:attrNameLst>
                                          <p:attrName>style.visibility</p:attrName>
                                        </p:attrNameLst>
                                      </p:cBhvr>
                                      <p:to>
                                        <p:strVal val="visible"/>
                                      </p:to>
                                    </p:set>
                                    <p:anim calcmode="lin" valueType="num">
                                      <p:cBhvr additive="base">
                                        <p:cTn id="14" dur="500" fill="hold"/>
                                        <p:tgtEl>
                                          <p:spTgt spid="10242">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1024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nodeType="clickEffect">
                                  <p:stCondLst>
                                    <p:cond delay="0"/>
                                  </p:stCondLst>
                                  <p:childTnLst>
                                    <p:set>
                                      <p:cBhvr>
                                        <p:cTn id="19" dur="1" fill="hold">
                                          <p:stCondLst>
                                            <p:cond delay="0"/>
                                          </p:stCondLst>
                                        </p:cTn>
                                        <p:tgtEl>
                                          <p:spTgt spid="10242">
                                            <p:txEl>
                                              <p:pRg st="2" end="2"/>
                                            </p:txEl>
                                          </p:spTgt>
                                        </p:tgtEl>
                                        <p:attrNameLst>
                                          <p:attrName>style.visibility</p:attrName>
                                        </p:attrNameLst>
                                      </p:cBhvr>
                                      <p:to>
                                        <p:strVal val="visible"/>
                                      </p:to>
                                    </p:set>
                                    <p:anim calcmode="lin" valueType="num">
                                      <p:cBhvr additive="base">
                                        <p:cTn id="20" dur="500" fill="hold"/>
                                        <p:tgtEl>
                                          <p:spTgt spid="10242">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024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4" fill="hold" nodeType="clickEffect">
                                  <p:stCondLst>
                                    <p:cond delay="0"/>
                                  </p:stCondLst>
                                  <p:childTnLst>
                                    <p:set>
                                      <p:cBhvr>
                                        <p:cTn id="25" dur="1" fill="hold">
                                          <p:stCondLst>
                                            <p:cond delay="0"/>
                                          </p:stCondLst>
                                        </p:cTn>
                                        <p:tgtEl>
                                          <p:spTgt spid="10242">
                                            <p:txEl>
                                              <p:pRg st="3" end="3"/>
                                            </p:txEl>
                                          </p:spTgt>
                                        </p:tgtEl>
                                        <p:attrNameLst>
                                          <p:attrName>style.visibility</p:attrName>
                                        </p:attrNameLst>
                                      </p:cBhvr>
                                      <p:to>
                                        <p:strVal val="visible"/>
                                      </p:to>
                                    </p:set>
                                    <p:anim calcmode="lin" valueType="num">
                                      <p:cBhvr additive="base">
                                        <p:cTn id="26" dur="500" fill="hold"/>
                                        <p:tgtEl>
                                          <p:spTgt spid="10242">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024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58189E3-F755-4E34-BA3E-2A6771709AC4}"/>
              </a:ext>
            </a:extLst>
          </p:cNvPr>
          <p:cNvSpPr>
            <a:spLocks noGrp="1" noChangeArrowheads="1"/>
          </p:cNvSpPr>
          <p:nvPr>
            <p:ph type="title"/>
          </p:nvPr>
        </p:nvSpPr>
        <p:spPr>
          <a:xfrm>
            <a:off x="1435100" y="274638"/>
            <a:ext cx="7499350" cy="1143000"/>
          </a:xfrm>
        </p:spPr>
        <p:txBody>
          <a:bodyPr/>
          <a:lstStyle/>
          <a:p>
            <a:pPr eaLnBrk="1" fontAlgn="auto" hangingPunct="1">
              <a:spcAft>
                <a:spcPts val="0"/>
              </a:spcAft>
              <a:defRPr/>
            </a:pPr>
            <a:r>
              <a:rPr lang="en-US">
                <a:solidFill>
                  <a:schemeClr val="tx2">
                    <a:satMod val="130000"/>
                  </a:schemeClr>
                </a:solidFill>
              </a:rPr>
              <a:t>World Biomes</a:t>
            </a:r>
          </a:p>
        </p:txBody>
      </p:sp>
      <p:pic>
        <p:nvPicPr>
          <p:cNvPr id="11267" name="Picture 3" descr="05_02">
            <a:extLst>
              <a:ext uri="{FF2B5EF4-FFF2-40B4-BE49-F238E27FC236}">
                <a16:creationId xmlns:a16="http://schemas.microsoft.com/office/drawing/2014/main" id="{34ABEDFB-D93E-463D-B092-F8777D7E00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447800"/>
            <a:ext cx="8229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circle(in)">
                                      <p:cBhvr>
                                        <p:cTn id="7" dur="2000"/>
                                        <p:tgtEl>
                                          <p:spTgt spid="11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BF2A277F-8946-4FB1-B13F-BBACE4C859E0}"/>
              </a:ext>
            </a:extLst>
          </p:cNvPr>
          <p:cNvSpPr>
            <a:spLocks noGrp="1" noChangeArrowheads="1"/>
          </p:cNvSpPr>
          <p:nvPr>
            <p:ph type="title"/>
          </p:nvPr>
        </p:nvSpPr>
        <p:spPr>
          <a:xfrm>
            <a:off x="152400" y="838200"/>
            <a:ext cx="2286000" cy="4724400"/>
          </a:xfrm>
        </p:spPr>
        <p:txBody>
          <a:bodyPr/>
          <a:lstStyle/>
          <a:p>
            <a:pPr eaLnBrk="1" fontAlgn="auto" hangingPunct="1">
              <a:spcAft>
                <a:spcPts val="0"/>
              </a:spcAft>
              <a:defRPr/>
            </a:pPr>
            <a:r>
              <a:rPr lang="en-US" sz="3600" dirty="0">
                <a:solidFill>
                  <a:schemeClr val="tx2">
                    <a:satMod val="130000"/>
                  </a:schemeClr>
                </a:solidFill>
              </a:rPr>
              <a:t>Biomes &amp; Climate</a:t>
            </a:r>
          </a:p>
        </p:txBody>
      </p:sp>
      <p:pic>
        <p:nvPicPr>
          <p:cNvPr id="15363" name="Picture 3" descr="05_01">
            <a:extLst>
              <a:ext uri="{FF2B5EF4-FFF2-40B4-BE49-F238E27FC236}">
                <a16:creationId xmlns:a16="http://schemas.microsoft.com/office/drawing/2014/main" id="{BF0A1AE7-C292-4D38-8704-92785436D6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947740"/>
            <a:ext cx="5930943" cy="5834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pic>
      <p:grpSp>
        <p:nvGrpSpPr>
          <p:cNvPr id="2" name="Group 10">
            <a:extLst>
              <a:ext uri="{FF2B5EF4-FFF2-40B4-BE49-F238E27FC236}">
                <a16:creationId xmlns:a16="http://schemas.microsoft.com/office/drawing/2014/main" id="{BB7DC40C-B7DC-4189-A1F7-AB1778C1AFC8}"/>
              </a:ext>
            </a:extLst>
          </p:cNvPr>
          <p:cNvGrpSpPr>
            <a:grpSpLocks/>
          </p:cNvGrpSpPr>
          <p:nvPr/>
        </p:nvGrpSpPr>
        <p:grpSpPr bwMode="auto">
          <a:xfrm>
            <a:off x="3124200" y="762000"/>
            <a:ext cx="5715000" cy="5410200"/>
            <a:chOff x="1968" y="480"/>
            <a:chExt cx="3600" cy="3408"/>
          </a:xfrm>
        </p:grpSpPr>
        <p:sp>
          <p:nvSpPr>
            <p:cNvPr id="15368" name="Line 5">
              <a:extLst>
                <a:ext uri="{FF2B5EF4-FFF2-40B4-BE49-F238E27FC236}">
                  <a16:creationId xmlns:a16="http://schemas.microsoft.com/office/drawing/2014/main" id="{932B0C6B-801C-4CB2-8B5A-7E7AFEB8F116}"/>
                </a:ext>
              </a:extLst>
            </p:cNvPr>
            <p:cNvSpPr>
              <a:spLocks noChangeShapeType="1"/>
            </p:cNvSpPr>
            <p:nvPr/>
          </p:nvSpPr>
          <p:spPr bwMode="auto">
            <a:xfrm>
              <a:off x="1968" y="3456"/>
              <a:ext cx="3600" cy="0"/>
            </a:xfrm>
            <a:prstGeom prst="line">
              <a:avLst/>
            </a:prstGeom>
            <a:noFill/>
            <a:ln w="9525">
              <a:solidFill>
                <a:srgbClr val="3761D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369" name="Line 6">
              <a:extLst>
                <a:ext uri="{FF2B5EF4-FFF2-40B4-BE49-F238E27FC236}">
                  <a16:creationId xmlns:a16="http://schemas.microsoft.com/office/drawing/2014/main" id="{68E400E2-46A3-4457-AEB4-B165626A64D1}"/>
                </a:ext>
              </a:extLst>
            </p:cNvPr>
            <p:cNvSpPr>
              <a:spLocks noChangeShapeType="1"/>
            </p:cNvSpPr>
            <p:nvPr/>
          </p:nvSpPr>
          <p:spPr bwMode="auto">
            <a:xfrm>
              <a:off x="3408" y="480"/>
              <a:ext cx="0" cy="3408"/>
            </a:xfrm>
            <a:prstGeom prst="line">
              <a:avLst/>
            </a:prstGeom>
            <a:noFill/>
            <a:ln w="9525">
              <a:solidFill>
                <a:srgbClr val="3761D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 name="Group 8">
            <a:extLst>
              <a:ext uri="{FF2B5EF4-FFF2-40B4-BE49-F238E27FC236}">
                <a16:creationId xmlns:a16="http://schemas.microsoft.com/office/drawing/2014/main" id="{49A916AC-0527-4764-8587-40A2ACBC9047}"/>
              </a:ext>
            </a:extLst>
          </p:cNvPr>
          <p:cNvGrpSpPr>
            <a:grpSpLocks/>
          </p:cNvGrpSpPr>
          <p:nvPr/>
        </p:nvGrpSpPr>
        <p:grpSpPr bwMode="auto">
          <a:xfrm>
            <a:off x="3124200" y="762000"/>
            <a:ext cx="5715000" cy="5410200"/>
            <a:chOff x="1968" y="480"/>
            <a:chExt cx="3600" cy="3408"/>
          </a:xfrm>
        </p:grpSpPr>
        <p:sp>
          <p:nvSpPr>
            <p:cNvPr id="15366" name="Line 4">
              <a:extLst>
                <a:ext uri="{FF2B5EF4-FFF2-40B4-BE49-F238E27FC236}">
                  <a16:creationId xmlns:a16="http://schemas.microsoft.com/office/drawing/2014/main" id="{3F4C9744-C5D3-4063-96FE-FFD4E72F9DEB}"/>
                </a:ext>
              </a:extLst>
            </p:cNvPr>
            <p:cNvSpPr>
              <a:spLocks noChangeShapeType="1"/>
            </p:cNvSpPr>
            <p:nvPr/>
          </p:nvSpPr>
          <p:spPr bwMode="auto">
            <a:xfrm>
              <a:off x="1968" y="1440"/>
              <a:ext cx="3600" cy="0"/>
            </a:xfrm>
            <a:prstGeom prst="line">
              <a:avLst/>
            </a:prstGeom>
            <a:noFill/>
            <a:ln w="9525">
              <a:solidFill>
                <a:srgbClr val="D2100B"/>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367" name="Line 7">
              <a:extLst>
                <a:ext uri="{FF2B5EF4-FFF2-40B4-BE49-F238E27FC236}">
                  <a16:creationId xmlns:a16="http://schemas.microsoft.com/office/drawing/2014/main" id="{5E86997D-BAB8-4486-90EB-F29A871FCF6C}"/>
                </a:ext>
              </a:extLst>
            </p:cNvPr>
            <p:cNvSpPr>
              <a:spLocks noChangeShapeType="1"/>
            </p:cNvSpPr>
            <p:nvPr/>
          </p:nvSpPr>
          <p:spPr bwMode="auto">
            <a:xfrm>
              <a:off x="2640" y="480"/>
              <a:ext cx="0" cy="3408"/>
            </a:xfrm>
            <a:prstGeom prst="line">
              <a:avLst/>
            </a:prstGeom>
            <a:noFill/>
            <a:ln w="9525">
              <a:solidFill>
                <a:srgbClr val="D2100B"/>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xit" presetSubtype="0" fill="hold" nodeType="clickEffect">
                                  <p:stCondLst>
                                    <p:cond delay="0"/>
                                  </p:stCondLst>
                                  <p:childTnLst>
                                    <p:animEffect transition="out" filter="dissolve">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8451C88E-06A6-45FC-B8F9-55D5C38561AA}"/>
              </a:ext>
            </a:extLst>
          </p:cNvPr>
          <p:cNvSpPr>
            <a:spLocks noGrp="1" noChangeArrowheads="1"/>
          </p:cNvSpPr>
          <p:nvPr>
            <p:ph type="title"/>
          </p:nvPr>
        </p:nvSpPr>
        <p:spPr>
          <a:xfrm>
            <a:off x="1143000" y="152400"/>
            <a:ext cx="7315200" cy="533400"/>
          </a:xfrm>
        </p:spPr>
        <p:txBody>
          <a:bodyPr>
            <a:normAutofit fontScale="90000"/>
          </a:bodyPr>
          <a:lstStyle/>
          <a:p>
            <a:pPr eaLnBrk="1" fontAlgn="auto" hangingPunct="1">
              <a:spcAft>
                <a:spcPts val="0"/>
              </a:spcAft>
              <a:defRPr/>
            </a:pPr>
            <a:r>
              <a:rPr lang="en-US" sz="4000" b="1" dirty="0">
                <a:solidFill>
                  <a:schemeClr val="tx2">
                    <a:satMod val="130000"/>
                  </a:schemeClr>
                </a:solidFill>
                <a:latin typeface="Garamond" pitchFamily="18" charset="0"/>
              </a:rPr>
              <a:t>Biomes</a:t>
            </a:r>
          </a:p>
        </p:txBody>
      </p:sp>
      <p:sp>
        <p:nvSpPr>
          <p:cNvPr id="17411" name="Rectangle 5">
            <a:extLst>
              <a:ext uri="{FF2B5EF4-FFF2-40B4-BE49-F238E27FC236}">
                <a16:creationId xmlns:a16="http://schemas.microsoft.com/office/drawing/2014/main" id="{FF45462C-FDF6-42DC-B415-BB8DF7EB9FF2}"/>
              </a:ext>
            </a:extLst>
          </p:cNvPr>
          <p:cNvSpPr>
            <a:spLocks noGrp="1"/>
          </p:cNvSpPr>
          <p:nvPr>
            <p:ph sz="half" idx="1"/>
          </p:nvPr>
        </p:nvSpPr>
        <p:spPr>
          <a:xfrm>
            <a:off x="914400" y="838200"/>
            <a:ext cx="4038600" cy="57912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a:r>
              <a:rPr lang="en-US" altLang="en-US" sz="2800" b="1" u="sng" dirty="0">
                <a:latin typeface="Garamond" panose="02020404030301010803" pitchFamily="18" charset="0"/>
                <a:ea typeface="MS PGothic" panose="020B0600070205080204" pitchFamily="34" charset="-128"/>
              </a:rPr>
              <a:t>Terrestrial</a:t>
            </a:r>
          </a:p>
          <a:p>
            <a:pPr marL="0"/>
            <a:r>
              <a:rPr lang="en-US" altLang="en-US" sz="2800" b="1" u="sng" dirty="0">
                <a:latin typeface="Garamond" panose="02020404030301010803" pitchFamily="18" charset="0"/>
                <a:ea typeface="MS PGothic" panose="020B0600070205080204" pitchFamily="34" charset="-128"/>
              </a:rPr>
              <a:t>Forest</a:t>
            </a:r>
          </a:p>
          <a:p>
            <a:pPr lvl="1">
              <a:lnSpc>
                <a:spcPct val="90000"/>
              </a:lnSpc>
            </a:pPr>
            <a:r>
              <a:rPr lang="en-US" altLang="en-US" dirty="0">
                <a:latin typeface="Garamond" panose="02020404030301010803" pitchFamily="18" charset="0"/>
              </a:rPr>
              <a:t>Tropical</a:t>
            </a:r>
          </a:p>
          <a:p>
            <a:pPr lvl="1">
              <a:lnSpc>
                <a:spcPct val="90000"/>
              </a:lnSpc>
            </a:pPr>
            <a:r>
              <a:rPr lang="en-US" altLang="en-US" dirty="0">
                <a:latin typeface="Garamond" panose="02020404030301010803" pitchFamily="18" charset="0"/>
              </a:rPr>
              <a:t>Temperate</a:t>
            </a:r>
          </a:p>
          <a:p>
            <a:pPr lvl="1">
              <a:lnSpc>
                <a:spcPct val="90000"/>
              </a:lnSpc>
            </a:pPr>
            <a:r>
              <a:rPr lang="en-US" altLang="en-US" dirty="0">
                <a:latin typeface="Garamond" panose="02020404030301010803" pitchFamily="18" charset="0"/>
              </a:rPr>
              <a:t>Boreal forests (Taiga)</a:t>
            </a:r>
          </a:p>
          <a:p>
            <a:pPr marL="0"/>
            <a:r>
              <a:rPr lang="en-US" altLang="en-US" sz="2800" b="1" u="sng" dirty="0">
                <a:latin typeface="Garamond" panose="02020404030301010803" pitchFamily="18" charset="0"/>
                <a:ea typeface="MS PGothic" panose="020B0600070205080204" pitchFamily="34" charset="-128"/>
              </a:rPr>
              <a:t>Tundra</a:t>
            </a:r>
          </a:p>
          <a:p>
            <a:pPr lvl="1">
              <a:lnSpc>
                <a:spcPct val="90000"/>
              </a:lnSpc>
            </a:pPr>
            <a:r>
              <a:rPr lang="en-US" altLang="en-US" dirty="0">
                <a:latin typeface="Garamond" panose="02020404030301010803" pitchFamily="18" charset="0"/>
              </a:rPr>
              <a:t>Arctic</a:t>
            </a:r>
          </a:p>
          <a:p>
            <a:pPr lvl="1">
              <a:lnSpc>
                <a:spcPct val="90000"/>
              </a:lnSpc>
            </a:pPr>
            <a:r>
              <a:rPr lang="en-US" altLang="en-US" dirty="0">
                <a:latin typeface="Garamond" panose="02020404030301010803" pitchFamily="18" charset="0"/>
              </a:rPr>
              <a:t>Alpine</a:t>
            </a:r>
          </a:p>
          <a:p>
            <a:pPr marL="0"/>
            <a:r>
              <a:rPr lang="en-US" altLang="en-US" sz="2800" b="1" u="sng" dirty="0">
                <a:latin typeface="Garamond" panose="02020404030301010803" pitchFamily="18" charset="0"/>
                <a:ea typeface="MS PGothic" panose="020B0600070205080204" pitchFamily="34" charset="-128"/>
              </a:rPr>
              <a:t>Desert</a:t>
            </a:r>
          </a:p>
          <a:p>
            <a:pPr marL="0"/>
            <a:r>
              <a:rPr lang="en-US" altLang="en-US" sz="2800" b="1" u="sng" dirty="0">
                <a:latin typeface="Garamond" panose="02020404030301010803" pitchFamily="18" charset="0"/>
                <a:ea typeface="MS PGothic" panose="020B0600070205080204" pitchFamily="34" charset="-128"/>
              </a:rPr>
              <a:t>Grassland</a:t>
            </a:r>
          </a:p>
          <a:p>
            <a:pPr lvl="1">
              <a:lnSpc>
                <a:spcPct val="90000"/>
              </a:lnSpc>
            </a:pPr>
            <a:r>
              <a:rPr lang="en-US" altLang="en-US" dirty="0">
                <a:latin typeface="Garamond" panose="02020404030301010803" pitchFamily="18" charset="0"/>
              </a:rPr>
              <a:t>Savannah</a:t>
            </a:r>
          </a:p>
          <a:p>
            <a:pPr lvl="1">
              <a:lnSpc>
                <a:spcPct val="90000"/>
              </a:lnSpc>
            </a:pPr>
            <a:r>
              <a:rPr lang="en-US" altLang="en-US" dirty="0">
                <a:latin typeface="Garamond" panose="02020404030301010803" pitchFamily="18" charset="0"/>
              </a:rPr>
              <a:t>Chaparral/Steppe</a:t>
            </a:r>
          </a:p>
          <a:p>
            <a:pPr marL="0"/>
            <a:endParaRPr lang="en-US" altLang="en-US" sz="2800" b="1" u="sng" dirty="0">
              <a:latin typeface="Garamond" panose="02020404030301010803" pitchFamily="18" charset="0"/>
              <a:ea typeface="MS PGothic" panose="020B0600070205080204" pitchFamily="34" charset="-128"/>
            </a:endParaRPr>
          </a:p>
        </p:txBody>
      </p:sp>
      <p:sp>
        <p:nvSpPr>
          <p:cNvPr id="17412" name="Rectangle 4">
            <a:extLst>
              <a:ext uri="{FF2B5EF4-FFF2-40B4-BE49-F238E27FC236}">
                <a16:creationId xmlns:a16="http://schemas.microsoft.com/office/drawing/2014/main" id="{5E4EBD06-42CC-4504-8949-81ABD930C000}"/>
              </a:ext>
            </a:extLst>
          </p:cNvPr>
          <p:cNvSpPr>
            <a:spLocks noChangeArrowheads="1"/>
          </p:cNvSpPr>
          <p:nvPr/>
        </p:nvSpPr>
        <p:spPr bwMode="auto">
          <a:xfrm>
            <a:off x="4953000" y="892921"/>
            <a:ext cx="3657600" cy="515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800" b="1" u="sng" dirty="0">
                <a:latin typeface="Garamond" panose="02020404030301010803" pitchFamily="18" charset="0"/>
              </a:rPr>
              <a:t>Aquatic</a:t>
            </a:r>
          </a:p>
          <a:p>
            <a:endParaRPr lang="en-US" altLang="en-US" sz="2000" b="1" u="sng" dirty="0">
              <a:latin typeface="Garamond" panose="02020404030301010803" pitchFamily="18" charset="0"/>
            </a:endParaRPr>
          </a:p>
          <a:p>
            <a:r>
              <a:rPr lang="en-US" altLang="en-US" sz="2000" b="1" u="sng" dirty="0">
                <a:latin typeface="Garamond" panose="02020404030301010803" pitchFamily="18" charset="0"/>
              </a:rPr>
              <a:t>Marine</a:t>
            </a:r>
            <a:endParaRPr lang="en-US" altLang="en-US" sz="2000" dirty="0">
              <a:latin typeface="Garamond" panose="02020404030301010803" pitchFamily="18" charset="0"/>
            </a:endParaRPr>
          </a:p>
          <a:p>
            <a:pPr lvl="1">
              <a:lnSpc>
                <a:spcPct val="90000"/>
              </a:lnSpc>
              <a:spcBef>
                <a:spcPct val="20000"/>
              </a:spcBef>
              <a:spcAft>
                <a:spcPts val="600"/>
              </a:spcAft>
              <a:buClr>
                <a:schemeClr val="accent1">
                  <a:lumMod val="75000"/>
                </a:schemeClr>
              </a:buClr>
              <a:buSzPct val="145000"/>
              <a:buFont typeface="Arial"/>
              <a:buChar char="•"/>
            </a:pPr>
            <a:r>
              <a:rPr lang="en-US" altLang="en-US" sz="1600" dirty="0">
                <a:latin typeface="Garamond" panose="02020404030301010803" pitchFamily="18" charset="0"/>
                <a:ea typeface="+mn-ea"/>
              </a:rPr>
              <a:t>Open ocean</a:t>
            </a:r>
          </a:p>
          <a:p>
            <a:pPr lvl="1">
              <a:lnSpc>
                <a:spcPct val="90000"/>
              </a:lnSpc>
              <a:spcBef>
                <a:spcPct val="20000"/>
              </a:spcBef>
              <a:spcAft>
                <a:spcPts val="600"/>
              </a:spcAft>
              <a:buClr>
                <a:schemeClr val="accent1">
                  <a:lumMod val="75000"/>
                </a:schemeClr>
              </a:buClr>
              <a:buSzPct val="145000"/>
              <a:buFont typeface="Arial"/>
              <a:buChar char="•"/>
            </a:pPr>
            <a:r>
              <a:rPr lang="en-US" altLang="en-US" sz="1600" dirty="0">
                <a:latin typeface="Garamond" panose="02020404030301010803" pitchFamily="18" charset="0"/>
                <a:ea typeface="+mn-ea"/>
              </a:rPr>
              <a:t>Antarctic ocean (edge of the ice)</a:t>
            </a:r>
          </a:p>
          <a:p>
            <a:pPr lvl="1">
              <a:lnSpc>
                <a:spcPct val="90000"/>
              </a:lnSpc>
              <a:spcBef>
                <a:spcPct val="20000"/>
              </a:spcBef>
              <a:spcAft>
                <a:spcPts val="600"/>
              </a:spcAft>
              <a:buClr>
                <a:schemeClr val="accent1">
                  <a:lumMod val="75000"/>
                </a:schemeClr>
              </a:buClr>
              <a:buSzPct val="145000"/>
              <a:buFont typeface="Arial"/>
              <a:buChar char="•"/>
            </a:pPr>
            <a:r>
              <a:rPr lang="en-US" altLang="en-US" sz="1600" dirty="0">
                <a:latin typeface="Garamond" panose="02020404030301010803" pitchFamily="18" charset="0"/>
                <a:ea typeface="+mn-ea"/>
              </a:rPr>
              <a:t>Estuary</a:t>
            </a:r>
          </a:p>
          <a:p>
            <a:pPr lvl="1">
              <a:lnSpc>
                <a:spcPct val="90000"/>
              </a:lnSpc>
              <a:spcBef>
                <a:spcPct val="20000"/>
              </a:spcBef>
              <a:spcAft>
                <a:spcPts val="600"/>
              </a:spcAft>
              <a:buClr>
                <a:schemeClr val="accent1">
                  <a:lumMod val="75000"/>
                </a:schemeClr>
              </a:buClr>
              <a:buSzPct val="145000"/>
              <a:buFont typeface="Arial"/>
              <a:buChar char="•"/>
            </a:pPr>
            <a:r>
              <a:rPr lang="en-US" altLang="en-US" sz="1600" dirty="0">
                <a:latin typeface="Garamond" panose="02020404030301010803" pitchFamily="18" charset="0"/>
                <a:ea typeface="+mn-ea"/>
              </a:rPr>
              <a:t>Coral Reef</a:t>
            </a:r>
          </a:p>
          <a:p>
            <a:pPr lvl="1">
              <a:lnSpc>
                <a:spcPct val="90000"/>
              </a:lnSpc>
              <a:spcBef>
                <a:spcPct val="20000"/>
              </a:spcBef>
              <a:spcAft>
                <a:spcPts val="600"/>
              </a:spcAft>
              <a:buClr>
                <a:schemeClr val="accent1">
                  <a:lumMod val="75000"/>
                </a:schemeClr>
              </a:buClr>
              <a:buSzPct val="145000"/>
              <a:buFont typeface="Arial"/>
              <a:buChar char="•"/>
            </a:pPr>
            <a:r>
              <a:rPr lang="en-US" altLang="en-US" sz="1600" dirty="0">
                <a:latin typeface="Garamond" panose="02020404030301010803" pitchFamily="18" charset="0"/>
                <a:ea typeface="+mn-ea"/>
              </a:rPr>
              <a:t>Shallow ocean/bay</a:t>
            </a:r>
          </a:p>
          <a:p>
            <a:pPr lvl="1">
              <a:lnSpc>
                <a:spcPct val="90000"/>
              </a:lnSpc>
              <a:spcBef>
                <a:spcPct val="20000"/>
              </a:spcBef>
              <a:spcAft>
                <a:spcPts val="600"/>
              </a:spcAft>
              <a:buClr>
                <a:schemeClr val="accent1">
                  <a:lumMod val="75000"/>
                </a:schemeClr>
              </a:buClr>
              <a:buSzPct val="145000"/>
              <a:buFont typeface="Arial"/>
              <a:buChar char="•"/>
            </a:pPr>
            <a:r>
              <a:rPr lang="en-US" altLang="en-US" sz="1600" dirty="0">
                <a:latin typeface="Garamond" panose="02020404030301010803" pitchFamily="18" charset="0"/>
                <a:ea typeface="+mn-ea"/>
              </a:rPr>
              <a:t>Mangrove forests</a:t>
            </a:r>
          </a:p>
          <a:p>
            <a:endParaRPr lang="en-US" altLang="en-US" sz="2000" dirty="0">
              <a:latin typeface="Garamond" panose="02020404030301010803" pitchFamily="18" charset="0"/>
            </a:endParaRPr>
          </a:p>
          <a:p>
            <a:r>
              <a:rPr lang="en-US" altLang="en-US" sz="2000" b="1" u="sng" dirty="0">
                <a:latin typeface="Garamond" panose="02020404030301010803" pitchFamily="18" charset="0"/>
              </a:rPr>
              <a:t>Freshwater</a:t>
            </a:r>
            <a:endParaRPr lang="en-US" altLang="en-US" sz="2000" dirty="0">
              <a:latin typeface="Garamond" panose="02020404030301010803" pitchFamily="18" charset="0"/>
            </a:endParaRPr>
          </a:p>
          <a:p>
            <a:pPr lvl="1">
              <a:lnSpc>
                <a:spcPct val="90000"/>
              </a:lnSpc>
              <a:spcBef>
                <a:spcPct val="20000"/>
              </a:spcBef>
              <a:spcAft>
                <a:spcPts val="600"/>
              </a:spcAft>
              <a:buClr>
                <a:schemeClr val="accent1">
                  <a:lumMod val="75000"/>
                </a:schemeClr>
              </a:buClr>
              <a:buSzPct val="145000"/>
              <a:buFont typeface="Arial"/>
              <a:buChar char="•"/>
            </a:pPr>
            <a:r>
              <a:rPr lang="en-US" altLang="en-US" sz="1600" dirty="0">
                <a:latin typeface="Garamond" panose="02020404030301010803" pitchFamily="18" charset="0"/>
                <a:ea typeface="+mn-ea"/>
              </a:rPr>
              <a:t>River</a:t>
            </a:r>
          </a:p>
          <a:p>
            <a:pPr lvl="1">
              <a:lnSpc>
                <a:spcPct val="90000"/>
              </a:lnSpc>
              <a:spcBef>
                <a:spcPct val="20000"/>
              </a:spcBef>
              <a:spcAft>
                <a:spcPts val="600"/>
              </a:spcAft>
              <a:buClr>
                <a:schemeClr val="accent1">
                  <a:lumMod val="75000"/>
                </a:schemeClr>
              </a:buClr>
              <a:buSzPct val="145000"/>
              <a:buFont typeface="Arial"/>
              <a:buChar char="•"/>
            </a:pPr>
            <a:r>
              <a:rPr lang="en-US" altLang="en-US" sz="1600" dirty="0">
                <a:latin typeface="Garamond" panose="02020404030301010803" pitchFamily="18" charset="0"/>
                <a:ea typeface="+mn-ea"/>
              </a:rPr>
              <a:t>Lake</a:t>
            </a:r>
          </a:p>
          <a:p>
            <a:pPr lvl="1">
              <a:lnSpc>
                <a:spcPct val="90000"/>
              </a:lnSpc>
              <a:spcBef>
                <a:spcPct val="20000"/>
              </a:spcBef>
              <a:spcAft>
                <a:spcPts val="600"/>
              </a:spcAft>
              <a:buClr>
                <a:schemeClr val="accent1">
                  <a:lumMod val="75000"/>
                </a:schemeClr>
              </a:buClr>
              <a:buSzPct val="145000"/>
              <a:buFont typeface="Arial"/>
              <a:buChar char="•"/>
            </a:pPr>
            <a:r>
              <a:rPr lang="en-US" altLang="en-US" sz="1600" dirty="0">
                <a:latin typeface="Garamond" panose="02020404030301010803" pitchFamily="18" charset="0"/>
                <a:ea typeface="+mn-ea"/>
              </a:rPr>
              <a:t>Pond</a:t>
            </a:r>
          </a:p>
          <a:p>
            <a:pPr lvl="1">
              <a:lnSpc>
                <a:spcPct val="90000"/>
              </a:lnSpc>
              <a:spcBef>
                <a:spcPct val="20000"/>
              </a:spcBef>
              <a:spcAft>
                <a:spcPts val="600"/>
              </a:spcAft>
              <a:buClr>
                <a:schemeClr val="accent1">
                  <a:lumMod val="75000"/>
                </a:schemeClr>
              </a:buClr>
              <a:buSzPct val="145000"/>
              <a:buFont typeface="Arial"/>
              <a:buChar char="•"/>
            </a:pPr>
            <a:r>
              <a:rPr lang="en-US" altLang="en-US" sz="1600" dirty="0">
                <a:latin typeface="Garamond" panose="02020404030301010803" pitchFamily="18" charset="0"/>
                <a:ea typeface="+mn-ea"/>
              </a:rPr>
              <a:t>Wetlands (Swamps, marshes, etc.)</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411">
                                            <p:txEl>
                                              <p:pRg st="1" end="1"/>
                                            </p:txEl>
                                          </p:spTgt>
                                        </p:tgtEl>
                                        <p:attrNameLst>
                                          <p:attrName>style.visibility</p:attrName>
                                        </p:attrNameLst>
                                      </p:cBhvr>
                                      <p:to>
                                        <p:strVal val="visible"/>
                                      </p:to>
                                    </p:set>
                                    <p:anim calcmode="lin" valueType="num">
                                      <p:cBhvr additive="base">
                                        <p:cTn id="13" dur="5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1">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7411">
                                            <p:txEl>
                                              <p:pRg st="2" end="2"/>
                                            </p:txEl>
                                          </p:spTgt>
                                        </p:tgtEl>
                                        <p:attrNameLst>
                                          <p:attrName>style.visibility</p:attrName>
                                        </p:attrNameLst>
                                      </p:cBhvr>
                                      <p:to>
                                        <p:strVal val="visible"/>
                                      </p:to>
                                    </p:set>
                                    <p:anim calcmode="lin" valueType="num">
                                      <p:cBhvr additive="base">
                                        <p:cTn id="17" dur="500" fill="hold"/>
                                        <p:tgtEl>
                                          <p:spTgt spid="1741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741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411">
                                            <p:txEl>
                                              <p:pRg st="3" end="3"/>
                                            </p:txEl>
                                          </p:spTgt>
                                        </p:tgtEl>
                                        <p:attrNameLst>
                                          <p:attrName>style.visibility</p:attrName>
                                        </p:attrNameLst>
                                      </p:cBhvr>
                                      <p:to>
                                        <p:strVal val="visible"/>
                                      </p:to>
                                    </p:set>
                                    <p:anim calcmode="lin" valueType="num">
                                      <p:cBhvr additive="base">
                                        <p:cTn id="21" dur="500" fill="hold"/>
                                        <p:tgtEl>
                                          <p:spTgt spid="1741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7411">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7411">
                                            <p:txEl>
                                              <p:pRg st="4" end="4"/>
                                            </p:txEl>
                                          </p:spTgt>
                                        </p:tgtEl>
                                        <p:attrNameLst>
                                          <p:attrName>style.visibility</p:attrName>
                                        </p:attrNameLst>
                                      </p:cBhvr>
                                      <p:to>
                                        <p:strVal val="visible"/>
                                      </p:to>
                                    </p:set>
                                    <p:anim calcmode="lin" valueType="num">
                                      <p:cBhvr additive="base">
                                        <p:cTn id="25" dur="500" fill="hold"/>
                                        <p:tgtEl>
                                          <p:spTgt spid="1741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4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7411">
                                            <p:txEl>
                                              <p:pRg st="5" end="5"/>
                                            </p:txEl>
                                          </p:spTgt>
                                        </p:tgtEl>
                                        <p:attrNameLst>
                                          <p:attrName>style.visibility</p:attrName>
                                        </p:attrNameLst>
                                      </p:cBhvr>
                                      <p:to>
                                        <p:strVal val="visible"/>
                                      </p:to>
                                    </p:set>
                                    <p:anim calcmode="lin" valueType="num">
                                      <p:cBhvr additive="base">
                                        <p:cTn id="31" dur="500" fill="hold"/>
                                        <p:tgtEl>
                                          <p:spTgt spid="1741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411">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7411">
                                            <p:txEl>
                                              <p:pRg st="6" end="6"/>
                                            </p:txEl>
                                          </p:spTgt>
                                        </p:tgtEl>
                                        <p:attrNameLst>
                                          <p:attrName>style.visibility</p:attrName>
                                        </p:attrNameLst>
                                      </p:cBhvr>
                                      <p:to>
                                        <p:strVal val="visible"/>
                                      </p:to>
                                    </p:set>
                                    <p:anim calcmode="lin" valueType="num">
                                      <p:cBhvr additive="base">
                                        <p:cTn id="35" dur="500" fill="hold"/>
                                        <p:tgtEl>
                                          <p:spTgt spid="17411">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7411">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7411">
                                            <p:txEl>
                                              <p:pRg st="7" end="7"/>
                                            </p:txEl>
                                          </p:spTgt>
                                        </p:tgtEl>
                                        <p:attrNameLst>
                                          <p:attrName>style.visibility</p:attrName>
                                        </p:attrNameLst>
                                      </p:cBhvr>
                                      <p:to>
                                        <p:strVal val="visible"/>
                                      </p:to>
                                    </p:set>
                                    <p:anim calcmode="lin" valueType="num">
                                      <p:cBhvr additive="base">
                                        <p:cTn id="39" dur="500" fill="hold"/>
                                        <p:tgtEl>
                                          <p:spTgt spid="17411">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741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7411">
                                            <p:txEl>
                                              <p:pRg st="8" end="8"/>
                                            </p:txEl>
                                          </p:spTgt>
                                        </p:tgtEl>
                                        <p:attrNameLst>
                                          <p:attrName>style.visibility</p:attrName>
                                        </p:attrNameLst>
                                      </p:cBhvr>
                                      <p:to>
                                        <p:strVal val="visible"/>
                                      </p:to>
                                    </p:set>
                                    <p:anim calcmode="lin" valueType="num">
                                      <p:cBhvr additive="base">
                                        <p:cTn id="45" dur="500" fill="hold"/>
                                        <p:tgtEl>
                                          <p:spTgt spid="17411">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741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7411">
                                            <p:txEl>
                                              <p:pRg st="9" end="9"/>
                                            </p:txEl>
                                          </p:spTgt>
                                        </p:tgtEl>
                                        <p:attrNameLst>
                                          <p:attrName>style.visibility</p:attrName>
                                        </p:attrNameLst>
                                      </p:cBhvr>
                                      <p:to>
                                        <p:strVal val="visible"/>
                                      </p:to>
                                    </p:set>
                                    <p:anim calcmode="lin" valueType="num">
                                      <p:cBhvr additive="base">
                                        <p:cTn id="51" dur="500" fill="hold"/>
                                        <p:tgtEl>
                                          <p:spTgt spid="17411">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7411">
                                            <p:txEl>
                                              <p:pRg st="9" end="9"/>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7411">
                                            <p:txEl>
                                              <p:pRg st="10" end="10"/>
                                            </p:txEl>
                                          </p:spTgt>
                                        </p:tgtEl>
                                        <p:attrNameLst>
                                          <p:attrName>style.visibility</p:attrName>
                                        </p:attrNameLst>
                                      </p:cBhvr>
                                      <p:to>
                                        <p:strVal val="visible"/>
                                      </p:to>
                                    </p:set>
                                    <p:anim calcmode="lin" valueType="num">
                                      <p:cBhvr additive="base">
                                        <p:cTn id="55" dur="500" fill="hold"/>
                                        <p:tgtEl>
                                          <p:spTgt spid="17411">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7411">
                                            <p:txEl>
                                              <p:pRg st="10" end="10"/>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7411">
                                            <p:txEl>
                                              <p:pRg st="11" end="11"/>
                                            </p:txEl>
                                          </p:spTgt>
                                        </p:tgtEl>
                                        <p:attrNameLst>
                                          <p:attrName>style.visibility</p:attrName>
                                        </p:attrNameLst>
                                      </p:cBhvr>
                                      <p:to>
                                        <p:strVal val="visible"/>
                                      </p:to>
                                    </p:set>
                                    <p:anim calcmode="lin" valueType="num">
                                      <p:cBhvr additive="base">
                                        <p:cTn id="59" dur="500" fill="hold"/>
                                        <p:tgtEl>
                                          <p:spTgt spid="17411">
                                            <p:txEl>
                                              <p:pRg st="11" end="1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7411">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7412"/>
                                        </p:tgtEl>
                                        <p:attrNameLst>
                                          <p:attrName>style.visibility</p:attrName>
                                        </p:attrNameLst>
                                      </p:cBhvr>
                                      <p:to>
                                        <p:strVal val="visible"/>
                                      </p:to>
                                    </p:set>
                                    <p:anim calcmode="lin" valueType="num">
                                      <p:cBhvr additive="base">
                                        <p:cTn id="65" dur="500" fill="hold"/>
                                        <p:tgtEl>
                                          <p:spTgt spid="17412"/>
                                        </p:tgtEl>
                                        <p:attrNameLst>
                                          <p:attrName>ppt_x</p:attrName>
                                        </p:attrNameLst>
                                      </p:cBhvr>
                                      <p:tavLst>
                                        <p:tav tm="0">
                                          <p:val>
                                            <p:strVal val="#ppt_x"/>
                                          </p:val>
                                        </p:tav>
                                        <p:tav tm="100000">
                                          <p:val>
                                            <p:strVal val="#ppt_x"/>
                                          </p:val>
                                        </p:tav>
                                      </p:tavLst>
                                    </p:anim>
                                    <p:anim calcmode="lin" valueType="num">
                                      <p:cBhvr additive="base">
                                        <p:cTn id="66" dur="500" fill="hold"/>
                                        <p:tgtEl>
                                          <p:spTgt spid="17412"/>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17412">
                                            <p:txEl>
                                              <p:pRg st="0" end="0"/>
                                            </p:txEl>
                                          </p:spTgt>
                                        </p:tgtEl>
                                        <p:attrNameLst>
                                          <p:attrName>style.visibility</p:attrName>
                                        </p:attrNameLst>
                                      </p:cBhvr>
                                      <p:to>
                                        <p:strVal val="visible"/>
                                      </p:to>
                                    </p:set>
                                    <p:anim calcmode="lin" valueType="num">
                                      <p:cBhvr additive="base">
                                        <p:cTn id="71" dur="500" fill="hold"/>
                                        <p:tgtEl>
                                          <p:spTgt spid="17412">
                                            <p:txEl>
                                              <p:pRg st="0" end="0"/>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74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17412">
                                            <p:txEl>
                                              <p:pRg st="2" end="2"/>
                                            </p:txEl>
                                          </p:spTgt>
                                        </p:tgtEl>
                                        <p:attrNameLst>
                                          <p:attrName>style.visibility</p:attrName>
                                        </p:attrNameLst>
                                      </p:cBhvr>
                                      <p:to>
                                        <p:strVal val="visible"/>
                                      </p:to>
                                    </p:set>
                                    <p:anim calcmode="lin" valueType="num">
                                      <p:cBhvr additive="base">
                                        <p:cTn id="77" dur="500" fill="hold"/>
                                        <p:tgtEl>
                                          <p:spTgt spid="17412">
                                            <p:txEl>
                                              <p:pRg st="2" end="2"/>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7412">
                                            <p:txEl>
                                              <p:pRg st="2" end="2"/>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17412">
                                            <p:txEl>
                                              <p:pRg st="3" end="3"/>
                                            </p:txEl>
                                          </p:spTgt>
                                        </p:tgtEl>
                                        <p:attrNameLst>
                                          <p:attrName>style.visibility</p:attrName>
                                        </p:attrNameLst>
                                      </p:cBhvr>
                                      <p:to>
                                        <p:strVal val="visible"/>
                                      </p:to>
                                    </p:set>
                                    <p:anim calcmode="lin" valueType="num">
                                      <p:cBhvr additive="base">
                                        <p:cTn id="81" dur="500" fill="hold"/>
                                        <p:tgtEl>
                                          <p:spTgt spid="17412">
                                            <p:txEl>
                                              <p:pRg st="3" end="3"/>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7412">
                                            <p:txEl>
                                              <p:pRg st="3" end="3"/>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7412">
                                            <p:txEl>
                                              <p:pRg st="4" end="4"/>
                                            </p:txEl>
                                          </p:spTgt>
                                        </p:tgtEl>
                                        <p:attrNameLst>
                                          <p:attrName>style.visibility</p:attrName>
                                        </p:attrNameLst>
                                      </p:cBhvr>
                                      <p:to>
                                        <p:strVal val="visible"/>
                                      </p:to>
                                    </p:set>
                                    <p:anim calcmode="lin" valueType="num">
                                      <p:cBhvr additive="base">
                                        <p:cTn id="85" dur="500" fill="hold"/>
                                        <p:tgtEl>
                                          <p:spTgt spid="17412">
                                            <p:txEl>
                                              <p:pRg st="4" end="4"/>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7412">
                                            <p:txEl>
                                              <p:pRg st="4" end="4"/>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17412">
                                            <p:txEl>
                                              <p:pRg st="5" end="5"/>
                                            </p:txEl>
                                          </p:spTgt>
                                        </p:tgtEl>
                                        <p:attrNameLst>
                                          <p:attrName>style.visibility</p:attrName>
                                        </p:attrNameLst>
                                      </p:cBhvr>
                                      <p:to>
                                        <p:strVal val="visible"/>
                                      </p:to>
                                    </p:set>
                                    <p:anim calcmode="lin" valueType="num">
                                      <p:cBhvr additive="base">
                                        <p:cTn id="89" dur="500" fill="hold"/>
                                        <p:tgtEl>
                                          <p:spTgt spid="17412">
                                            <p:txEl>
                                              <p:pRg st="5" end="5"/>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17412">
                                            <p:txEl>
                                              <p:pRg st="5" end="5"/>
                                            </p:txEl>
                                          </p:spTgt>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17412">
                                            <p:txEl>
                                              <p:pRg st="6" end="6"/>
                                            </p:txEl>
                                          </p:spTgt>
                                        </p:tgtEl>
                                        <p:attrNameLst>
                                          <p:attrName>style.visibility</p:attrName>
                                        </p:attrNameLst>
                                      </p:cBhvr>
                                      <p:to>
                                        <p:strVal val="visible"/>
                                      </p:to>
                                    </p:set>
                                    <p:anim calcmode="lin" valueType="num">
                                      <p:cBhvr additive="base">
                                        <p:cTn id="93" dur="500" fill="hold"/>
                                        <p:tgtEl>
                                          <p:spTgt spid="17412">
                                            <p:txEl>
                                              <p:pRg st="6" end="6"/>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17412">
                                            <p:txEl>
                                              <p:pRg st="6" end="6"/>
                                            </p:txEl>
                                          </p:spTgt>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17412">
                                            <p:txEl>
                                              <p:pRg st="7" end="7"/>
                                            </p:txEl>
                                          </p:spTgt>
                                        </p:tgtEl>
                                        <p:attrNameLst>
                                          <p:attrName>style.visibility</p:attrName>
                                        </p:attrNameLst>
                                      </p:cBhvr>
                                      <p:to>
                                        <p:strVal val="visible"/>
                                      </p:to>
                                    </p:set>
                                    <p:anim calcmode="lin" valueType="num">
                                      <p:cBhvr additive="base">
                                        <p:cTn id="97" dur="500" fill="hold"/>
                                        <p:tgtEl>
                                          <p:spTgt spid="17412">
                                            <p:txEl>
                                              <p:pRg st="7" end="7"/>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17412">
                                            <p:txEl>
                                              <p:pRg st="7" end="7"/>
                                            </p:txEl>
                                          </p:spTgt>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17412">
                                            <p:txEl>
                                              <p:pRg st="8" end="8"/>
                                            </p:txEl>
                                          </p:spTgt>
                                        </p:tgtEl>
                                        <p:attrNameLst>
                                          <p:attrName>style.visibility</p:attrName>
                                        </p:attrNameLst>
                                      </p:cBhvr>
                                      <p:to>
                                        <p:strVal val="visible"/>
                                      </p:to>
                                    </p:set>
                                    <p:anim calcmode="lin" valueType="num">
                                      <p:cBhvr additive="base">
                                        <p:cTn id="101" dur="500" fill="hold"/>
                                        <p:tgtEl>
                                          <p:spTgt spid="17412">
                                            <p:txEl>
                                              <p:pRg st="8" end="8"/>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1741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17412">
                                            <p:txEl>
                                              <p:pRg st="10" end="10"/>
                                            </p:txEl>
                                          </p:spTgt>
                                        </p:tgtEl>
                                        <p:attrNameLst>
                                          <p:attrName>style.visibility</p:attrName>
                                        </p:attrNameLst>
                                      </p:cBhvr>
                                      <p:to>
                                        <p:strVal val="visible"/>
                                      </p:to>
                                    </p:set>
                                    <p:anim calcmode="lin" valueType="num">
                                      <p:cBhvr additive="base">
                                        <p:cTn id="107" dur="500" fill="hold"/>
                                        <p:tgtEl>
                                          <p:spTgt spid="17412">
                                            <p:txEl>
                                              <p:pRg st="10" end="10"/>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17412">
                                            <p:txEl>
                                              <p:pRg st="10" end="10"/>
                                            </p:txEl>
                                          </p:spTgt>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17412">
                                            <p:txEl>
                                              <p:pRg st="11" end="11"/>
                                            </p:txEl>
                                          </p:spTgt>
                                        </p:tgtEl>
                                        <p:attrNameLst>
                                          <p:attrName>style.visibility</p:attrName>
                                        </p:attrNameLst>
                                      </p:cBhvr>
                                      <p:to>
                                        <p:strVal val="visible"/>
                                      </p:to>
                                    </p:set>
                                    <p:anim calcmode="lin" valueType="num">
                                      <p:cBhvr additive="base">
                                        <p:cTn id="111" dur="500" fill="hold"/>
                                        <p:tgtEl>
                                          <p:spTgt spid="17412">
                                            <p:txEl>
                                              <p:pRg st="11" end="11"/>
                                            </p:txEl>
                                          </p:spTgt>
                                        </p:tgtEl>
                                        <p:attrNameLst>
                                          <p:attrName>ppt_x</p:attrName>
                                        </p:attrNameLst>
                                      </p:cBhvr>
                                      <p:tavLst>
                                        <p:tav tm="0">
                                          <p:val>
                                            <p:strVal val="#ppt_x"/>
                                          </p:val>
                                        </p:tav>
                                        <p:tav tm="100000">
                                          <p:val>
                                            <p:strVal val="#ppt_x"/>
                                          </p:val>
                                        </p:tav>
                                      </p:tavLst>
                                    </p:anim>
                                    <p:anim calcmode="lin" valueType="num">
                                      <p:cBhvr additive="base">
                                        <p:cTn id="112" dur="500" fill="hold"/>
                                        <p:tgtEl>
                                          <p:spTgt spid="17412">
                                            <p:txEl>
                                              <p:pRg st="11" end="11"/>
                                            </p:txEl>
                                          </p:spTgt>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17412">
                                            <p:txEl>
                                              <p:pRg st="12" end="12"/>
                                            </p:txEl>
                                          </p:spTgt>
                                        </p:tgtEl>
                                        <p:attrNameLst>
                                          <p:attrName>style.visibility</p:attrName>
                                        </p:attrNameLst>
                                      </p:cBhvr>
                                      <p:to>
                                        <p:strVal val="visible"/>
                                      </p:to>
                                    </p:set>
                                    <p:anim calcmode="lin" valueType="num">
                                      <p:cBhvr additive="base">
                                        <p:cTn id="115" dur="500" fill="hold"/>
                                        <p:tgtEl>
                                          <p:spTgt spid="17412">
                                            <p:txEl>
                                              <p:pRg st="12" end="12"/>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17412">
                                            <p:txEl>
                                              <p:pRg st="12" end="12"/>
                                            </p:txEl>
                                          </p:spTgt>
                                        </p:tgtEl>
                                        <p:attrNameLst>
                                          <p:attrName>ppt_y</p:attrName>
                                        </p:attrNameLst>
                                      </p:cBhvr>
                                      <p:tavLst>
                                        <p:tav tm="0">
                                          <p:val>
                                            <p:strVal val="1+#ppt_h/2"/>
                                          </p:val>
                                        </p:tav>
                                        <p:tav tm="100000">
                                          <p:val>
                                            <p:strVal val="#ppt_y"/>
                                          </p:val>
                                        </p:tav>
                                      </p:tavLst>
                                    </p:anim>
                                  </p:childTnLst>
                                </p:cTn>
                              </p:par>
                              <p:par>
                                <p:cTn id="117" presetID="2" presetClass="entr" presetSubtype="4" fill="hold" nodeType="withEffect">
                                  <p:stCondLst>
                                    <p:cond delay="0"/>
                                  </p:stCondLst>
                                  <p:childTnLst>
                                    <p:set>
                                      <p:cBhvr>
                                        <p:cTn id="118" dur="1" fill="hold">
                                          <p:stCondLst>
                                            <p:cond delay="0"/>
                                          </p:stCondLst>
                                        </p:cTn>
                                        <p:tgtEl>
                                          <p:spTgt spid="17412">
                                            <p:txEl>
                                              <p:pRg st="13" end="13"/>
                                            </p:txEl>
                                          </p:spTgt>
                                        </p:tgtEl>
                                        <p:attrNameLst>
                                          <p:attrName>style.visibility</p:attrName>
                                        </p:attrNameLst>
                                      </p:cBhvr>
                                      <p:to>
                                        <p:strVal val="visible"/>
                                      </p:to>
                                    </p:set>
                                    <p:anim calcmode="lin" valueType="num">
                                      <p:cBhvr additive="base">
                                        <p:cTn id="119" dur="500" fill="hold"/>
                                        <p:tgtEl>
                                          <p:spTgt spid="17412">
                                            <p:txEl>
                                              <p:pRg st="13" end="13"/>
                                            </p:txEl>
                                          </p:spTgt>
                                        </p:tgtEl>
                                        <p:attrNameLst>
                                          <p:attrName>ppt_x</p:attrName>
                                        </p:attrNameLst>
                                      </p:cBhvr>
                                      <p:tavLst>
                                        <p:tav tm="0">
                                          <p:val>
                                            <p:strVal val="#ppt_x"/>
                                          </p:val>
                                        </p:tav>
                                        <p:tav tm="100000">
                                          <p:val>
                                            <p:strVal val="#ppt_x"/>
                                          </p:val>
                                        </p:tav>
                                      </p:tavLst>
                                    </p:anim>
                                    <p:anim calcmode="lin" valueType="num">
                                      <p:cBhvr additive="base">
                                        <p:cTn id="120" dur="500" fill="hold"/>
                                        <p:tgtEl>
                                          <p:spTgt spid="17412">
                                            <p:txEl>
                                              <p:pRg st="13" end="13"/>
                                            </p:txEl>
                                          </p:spTgt>
                                        </p:tgtEl>
                                        <p:attrNameLst>
                                          <p:attrName>ppt_y</p:attrName>
                                        </p:attrNameLst>
                                      </p:cBhvr>
                                      <p:tavLst>
                                        <p:tav tm="0">
                                          <p:val>
                                            <p:strVal val="1+#ppt_h/2"/>
                                          </p:val>
                                        </p:tav>
                                        <p:tav tm="100000">
                                          <p:val>
                                            <p:strVal val="#ppt_y"/>
                                          </p:val>
                                        </p:tav>
                                      </p:tavLst>
                                    </p:anim>
                                  </p:childTnLst>
                                </p:cTn>
                              </p:par>
                              <p:par>
                                <p:cTn id="121" presetID="2" presetClass="entr" presetSubtype="4" fill="hold" nodeType="withEffect">
                                  <p:stCondLst>
                                    <p:cond delay="0"/>
                                  </p:stCondLst>
                                  <p:childTnLst>
                                    <p:set>
                                      <p:cBhvr>
                                        <p:cTn id="122" dur="1" fill="hold">
                                          <p:stCondLst>
                                            <p:cond delay="0"/>
                                          </p:stCondLst>
                                        </p:cTn>
                                        <p:tgtEl>
                                          <p:spTgt spid="17412">
                                            <p:txEl>
                                              <p:pRg st="14" end="14"/>
                                            </p:txEl>
                                          </p:spTgt>
                                        </p:tgtEl>
                                        <p:attrNameLst>
                                          <p:attrName>style.visibility</p:attrName>
                                        </p:attrNameLst>
                                      </p:cBhvr>
                                      <p:to>
                                        <p:strVal val="visible"/>
                                      </p:to>
                                    </p:set>
                                    <p:anim calcmode="lin" valueType="num">
                                      <p:cBhvr additive="base">
                                        <p:cTn id="123" dur="500" fill="hold"/>
                                        <p:tgtEl>
                                          <p:spTgt spid="17412">
                                            <p:txEl>
                                              <p:pRg st="14" end="14"/>
                                            </p:txEl>
                                          </p:spTgt>
                                        </p:tgtEl>
                                        <p:attrNameLst>
                                          <p:attrName>ppt_x</p:attrName>
                                        </p:attrNameLst>
                                      </p:cBhvr>
                                      <p:tavLst>
                                        <p:tav tm="0">
                                          <p:val>
                                            <p:strVal val="#ppt_x"/>
                                          </p:val>
                                        </p:tav>
                                        <p:tav tm="100000">
                                          <p:val>
                                            <p:strVal val="#ppt_x"/>
                                          </p:val>
                                        </p:tav>
                                      </p:tavLst>
                                    </p:anim>
                                    <p:anim calcmode="lin" valueType="num">
                                      <p:cBhvr additive="base">
                                        <p:cTn id="124" dur="500" fill="hold"/>
                                        <p:tgtEl>
                                          <p:spTgt spid="17412">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P spid="174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4DD5E8-562D-4C0A-8035-C36C014C94B7}"/>
              </a:ext>
            </a:extLst>
          </p:cNvPr>
          <p:cNvSpPr>
            <a:spLocks noGrp="1"/>
          </p:cNvSpPr>
          <p:nvPr>
            <p:ph idx="1"/>
          </p:nvPr>
        </p:nvSpPr>
        <p:spPr>
          <a:xfrm>
            <a:off x="1143000" y="609600"/>
            <a:ext cx="7467600" cy="5638800"/>
          </a:xfrm>
        </p:spPr>
        <p:txBody>
          <a:bodyPr>
            <a:normAutofit lnSpcReduction="10000"/>
          </a:bodyPr>
          <a:lstStyle/>
          <a:p>
            <a:pPr eaLnBrk="1" hangingPunct="1">
              <a:buFont typeface="Wingdings 2" panose="05020102010507070707" pitchFamily="18" charset="2"/>
              <a:buNone/>
              <a:defRPr/>
            </a:pPr>
            <a:r>
              <a:rPr lang="en-US" sz="2600" b="1" dirty="0">
                <a:latin typeface="Garamond" pitchFamily="18" charset="0"/>
              </a:rPr>
              <a:t>Forest</a:t>
            </a:r>
          </a:p>
          <a:p>
            <a:pPr algn="just" eaLnBrk="1" hangingPunct="1">
              <a:defRPr/>
            </a:pPr>
            <a:r>
              <a:rPr lang="en-US" sz="2400" dirty="0">
                <a:latin typeface="Garamond" pitchFamily="18" charset="0"/>
              </a:rPr>
              <a:t>A forest is a community of trees, shrubs, herbs, and associated plants and organisms that cover a considerable area that use oxygen, water and soil nutrients as the community attains maturity and reproduces itself. </a:t>
            </a:r>
          </a:p>
          <a:p>
            <a:pPr marL="344488" indent="-344488" algn="just" eaLnBrk="1" hangingPunct="1">
              <a:buClr>
                <a:schemeClr val="tx1"/>
              </a:buClr>
              <a:buSzPct val="100000"/>
              <a:buFont typeface="Wingdings" pitchFamily="2" charset="2"/>
              <a:buChar char="§"/>
              <a:defRPr/>
            </a:pPr>
            <a:r>
              <a:rPr lang="en-US" sz="2400" dirty="0">
                <a:latin typeface="Garamond" pitchFamily="18" charset="0"/>
              </a:rPr>
              <a:t>Depending on the geographical location, rainfall and temperature, forests contain different types of plant species, ranging from large trees to smallest of weeds.</a:t>
            </a:r>
          </a:p>
          <a:p>
            <a:pPr marL="344488" indent="-344488" algn="just" eaLnBrk="1" hangingPunct="1">
              <a:buClr>
                <a:schemeClr val="tx1"/>
              </a:buClr>
              <a:buSzPct val="100000"/>
              <a:buFont typeface="Wingdings" pitchFamily="2" charset="2"/>
              <a:buChar char="§"/>
              <a:defRPr/>
            </a:pPr>
            <a:r>
              <a:rPr lang="en-US" sz="2400" dirty="0">
                <a:latin typeface="Garamond" pitchFamily="18" charset="0"/>
              </a:rPr>
              <a:t>Based on their locations, forests are classified as</a:t>
            </a:r>
          </a:p>
          <a:p>
            <a:pPr marL="344488" indent="-344488" algn="just" eaLnBrk="1" hangingPunct="1">
              <a:buClr>
                <a:schemeClr val="tx1"/>
              </a:buClr>
              <a:buSzPct val="100000"/>
              <a:buFont typeface="Wingdings 2" panose="05020102010507070707" pitchFamily="18" charset="2"/>
              <a:buNone/>
              <a:defRPr/>
            </a:pPr>
            <a:endParaRPr lang="en-US" sz="2400" dirty="0">
              <a:latin typeface="Garamond" pitchFamily="18" charset="0"/>
            </a:endParaRPr>
          </a:p>
          <a:p>
            <a:pPr marL="1379538" lvl="1" indent="-585788" algn="just" eaLnBrk="1" hangingPunct="1">
              <a:buClr>
                <a:schemeClr val="tx1"/>
              </a:buClr>
              <a:buFont typeface="Arial" charset="0"/>
              <a:buChar char="•"/>
              <a:defRPr/>
            </a:pPr>
            <a:r>
              <a:rPr lang="en-US" sz="2400" dirty="0">
                <a:latin typeface="Garamond" pitchFamily="18" charset="0"/>
              </a:rPr>
              <a:t>Tropical forest</a:t>
            </a:r>
          </a:p>
          <a:p>
            <a:pPr marL="1379538" lvl="1" indent="-585788" algn="just" eaLnBrk="1" hangingPunct="1">
              <a:buClr>
                <a:schemeClr val="tx1"/>
              </a:buClr>
              <a:buFont typeface="Arial" charset="0"/>
              <a:buChar char="•"/>
              <a:defRPr/>
            </a:pPr>
            <a:r>
              <a:rPr lang="en-US" sz="2400" dirty="0">
                <a:latin typeface="Garamond" pitchFamily="18" charset="0"/>
              </a:rPr>
              <a:t>Temperate forest</a:t>
            </a:r>
          </a:p>
          <a:p>
            <a:pPr marL="1379538" lvl="1" indent="-585788" algn="just" eaLnBrk="1" hangingPunct="1">
              <a:buClr>
                <a:schemeClr val="tx1"/>
              </a:buClr>
              <a:buFont typeface="Arial" charset="0"/>
              <a:buChar char="•"/>
              <a:defRPr/>
            </a:pPr>
            <a:r>
              <a:rPr lang="en-US" sz="2400" dirty="0">
                <a:latin typeface="Garamond" pitchFamily="18" charset="0"/>
              </a:rPr>
              <a:t>Coniferous forest (boreal /taiga)</a:t>
            </a:r>
          </a:p>
          <a:p>
            <a:pPr eaLnBrk="1" hangingPunct="1">
              <a:defRPr/>
            </a:pPr>
            <a:endParaRPr lang="en-US" sz="2400" dirty="0">
              <a:latin typeface="Garamond" pitchFamily="18" charset="0"/>
            </a:endParaRPr>
          </a:p>
          <a:p>
            <a:pPr eaLnBrk="1" hangingPunct="1">
              <a:defRPr/>
            </a:pPr>
            <a:endParaRPr lang="en-US" sz="24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F1821-569F-42AC-A386-5A25A79E1D65}"/>
              </a:ext>
            </a:extLst>
          </p:cNvPr>
          <p:cNvSpPr>
            <a:spLocks noGrp="1"/>
          </p:cNvSpPr>
          <p:nvPr>
            <p:ph type="title"/>
          </p:nvPr>
        </p:nvSpPr>
        <p:spPr>
          <a:xfrm>
            <a:off x="1435100" y="274638"/>
            <a:ext cx="7499350" cy="182562"/>
          </a:xfrm>
        </p:spPr>
        <p:txBody>
          <a:bodyPr>
            <a:normAutofit fontScale="90000"/>
          </a:bodyPr>
          <a:lstStyle/>
          <a:p>
            <a:pPr eaLnBrk="1" hangingPunct="1">
              <a:defRPr/>
            </a:pPr>
            <a:r>
              <a:rPr lang="en-US" dirty="0"/>
              <a:t> </a:t>
            </a:r>
          </a:p>
        </p:txBody>
      </p:sp>
      <p:graphicFrame>
        <p:nvGraphicFramePr>
          <p:cNvPr id="4" name="Content Placeholder 3">
            <a:extLst>
              <a:ext uri="{FF2B5EF4-FFF2-40B4-BE49-F238E27FC236}">
                <a16:creationId xmlns:a16="http://schemas.microsoft.com/office/drawing/2014/main" id="{EB8FDE8C-B11F-4A31-AEE2-A5E57F339FEA}"/>
              </a:ext>
            </a:extLst>
          </p:cNvPr>
          <p:cNvGraphicFramePr>
            <a:graphicFrameLocks noGrp="1"/>
          </p:cNvGraphicFramePr>
          <p:nvPr>
            <p:ph idx="1"/>
            <p:extLst>
              <p:ext uri="{D42A27DB-BD31-4B8C-83A1-F6EECF244321}">
                <p14:modId xmlns:p14="http://schemas.microsoft.com/office/powerpoint/2010/main" val="2671391365"/>
              </p:ext>
            </p:extLst>
          </p:nvPr>
        </p:nvGraphicFramePr>
        <p:xfrm>
          <a:off x="0" y="0"/>
          <a:ext cx="9144000" cy="7296505"/>
        </p:xfrm>
        <a:graphic>
          <a:graphicData uri="http://schemas.openxmlformats.org/drawingml/2006/table">
            <a:tbl>
              <a:tblPr/>
              <a:tblGrid>
                <a:gridCol w="13716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gridCol w="1981200">
                  <a:extLst>
                    <a:ext uri="{9D8B030D-6E8A-4147-A177-3AD203B41FA5}">
                      <a16:colId xmlns:a16="http://schemas.microsoft.com/office/drawing/2014/main" val="20003"/>
                    </a:ext>
                  </a:extLst>
                </a:gridCol>
              </a:tblGrid>
              <a:tr h="78650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rgbClr val="000000"/>
                        </a:solidFill>
                        <a:effectLst/>
                        <a:latin typeface="Gill Sans MT" pitchFamily="34" charset="0"/>
                        <a:ea typeface="MS PGothic" pitchFamily="34" charset="-128"/>
                      </a:endParaRP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E9EAE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rgbClr val="000000"/>
                          </a:solidFill>
                          <a:effectLst/>
                          <a:latin typeface="Gill Sans MT" pitchFamily="34" charset="0"/>
                          <a:ea typeface="MS PGothic" pitchFamily="34" charset="-128"/>
                        </a:rPr>
                        <a:t>Tropical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rgbClr val="000000"/>
                          </a:solidFill>
                          <a:effectLst/>
                          <a:latin typeface="Gill Sans MT" pitchFamily="34" charset="0"/>
                          <a:ea typeface="MS PGothic" pitchFamily="34" charset="-128"/>
                        </a:rPr>
                        <a:t>Forest</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dirty="0">
                        <a:ln>
                          <a:noFill/>
                        </a:ln>
                        <a:solidFill>
                          <a:srgbClr val="000000"/>
                        </a:solidFill>
                        <a:effectLst/>
                        <a:latin typeface="Gill Sans MT" pitchFamily="34" charset="0"/>
                        <a:ea typeface="MS PGothic" pitchFamily="34" charset="-128"/>
                      </a:endParaRP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E9EAE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Gill Sans MT" pitchFamily="34" charset="0"/>
                          <a:ea typeface="MS PGothic" pitchFamily="34" charset="-128"/>
                        </a:rPr>
                        <a:t>Temperate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Gill Sans MT" pitchFamily="34" charset="0"/>
                          <a:ea typeface="MS PGothic" pitchFamily="34" charset="-128"/>
                        </a:rPr>
                        <a:t>Forest</a:t>
                      </a: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E9EAE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Gill Sans MT" pitchFamily="34" charset="0"/>
                          <a:ea typeface="MS PGothic" pitchFamily="34" charset="-128"/>
                        </a:rPr>
                        <a:t>Coniferous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Gill Sans MT" pitchFamily="34" charset="0"/>
                          <a:ea typeface="MS PGothic" pitchFamily="34" charset="-128"/>
                        </a:rPr>
                        <a:t>Forest</a:t>
                      </a: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E9EAEE"/>
                    </a:solidFill>
                  </a:tcPr>
                </a:tc>
                <a:extLst>
                  <a:ext uri="{0D108BD9-81ED-4DB2-BD59-A6C34878D82A}">
                    <a16:rowId xmlns:a16="http://schemas.microsoft.com/office/drawing/2014/main" val="10000"/>
                  </a:ext>
                </a:extLst>
              </a:tr>
              <a:tr h="101954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Times New Roman" pitchFamily="18" charset="0"/>
                          <a:ea typeface="MS PGothic" pitchFamily="34" charset="-128"/>
                          <a:cs typeface="Times New Roman" pitchFamily="18" charset="0"/>
                        </a:rPr>
                        <a:t>Location</a:t>
                      </a: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CFD1DB"/>
                    </a:solidFill>
                  </a:tcPr>
                </a:tc>
                <a:tc>
                  <a:txBody>
                    <a:bodyPr/>
                    <a:lstStyle/>
                    <a:p>
                      <a:pPr marL="344488" marR="0" lvl="1" indent="-344488" algn="ctr" defTabSz="914400" rtl="0" eaLnBrk="1" fontAlgn="base" latinLnBrk="0" hangingPunct="1">
                        <a:lnSpc>
                          <a:spcPct val="100000"/>
                        </a:lnSpc>
                        <a:spcBef>
                          <a:spcPct val="0"/>
                        </a:spcBef>
                        <a:spcAft>
                          <a:spcPct val="0"/>
                        </a:spcAft>
                        <a:buClrTx/>
                        <a:buSzTx/>
                        <a:buFont typeface="Verdana" pitchFamily="34" charset="0"/>
                        <a:buNone/>
                        <a:tabLst/>
                      </a:pPr>
                      <a:r>
                        <a:rPr kumimoji="0" lang="en-US" sz="1600" b="0" i="0" u="none" strike="noStrike" cap="none" normalizeH="0" baseline="0" dirty="0">
                          <a:ln>
                            <a:noFill/>
                          </a:ln>
                          <a:solidFill>
                            <a:srgbClr val="000000"/>
                          </a:solidFill>
                          <a:effectLst/>
                          <a:latin typeface="Garamond" pitchFamily="18" charset="0"/>
                          <a:ea typeface="MS PGothic" pitchFamily="34" charset="-128"/>
                        </a:rPr>
                        <a:t>situated at tropical region of the earth, which is close to equator</a:t>
                      </a: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CFD1D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Garamond" pitchFamily="18" charset="0"/>
                          <a:ea typeface="MS PGothic" pitchFamily="34" charset="-128"/>
                        </a:rPr>
                        <a:t>occurring between 35</a:t>
                      </a:r>
                      <a:r>
                        <a:rPr kumimoji="0" lang="en-US" sz="1600" b="0" i="0" u="none" strike="noStrike" cap="none" normalizeH="0" baseline="30000" dirty="0">
                          <a:ln>
                            <a:noFill/>
                          </a:ln>
                          <a:solidFill>
                            <a:srgbClr val="000000"/>
                          </a:solidFill>
                          <a:effectLst/>
                          <a:latin typeface="Garamond" pitchFamily="18" charset="0"/>
                          <a:ea typeface="MS PGothic" pitchFamily="34" charset="-128"/>
                        </a:rPr>
                        <a:t>0 </a:t>
                      </a:r>
                      <a:r>
                        <a:rPr kumimoji="0" lang="en-US" sz="1600" b="0" i="0" u="none" strike="noStrike" cap="none" normalizeH="0" baseline="0" dirty="0">
                          <a:ln>
                            <a:noFill/>
                          </a:ln>
                          <a:solidFill>
                            <a:srgbClr val="000000"/>
                          </a:solidFill>
                          <a:effectLst/>
                          <a:latin typeface="Garamond" pitchFamily="18" charset="0"/>
                          <a:ea typeface="MS PGothic" pitchFamily="34" charset="-128"/>
                        </a:rPr>
                        <a:t>- 65</a:t>
                      </a:r>
                      <a:r>
                        <a:rPr kumimoji="0" lang="en-US" sz="1600" b="0" i="0" u="none" strike="noStrike" cap="none" normalizeH="0" baseline="30000" dirty="0">
                          <a:ln>
                            <a:noFill/>
                          </a:ln>
                          <a:solidFill>
                            <a:srgbClr val="000000"/>
                          </a:solidFill>
                          <a:effectLst/>
                          <a:latin typeface="Garamond" pitchFamily="18" charset="0"/>
                          <a:ea typeface="MS PGothic" pitchFamily="34" charset="-128"/>
                        </a:rPr>
                        <a:t>0  </a:t>
                      </a:r>
                      <a:r>
                        <a:rPr kumimoji="0" lang="en-US" sz="1600" b="0" i="0" u="none" strike="noStrike" cap="none" normalizeH="0" baseline="0" dirty="0">
                          <a:ln>
                            <a:noFill/>
                          </a:ln>
                          <a:solidFill>
                            <a:srgbClr val="000000"/>
                          </a:solidFill>
                          <a:effectLst/>
                          <a:latin typeface="Garamond" pitchFamily="18" charset="0"/>
                          <a:ea typeface="MS PGothic" pitchFamily="34" charset="-128"/>
                        </a:rPr>
                        <a:t>on either side of the equator</a:t>
                      </a:r>
                      <a:endParaRPr kumimoji="0" lang="en-US" sz="1600" b="0" i="0" u="none" strike="noStrike" cap="none" normalizeH="0" baseline="0" dirty="0">
                        <a:ln>
                          <a:noFill/>
                        </a:ln>
                        <a:solidFill>
                          <a:srgbClr val="000000"/>
                        </a:solidFill>
                        <a:effectLst/>
                        <a:latin typeface="Gill Sans MT" pitchFamily="34" charset="0"/>
                        <a:ea typeface="MS PGothic" pitchFamily="34" charset="-128"/>
                      </a:endParaRP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CFD1D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Garamond" pitchFamily="18" charset="0"/>
                          <a:ea typeface="MS PGothic" pitchFamily="34" charset="-128"/>
                          <a:cs typeface="Times New Roman" pitchFamily="18" charset="0"/>
                        </a:rPr>
                        <a:t>from about 50°N to 70°N latitude</a:t>
                      </a: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CFD1DB"/>
                    </a:solidFill>
                  </a:tcPr>
                </a:tc>
                <a:extLst>
                  <a:ext uri="{0D108BD9-81ED-4DB2-BD59-A6C34878D82A}">
                    <a16:rowId xmlns:a16="http://schemas.microsoft.com/office/drawing/2014/main" val="10001"/>
                  </a:ext>
                </a:extLst>
              </a:tr>
              <a:tr h="101954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Times New Roman" pitchFamily="18" charset="0"/>
                          <a:ea typeface="MS PGothic" pitchFamily="34" charset="-128"/>
                          <a:cs typeface="Times New Roman" pitchFamily="18" charset="0"/>
                        </a:rPr>
                        <a:t>Temperature</a:t>
                      </a: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E9EAEE"/>
                    </a:solidFill>
                  </a:tcPr>
                </a:tc>
                <a:tc>
                  <a:txBody>
                    <a:bodyPr/>
                    <a:lstStyle/>
                    <a:p>
                      <a:pPr marL="0" marR="0" lvl="1"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Garamond" pitchFamily="18" charset="0"/>
                          <a:ea typeface="MS PGothic" pitchFamily="34" charset="-128"/>
                        </a:rPr>
                        <a:t>Hot and humid climate all the year round, average temperature is  27</a:t>
                      </a:r>
                      <a:r>
                        <a:rPr kumimoji="0" lang="en-US" sz="1600" b="0" i="0" u="none" strike="noStrike" cap="none" normalizeH="0" baseline="30000" dirty="0">
                          <a:ln>
                            <a:noFill/>
                          </a:ln>
                          <a:solidFill>
                            <a:srgbClr val="000000"/>
                          </a:solidFill>
                          <a:effectLst/>
                          <a:latin typeface="Garamond" pitchFamily="18" charset="0"/>
                          <a:ea typeface="MS PGothic" pitchFamily="34" charset="-128"/>
                        </a:rPr>
                        <a:t>0</a:t>
                      </a:r>
                      <a:r>
                        <a:rPr kumimoji="0" lang="en-US" sz="1600" b="0" i="0" u="none" strike="noStrike" cap="none" normalizeH="0" baseline="0" dirty="0">
                          <a:ln>
                            <a:noFill/>
                          </a:ln>
                          <a:solidFill>
                            <a:srgbClr val="000000"/>
                          </a:solidFill>
                          <a:effectLst/>
                          <a:latin typeface="Garamond" pitchFamily="18" charset="0"/>
                          <a:ea typeface="MS PGothic" pitchFamily="34" charset="-128"/>
                        </a:rPr>
                        <a:t> C</a:t>
                      </a: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E9EAE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Garamond" pitchFamily="18" charset="0"/>
                          <a:ea typeface="MS PGothic" pitchFamily="34" charset="-128"/>
                        </a:rPr>
                        <a:t>Average summer temperature is below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Garamond" pitchFamily="18" charset="0"/>
                          <a:ea typeface="MS PGothic" pitchFamily="34" charset="-128"/>
                        </a:rPr>
                        <a:t>10</a:t>
                      </a:r>
                      <a:r>
                        <a:rPr kumimoji="0" lang="en-US" sz="1600" b="0" i="0" u="none" strike="noStrike" cap="none" normalizeH="0" baseline="30000" dirty="0">
                          <a:ln>
                            <a:noFill/>
                          </a:ln>
                          <a:solidFill>
                            <a:srgbClr val="000000"/>
                          </a:solidFill>
                          <a:effectLst/>
                          <a:latin typeface="Garamond" pitchFamily="18" charset="0"/>
                          <a:ea typeface="MS PGothic" pitchFamily="34" charset="-128"/>
                        </a:rPr>
                        <a:t>0</a:t>
                      </a:r>
                      <a:r>
                        <a:rPr kumimoji="0" lang="en-US" sz="1600" b="0" i="0" u="none" strike="noStrike" cap="none" normalizeH="0" baseline="0" dirty="0">
                          <a:ln>
                            <a:noFill/>
                          </a:ln>
                          <a:solidFill>
                            <a:srgbClr val="000000"/>
                          </a:solidFill>
                          <a:effectLst/>
                          <a:latin typeface="Garamond" pitchFamily="18" charset="0"/>
                          <a:ea typeface="MS PGothic" pitchFamily="34" charset="-128"/>
                        </a:rPr>
                        <a:t> C, Winter are very cold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Garamond" pitchFamily="18" charset="0"/>
                          <a:ea typeface="MS PGothic" pitchFamily="34" charset="-128"/>
                        </a:rPr>
                        <a:t>(-30</a:t>
                      </a:r>
                      <a:r>
                        <a:rPr kumimoji="0" lang="en-US" sz="1600" b="0" i="0" u="none" strike="noStrike" cap="none" normalizeH="0" baseline="30000" dirty="0">
                          <a:ln>
                            <a:noFill/>
                          </a:ln>
                          <a:solidFill>
                            <a:srgbClr val="000000"/>
                          </a:solidFill>
                          <a:effectLst/>
                          <a:latin typeface="Garamond" pitchFamily="18" charset="0"/>
                          <a:ea typeface="MS PGothic" pitchFamily="34" charset="-128"/>
                        </a:rPr>
                        <a:t>0</a:t>
                      </a:r>
                      <a:r>
                        <a:rPr kumimoji="0" lang="en-US" sz="1600" b="0" i="0" u="none" strike="noStrike" cap="none" normalizeH="0" baseline="0" dirty="0">
                          <a:ln>
                            <a:noFill/>
                          </a:ln>
                          <a:solidFill>
                            <a:srgbClr val="000000"/>
                          </a:solidFill>
                          <a:effectLst/>
                          <a:latin typeface="Garamond" pitchFamily="18" charset="0"/>
                          <a:ea typeface="MS PGothic" pitchFamily="34" charset="-128"/>
                        </a:rPr>
                        <a:t> C and lower)</a:t>
                      </a: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E9EAEE"/>
                    </a:solidFill>
                  </a:tcPr>
                </a:tc>
                <a:tc>
                  <a:txBody>
                    <a:bodyPr/>
                    <a:lstStyle/>
                    <a:p>
                      <a:pPr marL="0" marR="0" lvl="1"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Garamond" pitchFamily="18" charset="0"/>
                          <a:ea typeface="MS PGothic" pitchFamily="34" charset="-128"/>
                        </a:rPr>
                        <a:t>Short summer (not particularly warm) about 14</a:t>
                      </a:r>
                      <a:r>
                        <a:rPr kumimoji="0" lang="en-US" sz="1600" b="0" i="0" u="none" strike="noStrike" cap="none" normalizeH="0" baseline="30000" dirty="0">
                          <a:ln>
                            <a:noFill/>
                          </a:ln>
                          <a:solidFill>
                            <a:srgbClr val="000000"/>
                          </a:solidFill>
                          <a:effectLst/>
                          <a:latin typeface="Garamond" pitchFamily="18" charset="0"/>
                          <a:ea typeface="MS PGothic" pitchFamily="34" charset="-128"/>
                        </a:rPr>
                        <a:t>0</a:t>
                      </a:r>
                      <a:r>
                        <a:rPr kumimoji="0" lang="en-US" sz="1600" b="0" i="0" u="none" strike="noStrike" cap="none" normalizeH="0" baseline="0" dirty="0">
                          <a:ln>
                            <a:noFill/>
                          </a:ln>
                          <a:solidFill>
                            <a:srgbClr val="000000"/>
                          </a:solidFill>
                          <a:effectLst/>
                          <a:latin typeface="Garamond" pitchFamily="18" charset="0"/>
                          <a:ea typeface="MS PGothic" pitchFamily="34" charset="-128"/>
                        </a:rPr>
                        <a:t> C, Very cold winter (-20</a:t>
                      </a:r>
                      <a:r>
                        <a:rPr kumimoji="0" lang="en-US" sz="1600" b="0" i="0" u="none" strike="noStrike" cap="none" normalizeH="0" baseline="30000" dirty="0">
                          <a:ln>
                            <a:noFill/>
                          </a:ln>
                          <a:solidFill>
                            <a:srgbClr val="000000"/>
                          </a:solidFill>
                          <a:effectLst/>
                          <a:latin typeface="Garamond" pitchFamily="18" charset="0"/>
                          <a:ea typeface="MS PGothic" pitchFamily="34" charset="-128"/>
                        </a:rPr>
                        <a:t>0</a:t>
                      </a:r>
                      <a:r>
                        <a:rPr kumimoji="0" lang="en-US" sz="1600" b="0" i="0" u="none" strike="noStrike" cap="none" normalizeH="0" baseline="0" dirty="0">
                          <a:ln>
                            <a:noFill/>
                          </a:ln>
                          <a:solidFill>
                            <a:srgbClr val="000000"/>
                          </a:solidFill>
                          <a:effectLst/>
                          <a:latin typeface="Garamond" pitchFamily="18" charset="0"/>
                          <a:ea typeface="MS PGothic" pitchFamily="34" charset="-128"/>
                        </a:rPr>
                        <a:t> C and lower)</a:t>
                      </a: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E9EAEE"/>
                    </a:solidFill>
                  </a:tcPr>
                </a:tc>
                <a:extLst>
                  <a:ext uri="{0D108BD9-81ED-4DB2-BD59-A6C34878D82A}">
                    <a16:rowId xmlns:a16="http://schemas.microsoft.com/office/drawing/2014/main" val="10002"/>
                  </a:ext>
                </a:extLst>
              </a:tr>
              <a:tr h="101954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Times New Roman" pitchFamily="18" charset="0"/>
                          <a:ea typeface="MS PGothic" pitchFamily="34" charset="-128"/>
                          <a:cs typeface="Times New Roman" pitchFamily="18" charset="0"/>
                        </a:rPr>
                        <a:t>Precipitation</a:t>
                      </a: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CFD1DB"/>
                    </a:solidFill>
                  </a:tcPr>
                </a:tc>
                <a:tc>
                  <a:txBody>
                    <a:bodyPr/>
                    <a:lstStyle/>
                    <a:p>
                      <a:pPr marL="0" marR="0" lvl="1"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Garamond" pitchFamily="18" charset="0"/>
                          <a:ea typeface="MS PGothic" pitchFamily="34" charset="-128"/>
                        </a:rPr>
                        <a:t>High annual rainfall 2000 mm+;</a:t>
                      </a:r>
                    </a:p>
                    <a:p>
                      <a:pPr marL="0" marR="0" lvl="1"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Garamond" pitchFamily="18" charset="0"/>
                          <a:ea typeface="MS PGothic" pitchFamily="34" charset="-128"/>
                        </a:rPr>
                        <a:t>Wet all the year round </a:t>
                      </a: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CFD1D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Garamond" pitchFamily="18" charset="0"/>
                          <a:ea typeface="MS PGothic" pitchFamily="34" charset="-128"/>
                        </a:rPr>
                        <a:t>Annual precipitation is low (under 300 mm);</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Garamond" pitchFamily="18" charset="0"/>
                          <a:ea typeface="MS PGothic" pitchFamily="34" charset="-128"/>
                        </a:rPr>
                        <a:t>Precipitation is irregular and falls mostly as snow</a:t>
                      </a: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CFD1DB"/>
                    </a:solidFill>
                  </a:tcPr>
                </a:tc>
                <a:tc>
                  <a:txBody>
                    <a:bodyPr/>
                    <a:lstStyle/>
                    <a:p>
                      <a:pPr marL="0" marR="0" lvl="1"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Garamond" pitchFamily="18" charset="0"/>
                          <a:ea typeface="MS PGothic" pitchFamily="34" charset="-128"/>
                        </a:rPr>
                        <a:t>Low annual total rainfall (less than 500 mm); Climate experiences extreme changes</a:t>
                      </a: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CFD1DB"/>
                    </a:solidFill>
                  </a:tcPr>
                </a:tc>
                <a:extLst>
                  <a:ext uri="{0D108BD9-81ED-4DB2-BD59-A6C34878D82A}">
                    <a16:rowId xmlns:a16="http://schemas.microsoft.com/office/drawing/2014/main" val="10003"/>
                  </a:ext>
                </a:extLst>
              </a:tr>
              <a:tr h="101954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Times New Roman" pitchFamily="18" charset="0"/>
                          <a:ea typeface="MS PGothic" pitchFamily="34" charset="-128"/>
                          <a:cs typeface="Times New Roman" pitchFamily="18" charset="0"/>
                        </a:rPr>
                        <a:t>Biodiversity</a:t>
                      </a: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E9EAE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Garamond" pitchFamily="18" charset="0"/>
                          <a:ea typeface="MS PGothic" pitchFamily="34" charset="-128"/>
                        </a:rPr>
                        <a:t>Majority of plant species and large proportion of animal species </a:t>
                      </a:r>
                      <a:endParaRPr kumimoji="0" lang="en-US" sz="1600" b="0" i="0" u="none" strike="noStrike" cap="none" normalizeH="0" baseline="0">
                        <a:ln>
                          <a:noFill/>
                        </a:ln>
                        <a:solidFill>
                          <a:srgbClr val="000000"/>
                        </a:solidFill>
                        <a:effectLst/>
                        <a:latin typeface="Gill Sans MT" pitchFamily="34" charset="0"/>
                        <a:ea typeface="MS PGothic" pitchFamily="34" charset="-128"/>
                      </a:endParaRP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E9EAE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Garamond" pitchFamily="18" charset="0"/>
                          <a:ea typeface="MS PGothic" pitchFamily="34" charset="-128"/>
                          <a:cs typeface="Times New Roman" pitchFamily="18" charset="0"/>
                        </a:rPr>
                        <a:t>Limited compared to tropical forest</a:t>
                      </a: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E9EAE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Garamond" pitchFamily="18" charset="0"/>
                          <a:ea typeface="MS PGothic" pitchFamily="34" charset="-128"/>
                        </a:rPr>
                        <a:t>More animals than plants </a:t>
                      </a: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E9EAEE"/>
                    </a:solidFill>
                  </a:tcPr>
                </a:tc>
                <a:extLst>
                  <a:ext uri="{0D108BD9-81ED-4DB2-BD59-A6C34878D82A}">
                    <a16:rowId xmlns:a16="http://schemas.microsoft.com/office/drawing/2014/main" val="10004"/>
                  </a:ext>
                </a:extLst>
              </a:tr>
              <a:tr h="171866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00000"/>
                        </a:solidFill>
                        <a:effectLst/>
                        <a:latin typeface="Gill Sans MT" pitchFamily="34" charset="0"/>
                        <a:ea typeface="MS PGothic" pitchFamily="34" charset="-128"/>
                      </a:endParaRP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CFD1D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rgbClr val="000000"/>
                        </a:solidFill>
                        <a:effectLst/>
                        <a:latin typeface="Gill Sans MT" pitchFamily="34" charset="0"/>
                        <a:ea typeface="MS PGothic" pitchFamily="34" charset="-128"/>
                      </a:endParaRP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CFD1DB"/>
                    </a:solidFill>
                  </a:tcPr>
                </a:tc>
                <a:tc>
                  <a:txBody>
                    <a:bodyPr/>
                    <a:lstStyle/>
                    <a:p>
                      <a:pPr marL="365125" marR="0" lvl="0" indent="-282575" algn="just" defTabSz="914400" rtl="0" eaLnBrk="1" fontAlgn="base" latinLnBrk="0" hangingPunct="1">
                        <a:lnSpc>
                          <a:spcPct val="100000"/>
                        </a:lnSpc>
                        <a:spcBef>
                          <a:spcPct val="0"/>
                        </a:spcBef>
                        <a:spcAft>
                          <a:spcPct val="0"/>
                        </a:spcAft>
                        <a:buClrTx/>
                        <a:buSzTx/>
                        <a:buFont typeface="Wingdings 2" pitchFamily="18" charset="2"/>
                        <a:buNone/>
                        <a:tabLst/>
                      </a:pPr>
                      <a:r>
                        <a:rPr kumimoji="0" lang="en-US" sz="1600" b="0" i="0" u="none" strike="noStrike" cap="none" normalizeH="0" baseline="0" dirty="0">
                          <a:ln>
                            <a:noFill/>
                          </a:ln>
                          <a:solidFill>
                            <a:srgbClr val="000000"/>
                          </a:solidFill>
                          <a:effectLst/>
                          <a:latin typeface="Garamond" pitchFamily="18" charset="0"/>
                          <a:ea typeface="MS PGothic" pitchFamily="34" charset="-128"/>
                        </a:rPr>
                        <a:t>Temperate forests are of two types – </a:t>
                      </a:r>
                    </a:p>
                    <a:p>
                      <a:pPr marL="365125" marR="0" lvl="0" indent="-282575" algn="l" defTabSz="914400" rtl="0" eaLnBrk="1" fontAlgn="base" latinLnBrk="0" hangingPunct="1">
                        <a:lnSpc>
                          <a:spcPct val="100000"/>
                        </a:lnSpc>
                        <a:spcBef>
                          <a:spcPct val="0"/>
                        </a:spcBef>
                        <a:spcAft>
                          <a:spcPct val="0"/>
                        </a:spcAft>
                        <a:buClrTx/>
                        <a:buSzTx/>
                        <a:buFont typeface="Wingdings" pitchFamily="2" charset="2"/>
                        <a:buNone/>
                        <a:tabLst/>
                      </a:pPr>
                      <a:r>
                        <a:rPr kumimoji="0" lang="en-US" sz="1600" b="0" i="0" u="none" strike="noStrike" cap="none" normalizeH="0" baseline="0" dirty="0">
                          <a:ln>
                            <a:noFill/>
                          </a:ln>
                          <a:solidFill>
                            <a:srgbClr val="000000"/>
                          </a:solidFill>
                          <a:effectLst/>
                          <a:latin typeface="Garamond" pitchFamily="18" charset="0"/>
                          <a:ea typeface="MS PGothic" pitchFamily="34" charset="-128"/>
                        </a:rPr>
                        <a:t>Deciduous forests- present in the northern hemisphere, shed leaves in winter</a:t>
                      </a:r>
                    </a:p>
                    <a:p>
                      <a:pPr marL="365125" marR="0" lvl="0" indent="-282575" algn="l" defTabSz="914400" rtl="0" eaLnBrk="1" fontAlgn="base" latinLnBrk="0" hangingPunct="1">
                        <a:lnSpc>
                          <a:spcPct val="100000"/>
                        </a:lnSpc>
                        <a:spcBef>
                          <a:spcPct val="0"/>
                        </a:spcBef>
                        <a:spcAft>
                          <a:spcPct val="0"/>
                        </a:spcAft>
                        <a:buClrTx/>
                        <a:buSzTx/>
                        <a:buFont typeface="Wingdings" pitchFamily="2" charset="2"/>
                        <a:buNone/>
                        <a:tabLst/>
                      </a:pPr>
                      <a:r>
                        <a:rPr kumimoji="0" lang="en-US" sz="1600" b="0" i="0" u="none" strike="noStrike" cap="none" normalizeH="0" baseline="0" dirty="0">
                          <a:ln>
                            <a:noFill/>
                          </a:ln>
                          <a:solidFill>
                            <a:srgbClr val="000000"/>
                          </a:solidFill>
                          <a:effectLst/>
                          <a:latin typeface="Garamond" pitchFamily="18" charset="0"/>
                          <a:ea typeface="MS PGothic" pitchFamily="34" charset="-128"/>
                        </a:rPr>
                        <a:t>Evergreen forests- present in the southern hemisphere </a:t>
                      </a: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CFD1D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rgbClr val="000000"/>
                        </a:solidFill>
                        <a:effectLst/>
                        <a:latin typeface="Gill Sans MT" pitchFamily="34" charset="0"/>
                        <a:ea typeface="MS PGothic" pitchFamily="34" charset="-128"/>
                      </a:endParaRPr>
                    </a:p>
                  </a:txBody>
                  <a:tcPr horzOverflow="overflow">
                    <a:lnL w="12700" cap="flat" cmpd="sng" algn="ctr">
                      <a:solidFill>
                        <a:srgbClr val="475A8D"/>
                      </a:solidFill>
                      <a:prstDash val="solid"/>
                      <a:round/>
                      <a:headEnd type="none" w="med" len="med"/>
                      <a:tailEnd type="none" w="med" len="med"/>
                    </a:lnL>
                    <a:lnR w="12700" cap="flat" cmpd="sng" algn="ctr">
                      <a:solidFill>
                        <a:srgbClr val="475A8D"/>
                      </a:solidFill>
                      <a:prstDash val="solid"/>
                      <a:round/>
                      <a:headEnd type="none" w="med" len="med"/>
                      <a:tailEnd type="none" w="med" len="med"/>
                    </a:lnR>
                    <a:lnT w="12700" cap="flat" cmpd="sng" algn="ctr">
                      <a:solidFill>
                        <a:srgbClr val="475A8D"/>
                      </a:solidFill>
                      <a:prstDash val="solid"/>
                      <a:round/>
                      <a:headEnd type="none" w="med" len="med"/>
                      <a:tailEnd type="none" w="med" len="med"/>
                    </a:lnT>
                    <a:lnB w="12700" cap="flat" cmpd="sng" algn="ctr">
                      <a:solidFill>
                        <a:srgbClr val="475A8D"/>
                      </a:solidFill>
                      <a:prstDash val="solid"/>
                      <a:round/>
                      <a:headEnd type="none" w="med" len="med"/>
                      <a:tailEnd type="none" w="med" len="med"/>
                    </a:lnB>
                    <a:lnTlToBr>
                      <a:noFill/>
                    </a:lnTlToBr>
                    <a:lnBlToTr>
                      <a:noFill/>
                    </a:lnBlToTr>
                    <a:solidFill>
                      <a:srgbClr val="CFD1DB"/>
                    </a:solidFill>
                  </a:tcPr>
                </a:tc>
                <a:extLst>
                  <a:ext uri="{0D108BD9-81ED-4DB2-BD59-A6C34878D82A}">
                    <a16:rowId xmlns:a16="http://schemas.microsoft.com/office/drawing/2014/main" val="10005"/>
                  </a:ext>
                </a:extLst>
              </a:tr>
            </a:tbl>
          </a:graphicData>
        </a:graphic>
      </p:graphicFrame>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DF345667-97CC-4587-AF4E-1D12FE0E0EA9}"/>
              </a:ext>
            </a:extLst>
          </p:cNvPr>
          <p:cNvSpPr>
            <a:spLocks noGrp="1" noChangeArrowheads="1"/>
          </p:cNvSpPr>
          <p:nvPr>
            <p:ph type="title"/>
          </p:nvPr>
        </p:nvSpPr>
        <p:spPr>
          <a:xfrm>
            <a:off x="1143000" y="152400"/>
            <a:ext cx="7315200" cy="609600"/>
          </a:xfrm>
        </p:spPr>
        <p:txBody>
          <a:bodyPr>
            <a:normAutofit fontScale="90000"/>
          </a:bodyPr>
          <a:lstStyle/>
          <a:p>
            <a:pPr eaLnBrk="1" fontAlgn="auto" hangingPunct="1">
              <a:spcAft>
                <a:spcPts val="0"/>
              </a:spcAft>
              <a:defRPr/>
            </a:pPr>
            <a:r>
              <a:rPr lang="en-US" sz="3600" b="1" dirty="0">
                <a:solidFill>
                  <a:schemeClr val="tx2">
                    <a:satMod val="130000"/>
                  </a:schemeClr>
                </a:solidFill>
                <a:latin typeface="Garamond" pitchFamily="18" charset="0"/>
              </a:rPr>
              <a:t>Tropical Rainforest</a:t>
            </a:r>
          </a:p>
        </p:txBody>
      </p:sp>
      <p:pic>
        <p:nvPicPr>
          <p:cNvPr id="20483" name="Picture 3" descr="05_11">
            <a:extLst>
              <a:ext uri="{FF2B5EF4-FFF2-40B4-BE49-F238E27FC236}">
                <a16:creationId xmlns:a16="http://schemas.microsoft.com/office/drawing/2014/main" id="{E6450B0E-791D-4A23-81EB-B5D12B426F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990600"/>
            <a:ext cx="6019800" cy="5132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fade">
                                      <p:cBhvr>
                                        <p:cTn id="7" dur="1000"/>
                                        <p:tgtEl>
                                          <p:spTgt spid="14338"/>
                                        </p:tgtEl>
                                      </p:cBhvr>
                                    </p:animEffect>
                                    <p:anim calcmode="lin" valueType="num">
                                      <p:cBhvr>
                                        <p:cTn id="8" dur="1000" fill="hold"/>
                                        <p:tgtEl>
                                          <p:spTgt spid="14338"/>
                                        </p:tgtEl>
                                        <p:attrNameLst>
                                          <p:attrName>ppt_x</p:attrName>
                                        </p:attrNameLst>
                                      </p:cBhvr>
                                      <p:tavLst>
                                        <p:tav tm="0">
                                          <p:val>
                                            <p:strVal val="#ppt_x"/>
                                          </p:val>
                                        </p:tav>
                                        <p:tav tm="100000">
                                          <p:val>
                                            <p:strVal val="#ppt_x"/>
                                          </p:val>
                                        </p:tav>
                                      </p:tavLst>
                                    </p:anim>
                                    <p:anim calcmode="lin" valueType="num">
                                      <p:cBhvr>
                                        <p:cTn id="9" dur="1000" fill="hold"/>
                                        <p:tgtEl>
                                          <p:spTgt spid="1433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0483"/>
                                        </p:tgtEl>
                                        <p:attrNameLst>
                                          <p:attrName>style.visibility</p:attrName>
                                        </p:attrNameLst>
                                      </p:cBhvr>
                                      <p:to>
                                        <p:strVal val="visible"/>
                                      </p:to>
                                    </p:set>
                                    <p:anim calcmode="lin" valueType="num">
                                      <p:cBhvr additive="base">
                                        <p:cTn id="14" dur="500" fill="hold"/>
                                        <p:tgtEl>
                                          <p:spTgt spid="20483"/>
                                        </p:tgtEl>
                                        <p:attrNameLst>
                                          <p:attrName>ppt_x</p:attrName>
                                        </p:attrNameLst>
                                      </p:cBhvr>
                                      <p:tavLst>
                                        <p:tav tm="0">
                                          <p:val>
                                            <p:strVal val="#ppt_x"/>
                                          </p:val>
                                        </p:tav>
                                        <p:tav tm="100000">
                                          <p:val>
                                            <p:strVal val="#ppt_x"/>
                                          </p:val>
                                        </p:tav>
                                      </p:tavLst>
                                    </p:anim>
                                    <p:anim calcmode="lin" valueType="num">
                                      <p:cBhvr additive="base">
                                        <p:cTn id="15" dur="500" fill="hold"/>
                                        <p:tgtEl>
                                          <p:spTgt spid="204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B2DF8DFD-B542-45E6-9FDC-D3C1C3C92D5B}"/>
              </a:ext>
            </a:extLst>
          </p:cNvPr>
          <p:cNvSpPr>
            <a:spLocks noGrp="1" noChangeArrowheads="1"/>
          </p:cNvSpPr>
          <p:nvPr>
            <p:ph type="title"/>
          </p:nvPr>
        </p:nvSpPr>
        <p:spPr>
          <a:xfrm>
            <a:off x="457200" y="152400"/>
            <a:ext cx="8382000" cy="1143000"/>
          </a:xfrm>
        </p:spPr>
        <p:txBody>
          <a:bodyPr>
            <a:normAutofit fontScale="90000"/>
          </a:bodyPr>
          <a:lstStyle/>
          <a:p>
            <a:pPr eaLnBrk="1" fontAlgn="auto" hangingPunct="1">
              <a:spcAft>
                <a:spcPts val="0"/>
              </a:spcAft>
              <a:defRPr/>
            </a:pPr>
            <a:r>
              <a:rPr lang="en-US" sz="3600" b="1" dirty="0">
                <a:solidFill>
                  <a:schemeClr val="tx2">
                    <a:satMod val="130000"/>
                  </a:schemeClr>
                </a:solidFill>
                <a:latin typeface="Garamond" pitchFamily="18" charset="0"/>
              </a:rPr>
              <a:t>                   Temperate forest</a:t>
            </a:r>
            <a:br>
              <a:rPr lang="en-US" sz="3600" b="1" dirty="0">
                <a:solidFill>
                  <a:schemeClr val="tx2">
                    <a:satMod val="130000"/>
                  </a:schemeClr>
                </a:solidFill>
                <a:latin typeface="Garamond" pitchFamily="18" charset="0"/>
              </a:rPr>
            </a:br>
            <a:endParaRPr lang="en-US" sz="3600" b="1" dirty="0">
              <a:solidFill>
                <a:schemeClr val="tx2">
                  <a:satMod val="130000"/>
                </a:schemeClr>
              </a:solidFill>
              <a:latin typeface="Garamond" pitchFamily="18" charset="0"/>
            </a:endParaRPr>
          </a:p>
        </p:txBody>
      </p:sp>
      <p:pic>
        <p:nvPicPr>
          <p:cNvPr id="22531" name="Picture 3" descr="05_09">
            <a:extLst>
              <a:ext uri="{FF2B5EF4-FFF2-40B4-BE49-F238E27FC236}">
                <a16:creationId xmlns:a16="http://schemas.microsoft.com/office/drawing/2014/main" id="{0B7B9959-7785-4973-B801-D581CBCC3C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028700"/>
            <a:ext cx="7784757"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fade">
                                      <p:cBhvr>
                                        <p:cTn id="7" dur="1000"/>
                                        <p:tgtEl>
                                          <p:spTgt spid="13314"/>
                                        </p:tgtEl>
                                      </p:cBhvr>
                                    </p:animEffect>
                                    <p:anim calcmode="lin" valueType="num">
                                      <p:cBhvr>
                                        <p:cTn id="8" dur="1000" fill="hold"/>
                                        <p:tgtEl>
                                          <p:spTgt spid="13314"/>
                                        </p:tgtEl>
                                        <p:attrNameLst>
                                          <p:attrName>ppt_x</p:attrName>
                                        </p:attrNameLst>
                                      </p:cBhvr>
                                      <p:tavLst>
                                        <p:tav tm="0">
                                          <p:val>
                                            <p:strVal val="#ppt_x"/>
                                          </p:val>
                                        </p:tav>
                                        <p:tav tm="100000">
                                          <p:val>
                                            <p:strVal val="#ppt_x"/>
                                          </p:val>
                                        </p:tav>
                                      </p:tavLst>
                                    </p:anim>
                                    <p:anim calcmode="lin" valueType="num">
                                      <p:cBhvr>
                                        <p:cTn id="9" dur="1000" fill="hold"/>
                                        <p:tgtEl>
                                          <p:spTgt spid="133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2531"/>
                                        </p:tgtEl>
                                        <p:attrNameLst>
                                          <p:attrName>style.visibility</p:attrName>
                                        </p:attrNameLst>
                                      </p:cBhvr>
                                      <p:to>
                                        <p:strVal val="visible"/>
                                      </p:to>
                                    </p:set>
                                    <p:anim calcmode="lin" valueType="num">
                                      <p:cBhvr additive="base">
                                        <p:cTn id="14" dur="500" fill="hold"/>
                                        <p:tgtEl>
                                          <p:spTgt spid="22531"/>
                                        </p:tgtEl>
                                        <p:attrNameLst>
                                          <p:attrName>ppt_x</p:attrName>
                                        </p:attrNameLst>
                                      </p:cBhvr>
                                      <p:tavLst>
                                        <p:tav tm="0">
                                          <p:val>
                                            <p:strVal val="#ppt_x"/>
                                          </p:val>
                                        </p:tav>
                                        <p:tav tm="100000">
                                          <p:val>
                                            <p:strVal val="#ppt_x"/>
                                          </p:val>
                                        </p:tav>
                                      </p:tavLst>
                                    </p:anim>
                                    <p:anim calcmode="lin" valueType="num">
                                      <p:cBhvr additive="base">
                                        <p:cTn id="15" dur="500" fill="hold"/>
                                        <p:tgtEl>
                                          <p:spTgt spid="225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06564ED3-C7B2-4CC5-BDCE-F4D8EAFF918A}"/>
              </a:ext>
            </a:extLst>
          </p:cNvPr>
          <p:cNvSpPr>
            <a:spLocks noGrp="1" noChangeArrowheads="1"/>
          </p:cNvSpPr>
          <p:nvPr>
            <p:ph type="title"/>
          </p:nvPr>
        </p:nvSpPr>
        <p:spPr>
          <a:xfrm>
            <a:off x="1066800" y="152400"/>
            <a:ext cx="7391400" cy="990600"/>
          </a:xfrm>
        </p:spPr>
        <p:txBody>
          <a:bodyPr/>
          <a:lstStyle/>
          <a:p>
            <a:pPr eaLnBrk="1" fontAlgn="auto" hangingPunct="1">
              <a:spcAft>
                <a:spcPts val="0"/>
              </a:spcAft>
              <a:defRPr/>
            </a:pPr>
            <a:r>
              <a:rPr lang="en-US" sz="4000" b="1" dirty="0">
                <a:solidFill>
                  <a:schemeClr val="tx2">
                    <a:satMod val="130000"/>
                  </a:schemeClr>
                </a:solidFill>
                <a:latin typeface="Garamond" pitchFamily="18" charset="0"/>
              </a:rPr>
              <a:t>Taiga (Boreal Forest)</a:t>
            </a:r>
          </a:p>
        </p:txBody>
      </p:sp>
      <p:pic>
        <p:nvPicPr>
          <p:cNvPr id="24579" name="Picture 3" descr="05_07">
            <a:extLst>
              <a:ext uri="{FF2B5EF4-FFF2-40B4-BE49-F238E27FC236}">
                <a16:creationId xmlns:a16="http://schemas.microsoft.com/office/drawing/2014/main" id="{EB80D137-BBA9-4FE9-B226-8567DA4DFB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1175551"/>
            <a:ext cx="661416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274"/>
                                        </p:tgtEl>
                                        <p:attrNameLst>
                                          <p:attrName>style.visibility</p:attrName>
                                        </p:attrNameLst>
                                      </p:cBhvr>
                                      <p:to>
                                        <p:strVal val="visible"/>
                                      </p:to>
                                    </p:set>
                                    <p:anim calcmode="lin" valueType="num">
                                      <p:cBhvr additive="base">
                                        <p:cTn id="7" dur="500" fill="hold"/>
                                        <p:tgtEl>
                                          <p:spTgt spid="54274"/>
                                        </p:tgtEl>
                                        <p:attrNameLst>
                                          <p:attrName>ppt_x</p:attrName>
                                        </p:attrNameLst>
                                      </p:cBhvr>
                                      <p:tavLst>
                                        <p:tav tm="0">
                                          <p:val>
                                            <p:strVal val="#ppt_x"/>
                                          </p:val>
                                        </p:tav>
                                        <p:tav tm="100000">
                                          <p:val>
                                            <p:strVal val="#ppt_x"/>
                                          </p:val>
                                        </p:tav>
                                      </p:tavLst>
                                    </p:anim>
                                    <p:anim calcmode="lin" valueType="num">
                                      <p:cBhvr additive="base">
                                        <p:cTn id="8" dur="500" fill="hold"/>
                                        <p:tgtEl>
                                          <p:spTgt spid="542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579"/>
                                        </p:tgtEl>
                                        <p:attrNameLst>
                                          <p:attrName>style.visibility</p:attrName>
                                        </p:attrNameLst>
                                      </p:cBhvr>
                                      <p:to>
                                        <p:strVal val="visible"/>
                                      </p:to>
                                    </p:set>
                                    <p:anim calcmode="lin" valueType="num">
                                      <p:cBhvr additive="base">
                                        <p:cTn id="13" dur="500" fill="hold"/>
                                        <p:tgtEl>
                                          <p:spTgt spid="24579"/>
                                        </p:tgtEl>
                                        <p:attrNameLst>
                                          <p:attrName>ppt_x</p:attrName>
                                        </p:attrNameLst>
                                      </p:cBhvr>
                                      <p:tavLst>
                                        <p:tav tm="0">
                                          <p:val>
                                            <p:strVal val="#ppt_x"/>
                                          </p:val>
                                        </p:tav>
                                        <p:tav tm="100000">
                                          <p:val>
                                            <p:strVal val="#ppt_x"/>
                                          </p:val>
                                        </p:tav>
                                      </p:tavLst>
                                    </p:anim>
                                    <p:anim calcmode="lin" valueType="num">
                                      <p:cBhvr additive="base">
                                        <p:cTn id="14" dur="500" fill="hold"/>
                                        <p:tgtEl>
                                          <p:spTgt spid="245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a:extLst>
              <a:ext uri="{FF2B5EF4-FFF2-40B4-BE49-F238E27FC236}">
                <a16:creationId xmlns:a16="http://schemas.microsoft.com/office/drawing/2014/main" id="{7EEC33C0-8C93-4C03-9EE0-6C5B76613429}"/>
              </a:ext>
            </a:extLst>
          </p:cNvPr>
          <p:cNvSpPr>
            <a:spLocks noGrp="1"/>
          </p:cNvSpPr>
          <p:nvPr>
            <p:ph idx="1"/>
          </p:nvPr>
        </p:nvSpPr>
        <p:spPr>
          <a:xfrm>
            <a:off x="914400" y="609600"/>
            <a:ext cx="8001000" cy="2667000"/>
          </a:xfrm>
        </p:spPr>
        <p:txBody>
          <a:bodyPr>
            <a:normAutofit/>
          </a:bodyPr>
          <a:lstStyle/>
          <a:p>
            <a:pPr eaLnBrk="1" hangingPunct="1">
              <a:buFont typeface="Wingdings 2" panose="05020102010507070707" pitchFamily="18" charset="2"/>
              <a:buNone/>
            </a:pPr>
            <a:r>
              <a:rPr lang="en-US" altLang="en-US" sz="2600" b="1" dirty="0">
                <a:latin typeface="Garamond" panose="02020404030301010803" pitchFamily="18" charset="0"/>
              </a:rPr>
              <a:t>Importance of Forest</a:t>
            </a:r>
          </a:p>
          <a:p>
            <a:pPr>
              <a:buFont typeface="Wingdings" panose="05000000000000000000" pitchFamily="2" charset="2"/>
              <a:buChar char="§"/>
            </a:pPr>
            <a:r>
              <a:rPr lang="en-US" altLang="en-US" sz="2000" b="1" dirty="0">
                <a:latin typeface="Garamond" panose="02020404030301010803" pitchFamily="18" charset="0"/>
              </a:rPr>
              <a:t>Watershed</a:t>
            </a:r>
            <a:endParaRPr lang="en-US" altLang="en-US" sz="2000" dirty="0">
              <a:latin typeface="Garamond" panose="02020404030301010803" pitchFamily="18" charset="0"/>
            </a:endParaRPr>
          </a:p>
          <a:p>
            <a:pPr>
              <a:buFont typeface="Wingdings" panose="05000000000000000000" pitchFamily="2" charset="2"/>
              <a:buChar char="§"/>
            </a:pPr>
            <a:r>
              <a:rPr lang="en-US" altLang="en-US" sz="2000" b="1" dirty="0">
                <a:latin typeface="Garamond" panose="02020404030301010803" pitchFamily="18" charset="0"/>
              </a:rPr>
              <a:t>Habitat and Ecosystems</a:t>
            </a:r>
            <a:endParaRPr lang="en-US" altLang="en-US" sz="2000" dirty="0">
              <a:latin typeface="Garamond" panose="02020404030301010803" pitchFamily="18" charset="0"/>
            </a:endParaRPr>
          </a:p>
          <a:p>
            <a:pPr>
              <a:buFont typeface="Wingdings" panose="05000000000000000000" pitchFamily="2" charset="2"/>
              <a:buChar char="§"/>
            </a:pPr>
            <a:r>
              <a:rPr lang="en-US" altLang="en-US" sz="2000" b="1" dirty="0">
                <a:latin typeface="Garamond" panose="02020404030301010803" pitchFamily="18" charset="0"/>
              </a:rPr>
              <a:t>Economic benefits</a:t>
            </a:r>
            <a:endParaRPr lang="en-US" altLang="en-US" sz="2000" dirty="0">
              <a:latin typeface="Garamond" panose="02020404030301010803" pitchFamily="18" charset="0"/>
            </a:endParaRPr>
          </a:p>
          <a:p>
            <a:pPr>
              <a:buFont typeface="Wingdings" panose="05000000000000000000" pitchFamily="2" charset="2"/>
              <a:buChar char="§"/>
            </a:pPr>
            <a:r>
              <a:rPr lang="en-US" altLang="en-US" sz="2000" b="1" dirty="0">
                <a:latin typeface="Garamond" panose="02020404030301010803" pitchFamily="18" charset="0"/>
              </a:rPr>
              <a:t>Climate Control</a:t>
            </a:r>
            <a:br>
              <a:rPr lang="en-US" altLang="en-US" sz="2000" dirty="0">
                <a:latin typeface="Garamond" panose="02020404030301010803" pitchFamily="18" charset="0"/>
              </a:rPr>
            </a:br>
            <a:endParaRPr lang="en-US" altLang="en-US" sz="2000"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6626">
                                            <p:txEl>
                                              <p:pRg st="0" end="0"/>
                                            </p:txEl>
                                          </p:spTgt>
                                        </p:tgtEl>
                                        <p:attrNameLst>
                                          <p:attrName>style.visibility</p:attrName>
                                        </p:attrNameLst>
                                      </p:cBhvr>
                                      <p:to>
                                        <p:strVal val="visible"/>
                                      </p:to>
                                    </p:set>
                                    <p:animEffect transition="in" filter="barn(inVertical)">
                                      <p:cBhvr>
                                        <p:cTn id="7" dur="500"/>
                                        <p:tgtEl>
                                          <p:spTgt spid="266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6626">
                                            <p:txEl>
                                              <p:pRg st="1" end="1"/>
                                            </p:txEl>
                                          </p:spTgt>
                                        </p:tgtEl>
                                        <p:attrNameLst>
                                          <p:attrName>style.visibility</p:attrName>
                                        </p:attrNameLst>
                                      </p:cBhvr>
                                      <p:to>
                                        <p:strVal val="visible"/>
                                      </p:to>
                                    </p:set>
                                    <p:animEffect transition="in" filter="wipe(down)">
                                      <p:cBhvr>
                                        <p:cTn id="12" dur="500"/>
                                        <p:tgtEl>
                                          <p:spTgt spid="266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6626">
                                            <p:txEl>
                                              <p:pRg st="2" end="2"/>
                                            </p:txEl>
                                          </p:spTgt>
                                        </p:tgtEl>
                                        <p:attrNameLst>
                                          <p:attrName>style.visibility</p:attrName>
                                        </p:attrNameLst>
                                      </p:cBhvr>
                                      <p:to>
                                        <p:strVal val="visible"/>
                                      </p:to>
                                    </p:set>
                                    <p:animEffect transition="in" filter="wipe(down)">
                                      <p:cBhvr>
                                        <p:cTn id="17" dur="500"/>
                                        <p:tgtEl>
                                          <p:spTgt spid="266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6626">
                                            <p:txEl>
                                              <p:pRg st="3" end="3"/>
                                            </p:txEl>
                                          </p:spTgt>
                                        </p:tgtEl>
                                        <p:attrNameLst>
                                          <p:attrName>style.visibility</p:attrName>
                                        </p:attrNameLst>
                                      </p:cBhvr>
                                      <p:to>
                                        <p:strVal val="visible"/>
                                      </p:to>
                                    </p:set>
                                    <p:animEffect transition="in" filter="wipe(down)">
                                      <p:cBhvr>
                                        <p:cTn id="22" dur="500"/>
                                        <p:tgtEl>
                                          <p:spTgt spid="266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6626">
                                            <p:txEl>
                                              <p:pRg st="4" end="4"/>
                                            </p:txEl>
                                          </p:spTgt>
                                        </p:tgtEl>
                                        <p:attrNameLst>
                                          <p:attrName>style.visibility</p:attrName>
                                        </p:attrNameLst>
                                      </p:cBhvr>
                                      <p:to>
                                        <p:strVal val="visible"/>
                                      </p:to>
                                    </p:set>
                                    <p:animEffect transition="in" filter="wipe(down)">
                                      <p:cBhvr>
                                        <p:cTn id="27" dur="500"/>
                                        <p:tgtEl>
                                          <p:spTgt spid="266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0B077E-11AB-4E20-8956-F2853059AD15}"/>
              </a:ext>
            </a:extLst>
          </p:cNvPr>
          <p:cNvSpPr>
            <a:spLocks noGrp="1"/>
          </p:cNvSpPr>
          <p:nvPr>
            <p:ph idx="1"/>
          </p:nvPr>
        </p:nvSpPr>
        <p:spPr>
          <a:xfrm>
            <a:off x="1143000" y="1295400"/>
            <a:ext cx="7639050" cy="5562600"/>
          </a:xfrm>
        </p:spPr>
        <p:txBody>
          <a:bodyPr/>
          <a:lstStyle/>
          <a:p>
            <a:pPr marL="274320" indent="-274320" algn="just" eaLnBrk="1" fontAlgn="auto" hangingPunct="1">
              <a:spcAft>
                <a:spcPts val="0"/>
              </a:spcAft>
              <a:buClr>
                <a:schemeClr val="tx1"/>
              </a:buClr>
              <a:buSzPct val="100000"/>
              <a:buFont typeface="Wingdings 2" panose="05020102010507070707" pitchFamily="18" charset="2"/>
              <a:buNone/>
              <a:defRPr/>
            </a:pPr>
            <a:r>
              <a:rPr lang="en-US" sz="2600" b="1" dirty="0">
                <a:latin typeface="Garamond" pitchFamily="18" charset="0"/>
              </a:rPr>
              <a:t>Deforestation</a:t>
            </a:r>
          </a:p>
          <a:p>
            <a:pPr marL="274320" indent="-274320" algn="just" eaLnBrk="1" fontAlgn="auto" hangingPunct="1">
              <a:spcAft>
                <a:spcPts val="0"/>
              </a:spcAft>
              <a:buClr>
                <a:schemeClr val="tx1"/>
              </a:buClr>
              <a:buSzPct val="100000"/>
              <a:buFont typeface="Wingdings" pitchFamily="2" charset="2"/>
              <a:buChar char="§"/>
              <a:defRPr/>
            </a:pPr>
            <a:r>
              <a:rPr lang="en-US" sz="2200" dirty="0">
                <a:latin typeface="Garamond" pitchFamily="18" charset="0"/>
              </a:rPr>
              <a:t>Clearing forests and woodlands is the most viable way in which people have changed the face of the earth.</a:t>
            </a:r>
          </a:p>
          <a:p>
            <a:pPr eaLnBrk="1" hangingPunct="1">
              <a:buFont typeface="Wingdings 2" panose="05020102010507070707" pitchFamily="18" charset="2"/>
              <a:buNone/>
              <a:defRPr/>
            </a:pPr>
            <a:endParaRPr lang="en-US" sz="2400" dirty="0">
              <a:latin typeface="Garamond" pitchFamily="18" charset="0"/>
              <a:hlinkClick r:id="rId3"/>
            </a:endParaRPr>
          </a:p>
          <a:p>
            <a:pPr eaLnBrk="1" hangingPunct="1">
              <a:buFont typeface="Wingdings 2" panose="05020102010507070707" pitchFamily="18" charset="2"/>
              <a:buNone/>
              <a:defRPr/>
            </a:pPr>
            <a:r>
              <a:rPr lang="en-US" sz="2200" dirty="0">
                <a:latin typeface="Garamond" pitchFamily="18" charset="0"/>
              </a:rPr>
              <a:t>Clearing of forests, or intentional destruction or removal of trees and other vegetation for agricultural, commercial, housing, or firewood use without replanting (reforesting) and without allowing time for the forest to regenerate itself. Deforestation is one of the major factors contributing to the greenhouse effect and desertification.</a:t>
            </a:r>
            <a:br>
              <a:rPr lang="en-US" sz="2400" dirty="0"/>
            </a:br>
            <a:br>
              <a:rPr lang="en-US" sz="2400" dirty="0"/>
            </a:br>
            <a:endParaRPr lang="en-US" sz="2400" dirty="0"/>
          </a:p>
          <a:p>
            <a:pPr marL="274320" indent="-274320" algn="just" eaLnBrk="1" fontAlgn="auto" hangingPunct="1">
              <a:spcAft>
                <a:spcPts val="0"/>
              </a:spcAft>
              <a:buClr>
                <a:schemeClr val="tx1"/>
              </a:buClr>
              <a:buSzPct val="100000"/>
              <a:buFont typeface="Wingdings" pitchFamily="2" charset="2"/>
              <a:buChar char="§"/>
              <a:defRPr/>
            </a:pPr>
            <a:endParaRPr lang="en-US" sz="2200" dirty="0">
              <a:latin typeface="Garamond" pitchFamily="18" charset="0"/>
            </a:endParaRPr>
          </a:p>
          <a:p>
            <a:pPr marL="274320" indent="-274320" algn="just" eaLnBrk="1" fontAlgn="auto" hangingPunct="1">
              <a:spcAft>
                <a:spcPts val="0"/>
              </a:spcAft>
              <a:buClr>
                <a:schemeClr val="tx1"/>
              </a:buClr>
              <a:buSzPct val="100000"/>
              <a:buFont typeface="Wingdings" pitchFamily="2" charset="2"/>
              <a:buChar char="§"/>
              <a:defRPr/>
            </a:pPr>
            <a:endParaRPr lang="en-US" sz="2200" dirty="0">
              <a:latin typeface="Garamond" pitchFamily="18" charset="0"/>
            </a:endParaRPr>
          </a:p>
          <a:p>
            <a:pPr eaLnBrk="1" hangingPunct="1">
              <a:defRPr/>
            </a:pPr>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CA38B1-A2A6-4D20-B831-F7E6ED9312CF}"/>
              </a:ext>
            </a:extLst>
          </p:cNvPr>
          <p:cNvSpPr>
            <a:spLocks noGrp="1"/>
          </p:cNvSpPr>
          <p:nvPr>
            <p:ph idx="1"/>
          </p:nvPr>
        </p:nvSpPr>
        <p:spPr>
          <a:xfrm>
            <a:off x="990600" y="876300"/>
            <a:ext cx="7499350" cy="5105400"/>
          </a:xfrm>
        </p:spPr>
        <p:txBody>
          <a:bodyPr>
            <a:normAutofit fontScale="92500" lnSpcReduction="10000"/>
          </a:bodyPr>
          <a:lstStyle/>
          <a:p>
            <a:pPr marL="274320" indent="-274320" algn="just" eaLnBrk="1" fontAlgn="auto" hangingPunct="1">
              <a:spcAft>
                <a:spcPts val="0"/>
              </a:spcAft>
              <a:buClr>
                <a:schemeClr val="tx1"/>
              </a:buClr>
              <a:buSzPct val="100000"/>
              <a:buFont typeface="Wingdings" pitchFamily="2" charset="2"/>
              <a:buChar char="§"/>
              <a:defRPr/>
            </a:pPr>
            <a:r>
              <a:rPr lang="en-US" sz="2800" b="1" dirty="0">
                <a:latin typeface="Garamond" pitchFamily="18" charset="0"/>
              </a:rPr>
              <a:t>Reasons for deforestation</a:t>
            </a:r>
            <a:r>
              <a:rPr lang="en-US" sz="2800" dirty="0">
                <a:latin typeface="Garamond" pitchFamily="18" charset="0"/>
              </a:rPr>
              <a:t>:</a:t>
            </a:r>
          </a:p>
          <a:p>
            <a:pPr marL="914400" indent="-449263" algn="just" eaLnBrk="1" fontAlgn="auto" hangingPunct="1">
              <a:spcAft>
                <a:spcPts val="0"/>
              </a:spcAft>
              <a:buFont typeface="Wingdings 2"/>
              <a:buChar char=""/>
              <a:defRPr/>
            </a:pPr>
            <a:r>
              <a:rPr lang="en-US" sz="2800" dirty="0">
                <a:latin typeface="Garamond" pitchFamily="18" charset="0"/>
              </a:rPr>
              <a:t>Expansion of agricultural and plantation activity for production of food (population increase)</a:t>
            </a:r>
          </a:p>
          <a:p>
            <a:pPr marL="914400" indent="-449263" algn="just" eaLnBrk="1" fontAlgn="auto" hangingPunct="1">
              <a:spcAft>
                <a:spcPts val="0"/>
              </a:spcAft>
              <a:buFont typeface="Wingdings 2"/>
              <a:buChar char=""/>
              <a:defRPr/>
            </a:pPr>
            <a:r>
              <a:rPr lang="en-US" sz="2800" dirty="0">
                <a:latin typeface="Garamond" pitchFamily="18" charset="0"/>
              </a:rPr>
              <a:t>Housing and urbanization</a:t>
            </a:r>
          </a:p>
          <a:p>
            <a:pPr marL="914400" indent="-449263" algn="just" eaLnBrk="1" fontAlgn="auto" hangingPunct="1">
              <a:spcAft>
                <a:spcPts val="0"/>
              </a:spcAft>
              <a:buFont typeface="Wingdings 2"/>
              <a:buChar char=""/>
              <a:defRPr/>
            </a:pPr>
            <a:r>
              <a:rPr lang="en-US" sz="2800" dirty="0">
                <a:latin typeface="Garamond" pitchFamily="18" charset="0"/>
              </a:rPr>
              <a:t>Construction of roads, railway and power transmission lines</a:t>
            </a:r>
          </a:p>
          <a:p>
            <a:pPr marL="914400" indent="-449263" algn="just" eaLnBrk="1" fontAlgn="auto" hangingPunct="1">
              <a:spcAft>
                <a:spcPts val="0"/>
              </a:spcAft>
              <a:buFont typeface="Wingdings 2"/>
              <a:buChar char=""/>
              <a:defRPr/>
            </a:pPr>
            <a:r>
              <a:rPr lang="en-US" sz="2800" dirty="0">
                <a:latin typeface="Garamond" pitchFamily="18" charset="0"/>
              </a:rPr>
              <a:t>Industrial activity</a:t>
            </a:r>
          </a:p>
          <a:p>
            <a:pPr marL="914400" indent="-449263" algn="just" eaLnBrk="1" fontAlgn="auto" hangingPunct="1">
              <a:spcAft>
                <a:spcPts val="0"/>
              </a:spcAft>
              <a:buFont typeface="Wingdings 2"/>
              <a:buChar char=""/>
              <a:defRPr/>
            </a:pPr>
            <a:r>
              <a:rPr lang="en-US" sz="2800" dirty="0">
                <a:latin typeface="Garamond" pitchFamily="18" charset="0"/>
              </a:rPr>
              <a:t>Mining</a:t>
            </a:r>
          </a:p>
          <a:p>
            <a:pPr marL="914400" indent="-449263" algn="just" eaLnBrk="1" fontAlgn="auto" hangingPunct="1">
              <a:spcAft>
                <a:spcPts val="0"/>
              </a:spcAft>
              <a:buFont typeface="Wingdings 2"/>
              <a:buChar char=""/>
              <a:defRPr/>
            </a:pPr>
            <a:r>
              <a:rPr lang="en-US" sz="2800" dirty="0">
                <a:latin typeface="Garamond" pitchFamily="18" charset="0"/>
              </a:rPr>
              <a:t>Cutting wood for different use</a:t>
            </a:r>
          </a:p>
          <a:p>
            <a:pPr marL="914400" indent="-449263" algn="just" eaLnBrk="1" fontAlgn="auto" hangingPunct="1">
              <a:spcAft>
                <a:spcPts val="0"/>
              </a:spcAft>
              <a:buFont typeface="Wingdings 2"/>
              <a:buChar char=""/>
              <a:defRPr/>
            </a:pPr>
            <a:r>
              <a:rPr lang="en-US" sz="2800" dirty="0">
                <a:latin typeface="Garamond" pitchFamily="18" charset="0"/>
              </a:rPr>
              <a:t>Wild grazing by domestic animals</a:t>
            </a:r>
          </a:p>
          <a:p>
            <a:pPr marL="914400" indent="-449263" algn="just" eaLnBrk="1" fontAlgn="auto" hangingPunct="1">
              <a:spcAft>
                <a:spcPts val="0"/>
              </a:spcAft>
              <a:buFont typeface="Wingdings 2"/>
              <a:buChar char=""/>
              <a:defRPr/>
            </a:pPr>
            <a:r>
              <a:rPr lang="en-US" sz="2800" dirty="0">
                <a:latin typeface="Garamond" pitchFamily="18" charset="0"/>
              </a:rPr>
              <a:t>Forest fires</a:t>
            </a:r>
          </a:p>
          <a:p>
            <a:pPr marL="914400" indent="-449263" algn="just" eaLnBrk="1" fontAlgn="auto" hangingPunct="1">
              <a:spcAft>
                <a:spcPts val="0"/>
              </a:spcAft>
              <a:buFont typeface="Wingdings 2"/>
              <a:buChar char=""/>
              <a:defRPr/>
            </a:pPr>
            <a:r>
              <a:rPr lang="en-US" sz="2800" dirty="0">
                <a:latin typeface="Garamond" pitchFamily="18" charset="0"/>
              </a:rPr>
              <a:t>pollution</a:t>
            </a:r>
            <a:endParaRPr lang="en-US" sz="28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a:extLst>
              <a:ext uri="{FF2B5EF4-FFF2-40B4-BE49-F238E27FC236}">
                <a16:creationId xmlns:a16="http://schemas.microsoft.com/office/drawing/2014/main" id="{8C4B354F-241A-41F5-B89D-B636E7781519}"/>
              </a:ext>
            </a:extLst>
          </p:cNvPr>
          <p:cNvSpPr>
            <a:spLocks noGrp="1"/>
          </p:cNvSpPr>
          <p:nvPr>
            <p:ph idx="1"/>
          </p:nvPr>
        </p:nvSpPr>
        <p:spPr>
          <a:xfrm>
            <a:off x="1219200" y="914400"/>
            <a:ext cx="7499350" cy="4800600"/>
          </a:xfrm>
        </p:spPr>
        <p:txBody>
          <a:bodyPr/>
          <a:lstStyle/>
          <a:p>
            <a:pPr algn="just" eaLnBrk="1" hangingPunct="1">
              <a:buClr>
                <a:schemeClr val="tx1"/>
              </a:buClr>
              <a:buSzPct val="100000"/>
              <a:buFont typeface="Wingdings 2" panose="05020102010507070707" pitchFamily="18" charset="2"/>
              <a:buNone/>
            </a:pPr>
            <a:r>
              <a:rPr lang="en-US" altLang="en-US" sz="2800" b="1" dirty="0">
                <a:latin typeface="Garamond" panose="02020404030301010803" pitchFamily="18" charset="0"/>
              </a:rPr>
              <a:t>Effects of Deforestation</a:t>
            </a:r>
          </a:p>
          <a:p>
            <a:pPr algn="just" eaLnBrk="1" hangingPunct="1">
              <a:buClr>
                <a:schemeClr val="tx1"/>
              </a:buClr>
              <a:buSzPct val="100000"/>
              <a:buFont typeface="Wingdings" panose="05000000000000000000" pitchFamily="2" charset="2"/>
              <a:buChar char="§"/>
            </a:pPr>
            <a:r>
              <a:rPr lang="en-US" altLang="en-US" sz="2800" dirty="0">
                <a:latin typeface="Garamond" panose="02020404030301010803" pitchFamily="18" charset="0"/>
              </a:rPr>
              <a:t>Decreased soil fertility from erosion</a:t>
            </a:r>
          </a:p>
          <a:p>
            <a:pPr algn="just" eaLnBrk="1" hangingPunct="1">
              <a:buClr>
                <a:schemeClr val="tx1"/>
              </a:buClr>
              <a:buSzPct val="100000"/>
              <a:buFont typeface="Wingdings" panose="05000000000000000000" pitchFamily="2" charset="2"/>
              <a:buChar char="§"/>
            </a:pPr>
            <a:r>
              <a:rPr lang="en-US" altLang="en-US" sz="2800" dirty="0">
                <a:latin typeface="Garamond" panose="02020404030301010803" pitchFamily="18" charset="0"/>
              </a:rPr>
              <a:t>Runoff of eroded soil into aquatic systems</a:t>
            </a:r>
          </a:p>
          <a:p>
            <a:pPr algn="just" eaLnBrk="1" hangingPunct="1">
              <a:buClr>
                <a:schemeClr val="tx1"/>
              </a:buClr>
              <a:buSzPct val="100000"/>
              <a:buFont typeface="Wingdings" panose="05000000000000000000" pitchFamily="2" charset="2"/>
              <a:buChar char="§"/>
            </a:pPr>
            <a:r>
              <a:rPr lang="en-US" altLang="en-US" sz="2800" dirty="0">
                <a:latin typeface="Garamond" panose="02020404030301010803" pitchFamily="18" charset="0"/>
              </a:rPr>
              <a:t>Loss of habitat for migratory species such as birds and butterflies</a:t>
            </a:r>
          </a:p>
          <a:p>
            <a:pPr algn="just" eaLnBrk="1" hangingPunct="1">
              <a:buClr>
                <a:schemeClr val="tx1"/>
              </a:buClr>
              <a:buSzPct val="100000"/>
              <a:buFont typeface="Wingdings" panose="05000000000000000000" pitchFamily="2" charset="2"/>
              <a:buChar char="§"/>
            </a:pPr>
            <a:r>
              <a:rPr lang="en-US" altLang="en-US" sz="2800" dirty="0">
                <a:latin typeface="Garamond" panose="02020404030301010803" pitchFamily="18" charset="0"/>
              </a:rPr>
              <a:t>Regional climate change from extensive clearing</a:t>
            </a:r>
          </a:p>
          <a:p>
            <a:pPr algn="just" eaLnBrk="1" hangingPunct="1">
              <a:buClr>
                <a:schemeClr val="tx1"/>
              </a:buClr>
              <a:buSzPct val="100000"/>
              <a:buFont typeface="Wingdings" panose="05000000000000000000" pitchFamily="2" charset="2"/>
              <a:buChar char="§"/>
            </a:pPr>
            <a:r>
              <a:rPr lang="en-US" altLang="en-US" sz="2800" dirty="0">
                <a:latin typeface="Garamond" panose="02020404030301010803" pitchFamily="18" charset="0"/>
              </a:rPr>
              <a:t>Release CO</a:t>
            </a:r>
            <a:r>
              <a:rPr lang="en-US" altLang="en-US" sz="2800" baseline="-25000" dirty="0">
                <a:latin typeface="Garamond" panose="02020404030301010803" pitchFamily="18" charset="0"/>
              </a:rPr>
              <a:t>2  </a:t>
            </a:r>
            <a:r>
              <a:rPr lang="en-US" altLang="en-US" sz="2800" dirty="0">
                <a:latin typeface="Garamond" panose="02020404030301010803" pitchFamily="18" charset="0"/>
              </a:rPr>
              <a:t>into atmosphere from burning and tree decay</a:t>
            </a:r>
          </a:p>
          <a:p>
            <a:pPr eaLnBrk="1" hangingPunct="1"/>
            <a:endParaRPr lang="en-US"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698">
                                            <p:txEl>
                                              <p:pRg st="0" end="0"/>
                                            </p:txEl>
                                          </p:spTgt>
                                        </p:tgtEl>
                                        <p:attrNameLst>
                                          <p:attrName>style.visibility</p:attrName>
                                        </p:attrNameLst>
                                      </p:cBhvr>
                                      <p:to>
                                        <p:strVal val="visible"/>
                                      </p:to>
                                    </p:set>
                                    <p:anim calcmode="lin" valueType="num">
                                      <p:cBhvr additive="base">
                                        <p:cTn id="7" dur="500" fill="hold"/>
                                        <p:tgtEl>
                                          <p:spTgt spid="296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698">
                                            <p:txEl>
                                              <p:pRg st="1" end="1"/>
                                            </p:txEl>
                                          </p:spTgt>
                                        </p:tgtEl>
                                        <p:attrNameLst>
                                          <p:attrName>style.visibility</p:attrName>
                                        </p:attrNameLst>
                                      </p:cBhvr>
                                      <p:to>
                                        <p:strVal val="visible"/>
                                      </p:to>
                                    </p:set>
                                    <p:anim calcmode="lin" valueType="num">
                                      <p:cBhvr additive="base">
                                        <p:cTn id="13" dur="500" fill="hold"/>
                                        <p:tgtEl>
                                          <p:spTgt spid="296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6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9698">
                                            <p:txEl>
                                              <p:pRg st="2" end="2"/>
                                            </p:txEl>
                                          </p:spTgt>
                                        </p:tgtEl>
                                        <p:attrNameLst>
                                          <p:attrName>style.visibility</p:attrName>
                                        </p:attrNameLst>
                                      </p:cBhvr>
                                      <p:to>
                                        <p:strVal val="visible"/>
                                      </p:to>
                                    </p:set>
                                    <p:anim calcmode="lin" valueType="num">
                                      <p:cBhvr additive="base">
                                        <p:cTn id="19" dur="500" fill="hold"/>
                                        <p:tgtEl>
                                          <p:spTgt spid="296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6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9698">
                                            <p:txEl>
                                              <p:pRg st="3" end="3"/>
                                            </p:txEl>
                                          </p:spTgt>
                                        </p:tgtEl>
                                        <p:attrNameLst>
                                          <p:attrName>style.visibility</p:attrName>
                                        </p:attrNameLst>
                                      </p:cBhvr>
                                      <p:to>
                                        <p:strVal val="visible"/>
                                      </p:to>
                                    </p:set>
                                    <p:anim calcmode="lin" valueType="num">
                                      <p:cBhvr additive="base">
                                        <p:cTn id="25" dur="500" fill="hold"/>
                                        <p:tgtEl>
                                          <p:spTgt spid="296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96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9698">
                                            <p:txEl>
                                              <p:pRg st="4" end="4"/>
                                            </p:txEl>
                                          </p:spTgt>
                                        </p:tgtEl>
                                        <p:attrNameLst>
                                          <p:attrName>style.visibility</p:attrName>
                                        </p:attrNameLst>
                                      </p:cBhvr>
                                      <p:to>
                                        <p:strVal val="visible"/>
                                      </p:to>
                                    </p:set>
                                    <p:anim calcmode="lin" valueType="num">
                                      <p:cBhvr additive="base">
                                        <p:cTn id="31" dur="500" fill="hold"/>
                                        <p:tgtEl>
                                          <p:spTgt spid="296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96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9698">
                                            <p:txEl>
                                              <p:pRg st="5" end="5"/>
                                            </p:txEl>
                                          </p:spTgt>
                                        </p:tgtEl>
                                        <p:attrNameLst>
                                          <p:attrName>style.visibility</p:attrName>
                                        </p:attrNameLst>
                                      </p:cBhvr>
                                      <p:to>
                                        <p:strVal val="visible"/>
                                      </p:to>
                                    </p:set>
                                    <p:anim calcmode="lin" valueType="num">
                                      <p:cBhvr additive="base">
                                        <p:cTn id="37" dur="500" fill="hold"/>
                                        <p:tgtEl>
                                          <p:spTgt spid="296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969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3E88C7-7729-4424-976A-7BECB4227351}"/>
              </a:ext>
            </a:extLst>
          </p:cNvPr>
          <p:cNvSpPr>
            <a:spLocks noGrp="1"/>
          </p:cNvSpPr>
          <p:nvPr>
            <p:ph idx="1"/>
          </p:nvPr>
        </p:nvSpPr>
        <p:spPr>
          <a:xfrm>
            <a:off x="1143000" y="762000"/>
            <a:ext cx="7334250" cy="5943600"/>
          </a:xfrm>
        </p:spPr>
        <p:txBody>
          <a:bodyPr>
            <a:normAutofit/>
          </a:bodyPr>
          <a:lstStyle/>
          <a:p>
            <a:pPr marL="274320" indent="-274320" algn="just" eaLnBrk="1" fontAlgn="auto" hangingPunct="1">
              <a:spcAft>
                <a:spcPts val="0"/>
              </a:spcAft>
              <a:buClr>
                <a:schemeClr val="tx1"/>
              </a:buClr>
              <a:buSzPct val="100000"/>
              <a:buFont typeface="Wingdings" pitchFamily="2" charset="2"/>
              <a:buChar char="§"/>
              <a:defRPr/>
            </a:pPr>
            <a:r>
              <a:rPr lang="en-US" sz="2400" b="1" dirty="0">
                <a:latin typeface="Garamond" pitchFamily="18" charset="0"/>
              </a:rPr>
              <a:t>Reforestation</a:t>
            </a:r>
            <a:r>
              <a:rPr lang="en-US" sz="2400" dirty="0">
                <a:latin typeface="Garamond" pitchFamily="18" charset="0"/>
              </a:rPr>
              <a:t> is the natural or intentional restocking of existing forests and woodlands that have been depleted, usually through deforestation. </a:t>
            </a:r>
          </a:p>
          <a:p>
            <a:pPr marL="0" indent="0" algn="just" eaLnBrk="1" fontAlgn="auto" hangingPunct="1">
              <a:spcAft>
                <a:spcPts val="0"/>
              </a:spcAft>
              <a:buClr>
                <a:schemeClr val="tx1"/>
              </a:buClr>
              <a:buSzPct val="100000"/>
              <a:buNone/>
              <a:defRPr/>
            </a:pPr>
            <a:endParaRPr lang="en-US" sz="2400" dirty="0">
              <a:latin typeface="Garamond" pitchFamily="18" charset="0"/>
            </a:endParaRPr>
          </a:p>
          <a:p>
            <a:pPr marL="274320" indent="-274320" algn="just" eaLnBrk="1" fontAlgn="auto" hangingPunct="1">
              <a:spcAft>
                <a:spcPts val="0"/>
              </a:spcAft>
              <a:buClr>
                <a:schemeClr val="tx1"/>
              </a:buClr>
              <a:buSzPct val="100000"/>
              <a:buFont typeface="Wingdings" pitchFamily="2" charset="2"/>
              <a:buChar char="§"/>
              <a:defRPr/>
            </a:pPr>
            <a:r>
              <a:rPr lang="en-US" sz="2400" dirty="0">
                <a:latin typeface="Garamond" pitchFamily="18" charset="0"/>
              </a:rPr>
              <a:t>The term reforestation is similar to </a:t>
            </a:r>
            <a:r>
              <a:rPr lang="en-US" sz="2400" dirty="0" err="1">
                <a:latin typeface="Garamond" pitchFamily="18" charset="0"/>
              </a:rPr>
              <a:t>afforestation</a:t>
            </a:r>
            <a:r>
              <a:rPr lang="en-US" sz="2400" dirty="0">
                <a:latin typeface="Garamond" pitchFamily="18" charset="0"/>
              </a:rPr>
              <a:t>, the process of restoring and recreating areas of woodlands or forests that may have existed long ago but were deforested or otherwise removed at some point in the past.</a:t>
            </a:r>
          </a:p>
          <a:p>
            <a:pPr marL="274320" indent="-274320" algn="just" eaLnBrk="1" fontAlgn="auto" hangingPunct="1">
              <a:spcAft>
                <a:spcPts val="0"/>
              </a:spcAft>
              <a:buClr>
                <a:schemeClr val="tx1"/>
              </a:buClr>
              <a:buSzPct val="100000"/>
              <a:buFont typeface="Wingdings 2" panose="05020102010507070707" pitchFamily="18" charset="2"/>
              <a:buNone/>
              <a:defRPr/>
            </a:pPr>
            <a:endParaRPr lang="en-US" sz="2400" dirty="0">
              <a:latin typeface="Garamond" pitchFamily="18" charset="0"/>
            </a:endParaRPr>
          </a:p>
          <a:p>
            <a:pPr marL="274320" indent="-274320" algn="just" eaLnBrk="1" fontAlgn="auto" hangingPunct="1">
              <a:spcAft>
                <a:spcPts val="0"/>
              </a:spcAft>
              <a:buClr>
                <a:schemeClr val="tx1"/>
              </a:buClr>
              <a:buSzPct val="100000"/>
              <a:buFont typeface="Wingdings" pitchFamily="2" charset="2"/>
              <a:buChar char="§"/>
              <a:defRPr/>
            </a:pPr>
            <a:r>
              <a:rPr lang="en-US" sz="2400" b="1" dirty="0" err="1">
                <a:latin typeface="Garamond" pitchFamily="18" charset="0"/>
              </a:rPr>
              <a:t>Afforestation</a:t>
            </a:r>
            <a:r>
              <a:rPr lang="en-US" sz="2400" dirty="0">
                <a:latin typeface="Garamond" pitchFamily="18" charset="0"/>
              </a:rPr>
              <a:t> is the establishment of a forest or stand of trees in an area where there was no forest.</a:t>
            </a:r>
          </a:p>
          <a:p>
            <a:pPr eaLnBrk="1" hangingPunct="1">
              <a:defRPr/>
            </a:pPr>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anim calcmode="lin" valueType="num">
                                      <p:cBhvr>
                                        <p:cTn id="2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FC039-22FD-4CA6-A215-2E1604DE8E17}"/>
              </a:ext>
            </a:extLst>
          </p:cNvPr>
          <p:cNvSpPr>
            <a:spLocks noGrp="1"/>
          </p:cNvSpPr>
          <p:nvPr>
            <p:ph type="title"/>
          </p:nvPr>
        </p:nvSpPr>
        <p:spPr>
          <a:xfrm>
            <a:off x="1435100" y="274638"/>
            <a:ext cx="7499350" cy="563562"/>
          </a:xfrm>
        </p:spPr>
        <p:txBody>
          <a:bodyPr/>
          <a:lstStyle/>
          <a:p>
            <a:pPr eaLnBrk="1" hangingPunct="1">
              <a:defRPr/>
            </a:pPr>
            <a:r>
              <a:rPr lang="en-US" sz="2600" b="1" dirty="0">
                <a:solidFill>
                  <a:schemeClr val="tx1"/>
                </a:solidFill>
                <a:effectLst/>
                <a:latin typeface="Garamond" pitchFamily="18" charset="0"/>
              </a:rPr>
              <a:t>Sustainable Management of Forest</a:t>
            </a:r>
            <a:endParaRPr lang="en-US" sz="2600" dirty="0"/>
          </a:p>
        </p:txBody>
      </p:sp>
      <p:sp>
        <p:nvSpPr>
          <p:cNvPr id="3" name="Content Placeholder 2">
            <a:extLst>
              <a:ext uri="{FF2B5EF4-FFF2-40B4-BE49-F238E27FC236}">
                <a16:creationId xmlns:a16="http://schemas.microsoft.com/office/drawing/2014/main" id="{5739E514-A38F-4AF2-9A7D-2785234F7C19}"/>
              </a:ext>
            </a:extLst>
          </p:cNvPr>
          <p:cNvSpPr>
            <a:spLocks noGrp="1"/>
          </p:cNvSpPr>
          <p:nvPr>
            <p:ph idx="1"/>
          </p:nvPr>
        </p:nvSpPr>
        <p:spPr>
          <a:xfrm>
            <a:off x="1435100" y="914400"/>
            <a:ext cx="7499350" cy="5181600"/>
          </a:xfrm>
        </p:spPr>
        <p:txBody>
          <a:bodyPr/>
          <a:lstStyle/>
          <a:p>
            <a:pPr marL="365760" indent="-283464" algn="just" eaLnBrk="1" fontAlgn="auto" hangingPunct="1">
              <a:spcAft>
                <a:spcPts val="0"/>
              </a:spcAft>
              <a:buClr>
                <a:schemeClr val="tx1"/>
              </a:buClr>
              <a:buSzPct val="100000"/>
              <a:buFont typeface="Wingdings 2" panose="05020102010507070707" pitchFamily="18" charset="2"/>
              <a:buNone/>
              <a:defRPr/>
            </a:pPr>
            <a:r>
              <a:rPr lang="en-US" sz="2400" dirty="0">
                <a:latin typeface="Garamond" pitchFamily="18" charset="0"/>
              </a:rPr>
              <a:t>Steps that can be taken for this purpose:</a:t>
            </a:r>
          </a:p>
          <a:p>
            <a:pPr marL="365760" indent="-283464" algn="just" eaLnBrk="1" fontAlgn="auto" hangingPunct="1">
              <a:spcAft>
                <a:spcPts val="0"/>
              </a:spcAft>
              <a:buFont typeface="Wingdings 2"/>
              <a:buChar char=""/>
              <a:defRPr/>
            </a:pPr>
            <a:r>
              <a:rPr lang="en-US" sz="2400" dirty="0">
                <a:latin typeface="Garamond" pitchFamily="18" charset="0"/>
              </a:rPr>
              <a:t>Avoid major project, roads, railway in forest areas.</a:t>
            </a:r>
          </a:p>
          <a:p>
            <a:pPr marL="365760" indent="-283464" algn="just" eaLnBrk="1" fontAlgn="auto" hangingPunct="1">
              <a:spcAft>
                <a:spcPts val="0"/>
              </a:spcAft>
              <a:buFont typeface="Wingdings 2"/>
              <a:buChar char=""/>
              <a:defRPr/>
            </a:pPr>
            <a:r>
              <a:rPr lang="en-US" sz="2400" dirty="0">
                <a:latin typeface="Garamond" pitchFamily="18" charset="0"/>
              </a:rPr>
              <a:t>Mining activity should be restricted.</a:t>
            </a:r>
          </a:p>
          <a:p>
            <a:pPr marL="365760" indent="-283464" algn="just" eaLnBrk="1" fontAlgn="auto" hangingPunct="1">
              <a:spcAft>
                <a:spcPts val="0"/>
              </a:spcAft>
              <a:buFont typeface="Wingdings 2"/>
              <a:buChar char=""/>
              <a:defRPr/>
            </a:pPr>
            <a:r>
              <a:rPr lang="en-US" sz="2400" dirty="0">
                <a:latin typeface="Garamond" pitchFamily="18" charset="0"/>
              </a:rPr>
              <a:t>Dependence on timber should be reduced.</a:t>
            </a:r>
          </a:p>
          <a:p>
            <a:pPr marL="365760" indent="-283464" algn="just" eaLnBrk="1" fontAlgn="auto" hangingPunct="1">
              <a:spcAft>
                <a:spcPts val="0"/>
              </a:spcAft>
              <a:buFont typeface="Wingdings 2"/>
              <a:buChar char=""/>
              <a:defRPr/>
            </a:pPr>
            <a:r>
              <a:rPr lang="en-US" sz="2400" dirty="0">
                <a:latin typeface="Garamond" pitchFamily="18" charset="0"/>
              </a:rPr>
              <a:t>Wild grazing should be restricted </a:t>
            </a:r>
          </a:p>
          <a:p>
            <a:pPr marL="365760" indent="-283464" algn="just" eaLnBrk="1" fontAlgn="auto" hangingPunct="1">
              <a:spcAft>
                <a:spcPts val="0"/>
              </a:spcAft>
              <a:buFont typeface="Wingdings 2"/>
              <a:buChar char=""/>
              <a:defRPr/>
            </a:pPr>
            <a:r>
              <a:rPr lang="en-US" sz="2400" dirty="0">
                <a:latin typeface="Garamond" pitchFamily="18" charset="0"/>
              </a:rPr>
              <a:t>Commercial wood should be grown  and harvested in wetlands so that forest are protected.</a:t>
            </a:r>
          </a:p>
          <a:p>
            <a:pPr marL="365760" indent="-283464" algn="just" eaLnBrk="1" fontAlgn="auto" hangingPunct="1">
              <a:spcAft>
                <a:spcPts val="0"/>
              </a:spcAft>
              <a:buFont typeface="Wingdings 2"/>
              <a:buChar char=""/>
              <a:defRPr/>
            </a:pPr>
            <a:r>
              <a:rPr lang="en-US" sz="2400" dirty="0">
                <a:latin typeface="Garamond" pitchFamily="18" charset="0"/>
              </a:rPr>
              <a:t>Social and cultural organization should be engaged in sustainable management of forest.</a:t>
            </a:r>
          </a:p>
          <a:p>
            <a:pPr marL="365760" indent="-283464" eaLnBrk="1" fontAlgn="auto" hangingPunct="1">
              <a:spcAft>
                <a:spcPts val="0"/>
              </a:spcAft>
              <a:buFont typeface="Wingdings" pitchFamily="2" charset="2"/>
              <a:buNone/>
              <a:defRPr/>
            </a:pPr>
            <a:endParaRPr lang="en-US" b="1" dirty="0">
              <a:latin typeface="Garamond" pitchFamily="18" charset="0"/>
            </a:endParaRPr>
          </a:p>
          <a:p>
            <a:pPr eaLnBrk="1" hangingPunct="1">
              <a:defRPr/>
            </a:pPr>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1000"/>
                                        <p:tgtEl>
                                          <p:spTgt spid="3">
                                            <p:txEl>
                                              <p:pRg st="5" end="5"/>
                                            </p:txEl>
                                          </p:spTgt>
                                        </p:tgtEl>
                                      </p:cBhvr>
                                    </p:animEffect>
                                    <p:anim calcmode="lin" valueType="num">
                                      <p:cBhvr>
                                        <p:cTn id="5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Effect transition="in" filter="fade">
                                      <p:cBhvr>
                                        <p:cTn id="56" dur="1000"/>
                                        <p:tgtEl>
                                          <p:spTgt spid="3">
                                            <p:txEl>
                                              <p:pRg st="6" end="6"/>
                                            </p:txEl>
                                          </p:spTgt>
                                        </p:tgtEl>
                                      </p:cBhvr>
                                    </p:animEffect>
                                    <p:anim calcmode="lin" valueType="num">
                                      <p:cBhvr>
                                        <p:cTn id="5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1ED35D36-56AB-4147-895D-A19BE841889B}"/>
              </a:ext>
            </a:extLst>
          </p:cNvPr>
          <p:cNvSpPr>
            <a:spLocks noGrp="1" noChangeArrowheads="1"/>
          </p:cNvSpPr>
          <p:nvPr>
            <p:ph type="title"/>
          </p:nvPr>
        </p:nvSpPr>
        <p:spPr>
          <a:xfrm>
            <a:off x="914400" y="152400"/>
            <a:ext cx="7543800" cy="609600"/>
          </a:xfrm>
        </p:spPr>
        <p:txBody>
          <a:bodyPr>
            <a:normAutofit fontScale="90000"/>
          </a:bodyPr>
          <a:lstStyle/>
          <a:p>
            <a:pPr eaLnBrk="1" fontAlgn="auto" hangingPunct="1">
              <a:spcAft>
                <a:spcPts val="0"/>
              </a:spcAft>
              <a:defRPr/>
            </a:pPr>
            <a:br>
              <a:rPr lang="en-US" sz="3600" b="1" dirty="0">
                <a:solidFill>
                  <a:schemeClr val="tx2">
                    <a:satMod val="130000"/>
                  </a:schemeClr>
                </a:solidFill>
                <a:latin typeface="Garamond" pitchFamily="18" charset="0"/>
              </a:rPr>
            </a:br>
            <a:r>
              <a:rPr lang="en-US" sz="3600" b="1" dirty="0">
                <a:solidFill>
                  <a:schemeClr val="tx2">
                    <a:satMod val="130000"/>
                  </a:schemeClr>
                </a:solidFill>
                <a:latin typeface="Garamond" pitchFamily="18" charset="0"/>
              </a:rPr>
              <a:t>Tundra</a:t>
            </a:r>
            <a:br>
              <a:rPr lang="en-US" sz="4000" dirty="0">
                <a:solidFill>
                  <a:schemeClr val="tx2">
                    <a:satMod val="130000"/>
                  </a:schemeClr>
                </a:solidFill>
              </a:rPr>
            </a:br>
            <a:endParaRPr lang="en-US" sz="4000" dirty="0">
              <a:solidFill>
                <a:schemeClr val="tx2">
                  <a:satMod val="130000"/>
                </a:schemeClr>
              </a:solidFill>
            </a:endParaRPr>
          </a:p>
        </p:txBody>
      </p:sp>
      <p:sp>
        <p:nvSpPr>
          <p:cNvPr id="32771" name="Rectangle 3">
            <a:extLst>
              <a:ext uri="{FF2B5EF4-FFF2-40B4-BE49-F238E27FC236}">
                <a16:creationId xmlns:a16="http://schemas.microsoft.com/office/drawing/2014/main" id="{328F52E3-F15E-4B9C-8173-EDAAFCE8C6F1}"/>
              </a:ext>
            </a:extLst>
          </p:cNvPr>
          <p:cNvSpPr>
            <a:spLocks noGrp="1"/>
          </p:cNvSpPr>
          <p:nvPr>
            <p:ph idx="1"/>
          </p:nvPr>
        </p:nvSpPr>
        <p:spPr>
          <a:xfrm>
            <a:off x="838200" y="990600"/>
            <a:ext cx="8077200" cy="5486400"/>
          </a:xfrm>
        </p:spPr>
        <p:txBody>
          <a:bodyPr/>
          <a:lstStyle/>
          <a:p>
            <a:pPr lvl="1" algn="just" eaLnBrk="1" hangingPunct="1">
              <a:lnSpc>
                <a:spcPct val="80000"/>
              </a:lnSpc>
              <a:buFont typeface="Wingdings" panose="05000000000000000000" pitchFamily="2" charset="2"/>
              <a:buNone/>
            </a:pPr>
            <a:r>
              <a:rPr lang="en-US" altLang="en-US" sz="2400" dirty="0">
                <a:latin typeface="Garamond" panose="02020404030301010803" pitchFamily="18" charset="0"/>
              </a:rPr>
              <a:t>   </a:t>
            </a:r>
            <a:r>
              <a:rPr lang="en-US" altLang="en-US" dirty="0">
                <a:latin typeface="Garamond" panose="02020404030301010803" pitchFamily="18" charset="0"/>
              </a:rPr>
              <a:t>The word tundra means treeless land. The tundra is simplest biome in terms of species composition and food chains.</a:t>
            </a:r>
          </a:p>
          <a:p>
            <a:pPr lvl="1" algn="just" eaLnBrk="1" hangingPunct="1">
              <a:lnSpc>
                <a:spcPct val="80000"/>
              </a:lnSpc>
            </a:pPr>
            <a:r>
              <a:rPr lang="en-US" altLang="en-US" dirty="0">
                <a:latin typeface="Garamond" panose="02020404030301010803" pitchFamily="18" charset="0"/>
              </a:rPr>
              <a:t>Treeless, very short growing season, with cold harsh winters.</a:t>
            </a:r>
          </a:p>
          <a:p>
            <a:pPr lvl="1" algn="just" eaLnBrk="1" hangingPunct="1">
              <a:lnSpc>
                <a:spcPct val="80000"/>
              </a:lnSpc>
            </a:pPr>
            <a:r>
              <a:rPr lang="en-US" altLang="en-US" dirty="0">
                <a:latin typeface="Garamond" panose="02020404030301010803" pitchFamily="18" charset="0"/>
              </a:rPr>
              <a:t>Average summer temperature are below 10</a:t>
            </a:r>
            <a:r>
              <a:rPr lang="en-US" altLang="en-US" baseline="30000" dirty="0">
                <a:latin typeface="Garamond" panose="02020404030301010803" pitchFamily="18" charset="0"/>
              </a:rPr>
              <a:t>0</a:t>
            </a:r>
            <a:r>
              <a:rPr lang="en-US" altLang="en-US" dirty="0">
                <a:latin typeface="Garamond" panose="02020404030301010803" pitchFamily="18" charset="0"/>
              </a:rPr>
              <a:t> C</a:t>
            </a:r>
          </a:p>
          <a:p>
            <a:pPr lvl="1" algn="just" eaLnBrk="1" hangingPunct="1">
              <a:lnSpc>
                <a:spcPct val="80000"/>
              </a:lnSpc>
            </a:pPr>
            <a:r>
              <a:rPr lang="en-US" altLang="en-US" dirty="0">
                <a:latin typeface="Garamond" panose="02020404030301010803" pitchFamily="18" charset="0"/>
              </a:rPr>
              <a:t>Winter are very cold (-30</a:t>
            </a:r>
            <a:r>
              <a:rPr lang="en-US" altLang="en-US" baseline="30000" dirty="0">
                <a:latin typeface="Garamond" panose="02020404030301010803" pitchFamily="18" charset="0"/>
              </a:rPr>
              <a:t>0</a:t>
            </a:r>
            <a:r>
              <a:rPr lang="en-US" altLang="en-US" dirty="0">
                <a:latin typeface="Garamond" panose="02020404030301010803" pitchFamily="18" charset="0"/>
              </a:rPr>
              <a:t> C and lower)</a:t>
            </a:r>
          </a:p>
          <a:p>
            <a:pPr lvl="1" algn="just" eaLnBrk="1" hangingPunct="1">
              <a:lnSpc>
                <a:spcPct val="80000"/>
              </a:lnSpc>
            </a:pPr>
            <a:r>
              <a:rPr lang="en-US" altLang="en-US" dirty="0">
                <a:latin typeface="Garamond" panose="02020404030301010803" pitchFamily="18" charset="0"/>
              </a:rPr>
              <a:t>Annual precipitation is low (under 300mm)</a:t>
            </a:r>
          </a:p>
          <a:p>
            <a:pPr lvl="1" algn="just" eaLnBrk="1" hangingPunct="1">
              <a:lnSpc>
                <a:spcPct val="80000"/>
              </a:lnSpc>
            </a:pPr>
            <a:r>
              <a:rPr lang="en-US" altLang="en-US" dirty="0">
                <a:latin typeface="Garamond" panose="02020404030301010803" pitchFamily="18" charset="0"/>
              </a:rPr>
              <a:t>Precipitation is irregular and falls mostly as snow.</a:t>
            </a:r>
            <a:r>
              <a:rPr lang="en-US" altLang="en-US" sz="2400" dirty="0">
                <a:latin typeface="Garamond" panose="02020404030301010803" pitchFamily="18" charset="0"/>
              </a:rPr>
              <a:t> </a:t>
            </a:r>
          </a:p>
          <a:p>
            <a:pPr lvl="1" algn="just" eaLnBrk="1" hangingPunct="1">
              <a:lnSpc>
                <a:spcPct val="80000"/>
              </a:lnSpc>
            </a:pPr>
            <a:r>
              <a:rPr lang="en-US" altLang="en-US" sz="2400" dirty="0">
                <a:latin typeface="Garamond" panose="02020404030301010803" pitchFamily="18" charset="0"/>
              </a:rPr>
              <a:t>There are two types of Tundra:</a:t>
            </a:r>
          </a:p>
          <a:p>
            <a:pPr lvl="1" algn="just">
              <a:lnSpc>
                <a:spcPct val="80000"/>
              </a:lnSpc>
            </a:pPr>
            <a:r>
              <a:rPr lang="en-US" altLang="en-US" sz="2400" u="sng" dirty="0">
                <a:latin typeface="Garamond" panose="02020404030301010803" pitchFamily="18" charset="0"/>
              </a:rPr>
              <a:t>Arctic tundra</a:t>
            </a:r>
            <a:endParaRPr lang="en-US" altLang="en-US" sz="2400" dirty="0">
              <a:latin typeface="Garamond" panose="02020404030301010803" pitchFamily="18" charset="0"/>
            </a:endParaRPr>
          </a:p>
          <a:p>
            <a:pPr lvl="1" algn="just">
              <a:lnSpc>
                <a:spcPct val="80000"/>
              </a:lnSpc>
            </a:pPr>
            <a:r>
              <a:rPr lang="en-US" altLang="en-US" sz="2400" u="sng" dirty="0">
                <a:latin typeface="Garamond" panose="02020404030301010803" pitchFamily="18" charset="0"/>
              </a:rPr>
              <a:t>Alpine tundra</a:t>
            </a:r>
            <a:endParaRPr lang="en-US" altLang="en-US" sz="2400"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938"/>
                                        </p:tgtEl>
                                        <p:attrNameLst>
                                          <p:attrName>style.visibility</p:attrName>
                                        </p:attrNameLst>
                                      </p:cBhvr>
                                      <p:to>
                                        <p:strVal val="visible"/>
                                      </p:to>
                                    </p:set>
                                    <p:anim calcmode="lin" valueType="num">
                                      <p:cBhvr additive="base">
                                        <p:cTn id="7" dur="500" fill="hold"/>
                                        <p:tgtEl>
                                          <p:spTgt spid="39938"/>
                                        </p:tgtEl>
                                        <p:attrNameLst>
                                          <p:attrName>ppt_x</p:attrName>
                                        </p:attrNameLst>
                                      </p:cBhvr>
                                      <p:tavLst>
                                        <p:tav tm="0">
                                          <p:val>
                                            <p:strVal val="#ppt_x"/>
                                          </p:val>
                                        </p:tav>
                                        <p:tav tm="100000">
                                          <p:val>
                                            <p:strVal val="#ppt_x"/>
                                          </p:val>
                                        </p:tav>
                                      </p:tavLst>
                                    </p:anim>
                                    <p:anim calcmode="lin" valueType="num">
                                      <p:cBhvr additive="base">
                                        <p:cTn id="8" dur="500" fill="hold"/>
                                        <p:tgtEl>
                                          <p:spTgt spid="3993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2771">
                                            <p:txEl>
                                              <p:pRg st="0" end="0"/>
                                            </p:txEl>
                                          </p:spTgt>
                                        </p:tgtEl>
                                        <p:attrNameLst>
                                          <p:attrName>style.visibility</p:attrName>
                                        </p:attrNameLst>
                                      </p:cBhvr>
                                      <p:to>
                                        <p:strVal val="visible"/>
                                      </p:to>
                                    </p:set>
                                    <p:anim calcmode="lin" valueType="num">
                                      <p:cBhvr additive="base">
                                        <p:cTn id="13" dur="500" fill="hold"/>
                                        <p:tgtEl>
                                          <p:spTgt spid="3277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771">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2771">
                                            <p:txEl>
                                              <p:pRg st="1" end="1"/>
                                            </p:txEl>
                                          </p:spTgt>
                                        </p:tgtEl>
                                        <p:attrNameLst>
                                          <p:attrName>style.visibility</p:attrName>
                                        </p:attrNameLst>
                                      </p:cBhvr>
                                      <p:to>
                                        <p:strVal val="visible"/>
                                      </p:to>
                                    </p:set>
                                    <p:anim calcmode="lin" valueType="num">
                                      <p:cBhvr additive="base">
                                        <p:cTn id="17" dur="500" fill="hold"/>
                                        <p:tgtEl>
                                          <p:spTgt spid="32771">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2771">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2771">
                                            <p:txEl>
                                              <p:pRg st="2" end="2"/>
                                            </p:txEl>
                                          </p:spTgt>
                                        </p:tgtEl>
                                        <p:attrNameLst>
                                          <p:attrName>style.visibility</p:attrName>
                                        </p:attrNameLst>
                                      </p:cBhvr>
                                      <p:to>
                                        <p:strVal val="visible"/>
                                      </p:to>
                                    </p:set>
                                    <p:anim calcmode="lin" valueType="num">
                                      <p:cBhvr additive="base">
                                        <p:cTn id="21" dur="500" fill="hold"/>
                                        <p:tgtEl>
                                          <p:spTgt spid="32771">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2771">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2771">
                                            <p:txEl>
                                              <p:pRg st="3" end="3"/>
                                            </p:txEl>
                                          </p:spTgt>
                                        </p:tgtEl>
                                        <p:attrNameLst>
                                          <p:attrName>style.visibility</p:attrName>
                                        </p:attrNameLst>
                                      </p:cBhvr>
                                      <p:to>
                                        <p:strVal val="visible"/>
                                      </p:to>
                                    </p:set>
                                    <p:anim calcmode="lin" valueType="num">
                                      <p:cBhvr additive="base">
                                        <p:cTn id="25" dur="500" fill="hold"/>
                                        <p:tgtEl>
                                          <p:spTgt spid="3277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2771">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2771">
                                            <p:txEl>
                                              <p:pRg st="4" end="4"/>
                                            </p:txEl>
                                          </p:spTgt>
                                        </p:tgtEl>
                                        <p:attrNameLst>
                                          <p:attrName>style.visibility</p:attrName>
                                        </p:attrNameLst>
                                      </p:cBhvr>
                                      <p:to>
                                        <p:strVal val="visible"/>
                                      </p:to>
                                    </p:set>
                                    <p:anim calcmode="lin" valueType="num">
                                      <p:cBhvr additive="base">
                                        <p:cTn id="29" dur="500" fill="hold"/>
                                        <p:tgtEl>
                                          <p:spTgt spid="32771">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2771">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2771">
                                            <p:txEl>
                                              <p:pRg st="5" end="5"/>
                                            </p:txEl>
                                          </p:spTgt>
                                        </p:tgtEl>
                                        <p:attrNameLst>
                                          <p:attrName>style.visibility</p:attrName>
                                        </p:attrNameLst>
                                      </p:cBhvr>
                                      <p:to>
                                        <p:strVal val="visible"/>
                                      </p:to>
                                    </p:set>
                                    <p:anim calcmode="lin" valueType="num">
                                      <p:cBhvr additive="base">
                                        <p:cTn id="33" dur="500" fill="hold"/>
                                        <p:tgtEl>
                                          <p:spTgt spid="32771">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2771">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2771">
                                            <p:txEl>
                                              <p:pRg st="6" end="6"/>
                                            </p:txEl>
                                          </p:spTgt>
                                        </p:tgtEl>
                                        <p:attrNameLst>
                                          <p:attrName>style.visibility</p:attrName>
                                        </p:attrNameLst>
                                      </p:cBhvr>
                                      <p:to>
                                        <p:strVal val="visible"/>
                                      </p:to>
                                    </p:set>
                                    <p:anim calcmode="lin" valueType="num">
                                      <p:cBhvr additive="base">
                                        <p:cTn id="37" dur="500" fill="hold"/>
                                        <p:tgtEl>
                                          <p:spTgt spid="32771">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2771">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2771">
                                            <p:txEl>
                                              <p:pRg st="7" end="7"/>
                                            </p:txEl>
                                          </p:spTgt>
                                        </p:tgtEl>
                                        <p:attrNameLst>
                                          <p:attrName>style.visibility</p:attrName>
                                        </p:attrNameLst>
                                      </p:cBhvr>
                                      <p:to>
                                        <p:strVal val="visible"/>
                                      </p:to>
                                    </p:set>
                                    <p:anim calcmode="lin" valueType="num">
                                      <p:cBhvr additive="base">
                                        <p:cTn id="41" dur="500" fill="hold"/>
                                        <p:tgtEl>
                                          <p:spTgt spid="32771">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2771">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2771">
                                            <p:txEl>
                                              <p:pRg st="8" end="8"/>
                                            </p:txEl>
                                          </p:spTgt>
                                        </p:tgtEl>
                                        <p:attrNameLst>
                                          <p:attrName>style.visibility</p:attrName>
                                        </p:attrNameLst>
                                      </p:cBhvr>
                                      <p:to>
                                        <p:strVal val="visible"/>
                                      </p:to>
                                    </p:set>
                                    <p:anim calcmode="lin" valueType="num">
                                      <p:cBhvr additive="base">
                                        <p:cTn id="45" dur="500" fill="hold"/>
                                        <p:tgtEl>
                                          <p:spTgt spid="32771">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277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p:bldP spid="3277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5" name="Rectangle 11">
            <a:extLst>
              <a:ext uri="{FF2B5EF4-FFF2-40B4-BE49-F238E27FC236}">
                <a16:creationId xmlns:a16="http://schemas.microsoft.com/office/drawing/2014/main" id="{47094F58-DA87-48C6-AC46-66CCAA01E811}"/>
              </a:ext>
            </a:extLst>
          </p:cNvPr>
          <p:cNvSpPr>
            <a:spLocks noGrp="1" noChangeArrowheads="1"/>
          </p:cNvSpPr>
          <p:nvPr>
            <p:ph type="title"/>
          </p:nvPr>
        </p:nvSpPr>
        <p:spPr>
          <a:xfrm>
            <a:off x="1066800" y="152400"/>
            <a:ext cx="7391400" cy="609600"/>
          </a:xfrm>
        </p:spPr>
        <p:txBody>
          <a:bodyPr>
            <a:normAutofit fontScale="90000"/>
          </a:bodyPr>
          <a:lstStyle/>
          <a:p>
            <a:pPr eaLnBrk="1" fontAlgn="auto" hangingPunct="1">
              <a:spcAft>
                <a:spcPts val="0"/>
              </a:spcAft>
              <a:defRPr/>
            </a:pPr>
            <a:r>
              <a:rPr lang="en-US" sz="4000" b="1" dirty="0">
                <a:solidFill>
                  <a:schemeClr val="tx2">
                    <a:satMod val="130000"/>
                  </a:schemeClr>
                </a:solidFill>
                <a:latin typeface="Garamond" pitchFamily="18" charset="0"/>
              </a:rPr>
              <a:t>Tundra</a:t>
            </a:r>
            <a:r>
              <a:rPr lang="en-US" sz="4000" dirty="0">
                <a:solidFill>
                  <a:schemeClr val="tx2">
                    <a:satMod val="130000"/>
                  </a:schemeClr>
                </a:solidFill>
              </a:rPr>
              <a:t> </a:t>
            </a:r>
          </a:p>
        </p:txBody>
      </p:sp>
      <p:pic>
        <p:nvPicPr>
          <p:cNvPr id="33795" name="Picture 10">
            <a:extLst>
              <a:ext uri="{FF2B5EF4-FFF2-40B4-BE49-F238E27FC236}">
                <a16:creationId xmlns:a16="http://schemas.microsoft.com/office/drawing/2014/main" id="{9ECAC4CA-07EE-48E4-9A97-AFDAE1C162A1}"/>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471434" y="1295400"/>
            <a:ext cx="6890512" cy="4573349"/>
          </a:xfr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7115"/>
                                        </p:tgtEl>
                                        <p:attrNameLst>
                                          <p:attrName>style.visibility</p:attrName>
                                        </p:attrNameLst>
                                      </p:cBhvr>
                                      <p:to>
                                        <p:strVal val="visible"/>
                                      </p:to>
                                    </p:set>
                                    <p:animEffect transition="in" filter="fade">
                                      <p:cBhvr>
                                        <p:cTn id="7" dur="1000"/>
                                        <p:tgtEl>
                                          <p:spTgt spid="47115"/>
                                        </p:tgtEl>
                                      </p:cBhvr>
                                    </p:animEffect>
                                    <p:anim calcmode="lin" valueType="num">
                                      <p:cBhvr>
                                        <p:cTn id="8" dur="1000" fill="hold"/>
                                        <p:tgtEl>
                                          <p:spTgt spid="47115"/>
                                        </p:tgtEl>
                                        <p:attrNameLst>
                                          <p:attrName>ppt_x</p:attrName>
                                        </p:attrNameLst>
                                      </p:cBhvr>
                                      <p:tavLst>
                                        <p:tav tm="0">
                                          <p:val>
                                            <p:strVal val="#ppt_x"/>
                                          </p:val>
                                        </p:tav>
                                        <p:tav tm="100000">
                                          <p:val>
                                            <p:strVal val="#ppt_x"/>
                                          </p:val>
                                        </p:tav>
                                      </p:tavLst>
                                    </p:anim>
                                    <p:anim calcmode="lin" valueType="num">
                                      <p:cBhvr>
                                        <p:cTn id="9" dur="1000" fill="hold"/>
                                        <p:tgtEl>
                                          <p:spTgt spid="471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3795"/>
                                        </p:tgtEl>
                                        <p:attrNameLst>
                                          <p:attrName>style.visibility</p:attrName>
                                        </p:attrNameLst>
                                      </p:cBhvr>
                                      <p:to>
                                        <p:strVal val="visible"/>
                                      </p:to>
                                    </p:set>
                                    <p:anim calcmode="lin" valueType="num">
                                      <p:cBhvr additive="base">
                                        <p:cTn id="14" dur="500" fill="hold"/>
                                        <p:tgtEl>
                                          <p:spTgt spid="33795"/>
                                        </p:tgtEl>
                                        <p:attrNameLst>
                                          <p:attrName>ppt_x</p:attrName>
                                        </p:attrNameLst>
                                      </p:cBhvr>
                                      <p:tavLst>
                                        <p:tav tm="0">
                                          <p:val>
                                            <p:strVal val="#ppt_x"/>
                                          </p:val>
                                        </p:tav>
                                        <p:tav tm="100000">
                                          <p:val>
                                            <p:strVal val="#ppt_x"/>
                                          </p:val>
                                        </p:tav>
                                      </p:tavLst>
                                    </p:anim>
                                    <p:anim calcmode="lin" valueType="num">
                                      <p:cBhvr additive="base">
                                        <p:cTn id="15" dur="500" fill="hold"/>
                                        <p:tgtEl>
                                          <p:spTgt spid="337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32CB79C8-440E-4C84-B631-C06D8D6C69EF}"/>
              </a:ext>
            </a:extLst>
          </p:cNvPr>
          <p:cNvSpPr>
            <a:spLocks noGrp="1" noChangeArrowheads="1"/>
          </p:cNvSpPr>
          <p:nvPr>
            <p:ph type="title"/>
          </p:nvPr>
        </p:nvSpPr>
        <p:spPr>
          <a:xfrm>
            <a:off x="1143000" y="152400"/>
            <a:ext cx="7315200" cy="609600"/>
          </a:xfrm>
        </p:spPr>
        <p:txBody>
          <a:bodyPr>
            <a:normAutofit fontScale="90000"/>
          </a:bodyPr>
          <a:lstStyle/>
          <a:p>
            <a:pPr eaLnBrk="1" fontAlgn="auto" hangingPunct="1">
              <a:spcAft>
                <a:spcPts val="0"/>
              </a:spcAft>
              <a:defRPr/>
            </a:pPr>
            <a:br>
              <a:rPr lang="en-US" sz="3600" b="1" dirty="0">
                <a:solidFill>
                  <a:schemeClr val="tx2">
                    <a:satMod val="130000"/>
                  </a:schemeClr>
                </a:solidFill>
                <a:latin typeface="Garamond" pitchFamily="18" charset="0"/>
              </a:rPr>
            </a:br>
            <a:r>
              <a:rPr lang="en-US" sz="3600" b="1" dirty="0">
                <a:solidFill>
                  <a:schemeClr val="tx2">
                    <a:satMod val="130000"/>
                  </a:schemeClr>
                </a:solidFill>
                <a:latin typeface="Garamond" pitchFamily="18" charset="0"/>
              </a:rPr>
              <a:t>Desert</a:t>
            </a:r>
            <a:br>
              <a:rPr lang="en-US" sz="3600" dirty="0">
                <a:solidFill>
                  <a:schemeClr val="tx2">
                    <a:satMod val="130000"/>
                  </a:schemeClr>
                </a:solidFill>
                <a:latin typeface="Garamond" pitchFamily="18" charset="0"/>
              </a:rPr>
            </a:br>
            <a:endParaRPr lang="en-US" sz="3600" dirty="0">
              <a:solidFill>
                <a:schemeClr val="tx2">
                  <a:satMod val="130000"/>
                </a:schemeClr>
              </a:solidFill>
              <a:latin typeface="Garamond" pitchFamily="18" charset="0"/>
            </a:endParaRPr>
          </a:p>
        </p:txBody>
      </p:sp>
      <p:sp>
        <p:nvSpPr>
          <p:cNvPr id="36867" name="Rectangle 3">
            <a:extLst>
              <a:ext uri="{FF2B5EF4-FFF2-40B4-BE49-F238E27FC236}">
                <a16:creationId xmlns:a16="http://schemas.microsoft.com/office/drawing/2014/main" id="{9927CEA7-2E22-4387-979F-5A57EBE24C18}"/>
              </a:ext>
            </a:extLst>
          </p:cNvPr>
          <p:cNvSpPr>
            <a:spLocks noGrp="1"/>
          </p:cNvSpPr>
          <p:nvPr>
            <p:ph idx="1"/>
          </p:nvPr>
        </p:nvSpPr>
        <p:spPr>
          <a:xfrm>
            <a:off x="533400" y="1066800"/>
            <a:ext cx="8458200" cy="5638800"/>
          </a:xfrm>
        </p:spPr>
        <p:txBody>
          <a:bodyPr/>
          <a:lstStyle/>
          <a:p>
            <a:pPr lvl="1" algn="just" eaLnBrk="1" hangingPunct="1"/>
            <a:r>
              <a:rPr lang="en-US" altLang="en-US" sz="3200" dirty="0">
                <a:latin typeface="Garamond" panose="02020404030301010803" pitchFamily="18" charset="0"/>
              </a:rPr>
              <a:t>Precipitation is infrequent and unpredictable</a:t>
            </a:r>
          </a:p>
          <a:p>
            <a:pPr lvl="1" algn="just" eaLnBrk="1" hangingPunct="1"/>
            <a:r>
              <a:rPr lang="en-US" altLang="en-US" sz="3200" dirty="0">
                <a:latin typeface="Garamond" panose="02020404030301010803" pitchFamily="18" charset="0"/>
              </a:rPr>
              <a:t>Wide daily and seasonal temperature fluctuations.</a:t>
            </a:r>
          </a:p>
          <a:p>
            <a:pPr lvl="1" algn="just" eaLnBrk="1" hangingPunct="1"/>
            <a:r>
              <a:rPr lang="en-US" altLang="en-US" sz="3200" dirty="0">
                <a:latin typeface="Garamond" panose="02020404030301010803" pitchFamily="18" charset="0"/>
              </a:rPr>
              <a:t>Often found at 30</a:t>
            </a:r>
            <a:r>
              <a:rPr lang="en-US" altLang="en-US" sz="3200" baseline="30000" dirty="0">
                <a:latin typeface="Garamond" panose="02020404030301010803" pitchFamily="18" charset="0"/>
              </a:rPr>
              <a:t>0</a:t>
            </a:r>
            <a:r>
              <a:rPr lang="en-US" altLang="en-US" sz="3200" dirty="0">
                <a:latin typeface="Garamond" panose="02020404030301010803" pitchFamily="18" charset="0"/>
              </a:rPr>
              <a:t> N and S of equator </a:t>
            </a:r>
          </a:p>
          <a:p>
            <a:pPr lvl="1" algn="just" eaLnBrk="1" hangingPunct="1"/>
            <a:r>
              <a:rPr lang="en-US" altLang="en-US" sz="3200" dirty="0">
                <a:latin typeface="Garamond" panose="02020404030301010803" pitchFamily="18" charset="0"/>
              </a:rPr>
              <a:t>Very dry; hot days, cold nights</a:t>
            </a:r>
          </a:p>
          <a:p>
            <a:pPr lvl="1" algn="just" eaLnBrk="1" hangingPunct="1"/>
            <a:r>
              <a:rPr lang="en-US" altLang="en-US" sz="3200" dirty="0">
                <a:latin typeface="Garamond" panose="02020404030301010803" pitchFamily="18" charset="0"/>
              </a:rPr>
              <a:t>Very hot in summer (40</a:t>
            </a:r>
            <a:r>
              <a:rPr lang="en-US" altLang="en-US" sz="3200" baseline="30000" dirty="0">
                <a:latin typeface="Garamond" panose="02020404030301010803" pitchFamily="18" charset="0"/>
              </a:rPr>
              <a:t>0</a:t>
            </a:r>
            <a:r>
              <a:rPr lang="en-US" altLang="en-US" sz="3200" dirty="0">
                <a:latin typeface="Garamond" panose="02020404030301010803" pitchFamily="18" charset="0"/>
              </a:rPr>
              <a:t> C)</a:t>
            </a:r>
          </a:p>
          <a:p>
            <a:pPr lvl="1" algn="just" eaLnBrk="1" hangingPunct="1"/>
            <a:r>
              <a:rPr lang="en-US" altLang="en-US" sz="3200" dirty="0">
                <a:latin typeface="Garamond" panose="02020404030301010803" pitchFamily="18" charset="0"/>
              </a:rPr>
              <a:t>Annual rainfall  less than 250mm</a:t>
            </a:r>
          </a:p>
          <a:p>
            <a:pPr lvl="1" algn="just" eaLnBrk="1" hangingPunct="1"/>
            <a:endParaRPr lang="en-US" altLang="en-US" sz="3200" dirty="0">
              <a:latin typeface="Garamond" panose="02020404030301010803" pitchFamily="18" charset="0"/>
            </a:endParaRPr>
          </a:p>
          <a:p>
            <a:pPr lvl="1" eaLnBrk="1" hangingPunct="1"/>
            <a:endParaRPr lang="en-US" altLang="en-US" sz="3200" dirty="0">
              <a:latin typeface="Garamond" panose="02020404030301010803" pitchFamily="18" charset="0"/>
            </a:endParaRPr>
          </a:p>
          <a:p>
            <a:pPr eaLnBrk="1" hangingPunct="1">
              <a:buFont typeface="Wingdings" panose="05000000000000000000" pitchFamily="2" charset="2"/>
              <a:buNone/>
            </a:pPr>
            <a:endParaRPr lang="en-US" altLang="en-US" sz="2800"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0"/>
                                        </p:tgtEl>
                                        <p:attrNameLst>
                                          <p:attrName>style.visibility</p:attrName>
                                        </p:attrNameLst>
                                      </p:cBhvr>
                                      <p:to>
                                        <p:strVal val="visible"/>
                                      </p:to>
                                    </p:set>
                                    <p:anim calcmode="lin" valueType="num">
                                      <p:cBhvr additive="base">
                                        <p:cTn id="7" dur="500" fill="hold"/>
                                        <p:tgtEl>
                                          <p:spTgt spid="43010"/>
                                        </p:tgtEl>
                                        <p:attrNameLst>
                                          <p:attrName>ppt_x</p:attrName>
                                        </p:attrNameLst>
                                      </p:cBhvr>
                                      <p:tavLst>
                                        <p:tav tm="0">
                                          <p:val>
                                            <p:strVal val="#ppt_x"/>
                                          </p:val>
                                        </p:tav>
                                        <p:tav tm="100000">
                                          <p:val>
                                            <p:strVal val="#ppt_x"/>
                                          </p:val>
                                        </p:tav>
                                      </p:tavLst>
                                    </p:anim>
                                    <p:anim calcmode="lin" valueType="num">
                                      <p:cBhvr additive="base">
                                        <p:cTn id="8" dur="500" fill="hold"/>
                                        <p:tgtEl>
                                          <p:spTgt spid="430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867">
                                            <p:txEl>
                                              <p:pRg st="0" end="0"/>
                                            </p:txEl>
                                          </p:spTgt>
                                        </p:tgtEl>
                                        <p:attrNameLst>
                                          <p:attrName>style.visibility</p:attrName>
                                        </p:attrNameLst>
                                      </p:cBhvr>
                                      <p:to>
                                        <p:strVal val="visible"/>
                                      </p:to>
                                    </p:set>
                                    <p:anim calcmode="lin" valueType="num">
                                      <p:cBhvr additive="base">
                                        <p:cTn id="13" dur="500" fill="hold"/>
                                        <p:tgtEl>
                                          <p:spTgt spid="36867">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7">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6867">
                                            <p:txEl>
                                              <p:pRg st="1" end="1"/>
                                            </p:txEl>
                                          </p:spTgt>
                                        </p:tgtEl>
                                        <p:attrNameLst>
                                          <p:attrName>style.visibility</p:attrName>
                                        </p:attrNameLst>
                                      </p:cBhvr>
                                      <p:to>
                                        <p:strVal val="visible"/>
                                      </p:to>
                                    </p:set>
                                    <p:anim calcmode="lin" valueType="num">
                                      <p:cBhvr additive="base">
                                        <p:cTn id="17" dur="500" fill="hold"/>
                                        <p:tgtEl>
                                          <p:spTgt spid="36867">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867">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6867">
                                            <p:txEl>
                                              <p:pRg st="2" end="2"/>
                                            </p:txEl>
                                          </p:spTgt>
                                        </p:tgtEl>
                                        <p:attrNameLst>
                                          <p:attrName>style.visibility</p:attrName>
                                        </p:attrNameLst>
                                      </p:cBhvr>
                                      <p:to>
                                        <p:strVal val="visible"/>
                                      </p:to>
                                    </p:set>
                                    <p:anim calcmode="lin" valueType="num">
                                      <p:cBhvr additive="base">
                                        <p:cTn id="21" dur="500" fill="hold"/>
                                        <p:tgtEl>
                                          <p:spTgt spid="36867">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6867">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6867">
                                            <p:txEl>
                                              <p:pRg st="3" end="3"/>
                                            </p:txEl>
                                          </p:spTgt>
                                        </p:tgtEl>
                                        <p:attrNameLst>
                                          <p:attrName>style.visibility</p:attrName>
                                        </p:attrNameLst>
                                      </p:cBhvr>
                                      <p:to>
                                        <p:strVal val="visible"/>
                                      </p:to>
                                    </p:set>
                                    <p:anim calcmode="lin" valueType="num">
                                      <p:cBhvr additive="base">
                                        <p:cTn id="25" dur="500" fill="hold"/>
                                        <p:tgtEl>
                                          <p:spTgt spid="368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867">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6867">
                                            <p:txEl>
                                              <p:pRg st="4" end="4"/>
                                            </p:txEl>
                                          </p:spTgt>
                                        </p:tgtEl>
                                        <p:attrNameLst>
                                          <p:attrName>style.visibility</p:attrName>
                                        </p:attrNameLst>
                                      </p:cBhvr>
                                      <p:to>
                                        <p:strVal val="visible"/>
                                      </p:to>
                                    </p:set>
                                    <p:anim calcmode="lin" valueType="num">
                                      <p:cBhvr additive="base">
                                        <p:cTn id="29" dur="500" fill="hold"/>
                                        <p:tgtEl>
                                          <p:spTgt spid="36867">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6867">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6867">
                                            <p:txEl>
                                              <p:pRg st="5" end="5"/>
                                            </p:txEl>
                                          </p:spTgt>
                                        </p:tgtEl>
                                        <p:attrNameLst>
                                          <p:attrName>style.visibility</p:attrName>
                                        </p:attrNameLst>
                                      </p:cBhvr>
                                      <p:to>
                                        <p:strVal val="visible"/>
                                      </p:to>
                                    </p:set>
                                    <p:anim calcmode="lin" valueType="num">
                                      <p:cBhvr additive="base">
                                        <p:cTn id="33" dur="500" fill="hold"/>
                                        <p:tgtEl>
                                          <p:spTgt spid="3686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686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p:bldP spid="3686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60FCDD81-1BFB-461D-B272-8A2467E64381}"/>
              </a:ext>
            </a:extLst>
          </p:cNvPr>
          <p:cNvSpPr>
            <a:spLocks noGrp="1" noChangeArrowheads="1"/>
          </p:cNvSpPr>
          <p:nvPr>
            <p:ph type="title"/>
          </p:nvPr>
        </p:nvSpPr>
        <p:spPr>
          <a:xfrm>
            <a:off x="1066800" y="304800"/>
            <a:ext cx="7391400" cy="533400"/>
          </a:xfrm>
        </p:spPr>
        <p:txBody>
          <a:bodyPr>
            <a:normAutofit fontScale="90000"/>
          </a:bodyPr>
          <a:lstStyle/>
          <a:p>
            <a:pPr eaLnBrk="1" fontAlgn="auto" hangingPunct="1">
              <a:spcAft>
                <a:spcPts val="0"/>
              </a:spcAft>
              <a:defRPr/>
            </a:pPr>
            <a:r>
              <a:rPr lang="en-US" sz="4000" b="1" dirty="0">
                <a:solidFill>
                  <a:schemeClr val="tx2">
                    <a:satMod val="130000"/>
                  </a:schemeClr>
                </a:solidFill>
                <a:latin typeface="Garamond" pitchFamily="18" charset="0"/>
              </a:rPr>
              <a:t>Desert</a:t>
            </a:r>
          </a:p>
        </p:txBody>
      </p:sp>
      <p:pic>
        <p:nvPicPr>
          <p:cNvPr id="34819" name="Picture 3" descr="05_04">
            <a:extLst>
              <a:ext uri="{FF2B5EF4-FFF2-40B4-BE49-F238E27FC236}">
                <a16:creationId xmlns:a16="http://schemas.microsoft.com/office/drawing/2014/main" id="{05582822-CC79-45E6-9EB0-0F8DB48044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295400"/>
            <a:ext cx="5638800" cy="4955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632175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2"/>
                                        </p:tgtEl>
                                        <p:attrNameLst>
                                          <p:attrName>style.visibility</p:attrName>
                                        </p:attrNameLst>
                                      </p:cBhvr>
                                      <p:to>
                                        <p:strVal val="visible"/>
                                      </p:to>
                                    </p:set>
                                    <p:anim calcmode="lin" valueType="num">
                                      <p:cBhvr additive="base">
                                        <p:cTn id="7" dur="500" fill="hold"/>
                                        <p:tgtEl>
                                          <p:spTgt spid="10242"/>
                                        </p:tgtEl>
                                        <p:attrNameLst>
                                          <p:attrName>ppt_x</p:attrName>
                                        </p:attrNameLst>
                                      </p:cBhvr>
                                      <p:tavLst>
                                        <p:tav tm="0">
                                          <p:val>
                                            <p:strVal val="#ppt_x"/>
                                          </p:val>
                                        </p:tav>
                                        <p:tav tm="100000">
                                          <p:val>
                                            <p:strVal val="#ppt_x"/>
                                          </p:val>
                                        </p:tav>
                                      </p:tavLst>
                                    </p:anim>
                                    <p:anim calcmode="lin" valueType="num">
                                      <p:cBhvr additive="base">
                                        <p:cTn id="8" dur="500" fill="hold"/>
                                        <p:tgtEl>
                                          <p:spTgt spid="102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4819"/>
                                        </p:tgtEl>
                                        <p:attrNameLst>
                                          <p:attrName>style.visibility</p:attrName>
                                        </p:attrNameLst>
                                      </p:cBhvr>
                                      <p:to>
                                        <p:strVal val="visible"/>
                                      </p:to>
                                    </p:set>
                                    <p:anim calcmode="lin" valueType="num">
                                      <p:cBhvr additive="base">
                                        <p:cTn id="13" dur="500" fill="hold"/>
                                        <p:tgtEl>
                                          <p:spTgt spid="34819"/>
                                        </p:tgtEl>
                                        <p:attrNameLst>
                                          <p:attrName>ppt_x</p:attrName>
                                        </p:attrNameLst>
                                      </p:cBhvr>
                                      <p:tavLst>
                                        <p:tav tm="0">
                                          <p:val>
                                            <p:strVal val="#ppt_x"/>
                                          </p:val>
                                        </p:tav>
                                        <p:tav tm="100000">
                                          <p:val>
                                            <p:strVal val="#ppt_x"/>
                                          </p:val>
                                        </p:tav>
                                      </p:tavLst>
                                    </p:anim>
                                    <p:anim calcmode="lin" valueType="num">
                                      <p:cBhvr additive="base">
                                        <p:cTn id="14" dur="500" fill="hold"/>
                                        <p:tgtEl>
                                          <p:spTgt spid="348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4BA88ADC-5093-46DF-B341-443B510B1501}"/>
              </a:ext>
            </a:extLst>
          </p:cNvPr>
          <p:cNvSpPr>
            <a:spLocks noGrp="1" noChangeArrowheads="1"/>
          </p:cNvSpPr>
          <p:nvPr>
            <p:ph type="title"/>
          </p:nvPr>
        </p:nvSpPr>
        <p:spPr>
          <a:xfrm>
            <a:off x="1066800" y="228600"/>
            <a:ext cx="7391400" cy="685800"/>
          </a:xfrm>
        </p:spPr>
        <p:txBody>
          <a:bodyPr>
            <a:normAutofit fontScale="90000"/>
          </a:bodyPr>
          <a:lstStyle/>
          <a:p>
            <a:pPr eaLnBrk="1" fontAlgn="auto" hangingPunct="1">
              <a:spcAft>
                <a:spcPts val="0"/>
              </a:spcAft>
              <a:defRPr/>
            </a:pPr>
            <a:br>
              <a:rPr lang="en-US" sz="3600" b="1" dirty="0">
                <a:solidFill>
                  <a:schemeClr val="tx2">
                    <a:satMod val="130000"/>
                  </a:schemeClr>
                </a:solidFill>
                <a:latin typeface="Garamond" pitchFamily="18" charset="0"/>
              </a:rPr>
            </a:br>
            <a:r>
              <a:rPr lang="en-US" sz="3600" b="1" dirty="0">
                <a:solidFill>
                  <a:schemeClr val="tx2">
                    <a:satMod val="130000"/>
                  </a:schemeClr>
                </a:solidFill>
                <a:latin typeface="Garamond" pitchFamily="18" charset="0"/>
              </a:rPr>
              <a:t>Grassland</a:t>
            </a:r>
            <a:br>
              <a:rPr lang="en-US" sz="3600" dirty="0">
                <a:solidFill>
                  <a:schemeClr val="tx2">
                    <a:satMod val="130000"/>
                  </a:schemeClr>
                </a:solidFill>
                <a:latin typeface="Garamond" pitchFamily="18" charset="0"/>
              </a:rPr>
            </a:br>
            <a:endParaRPr lang="en-US" sz="3600" dirty="0">
              <a:solidFill>
                <a:schemeClr val="tx2">
                  <a:satMod val="130000"/>
                </a:schemeClr>
              </a:solidFill>
              <a:latin typeface="Garamond" pitchFamily="18" charset="0"/>
            </a:endParaRPr>
          </a:p>
        </p:txBody>
      </p:sp>
      <p:sp>
        <p:nvSpPr>
          <p:cNvPr id="39939" name="Rectangle 3">
            <a:extLst>
              <a:ext uri="{FF2B5EF4-FFF2-40B4-BE49-F238E27FC236}">
                <a16:creationId xmlns:a16="http://schemas.microsoft.com/office/drawing/2014/main" id="{0B21CC8C-D6FB-436F-AA42-6B9138E5B7ED}"/>
              </a:ext>
            </a:extLst>
          </p:cNvPr>
          <p:cNvSpPr>
            <a:spLocks noGrp="1"/>
          </p:cNvSpPr>
          <p:nvPr>
            <p:ph idx="1"/>
          </p:nvPr>
        </p:nvSpPr>
        <p:spPr>
          <a:xfrm>
            <a:off x="1066800" y="1143000"/>
            <a:ext cx="7772400" cy="5486400"/>
          </a:xfrm>
        </p:spPr>
        <p:txBody>
          <a:bodyPr>
            <a:normAutofit lnSpcReduction="10000"/>
          </a:bodyPr>
          <a:lstStyle/>
          <a:p>
            <a:pPr eaLnBrk="1" hangingPunct="1"/>
            <a:r>
              <a:rPr lang="en-GB" altLang="en-US" sz="2600" dirty="0">
                <a:latin typeface="Garamond" panose="02020404030301010803" pitchFamily="18" charset="0"/>
              </a:rPr>
              <a:t>Grasslands are characterized as lands dominated by grasses rather than large shrubs or trees.</a:t>
            </a:r>
          </a:p>
          <a:p>
            <a:pPr algn="just" eaLnBrk="1" hangingPunct="1">
              <a:buFont typeface="Wingdings" panose="05000000000000000000" pitchFamily="2" charset="2"/>
              <a:buChar char="§"/>
            </a:pPr>
            <a:r>
              <a:rPr lang="en-US" altLang="en-US" sz="2600" dirty="0">
                <a:latin typeface="Garamond" panose="02020404030301010803" pitchFamily="18" charset="0"/>
              </a:rPr>
              <a:t>The climate is dry, hot and warm.</a:t>
            </a:r>
          </a:p>
          <a:p>
            <a:pPr algn="just" eaLnBrk="1" hangingPunct="1">
              <a:buFont typeface="Wingdings" panose="05000000000000000000" pitchFamily="2" charset="2"/>
              <a:buChar char="§"/>
            </a:pPr>
            <a:r>
              <a:rPr lang="en-US" altLang="en-US" sz="2600" dirty="0">
                <a:latin typeface="Garamond" panose="02020404030301010803" pitchFamily="18" charset="0"/>
              </a:rPr>
              <a:t> Annual rainfall is 50-120cm.</a:t>
            </a:r>
          </a:p>
          <a:p>
            <a:pPr algn="just" eaLnBrk="1" hangingPunct="1">
              <a:buFont typeface="Wingdings" panose="05000000000000000000" pitchFamily="2" charset="2"/>
              <a:buNone/>
            </a:pPr>
            <a:r>
              <a:rPr lang="en-GB" altLang="en-US" sz="2600" dirty="0">
                <a:latin typeface="Garamond" panose="02020404030301010803" pitchFamily="18" charset="0"/>
              </a:rPr>
              <a:t>There are two main divisions of grasslands:</a:t>
            </a:r>
          </a:p>
          <a:p>
            <a:pPr eaLnBrk="1" hangingPunct="1">
              <a:buFont typeface="Wingdings" panose="05000000000000000000" pitchFamily="2" charset="2"/>
              <a:buChar char="§"/>
            </a:pPr>
            <a:r>
              <a:rPr lang="en-GB" altLang="en-US" sz="2600" dirty="0">
                <a:latin typeface="Garamond" panose="02020404030301010803" pitchFamily="18" charset="0"/>
              </a:rPr>
              <a:t>Tropical (Savanna)</a:t>
            </a:r>
          </a:p>
          <a:p>
            <a:pPr eaLnBrk="1" hangingPunct="1">
              <a:buFont typeface="Wingdings" panose="05000000000000000000" pitchFamily="2" charset="2"/>
              <a:buChar char="§"/>
            </a:pPr>
            <a:r>
              <a:rPr lang="en-GB" altLang="en-US" sz="2600" dirty="0">
                <a:latin typeface="Garamond" panose="02020404030301010803" pitchFamily="18" charset="0"/>
              </a:rPr>
              <a:t>Temperate (North America- Prairie, Eurasia- Steppes/Chaparral)</a:t>
            </a:r>
          </a:p>
          <a:p>
            <a:pPr algn="just" eaLnBrk="1" hangingPunct="1">
              <a:buFont typeface="Wingdings" panose="05000000000000000000" pitchFamily="2" charset="2"/>
              <a:buChar char="§"/>
            </a:pPr>
            <a:r>
              <a:rPr lang="en-GB" altLang="en-US" sz="2600" dirty="0">
                <a:latin typeface="Garamond" panose="02020404030301010803" pitchFamily="18" charset="0"/>
              </a:rPr>
              <a:t> Savanna is grassland with scattered individual trees.</a:t>
            </a:r>
            <a:r>
              <a:rPr lang="en-US" altLang="en-US" sz="2600" dirty="0">
                <a:latin typeface="Garamond" panose="02020404030301010803" pitchFamily="18" charset="0"/>
              </a:rPr>
              <a:t> </a:t>
            </a:r>
          </a:p>
          <a:p>
            <a:pPr algn="just" eaLnBrk="1" hangingPunct="1">
              <a:buFont typeface="Wingdings" panose="05000000000000000000" pitchFamily="2" charset="2"/>
              <a:buChar char="§"/>
            </a:pPr>
            <a:r>
              <a:rPr lang="en-GB" altLang="en-US" sz="2600" dirty="0">
                <a:latin typeface="Garamond" panose="02020404030301010803" pitchFamily="18" charset="0"/>
              </a:rPr>
              <a:t>Temperate grasslands are characterized as having grasses as the dominant vegetation</a:t>
            </a:r>
            <a:endParaRPr lang="en-US" altLang="en-US"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034"/>
                                        </p:tgtEl>
                                        <p:attrNameLst>
                                          <p:attrName>style.visibility</p:attrName>
                                        </p:attrNameLst>
                                      </p:cBhvr>
                                      <p:to>
                                        <p:strVal val="visible"/>
                                      </p:to>
                                    </p:set>
                                    <p:anim calcmode="lin" valueType="num">
                                      <p:cBhvr additive="base">
                                        <p:cTn id="7" dur="500" fill="hold"/>
                                        <p:tgtEl>
                                          <p:spTgt spid="44034"/>
                                        </p:tgtEl>
                                        <p:attrNameLst>
                                          <p:attrName>ppt_x</p:attrName>
                                        </p:attrNameLst>
                                      </p:cBhvr>
                                      <p:tavLst>
                                        <p:tav tm="0">
                                          <p:val>
                                            <p:strVal val="#ppt_x"/>
                                          </p:val>
                                        </p:tav>
                                        <p:tav tm="100000">
                                          <p:val>
                                            <p:strVal val="#ppt_x"/>
                                          </p:val>
                                        </p:tav>
                                      </p:tavLst>
                                    </p:anim>
                                    <p:anim calcmode="lin" valueType="num">
                                      <p:cBhvr additive="base">
                                        <p:cTn id="8" dur="500" fill="hold"/>
                                        <p:tgtEl>
                                          <p:spTgt spid="440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939">
                                            <p:txEl>
                                              <p:pRg st="0" end="0"/>
                                            </p:txEl>
                                          </p:spTgt>
                                        </p:tgtEl>
                                        <p:attrNameLst>
                                          <p:attrName>style.visibility</p:attrName>
                                        </p:attrNameLst>
                                      </p:cBhvr>
                                      <p:to>
                                        <p:strVal val="visible"/>
                                      </p:to>
                                    </p:set>
                                    <p:anim calcmode="lin" valueType="num">
                                      <p:cBhvr additive="base">
                                        <p:cTn id="13" dur="500" fill="hold"/>
                                        <p:tgtEl>
                                          <p:spTgt spid="3993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9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9939">
                                            <p:txEl>
                                              <p:pRg st="1" end="1"/>
                                            </p:txEl>
                                          </p:spTgt>
                                        </p:tgtEl>
                                        <p:attrNameLst>
                                          <p:attrName>style.visibility</p:attrName>
                                        </p:attrNameLst>
                                      </p:cBhvr>
                                      <p:to>
                                        <p:strVal val="visible"/>
                                      </p:to>
                                    </p:set>
                                    <p:anim calcmode="lin" valueType="num">
                                      <p:cBhvr additive="base">
                                        <p:cTn id="19" dur="500" fill="hold"/>
                                        <p:tgtEl>
                                          <p:spTgt spid="39939">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9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9939">
                                            <p:txEl>
                                              <p:pRg st="2" end="2"/>
                                            </p:txEl>
                                          </p:spTgt>
                                        </p:tgtEl>
                                        <p:attrNameLst>
                                          <p:attrName>style.visibility</p:attrName>
                                        </p:attrNameLst>
                                      </p:cBhvr>
                                      <p:to>
                                        <p:strVal val="visible"/>
                                      </p:to>
                                    </p:set>
                                    <p:anim calcmode="lin" valueType="num">
                                      <p:cBhvr additive="base">
                                        <p:cTn id="25" dur="500" fill="hold"/>
                                        <p:tgtEl>
                                          <p:spTgt spid="39939">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99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9939">
                                            <p:txEl>
                                              <p:pRg st="3" end="3"/>
                                            </p:txEl>
                                          </p:spTgt>
                                        </p:tgtEl>
                                        <p:attrNameLst>
                                          <p:attrName>style.visibility</p:attrName>
                                        </p:attrNameLst>
                                      </p:cBhvr>
                                      <p:to>
                                        <p:strVal val="visible"/>
                                      </p:to>
                                    </p:set>
                                    <p:anim calcmode="lin" valueType="num">
                                      <p:cBhvr additive="base">
                                        <p:cTn id="31" dur="500" fill="hold"/>
                                        <p:tgtEl>
                                          <p:spTgt spid="39939">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99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9939">
                                            <p:txEl>
                                              <p:pRg st="4" end="4"/>
                                            </p:txEl>
                                          </p:spTgt>
                                        </p:tgtEl>
                                        <p:attrNameLst>
                                          <p:attrName>style.visibility</p:attrName>
                                        </p:attrNameLst>
                                      </p:cBhvr>
                                      <p:to>
                                        <p:strVal val="visible"/>
                                      </p:to>
                                    </p:set>
                                    <p:anim calcmode="lin" valueType="num">
                                      <p:cBhvr additive="base">
                                        <p:cTn id="37" dur="500" fill="hold"/>
                                        <p:tgtEl>
                                          <p:spTgt spid="39939">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99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9939">
                                            <p:txEl>
                                              <p:pRg st="5" end="5"/>
                                            </p:txEl>
                                          </p:spTgt>
                                        </p:tgtEl>
                                        <p:attrNameLst>
                                          <p:attrName>style.visibility</p:attrName>
                                        </p:attrNameLst>
                                      </p:cBhvr>
                                      <p:to>
                                        <p:strVal val="visible"/>
                                      </p:to>
                                    </p:set>
                                    <p:anim calcmode="lin" valueType="num">
                                      <p:cBhvr additive="base">
                                        <p:cTn id="43" dur="500" fill="hold"/>
                                        <p:tgtEl>
                                          <p:spTgt spid="39939">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993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9939">
                                            <p:txEl>
                                              <p:pRg st="6" end="6"/>
                                            </p:txEl>
                                          </p:spTgt>
                                        </p:tgtEl>
                                        <p:attrNameLst>
                                          <p:attrName>style.visibility</p:attrName>
                                        </p:attrNameLst>
                                      </p:cBhvr>
                                      <p:to>
                                        <p:strVal val="visible"/>
                                      </p:to>
                                    </p:set>
                                    <p:anim calcmode="lin" valueType="num">
                                      <p:cBhvr additive="base">
                                        <p:cTn id="49" dur="500" fill="hold"/>
                                        <p:tgtEl>
                                          <p:spTgt spid="39939">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993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9939">
                                            <p:txEl>
                                              <p:pRg st="7" end="7"/>
                                            </p:txEl>
                                          </p:spTgt>
                                        </p:tgtEl>
                                        <p:attrNameLst>
                                          <p:attrName>style.visibility</p:attrName>
                                        </p:attrNameLst>
                                      </p:cBhvr>
                                      <p:to>
                                        <p:strVal val="visible"/>
                                      </p:to>
                                    </p:set>
                                    <p:anim calcmode="lin" valueType="num">
                                      <p:cBhvr additive="base">
                                        <p:cTn id="55" dur="500" fill="hold"/>
                                        <p:tgtEl>
                                          <p:spTgt spid="39939">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993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p:bldP spid="3993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A9FBCA09-07AD-40F5-8D6E-08E078FE9257}"/>
              </a:ext>
            </a:extLst>
          </p:cNvPr>
          <p:cNvSpPr>
            <a:spLocks noGrp="1" noChangeArrowheads="1"/>
          </p:cNvSpPr>
          <p:nvPr>
            <p:ph type="title"/>
          </p:nvPr>
        </p:nvSpPr>
        <p:spPr>
          <a:xfrm>
            <a:off x="990600" y="152400"/>
            <a:ext cx="7467600" cy="1143000"/>
          </a:xfrm>
        </p:spPr>
        <p:txBody>
          <a:bodyPr/>
          <a:lstStyle/>
          <a:p>
            <a:pPr eaLnBrk="1" fontAlgn="auto" hangingPunct="1">
              <a:spcAft>
                <a:spcPts val="0"/>
              </a:spcAft>
              <a:defRPr/>
            </a:pPr>
            <a:r>
              <a:rPr lang="en-US" sz="4000" b="1" dirty="0">
                <a:solidFill>
                  <a:schemeClr val="tx2">
                    <a:satMod val="130000"/>
                  </a:schemeClr>
                </a:solidFill>
                <a:latin typeface="Garamond" pitchFamily="18" charset="0"/>
              </a:rPr>
              <a:t>Grassland</a:t>
            </a:r>
          </a:p>
        </p:txBody>
      </p:sp>
      <p:pic>
        <p:nvPicPr>
          <p:cNvPr id="37891" name="Picture 3" descr="05_05">
            <a:extLst>
              <a:ext uri="{FF2B5EF4-FFF2-40B4-BE49-F238E27FC236}">
                <a16:creationId xmlns:a16="http://schemas.microsoft.com/office/drawing/2014/main" id="{E86C0472-EC46-473F-B08F-1C008B329C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1243021"/>
            <a:ext cx="5562600" cy="5186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358625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fade">
                                      <p:cBhvr>
                                        <p:cTn id="7" dur="1000"/>
                                        <p:tgtEl>
                                          <p:spTgt spid="11266"/>
                                        </p:tgtEl>
                                      </p:cBhvr>
                                    </p:animEffect>
                                    <p:anim calcmode="lin" valueType="num">
                                      <p:cBhvr>
                                        <p:cTn id="8" dur="1000" fill="hold"/>
                                        <p:tgtEl>
                                          <p:spTgt spid="11266"/>
                                        </p:tgtEl>
                                        <p:attrNameLst>
                                          <p:attrName>ppt_x</p:attrName>
                                        </p:attrNameLst>
                                      </p:cBhvr>
                                      <p:tavLst>
                                        <p:tav tm="0">
                                          <p:val>
                                            <p:strVal val="#ppt_x"/>
                                          </p:val>
                                        </p:tav>
                                        <p:tav tm="100000">
                                          <p:val>
                                            <p:strVal val="#ppt_x"/>
                                          </p:val>
                                        </p:tav>
                                      </p:tavLst>
                                    </p:anim>
                                    <p:anim calcmode="lin" valueType="num">
                                      <p:cBhvr>
                                        <p:cTn id="9" dur="1000" fill="hold"/>
                                        <p:tgtEl>
                                          <p:spTgt spid="1126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7891"/>
                                        </p:tgtEl>
                                        <p:attrNameLst>
                                          <p:attrName>style.visibility</p:attrName>
                                        </p:attrNameLst>
                                      </p:cBhvr>
                                      <p:to>
                                        <p:strVal val="visible"/>
                                      </p:to>
                                    </p:set>
                                    <p:anim calcmode="lin" valueType="num">
                                      <p:cBhvr additive="base">
                                        <p:cTn id="14" dur="500" fill="hold"/>
                                        <p:tgtEl>
                                          <p:spTgt spid="37891"/>
                                        </p:tgtEl>
                                        <p:attrNameLst>
                                          <p:attrName>ppt_x</p:attrName>
                                        </p:attrNameLst>
                                      </p:cBhvr>
                                      <p:tavLst>
                                        <p:tav tm="0">
                                          <p:val>
                                            <p:strVal val="#ppt_x"/>
                                          </p:val>
                                        </p:tav>
                                        <p:tav tm="100000">
                                          <p:val>
                                            <p:strVal val="#ppt_x"/>
                                          </p:val>
                                        </p:tav>
                                      </p:tavLst>
                                    </p:anim>
                                    <p:anim calcmode="lin" valueType="num">
                                      <p:cBhvr additive="base">
                                        <p:cTn id="15" dur="500" fill="hold"/>
                                        <p:tgtEl>
                                          <p:spTgt spid="378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3A6939-5B2B-44D6-AC29-408662F887E6}"/>
              </a:ext>
            </a:extLst>
          </p:cNvPr>
          <p:cNvSpPr>
            <a:spLocks noGrp="1"/>
          </p:cNvSpPr>
          <p:nvPr>
            <p:ph type="ctrTitle"/>
          </p:nvPr>
        </p:nvSpPr>
        <p:spPr>
          <a:xfrm>
            <a:off x="990600" y="381000"/>
            <a:ext cx="7772400" cy="381000"/>
          </a:xfrm>
        </p:spPr>
        <p:txBody>
          <a:bodyPr>
            <a:normAutofit fontScale="90000"/>
          </a:bodyPr>
          <a:lstStyle/>
          <a:p>
            <a:pPr eaLnBrk="1" fontAlgn="auto" hangingPunct="1">
              <a:spcAft>
                <a:spcPts val="0"/>
              </a:spcAft>
              <a:defRPr/>
            </a:pPr>
            <a:r>
              <a:rPr lang="en-US" sz="3200" dirty="0">
                <a:solidFill>
                  <a:schemeClr val="tx2">
                    <a:satMod val="130000"/>
                  </a:schemeClr>
                </a:solidFill>
              </a:rPr>
              <a:t>Aquatic Biomes</a:t>
            </a:r>
          </a:p>
        </p:txBody>
      </p:sp>
      <p:sp>
        <p:nvSpPr>
          <p:cNvPr id="4" name="Subtitle 3">
            <a:extLst>
              <a:ext uri="{FF2B5EF4-FFF2-40B4-BE49-F238E27FC236}">
                <a16:creationId xmlns:a16="http://schemas.microsoft.com/office/drawing/2014/main" id="{6DC7AF3B-B01C-4575-9D8D-14A2ED9D8221}"/>
              </a:ext>
            </a:extLst>
          </p:cNvPr>
          <p:cNvSpPr>
            <a:spLocks noGrp="1"/>
          </p:cNvSpPr>
          <p:nvPr>
            <p:ph type="subTitle" idx="1"/>
          </p:nvPr>
        </p:nvSpPr>
        <p:spPr>
          <a:xfrm>
            <a:off x="1456678" y="2057400"/>
            <a:ext cx="7696200" cy="3429000"/>
          </a:xfrm>
        </p:spPr>
        <p:txBody>
          <a:bodyPr>
            <a:normAutofit/>
          </a:bodyPr>
          <a:lstStyle/>
          <a:p>
            <a:pPr algn="l" eaLnBrk="1" fontAlgn="auto" hangingPunct="1">
              <a:spcAft>
                <a:spcPts val="0"/>
              </a:spcAft>
              <a:defRPr/>
            </a:pPr>
            <a:r>
              <a:rPr lang="en-GB" dirty="0">
                <a:latin typeface="Garamond" pitchFamily="18" charset="0"/>
              </a:rPr>
              <a:t> Life on earth is not possible without water regions</a:t>
            </a:r>
          </a:p>
          <a:p>
            <a:pPr algn="l" eaLnBrk="1" fontAlgn="auto" hangingPunct="1">
              <a:spcAft>
                <a:spcPts val="0"/>
              </a:spcAft>
              <a:buFont typeface="Wingdings" pitchFamily="2" charset="2"/>
              <a:buChar char="Ø"/>
              <a:defRPr/>
            </a:pPr>
            <a:r>
              <a:rPr lang="en-GB" dirty="0">
                <a:latin typeface="Garamond" pitchFamily="18" charset="0"/>
              </a:rPr>
              <a:t> 75% of the earth’s surface is covered with water</a:t>
            </a:r>
          </a:p>
          <a:p>
            <a:pPr algn="l" eaLnBrk="1" fontAlgn="auto" hangingPunct="1">
              <a:spcAft>
                <a:spcPts val="0"/>
              </a:spcAft>
              <a:buFont typeface="Wingdings" pitchFamily="2" charset="2"/>
              <a:buChar char="Ø"/>
              <a:defRPr/>
            </a:pPr>
            <a:r>
              <a:rPr lang="en-GB" dirty="0">
                <a:latin typeface="Garamond" pitchFamily="18" charset="0"/>
              </a:rPr>
              <a:t> Aquatic regions house numerous species of plants and animals, both large and small</a:t>
            </a:r>
          </a:p>
          <a:p>
            <a:pPr algn="l" eaLnBrk="1" fontAlgn="auto" hangingPunct="1">
              <a:spcAft>
                <a:spcPts val="0"/>
              </a:spcAft>
              <a:buFont typeface="Wingdings" pitchFamily="2" charset="2"/>
              <a:buChar char="Ø"/>
              <a:defRPr/>
            </a:pPr>
            <a:r>
              <a:rPr lang="en-GB" dirty="0">
                <a:latin typeface="Garamond" pitchFamily="18" charset="0"/>
              </a:rPr>
              <a:t> Water temperatures can vary widely.</a:t>
            </a:r>
          </a:p>
          <a:p>
            <a:pPr algn="l" eaLnBrk="1" fontAlgn="auto" hangingPunct="1">
              <a:spcAft>
                <a:spcPts val="0"/>
              </a:spcAft>
              <a:buFont typeface="Wingdings" pitchFamily="2" charset="2"/>
              <a:buChar char="Ø"/>
              <a:defRPr/>
            </a:pPr>
            <a:r>
              <a:rPr lang="en-GB" dirty="0">
                <a:latin typeface="Garamond" pitchFamily="18" charset="0"/>
              </a:rPr>
              <a:t> </a:t>
            </a:r>
            <a:r>
              <a:rPr lang="en-GB" b="1" dirty="0">
                <a:latin typeface="Garamond" pitchFamily="18" charset="0"/>
              </a:rPr>
              <a:t>The aquatic biome can be divided into two :</a:t>
            </a:r>
          </a:p>
          <a:p>
            <a:pPr algn="l" eaLnBrk="1" fontAlgn="auto" hangingPunct="1">
              <a:spcAft>
                <a:spcPts val="0"/>
              </a:spcAft>
              <a:buFont typeface="Arial" pitchFamily="34" charset="0"/>
              <a:buChar char="•"/>
              <a:defRPr/>
            </a:pPr>
            <a:r>
              <a:rPr lang="en-GB" b="1" dirty="0">
                <a:latin typeface="Garamond" pitchFamily="18" charset="0"/>
              </a:rPr>
              <a:t>Fresh water</a:t>
            </a:r>
          </a:p>
          <a:p>
            <a:pPr algn="l" eaLnBrk="1" fontAlgn="auto" hangingPunct="1">
              <a:spcAft>
                <a:spcPts val="0"/>
              </a:spcAft>
              <a:buFont typeface="Arial" pitchFamily="34" charset="0"/>
              <a:buChar char="•"/>
              <a:defRPr/>
            </a:pPr>
            <a:r>
              <a:rPr lang="en-GB" b="1" dirty="0">
                <a:latin typeface="Garamond" pitchFamily="18" charset="0"/>
              </a:rPr>
              <a:t> Marine</a:t>
            </a:r>
          </a:p>
          <a:p>
            <a:pPr eaLnBrk="1" fontAlgn="auto" hangingPunct="1">
              <a:spcAft>
                <a:spcPts val="0"/>
              </a:spcAft>
              <a:buFont typeface="Wingdings 2"/>
              <a:buNone/>
              <a:defRPr/>
            </a:pPr>
            <a:endParaRPr lang="en-US" sz="24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 calcmode="lin" valueType="num">
                                      <p:cBhvr additive="base">
                                        <p:cTn id="19"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 calcmode="lin" valueType="num">
                                      <p:cBhvr additive="base">
                                        <p:cTn id="2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anim calcmode="lin" valueType="num">
                                      <p:cBhvr additive="base">
                                        <p:cTn id="3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anim calcmode="lin" valueType="num">
                                      <p:cBhvr additive="base">
                                        <p:cTn id="3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anim calcmode="lin" valueType="num">
                                      <p:cBhvr additive="base">
                                        <p:cTn id="4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 calcmode="lin" valueType="num">
                                      <p:cBhvr additive="base">
                                        <p:cTn id="49"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EC2F9C-DD4E-4FDE-AE00-045187B95C25}"/>
              </a:ext>
            </a:extLst>
          </p:cNvPr>
          <p:cNvSpPr>
            <a:spLocks noGrp="1"/>
          </p:cNvSpPr>
          <p:nvPr>
            <p:ph type="ctrTitle"/>
          </p:nvPr>
        </p:nvSpPr>
        <p:spPr>
          <a:xfrm>
            <a:off x="1143000" y="914400"/>
            <a:ext cx="7239000" cy="533400"/>
          </a:xfrm>
        </p:spPr>
        <p:txBody>
          <a:bodyPr>
            <a:normAutofit fontScale="90000"/>
          </a:bodyPr>
          <a:lstStyle/>
          <a:p>
            <a:pPr eaLnBrk="1" fontAlgn="auto" hangingPunct="1">
              <a:spcAft>
                <a:spcPts val="0"/>
              </a:spcAft>
              <a:defRPr/>
            </a:pPr>
            <a:r>
              <a:rPr lang="en-GB" sz="3200" b="1" dirty="0">
                <a:solidFill>
                  <a:schemeClr val="tx2">
                    <a:satMod val="130000"/>
                  </a:schemeClr>
                </a:solidFill>
              </a:rPr>
              <a:t>PRESERVATION OF BIOME</a:t>
            </a:r>
            <a:br>
              <a:rPr lang="en-GB" b="1" dirty="0">
                <a:solidFill>
                  <a:schemeClr val="tx2">
                    <a:satMod val="130000"/>
                  </a:schemeClr>
                </a:solidFill>
              </a:rPr>
            </a:br>
            <a:endParaRPr lang="en-US" dirty="0">
              <a:solidFill>
                <a:schemeClr val="tx2">
                  <a:satMod val="130000"/>
                </a:schemeClr>
              </a:solidFill>
            </a:endParaRPr>
          </a:p>
        </p:txBody>
      </p:sp>
      <p:sp>
        <p:nvSpPr>
          <p:cNvPr id="5" name="Subtitle 4">
            <a:extLst>
              <a:ext uri="{FF2B5EF4-FFF2-40B4-BE49-F238E27FC236}">
                <a16:creationId xmlns:a16="http://schemas.microsoft.com/office/drawing/2014/main" id="{CF8DFA62-4A8F-44BE-9A48-7DD37A29B9E4}"/>
              </a:ext>
            </a:extLst>
          </p:cNvPr>
          <p:cNvSpPr>
            <a:spLocks noGrp="1"/>
          </p:cNvSpPr>
          <p:nvPr>
            <p:ph type="subTitle" idx="1"/>
          </p:nvPr>
        </p:nvSpPr>
        <p:spPr>
          <a:xfrm>
            <a:off x="1508919" y="1181100"/>
            <a:ext cx="7239000" cy="5037138"/>
          </a:xfrm>
        </p:spPr>
        <p:txBody>
          <a:bodyPr>
            <a:normAutofit/>
          </a:bodyPr>
          <a:lstStyle/>
          <a:p>
            <a:pPr algn="just" eaLnBrk="1" fontAlgn="auto" hangingPunct="1">
              <a:spcAft>
                <a:spcPts val="0"/>
              </a:spcAft>
              <a:buFont typeface="Wingdings 2"/>
              <a:buNone/>
              <a:defRPr/>
            </a:pPr>
            <a:r>
              <a:rPr lang="en-GB" sz="2000" dirty="0">
                <a:latin typeface="Garamond" pitchFamily="18" charset="0"/>
              </a:rPr>
              <a:t>Biomes have changed and moved many times during the history of life on Earth. More recently, human activities have drastically altered these communities. Thus, conservation and preservation of biomes should be a major concern to all.</a:t>
            </a:r>
          </a:p>
          <a:p>
            <a:pPr algn="just" eaLnBrk="1" fontAlgn="auto" hangingPunct="1">
              <a:spcAft>
                <a:spcPts val="0"/>
              </a:spcAft>
              <a:buFont typeface="Wingdings 2"/>
              <a:buNone/>
              <a:defRPr/>
            </a:pPr>
            <a:endParaRPr lang="en-GB" sz="2000" b="1" dirty="0">
              <a:latin typeface="Garamond" pitchFamily="18" charset="0"/>
            </a:endParaRPr>
          </a:p>
          <a:p>
            <a:pPr algn="just" eaLnBrk="1" fontAlgn="auto" hangingPunct="1">
              <a:spcAft>
                <a:spcPts val="0"/>
              </a:spcAft>
              <a:buFont typeface="Wingdings" pitchFamily="2" charset="2"/>
              <a:buChar char="§"/>
              <a:defRPr/>
            </a:pPr>
            <a:r>
              <a:rPr lang="en-GB" sz="2000" dirty="0">
                <a:latin typeface="Garamond" pitchFamily="18" charset="0"/>
              </a:rPr>
              <a:t>Control pollution</a:t>
            </a:r>
          </a:p>
          <a:p>
            <a:pPr algn="just" eaLnBrk="1" fontAlgn="auto" hangingPunct="1">
              <a:spcAft>
                <a:spcPts val="0"/>
              </a:spcAft>
              <a:buFont typeface="Wingdings" pitchFamily="2" charset="2"/>
              <a:buChar char="§"/>
              <a:defRPr/>
            </a:pPr>
            <a:r>
              <a:rPr lang="en-GB" sz="2000" dirty="0">
                <a:latin typeface="Garamond" pitchFamily="18" charset="0"/>
              </a:rPr>
              <a:t> Protect forests</a:t>
            </a:r>
          </a:p>
          <a:p>
            <a:pPr algn="just">
              <a:buFont typeface="Wingdings" panose="05000000000000000000" pitchFamily="2" charset="2"/>
              <a:buChar char="§"/>
            </a:pPr>
            <a:r>
              <a:rPr lang="en-GB" altLang="en-US" sz="2000" dirty="0">
                <a:latin typeface="Garamond" panose="02020404030301010803" pitchFamily="18" charset="0"/>
              </a:rPr>
              <a:t>Preserve fresh water</a:t>
            </a:r>
          </a:p>
          <a:p>
            <a:pPr algn="just"/>
            <a:endParaRPr lang="en-GB" altLang="en-US" sz="2000" dirty="0">
              <a:latin typeface="Garamond" panose="02020404030301010803" pitchFamily="18" charset="0"/>
            </a:endParaRPr>
          </a:p>
          <a:p>
            <a:pPr algn="just"/>
            <a:r>
              <a:rPr lang="en-GB" altLang="en-US" sz="2000" dirty="0">
                <a:latin typeface="Garamond" panose="02020404030301010803" pitchFamily="18" charset="0"/>
              </a:rPr>
              <a:t>By educating people about the consequences of our actions, we can all gain a better understanding of how to preserve the Earth's natural biomes.  </a:t>
            </a:r>
          </a:p>
          <a:p>
            <a:pPr algn="just" eaLnBrk="1" fontAlgn="auto" hangingPunct="1">
              <a:spcAft>
                <a:spcPts val="0"/>
              </a:spcAft>
              <a:buFont typeface="Wingdings 2"/>
              <a:buNone/>
              <a:defRPr/>
            </a:pPr>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 calcmode="lin" valueType="num">
                                      <p:cBhvr additive="base">
                                        <p:cTn id="3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F2D7A0-794A-4DBB-B0CA-5844360C2E79}"/>
              </a:ext>
            </a:extLst>
          </p:cNvPr>
          <p:cNvSpPr>
            <a:spLocks noGrp="1"/>
          </p:cNvSpPr>
          <p:nvPr>
            <p:ph idx="1"/>
          </p:nvPr>
        </p:nvSpPr>
        <p:spPr>
          <a:xfrm>
            <a:off x="2514600" y="2438400"/>
            <a:ext cx="4732867" cy="1600200"/>
          </a:xfrm>
        </p:spPr>
        <p:txBody>
          <a:bodyPr/>
          <a:lstStyle/>
          <a:p>
            <a:pPr marL="0" indent="0">
              <a:buNone/>
            </a:pPr>
            <a:r>
              <a:rPr lang="en-US" sz="6000" dirty="0"/>
              <a:t>THANK YOU</a:t>
            </a:r>
          </a:p>
          <a:p>
            <a:endParaRPr lang="en-US" dirty="0"/>
          </a:p>
        </p:txBody>
      </p:sp>
    </p:spTree>
    <p:custDataLst>
      <p:tags r:id="rId1"/>
    </p:custDataLst>
    <p:extLst>
      <p:ext uri="{BB962C8B-B14F-4D97-AF65-F5344CB8AC3E}">
        <p14:creationId xmlns:p14="http://schemas.microsoft.com/office/powerpoint/2010/main" val="168849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2|6.7"/>
</p:tagLst>
</file>

<file path=ppt/tags/tag2.xml><?xml version="1.0" encoding="utf-8"?>
<p:tagLst xmlns:a="http://schemas.openxmlformats.org/drawingml/2006/main" xmlns:r="http://schemas.openxmlformats.org/officeDocument/2006/relationships" xmlns:p="http://schemas.openxmlformats.org/presentationml/2006/main">
  <p:tag name="TIMING" val="|0.9|45.7|10.8|7"/>
</p:tagLst>
</file>

<file path=ppt/tags/tag3.xml><?xml version="1.0" encoding="utf-8"?>
<p:tagLst xmlns:a="http://schemas.openxmlformats.org/drawingml/2006/main" xmlns:r="http://schemas.openxmlformats.org/officeDocument/2006/relationships" xmlns:p="http://schemas.openxmlformats.org/presentationml/2006/main">
  <p:tag name="TIMING" val="|0.9"/>
</p:tagLst>
</file>

<file path=ppt/tags/tag4.xml><?xml version="1.0" encoding="utf-8"?>
<p:tagLst xmlns:a="http://schemas.openxmlformats.org/drawingml/2006/main" xmlns:r="http://schemas.openxmlformats.org/officeDocument/2006/relationships" xmlns:p="http://schemas.openxmlformats.org/presentationml/2006/main">
  <p:tag name="TIMING" val="|160.9|9.1|0.7"/>
</p:tagLst>
</file>

<file path=ppt/tags/tag5.xml><?xml version="1.0" encoding="utf-8"?>
<p:tagLst xmlns:a="http://schemas.openxmlformats.org/drawingml/2006/main" xmlns:r="http://schemas.openxmlformats.org/officeDocument/2006/relationships" xmlns:p="http://schemas.openxmlformats.org/presentationml/2006/main">
  <p:tag name="TIMING" val="|2|5.2|1.3|1.5|1.4|2.9|0.6|0.9|2.1"/>
</p:tagLst>
</file>

<file path=ppt/tags/tag6.xml><?xml version="1.0" encoding="utf-8"?>
<p:tagLst xmlns:a="http://schemas.openxmlformats.org/drawingml/2006/main" xmlns:r="http://schemas.openxmlformats.org/officeDocument/2006/relationships" xmlns:p="http://schemas.openxmlformats.org/presentationml/2006/main">
  <p:tag name="TIMING" val="|0.9|1.5|17.4|14.3|7.6|1.8|2"/>
</p:tagLst>
</file>

<file path=ppt/tags/tag7.xml><?xml version="1.0" encoding="utf-8"?>
<p:tagLst xmlns:a="http://schemas.openxmlformats.org/drawingml/2006/main" xmlns:r="http://schemas.openxmlformats.org/officeDocument/2006/relationships" xmlns:p="http://schemas.openxmlformats.org/presentationml/2006/main">
  <p:tag name="TIMING" val="|0.9"/>
</p:tagLst>
</file>

<file path=ppt/tags/tag8.xml><?xml version="1.0" encoding="utf-8"?>
<p:tagLst xmlns:a="http://schemas.openxmlformats.org/drawingml/2006/main" xmlns:r="http://schemas.openxmlformats.org/officeDocument/2006/relationships" xmlns:p="http://schemas.openxmlformats.org/presentationml/2006/main">
  <p:tag name="TIMING" val="|0.9|1.1"/>
</p:tagLst>
</file>

<file path=ppt/tags/tag9.xml><?xml version="1.0" encoding="utf-8"?>
<p:tagLst xmlns:a="http://schemas.openxmlformats.org/drawingml/2006/main" xmlns:r="http://schemas.openxmlformats.org/officeDocument/2006/relationships" xmlns:p="http://schemas.openxmlformats.org/presentationml/2006/main">
  <p:tag name="TIMING" val="|1|0.5"/>
</p:tagLst>
</file>

<file path=ppt/tags/tag10.xml><?xml version="1.0" encoding="utf-8"?>
<p:tagLst xmlns:a="http://schemas.openxmlformats.org/drawingml/2006/main" xmlns:r="http://schemas.openxmlformats.org/officeDocument/2006/relationships" xmlns:p="http://schemas.openxmlformats.org/presentationml/2006/main">
  <p:tag name="TIMING" val="|1.3|2"/>
</p:tagLst>
</file>

<file path=ppt/tags/tag11.xml><?xml version="1.0" encoding="utf-8"?>
<p:tagLst xmlns:a="http://schemas.openxmlformats.org/drawingml/2006/main" xmlns:r="http://schemas.openxmlformats.org/officeDocument/2006/relationships" xmlns:p="http://schemas.openxmlformats.org/presentationml/2006/main">
  <p:tag name="TIMING" val="|1|1.4|14.2|11.2|3"/>
</p:tagLst>
</file>

<file path=ppt/tags/tag12.xml><?xml version="1.0" encoding="utf-8"?>
<p:tagLst xmlns:a="http://schemas.openxmlformats.org/drawingml/2006/main" xmlns:r="http://schemas.openxmlformats.org/officeDocument/2006/relationships" xmlns:p="http://schemas.openxmlformats.org/presentationml/2006/main">
  <p:tag name="TIMING" val="|0.8|3.9|7.9"/>
</p:tagLst>
</file>

<file path=ppt/tags/tag13.xml><?xml version="1.0" encoding="utf-8"?>
<p:tagLst xmlns:a="http://schemas.openxmlformats.org/drawingml/2006/main" xmlns:r="http://schemas.openxmlformats.org/officeDocument/2006/relationships" xmlns:p="http://schemas.openxmlformats.org/presentationml/2006/main">
  <p:tag name="TIMING" val="|0.7|2.8|13.2|8.1|8.2|5.9|7.5|11|8.2|3.9"/>
</p:tagLst>
</file>

<file path=ppt/tags/tag14.xml><?xml version="1.0" encoding="utf-8"?>
<p:tagLst xmlns:a="http://schemas.openxmlformats.org/drawingml/2006/main" xmlns:r="http://schemas.openxmlformats.org/officeDocument/2006/relationships" xmlns:p="http://schemas.openxmlformats.org/presentationml/2006/main">
  <p:tag name="TIMING" val="|0.7|1.3|20.3|22.6|12.6|5.6"/>
</p:tagLst>
</file>

<file path=ppt/tags/tag15.xml><?xml version="1.0" encoding="utf-8"?>
<p:tagLst xmlns:a="http://schemas.openxmlformats.org/drawingml/2006/main" xmlns:r="http://schemas.openxmlformats.org/officeDocument/2006/relationships" xmlns:p="http://schemas.openxmlformats.org/presentationml/2006/main">
  <p:tag name="TIMING" val="|1.3|3.1"/>
</p:tagLst>
</file>

<file path=ppt/tags/tag16.xml><?xml version="1.0" encoding="utf-8"?>
<p:tagLst xmlns:a="http://schemas.openxmlformats.org/drawingml/2006/main" xmlns:r="http://schemas.openxmlformats.org/officeDocument/2006/relationships" xmlns:p="http://schemas.openxmlformats.org/presentationml/2006/main">
  <p:tag name="TIMING" val="|0.5|8.2|3.8|10|4.3|7.2|4.8|7.3"/>
</p:tagLst>
</file>

<file path=ppt/tags/tag17.xml><?xml version="1.0" encoding="utf-8"?>
<p:tagLst xmlns:a="http://schemas.openxmlformats.org/drawingml/2006/main" xmlns:r="http://schemas.openxmlformats.org/officeDocument/2006/relationships" xmlns:p="http://schemas.openxmlformats.org/presentationml/2006/main">
  <p:tag name="TIMING" val="|0.9|5.5"/>
</p:tagLst>
</file>

<file path=ppt/tags/tag18.xml><?xml version="1.0" encoding="utf-8"?>
<p:tagLst xmlns:a="http://schemas.openxmlformats.org/drawingml/2006/main" xmlns:r="http://schemas.openxmlformats.org/officeDocument/2006/relationships" xmlns:p="http://schemas.openxmlformats.org/presentationml/2006/main">
  <p:tag name="TIMING" val="|0.7|1"/>
</p:tagLst>
</file>

<file path=ppt/tags/tag19.xml><?xml version="1.0" encoding="utf-8"?>
<p:tagLst xmlns:a="http://schemas.openxmlformats.org/drawingml/2006/main" xmlns:r="http://schemas.openxmlformats.org/officeDocument/2006/relationships" xmlns:p="http://schemas.openxmlformats.org/presentationml/2006/main">
  <p:tag name="TIMING" val="|0.5|1.2"/>
</p:tagLst>
</file>

<file path=ppt/tags/tag20.xml><?xml version="1.0" encoding="utf-8"?>
<p:tagLst xmlns:a="http://schemas.openxmlformats.org/drawingml/2006/main" xmlns:r="http://schemas.openxmlformats.org/officeDocument/2006/relationships" xmlns:p="http://schemas.openxmlformats.org/presentationml/2006/main">
  <p:tag name="TIMING" val="|0.6|0.6"/>
</p:tagLst>
</file>

<file path=ppt/tags/tag21.xml><?xml version="1.0" encoding="utf-8"?>
<p:tagLst xmlns:a="http://schemas.openxmlformats.org/drawingml/2006/main" xmlns:r="http://schemas.openxmlformats.org/officeDocument/2006/relationships" xmlns:p="http://schemas.openxmlformats.org/presentationml/2006/main">
  <p:tag name="TIMING" val="|0.6|1.9|7.4|3.8|6.6|3.6|1.3|2.1|5.6"/>
</p:tagLst>
</file>

<file path=ppt/tags/tag22.xml><?xml version="1.0" encoding="utf-8"?>
<p:tagLst xmlns:a="http://schemas.openxmlformats.org/drawingml/2006/main" xmlns:r="http://schemas.openxmlformats.org/officeDocument/2006/relationships" xmlns:p="http://schemas.openxmlformats.org/presentationml/2006/main">
  <p:tag name="TIMING" val="|1.7|0.7"/>
</p:tagLst>
</file>

<file path=ppt/tags/tag23.xml><?xml version="1.0" encoding="utf-8"?>
<p:tagLst xmlns:a="http://schemas.openxmlformats.org/drawingml/2006/main" xmlns:r="http://schemas.openxmlformats.org/officeDocument/2006/relationships" xmlns:p="http://schemas.openxmlformats.org/presentationml/2006/main">
  <p:tag name="TIMING" val="|0.6|1.8|1.3|6.1|7.2|3.1|3.5|1.3"/>
</p:tagLst>
</file>

<file path=ppt/tags/tag24.xml><?xml version="1.0" encoding="utf-8"?>
<p:tagLst xmlns:a="http://schemas.openxmlformats.org/drawingml/2006/main" xmlns:r="http://schemas.openxmlformats.org/officeDocument/2006/relationships" xmlns:p="http://schemas.openxmlformats.org/presentationml/2006/main">
  <p:tag name="TIMING" val="|0.5|2.8|17.6|11.3|7|15.1"/>
</p:tagLst>
</file>

<file path=ppt/tags/tag25.xml><?xml version="1.0" encoding="utf-8"?>
<p:tagLst xmlns:a="http://schemas.openxmlformats.org/drawingml/2006/main" xmlns:r="http://schemas.openxmlformats.org/officeDocument/2006/relationships" xmlns:p="http://schemas.openxmlformats.org/presentationml/2006/main">
  <p:tag name="TIMING" val="|1.6"/>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2207</TotalTime>
  <Words>1205</Words>
  <Application>Microsoft Office PowerPoint</Application>
  <PresentationFormat>On-screen Show (4:3)</PresentationFormat>
  <Paragraphs>174</Paragraphs>
  <Slides>26</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Arial</vt:lpstr>
      <vt:lpstr>Calibri</vt:lpstr>
      <vt:lpstr>Century Gothic</vt:lpstr>
      <vt:lpstr>Garamond</vt:lpstr>
      <vt:lpstr>Gill Sans MT</vt:lpstr>
      <vt:lpstr>Times New Roman</vt:lpstr>
      <vt:lpstr>Verdana</vt:lpstr>
      <vt:lpstr>Wingdings</vt:lpstr>
      <vt:lpstr>Wingdings 2</vt:lpstr>
      <vt:lpstr>Parallax</vt:lpstr>
      <vt:lpstr>PowerPoint Presentation</vt:lpstr>
      <vt:lpstr>PowerPoint Presentation</vt:lpstr>
      <vt:lpstr>PowerPoint Presentation</vt:lpstr>
      <vt:lpstr>World Biomes</vt:lpstr>
      <vt:lpstr>Biomes &amp; Climate</vt:lpstr>
      <vt:lpstr>Biomes</vt:lpstr>
      <vt:lpstr>PowerPoint Presentation</vt:lpstr>
      <vt:lpstr> </vt:lpstr>
      <vt:lpstr>Tropical Rainforest</vt:lpstr>
      <vt:lpstr>                   Temperate forest </vt:lpstr>
      <vt:lpstr>Taiga (Boreal Forest)</vt:lpstr>
      <vt:lpstr>PowerPoint Presentation</vt:lpstr>
      <vt:lpstr>PowerPoint Presentation</vt:lpstr>
      <vt:lpstr>PowerPoint Presentation</vt:lpstr>
      <vt:lpstr>PowerPoint Presentation</vt:lpstr>
      <vt:lpstr>PowerPoint Presentation</vt:lpstr>
      <vt:lpstr>Sustainable Management of Forest</vt:lpstr>
      <vt:lpstr> Tundra </vt:lpstr>
      <vt:lpstr>Tundra </vt:lpstr>
      <vt:lpstr> Desert </vt:lpstr>
      <vt:lpstr>Desert</vt:lpstr>
      <vt:lpstr> Grassland </vt:lpstr>
      <vt:lpstr>Grassland</vt:lpstr>
      <vt:lpstr>Aquatic Biomes</vt:lpstr>
      <vt:lpstr>PRESERVATION OF BIOME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Mohammad Mehedi Hasan</dc:creator>
  <cp:lastModifiedBy>moushumi_geo@outlook.com</cp:lastModifiedBy>
  <cp:revision>125</cp:revision>
  <dcterms:created xsi:type="dcterms:W3CDTF">2020-07-14T14:58:22Z</dcterms:created>
  <dcterms:modified xsi:type="dcterms:W3CDTF">2022-03-02T05:58:16Z</dcterms:modified>
</cp:coreProperties>
</file>