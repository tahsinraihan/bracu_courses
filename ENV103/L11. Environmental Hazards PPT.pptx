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40"/>
  </p:notesMasterIdLst>
  <p:handoutMasterIdLst>
    <p:handoutMasterId r:id="rId41"/>
  </p:handoutMasterIdLst>
  <p:sldIdLst>
    <p:sldId id="264" r:id="rId2"/>
    <p:sldId id="275" r:id="rId3"/>
    <p:sldId id="277" r:id="rId4"/>
    <p:sldId id="279" r:id="rId5"/>
    <p:sldId id="280" r:id="rId6"/>
    <p:sldId id="281" r:id="rId7"/>
    <p:sldId id="282" r:id="rId8"/>
    <p:sldId id="265" r:id="rId9"/>
    <p:sldId id="258" r:id="rId10"/>
    <p:sldId id="284" r:id="rId11"/>
    <p:sldId id="261" r:id="rId12"/>
    <p:sldId id="283" r:id="rId13"/>
    <p:sldId id="287" r:id="rId14"/>
    <p:sldId id="288" r:id="rId15"/>
    <p:sldId id="289" r:id="rId16"/>
    <p:sldId id="262" r:id="rId17"/>
    <p:sldId id="377" r:id="rId18"/>
    <p:sldId id="263" r:id="rId19"/>
    <p:sldId id="266" r:id="rId20"/>
    <p:sldId id="267" r:id="rId21"/>
    <p:sldId id="268" r:id="rId22"/>
    <p:sldId id="269" r:id="rId23"/>
    <p:sldId id="286" r:id="rId24"/>
    <p:sldId id="270" r:id="rId25"/>
    <p:sldId id="271" r:id="rId26"/>
    <p:sldId id="273" r:id="rId27"/>
    <p:sldId id="290" r:id="rId28"/>
    <p:sldId id="291" r:id="rId29"/>
    <p:sldId id="292" r:id="rId30"/>
    <p:sldId id="293" r:id="rId31"/>
    <p:sldId id="294" r:id="rId32"/>
    <p:sldId id="295" r:id="rId33"/>
    <p:sldId id="296" r:id="rId34"/>
    <p:sldId id="297" r:id="rId35"/>
    <p:sldId id="298" r:id="rId36"/>
    <p:sldId id="299" r:id="rId37"/>
    <p:sldId id="300" r:id="rId38"/>
    <p:sldId id="376" r:id="rId39"/>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p:cViewPr varScale="1">
        <p:scale>
          <a:sx n="67" d="100"/>
          <a:sy n="67" d="100"/>
        </p:scale>
        <p:origin x="1208"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3/7/2022</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3/7/2022</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3972443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9DC86747-7CE6-4812-A6E0-669173A869F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fld id="{914D1922-C287-47D0-B37A-8497E00A19C3}" type="slidenum">
              <a:rPr lang="en-US" altLang="en-US"/>
              <a:pPr/>
              <a:t>7</a:t>
            </a:fld>
            <a:endParaRPr lang="en-US" altLang="en-US"/>
          </a:p>
        </p:txBody>
      </p:sp>
      <p:sp>
        <p:nvSpPr>
          <p:cNvPr id="48131" name="Rectangle 2">
            <a:extLst>
              <a:ext uri="{FF2B5EF4-FFF2-40B4-BE49-F238E27FC236}">
                <a16:creationId xmlns:a16="http://schemas.microsoft.com/office/drawing/2014/main" id="{5F306C2C-EBFF-4B9B-B5FE-F24F75F63AB2}"/>
              </a:ext>
            </a:extLst>
          </p:cNvPr>
          <p:cNvSpPr>
            <a:spLocks noGrp="1" noRot="1" noChangeAspect="1" noChangeArrowheads="1" noTextEdit="1"/>
          </p:cNvSpPr>
          <p:nvPr>
            <p:ph type="sldImg"/>
          </p:nvPr>
        </p:nvSpPr>
        <p:spPr bwMode="auto">
          <a:xfrm>
            <a:off x="1146175" y="685800"/>
            <a:ext cx="4567238"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2" name="Rectangle 3">
            <a:extLst>
              <a:ext uri="{FF2B5EF4-FFF2-40B4-BE49-F238E27FC236}">
                <a16:creationId xmlns:a16="http://schemas.microsoft.com/office/drawing/2014/main" id="{C892CA45-5E19-4E2F-9D3F-045B6BD33285}"/>
              </a:ext>
            </a:extLst>
          </p:cNvPr>
          <p:cNvSpPr>
            <a:spLocks noGrp="1" noChangeArrowheads="1"/>
          </p:cNvSpPr>
          <p:nvPr>
            <p:ph type="body" idx="1"/>
          </p:nvPr>
        </p:nvSpPr>
        <p:spPr bwMode="auto">
          <a:xfrm>
            <a:off x="914400" y="4343400"/>
            <a:ext cx="5029200" cy="41163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558786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pPr/>
              <a:t>‹#›</a:t>
            </a:fld>
            <a:endParaRPr lang="en-US"/>
          </a:p>
        </p:txBody>
      </p:sp>
      <p:pic>
        <p:nvPicPr>
          <p:cNvPr id="8" name="Picture 7" descr="A picture containing drawing, shirt&#10;&#10;Description automatically generated">
            <a:extLst>
              <a:ext uri="{FF2B5EF4-FFF2-40B4-BE49-F238E27FC236}">
                <a16:creationId xmlns:a16="http://schemas.microsoft.com/office/drawing/2014/main"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9" name="TextBox 8">
            <a:extLst>
              <a:ext uri="{FF2B5EF4-FFF2-40B4-BE49-F238E27FC236}">
                <a16:creationId xmlns:a16="http://schemas.microsoft.com/office/drawing/2014/main"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18444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579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606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3/7/2022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326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3/7/2022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31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59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7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3/7/2022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9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9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784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996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43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8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133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06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062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79248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a:extLst>
              <a:ext uri="{FF2B5EF4-FFF2-40B4-BE49-F238E27FC236}">
                <a16:creationId xmlns:a16="http://schemas.microsoft.com/office/drawing/2014/main" id="{EA433B59-AD3C-487E-9CBE-E2F86C821E41}"/>
              </a:ext>
            </a:extLst>
          </p:cNvPr>
          <p:cNvSpPr>
            <a:spLocks noGrp="1"/>
          </p:cNvSpPr>
          <p:nvPr>
            <p:ph type="dt" sz="half" idx="10"/>
          </p:nvPr>
        </p:nvSpPr>
        <p:spPr/>
        <p:txBody>
          <a:bodyPr/>
          <a:lstStyle>
            <a:lvl1pPr>
              <a:defRPr/>
            </a:lvl1pPr>
          </a:lstStyle>
          <a:p>
            <a:pPr>
              <a:defRPr/>
            </a:pPr>
            <a:endParaRPr lang="en-US"/>
          </a:p>
        </p:txBody>
      </p:sp>
      <p:sp>
        <p:nvSpPr>
          <p:cNvPr id="6" name="Footer Placeholder 9">
            <a:extLst>
              <a:ext uri="{FF2B5EF4-FFF2-40B4-BE49-F238E27FC236}">
                <a16:creationId xmlns:a16="http://schemas.microsoft.com/office/drawing/2014/main" id="{D1890980-27DD-4BE5-881B-8ED4928F1A5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1">
            <a:extLst>
              <a:ext uri="{FF2B5EF4-FFF2-40B4-BE49-F238E27FC236}">
                <a16:creationId xmlns:a16="http://schemas.microsoft.com/office/drawing/2014/main" id="{662C8C54-F9C0-4EDF-84EE-059F441023AF}"/>
              </a:ext>
            </a:extLst>
          </p:cNvPr>
          <p:cNvSpPr>
            <a:spLocks noGrp="1"/>
          </p:cNvSpPr>
          <p:nvPr>
            <p:ph type="sldNum" sz="quarter" idx="12"/>
          </p:nvPr>
        </p:nvSpPr>
        <p:spPr/>
        <p:txBody>
          <a:bodyPr/>
          <a:lstStyle>
            <a:lvl1pPr>
              <a:defRPr/>
            </a:lvl1pPr>
          </a:lstStyle>
          <a:p>
            <a:fld id="{1E886266-DF13-426F-A0F1-BB20DF60D97E}" type="slidenum">
              <a:rPr lang="en-US" altLang="en-US"/>
              <a:pPr/>
              <a:t>‹#›</a:t>
            </a:fld>
            <a:endParaRPr lang="en-US" altLang="en-US"/>
          </a:p>
        </p:txBody>
      </p:sp>
    </p:spTree>
    <p:extLst>
      <p:ext uri="{BB962C8B-B14F-4D97-AF65-F5344CB8AC3E}">
        <p14:creationId xmlns:p14="http://schemas.microsoft.com/office/powerpoint/2010/main" val="172772069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lipArt Placeholder 2"/>
          <p:cNvSpPr>
            <a:spLocks noGrp="1"/>
          </p:cNvSpPr>
          <p:nvPr>
            <p:ph type="clipArt" sz="half" idx="1"/>
          </p:nvPr>
        </p:nvSpPr>
        <p:spPr>
          <a:xfrm>
            <a:off x="685800" y="1981200"/>
            <a:ext cx="3810000" cy="4114800"/>
          </a:xfrm>
        </p:spPr>
        <p:txBody>
          <a:bodyPr>
            <a:normAutofit/>
          </a:bodyPr>
          <a:lstStyle/>
          <a:p>
            <a:pPr lvl="0"/>
            <a:endParaRPr lang="en-US" noProof="0"/>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a:extLst>
              <a:ext uri="{FF2B5EF4-FFF2-40B4-BE49-F238E27FC236}">
                <a16:creationId xmlns:a16="http://schemas.microsoft.com/office/drawing/2014/main" id="{5F3620D9-568D-4D07-99F4-AC857B957488}"/>
              </a:ext>
            </a:extLst>
          </p:cNvPr>
          <p:cNvSpPr>
            <a:spLocks noGrp="1"/>
          </p:cNvSpPr>
          <p:nvPr>
            <p:ph type="dt" sz="half" idx="10"/>
          </p:nvPr>
        </p:nvSpPr>
        <p:spPr/>
        <p:txBody>
          <a:bodyPr/>
          <a:lstStyle>
            <a:lvl1pPr>
              <a:defRPr/>
            </a:lvl1pPr>
          </a:lstStyle>
          <a:p>
            <a:pPr>
              <a:defRPr/>
            </a:pPr>
            <a:endParaRPr lang="en-US"/>
          </a:p>
        </p:txBody>
      </p:sp>
      <p:sp>
        <p:nvSpPr>
          <p:cNvPr id="6" name="Footer Placeholder 9">
            <a:extLst>
              <a:ext uri="{FF2B5EF4-FFF2-40B4-BE49-F238E27FC236}">
                <a16:creationId xmlns:a16="http://schemas.microsoft.com/office/drawing/2014/main" id="{5D8EB196-00DE-4C8A-8B4A-56D59626B91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1">
            <a:extLst>
              <a:ext uri="{FF2B5EF4-FFF2-40B4-BE49-F238E27FC236}">
                <a16:creationId xmlns:a16="http://schemas.microsoft.com/office/drawing/2014/main" id="{E1586165-6011-4243-97AE-85D1B2C0ACD1}"/>
              </a:ext>
            </a:extLst>
          </p:cNvPr>
          <p:cNvSpPr>
            <a:spLocks noGrp="1"/>
          </p:cNvSpPr>
          <p:nvPr>
            <p:ph type="sldNum" sz="quarter" idx="12"/>
          </p:nvPr>
        </p:nvSpPr>
        <p:spPr/>
        <p:txBody>
          <a:bodyPr/>
          <a:lstStyle>
            <a:lvl1pPr>
              <a:defRPr/>
            </a:lvl1pPr>
          </a:lstStyle>
          <a:p>
            <a:fld id="{7E4B06F5-E6DE-461F-8022-8DE4AB0FA9FA}" type="slidenum">
              <a:rPr lang="en-US" altLang="en-US"/>
              <a:pPr/>
              <a:t>‹#›</a:t>
            </a:fld>
            <a:endParaRPr lang="en-US" altLang="en-US"/>
          </a:p>
        </p:txBody>
      </p:sp>
    </p:spTree>
    <p:extLst>
      <p:ext uri="{BB962C8B-B14F-4D97-AF65-F5344CB8AC3E}">
        <p14:creationId xmlns:p14="http://schemas.microsoft.com/office/powerpoint/2010/main" val="3417573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3/7/2022</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048077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 id="2147483834" r:id="rId18"/>
    <p:sldLayoutId id="2147483835" r:id="rId19"/>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8" Type="http://schemas.openxmlformats.org/officeDocument/2006/relationships/hyperlink" Target="http://www.google.com/search?hl=en&amp;client=firefox-a&amp;hs=drV&amp;tbo=d&amp;rls=org.mozilla:en-US:official&amp;q=india&amp;stick=H4sIAAAAAAAAAGOovnz8BQMDAw8HsxKHfq6-gXFRtsGV28V7lz6dXBdUbH5iGqf6yun2od0AfU9DLykAAAA&amp;sa=X&amp;ei=aR2jUIiSOorNrQeowoDgDQ&amp;ved=0CJ8BEJsTKAE" TargetMode="External"/><Relationship Id="rId3" Type="http://schemas.openxmlformats.org/officeDocument/2006/relationships/image" Target="../media/image8.jpeg"/><Relationship Id="rId7" Type="http://schemas.openxmlformats.org/officeDocument/2006/relationships/hyperlink" Target="http://www.google.com/search?hl=en&amp;client=firefox-a&amp;hs=drV&amp;tbo=d&amp;rls=org.mozilla:en-US:official&amp;q=bangladesh&amp;stick=H4sIAAAAAAAAAGOovnz8BQMDAw8HsxKHfq6-gaGZUdKqdEEJaf4FUy79uuB4sPldc8Tm9kAAgXBedSkAAAA&amp;sa=X&amp;ei=aR2jUIiSOorNrQeowoDgDQ&amp;ved=0CJ4BEJsTKAA" TargetMode="External"/><Relationship Id="rId2" Type="http://schemas.openxmlformats.org/officeDocument/2006/relationships/slideLayout" Target="../slideLayouts/slideLayout7.xml"/><Relationship Id="rId1" Type="http://schemas.openxmlformats.org/officeDocument/2006/relationships/tags" Target="../tags/tag17.xml"/><Relationship Id="rId6" Type="http://schemas.openxmlformats.org/officeDocument/2006/relationships/hyperlink" Target="http://www.google.com/search?hl=en&amp;client=firefox-a&amp;hs=drV&amp;tbo=d&amp;rls=org.mozilla:en-US:official&amp;q=cyclone+sidr+affected+areas&amp;sa=X&amp;ei=aR2jUIiSOorNrQeowoDgDQ&amp;ved=0CJ0BEOgT" TargetMode="External"/><Relationship Id="rId5" Type="http://schemas.openxmlformats.org/officeDocument/2006/relationships/hyperlink" Target="http://www.google.com/search?hl=en&amp;client=firefox-a&amp;hs=drV&amp;tbo=d&amp;rls=org.mozilla:en-US:official&amp;q=cyclone+sidr+date&amp;sa=X&amp;ei=aR2jUIiSOorNrQeowoDgDQ&amp;ved=0CJsBEOgT" TargetMode="External"/><Relationship Id="rId4" Type="http://schemas.openxmlformats.org/officeDocument/2006/relationships/hyperlink" Target="http://www.google.com/search?hl=en&amp;client=firefox-a&amp;hs=drV&amp;tbo=d&amp;rls=org.mozilla:en-US:official&amp;q=cyclone+sidr+total+fatalities&amp;sa=X&amp;ei=aR2jUIiSOorNrQeowoDgDQ&amp;ved=0CJcBEOgT"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9.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9" name="Group 46">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8"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49"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50"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51"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52"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53"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80" name="Rectangle 54">
            <a:extLst>
              <a:ext uri="{FF2B5EF4-FFF2-40B4-BE49-F238E27FC236}">
                <a16:creationId xmlns:a16="http://schemas.microsoft.com/office/drawing/2014/main" id="{9CD9ACDE-8038-488C-AB0C-5FD1A373C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A6C2449-5F66-4753-AAA3-4AD81E57A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59" name="Group 58">
            <a:extLst>
              <a:ext uri="{FF2B5EF4-FFF2-40B4-BE49-F238E27FC236}">
                <a16:creationId xmlns:a16="http://schemas.microsoft.com/office/drawing/2014/main" id="{329F7DAB-18F4-436A-A0D8-61013DEB6F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068" y="1"/>
            <a:ext cx="2443597" cy="6858000"/>
            <a:chOff x="141424" y="1"/>
            <a:chExt cx="3258129" cy="6858000"/>
          </a:xfrm>
        </p:grpSpPr>
        <p:sp>
          <p:nvSpPr>
            <p:cNvPr id="60" name="Freeform 6">
              <a:extLst>
                <a:ext uri="{FF2B5EF4-FFF2-40B4-BE49-F238E27FC236}">
                  <a16:creationId xmlns:a16="http://schemas.microsoft.com/office/drawing/2014/main" id="{AA2A446D-5444-4251-A0C1-1C33937BB1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5233" y="1"/>
              <a:ext cx="858884" cy="2780957"/>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61" name="Freeform 7">
              <a:extLst>
                <a:ext uri="{FF2B5EF4-FFF2-40B4-BE49-F238E27FC236}">
                  <a16:creationId xmlns:a16="http://schemas.microsoft.com/office/drawing/2014/main" id="{E013EF53-9F7F-40D2-9E88-917DCF643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1"/>
              <a:ext cx="835810" cy="2671495"/>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62" name="Freeform 12">
              <a:extLst>
                <a:ext uri="{FF2B5EF4-FFF2-40B4-BE49-F238E27FC236}">
                  <a16:creationId xmlns:a16="http://schemas.microsoft.com/office/drawing/2014/main" id="{210AE139-2815-4F3D-A56C-2608DB3D7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2585830"/>
              <a:ext cx="2175413" cy="4272171"/>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63" name="Freeform 13">
              <a:extLst>
                <a:ext uri="{FF2B5EF4-FFF2-40B4-BE49-F238E27FC236}">
                  <a16:creationId xmlns:a16="http://schemas.microsoft.com/office/drawing/2014/main" id="{7C52B438-B53F-4BCB-A9A8-183E8815A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9078" y="2695292"/>
              <a:ext cx="2690743" cy="4162709"/>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64" name="Freeform: Shape 63">
              <a:extLst>
                <a:ext uri="{FF2B5EF4-FFF2-40B4-BE49-F238E27FC236}">
                  <a16:creationId xmlns:a16="http://schemas.microsoft.com/office/drawing/2014/main" id="{557375C8-AF41-41DF-8F04-72401D4B9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5233" y="2690532"/>
              <a:ext cx="2904320" cy="4167469"/>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sp>
        <p:sp>
          <p:nvSpPr>
            <p:cNvPr id="65" name="Freeform 15">
              <a:extLst>
                <a:ext uri="{FF2B5EF4-FFF2-40B4-BE49-F238E27FC236}">
                  <a16:creationId xmlns:a16="http://schemas.microsoft.com/office/drawing/2014/main" id="{1B37C1D7-483C-4CD7-85AB-F4EEA6E573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2581071"/>
              <a:ext cx="2894568" cy="427693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pic>
        <p:nvPicPr>
          <p:cNvPr id="3" name="Picture 2" descr="A picture containing drawing, shirt&#10;&#10;Description automatically generated">
            <a:extLst>
              <a:ext uri="{FF2B5EF4-FFF2-40B4-BE49-F238E27FC236}">
                <a16:creationId xmlns:a16="http://schemas.microsoft.com/office/drawing/2014/main" id="{97CD00F5-D549-4417-A28E-565ECE44EE1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4799" y="5619948"/>
            <a:ext cx="1238051" cy="1238051"/>
          </a:xfrm>
          <a:prstGeom prst="rect">
            <a:avLst/>
          </a:prstGeom>
        </p:spPr>
      </p:pic>
      <p:sp>
        <p:nvSpPr>
          <p:cNvPr id="5" name="Rectangle: Rounded Corners 4">
            <a:extLst>
              <a:ext uri="{FF2B5EF4-FFF2-40B4-BE49-F238E27FC236}">
                <a16:creationId xmlns:a16="http://schemas.microsoft.com/office/drawing/2014/main" id="{68DBE504-36DD-4DF3-BFA6-D020600871BA}"/>
              </a:ext>
            </a:extLst>
          </p:cNvPr>
          <p:cNvSpPr/>
          <p:nvPr/>
        </p:nvSpPr>
        <p:spPr>
          <a:xfrm>
            <a:off x="7162800" y="152400"/>
            <a:ext cx="1875132" cy="7620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22" name="Rectangle 8">
            <a:extLst>
              <a:ext uri="{FF2B5EF4-FFF2-40B4-BE49-F238E27FC236}">
                <a16:creationId xmlns:a16="http://schemas.microsoft.com/office/drawing/2014/main" id="{BCA21346-96F2-44B2-9542-49C4E5988051}"/>
              </a:ext>
            </a:extLst>
          </p:cNvPr>
          <p:cNvSpPr>
            <a:spLocks noGrp="1" noChangeArrowheads="1"/>
          </p:cNvSpPr>
          <p:nvPr>
            <p:ph type="title"/>
          </p:nvPr>
        </p:nvSpPr>
        <p:spPr>
          <a:xfrm>
            <a:off x="1946083" y="2977306"/>
            <a:ext cx="7467600" cy="1524000"/>
          </a:xfrm>
        </p:spPr>
        <p:txBody>
          <a:bodyPr vert="horz" wrap="square" lIns="91440" tIns="45720" rIns="91440" bIns="45720" numCol="1" anchorCtr="0" compatLnSpc="1">
            <a:prstTxWarp prst="textNoShape">
              <a:avLst/>
            </a:prstTxWarp>
          </a:bodyPr>
          <a:lstStyle/>
          <a:p>
            <a:pPr algn="ctr" eaLnBrk="1" hangingPunct="1">
              <a:defRPr/>
            </a:pPr>
            <a:r>
              <a:rPr lang="en-US" sz="5400" b="1" dirty="0">
                <a:solidFill>
                  <a:schemeClr val="tx1"/>
                </a:solidFill>
                <a:effectLst>
                  <a:outerShdw blurRad="38100" dist="38100" dir="2700000" algn="tl">
                    <a:srgbClr val="C0C0C0"/>
                  </a:outerShdw>
                </a:effectLst>
                <a:latin typeface="Garamond" pitchFamily="18" charset="0"/>
              </a:rPr>
              <a:t>Environmental hazards</a:t>
            </a:r>
          </a:p>
        </p:txBody>
      </p:sp>
    </p:spTree>
    <p:custDataLst>
      <p:tags r:id="rId1"/>
    </p:custData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B674F-49FD-4B0F-8467-D0DDF9871AD2}"/>
              </a:ext>
            </a:extLst>
          </p:cNvPr>
          <p:cNvSpPr>
            <a:spLocks noGrp="1"/>
          </p:cNvSpPr>
          <p:nvPr>
            <p:ph type="title"/>
          </p:nvPr>
        </p:nvSpPr>
        <p:spPr>
          <a:xfrm>
            <a:off x="1066800" y="457201"/>
            <a:ext cx="7620000" cy="533399"/>
          </a:xfrm>
        </p:spPr>
        <p:txBody>
          <a:bodyPr vert="horz" wrap="square" lIns="91440" tIns="45720" rIns="91440" bIns="45720" numCol="1" anchorCtr="0" compatLnSpc="1">
            <a:prstTxWarp prst="textNoShape">
              <a:avLst/>
            </a:prstTxWarp>
          </a:bodyPr>
          <a:lstStyle/>
          <a:p>
            <a:pPr eaLnBrk="1" hangingPunct="1">
              <a:defRPr/>
            </a:pPr>
            <a:r>
              <a:rPr lang="en-US" sz="2800" b="1" dirty="0">
                <a:solidFill>
                  <a:schemeClr val="tx1"/>
                </a:solidFill>
                <a:effectLst>
                  <a:outerShdw blurRad="38100" dist="38100" dir="2700000" algn="tl">
                    <a:srgbClr val="C0C0C0"/>
                  </a:outerShdw>
                </a:effectLst>
                <a:latin typeface="Garamond" pitchFamily="18" charset="0"/>
              </a:rPr>
              <a:t>What are Hazards and Disasters ?</a:t>
            </a:r>
          </a:p>
        </p:txBody>
      </p:sp>
      <p:sp>
        <p:nvSpPr>
          <p:cNvPr id="3" name="Content Placeholder 2">
            <a:extLst>
              <a:ext uri="{FF2B5EF4-FFF2-40B4-BE49-F238E27FC236}">
                <a16:creationId xmlns:a16="http://schemas.microsoft.com/office/drawing/2014/main" id="{E87F230B-8391-4B7F-AF52-400CD5B23B9E}"/>
              </a:ext>
            </a:extLst>
          </p:cNvPr>
          <p:cNvSpPr>
            <a:spLocks noGrp="1"/>
          </p:cNvSpPr>
          <p:nvPr>
            <p:ph idx="1"/>
          </p:nvPr>
        </p:nvSpPr>
        <p:spPr>
          <a:xfrm>
            <a:off x="1066800" y="1447800"/>
            <a:ext cx="7620000" cy="4800600"/>
          </a:xfrm>
        </p:spPr>
        <p:txBody>
          <a:bodyPr rtlCol="0">
            <a:normAutofit lnSpcReduction="10000"/>
          </a:bodyPr>
          <a:lstStyle/>
          <a:p>
            <a:pPr marL="365760" indent="-283464" algn="just" eaLnBrk="1" fontAlgn="auto" hangingPunct="1">
              <a:spcAft>
                <a:spcPts val="0"/>
              </a:spcAft>
              <a:buFont typeface="Wingdings" pitchFamily="2" charset="2"/>
              <a:buChar char="v"/>
              <a:defRPr/>
            </a:pPr>
            <a:r>
              <a:rPr lang="en-US" sz="3000" dirty="0">
                <a:latin typeface="Garamond" pitchFamily="18" charset="0"/>
                <a:ea typeface="+mn-ea"/>
              </a:rPr>
              <a:t>Hazard : A naturally occurring or human-produced event  or occurrence that has the potential to cause damage.</a:t>
            </a:r>
          </a:p>
          <a:p>
            <a:pPr marL="365760" indent="-283464" algn="just" eaLnBrk="1" fontAlgn="auto" hangingPunct="1">
              <a:spcAft>
                <a:spcPts val="0"/>
              </a:spcAft>
              <a:buFont typeface="Arial" pitchFamily="34" charset="0"/>
              <a:buNone/>
              <a:defRPr/>
            </a:pPr>
            <a:endParaRPr lang="en-US" sz="3000" dirty="0">
              <a:latin typeface="Garamond" pitchFamily="18" charset="0"/>
              <a:ea typeface="+mn-ea"/>
            </a:endParaRPr>
          </a:p>
          <a:p>
            <a:pPr marL="365760" indent="-283464" algn="just" eaLnBrk="1" fontAlgn="auto" hangingPunct="1">
              <a:spcAft>
                <a:spcPts val="0"/>
              </a:spcAft>
              <a:buFont typeface="Wingdings" pitchFamily="2" charset="2"/>
              <a:buChar char="v"/>
              <a:defRPr/>
            </a:pPr>
            <a:r>
              <a:rPr lang="en-US" sz="3000" dirty="0">
                <a:latin typeface="Garamond" pitchFamily="18" charset="0"/>
                <a:ea typeface="+mn-ea"/>
              </a:rPr>
              <a:t>Disaster : When people experience severe damage or    disruption to their lives as a consequence of a hazard. </a:t>
            </a:r>
          </a:p>
          <a:p>
            <a:pPr marL="365760" indent="-283464" algn="just" eaLnBrk="1" fontAlgn="auto" hangingPunct="1">
              <a:spcAft>
                <a:spcPts val="0"/>
              </a:spcAft>
              <a:buFont typeface="Arial" pitchFamily="34" charset="0"/>
              <a:buNone/>
              <a:defRPr/>
            </a:pPr>
            <a:endParaRPr lang="en-US" sz="3000" dirty="0">
              <a:latin typeface="Garamond" pitchFamily="18" charset="0"/>
              <a:ea typeface="+mn-ea"/>
            </a:endParaRPr>
          </a:p>
          <a:p>
            <a:pPr marL="365760" indent="-283464" algn="just" eaLnBrk="1" fontAlgn="auto" hangingPunct="1">
              <a:spcAft>
                <a:spcPts val="0"/>
              </a:spcAft>
              <a:buFont typeface="Wingdings" pitchFamily="2" charset="2"/>
              <a:buChar char="v"/>
              <a:defRPr/>
            </a:pPr>
            <a:r>
              <a:rPr lang="en-US" sz="3000" dirty="0">
                <a:latin typeface="Garamond" pitchFamily="18" charset="0"/>
                <a:ea typeface="+mn-ea"/>
              </a:rPr>
              <a:t>Goal of Disaster Management : Hazards do not lead to Disasters</a:t>
            </a:r>
          </a:p>
          <a:p>
            <a:pPr marL="365760" indent="-283464" algn="just" eaLnBrk="1" fontAlgn="auto" hangingPunct="1">
              <a:spcAft>
                <a:spcPts val="0"/>
              </a:spcAft>
              <a:buFont typeface="Wingdings" pitchFamily="2" charset="2"/>
              <a:buChar char="v"/>
              <a:defRPr/>
            </a:pPr>
            <a:endParaRPr lang="en-US" dirty="0">
              <a:latin typeface="Garamond" pitchFamily="18" charset="0"/>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8466F4A1-5720-4987-9321-A03EEF6982A9}"/>
              </a:ext>
            </a:extLst>
          </p:cNvPr>
          <p:cNvSpPr>
            <a:spLocks noGrp="1"/>
          </p:cNvSpPr>
          <p:nvPr>
            <p:ph type="ctrTitle"/>
          </p:nvPr>
        </p:nvSpPr>
        <p:spPr>
          <a:xfrm>
            <a:off x="1828800" y="685800"/>
            <a:ext cx="5029200" cy="1295400"/>
          </a:xfrm>
        </p:spPr>
        <p:txBody>
          <a:bodyPr vert="horz" wrap="square" lIns="91440" tIns="45720" rIns="91440" bIns="45720" numCol="1" anchorCtr="0" compatLnSpc="1">
            <a:prstTxWarp prst="textNoShape">
              <a:avLst/>
            </a:prstTxWarp>
          </a:bodyPr>
          <a:lstStyle/>
          <a:p>
            <a:pPr algn="l" eaLnBrk="1" hangingPunct="1">
              <a:defRPr/>
            </a:pPr>
            <a:r>
              <a:rPr lang="en-US" sz="2800" b="1" dirty="0">
                <a:solidFill>
                  <a:schemeClr val="tx1"/>
                </a:solidFill>
                <a:effectLst>
                  <a:outerShdw blurRad="38100" dist="38100" dir="2700000" algn="tl">
                    <a:srgbClr val="C0C0C0"/>
                  </a:outerShdw>
                </a:effectLst>
                <a:latin typeface="Garamond" pitchFamily="18" charset="0"/>
              </a:rPr>
              <a:t>Types of  Hazards</a:t>
            </a:r>
            <a:br>
              <a:rPr lang="en-US" sz="4000" b="1" dirty="0">
                <a:solidFill>
                  <a:schemeClr val="tx1"/>
                </a:solidFill>
                <a:effectLst>
                  <a:outerShdw blurRad="38100" dist="38100" dir="2700000" algn="tl">
                    <a:srgbClr val="C0C0C0"/>
                  </a:outerShdw>
                </a:effectLst>
                <a:latin typeface="Garamond" pitchFamily="18" charset="0"/>
              </a:rPr>
            </a:br>
            <a:endParaRPr lang="en-US" sz="4000" b="1" dirty="0">
              <a:solidFill>
                <a:schemeClr val="tx1"/>
              </a:solidFill>
              <a:effectLst>
                <a:outerShdw blurRad="38100" dist="38100" dir="2700000" algn="tl">
                  <a:srgbClr val="C0C0C0"/>
                </a:outerShdw>
              </a:effectLst>
              <a:latin typeface="Garamond" pitchFamily="18" charset="0"/>
            </a:endParaRPr>
          </a:p>
        </p:txBody>
      </p:sp>
      <p:sp>
        <p:nvSpPr>
          <p:cNvPr id="4099" name="Subtitle 2">
            <a:extLst>
              <a:ext uri="{FF2B5EF4-FFF2-40B4-BE49-F238E27FC236}">
                <a16:creationId xmlns:a16="http://schemas.microsoft.com/office/drawing/2014/main" id="{30A13596-0E9A-419F-A2EB-9158F2222FC0}"/>
              </a:ext>
            </a:extLst>
          </p:cNvPr>
          <p:cNvSpPr>
            <a:spLocks noGrp="1"/>
          </p:cNvSpPr>
          <p:nvPr>
            <p:ph type="subTitle" idx="1"/>
          </p:nvPr>
        </p:nvSpPr>
        <p:spPr>
          <a:xfrm>
            <a:off x="1524000" y="2057400"/>
            <a:ext cx="7315200" cy="2438400"/>
          </a:xfrm>
        </p:spPr>
        <p:txBody>
          <a:bodyPr>
            <a:normAutofit fontScale="77500" lnSpcReduction="20000"/>
          </a:bodyPr>
          <a:lstStyle/>
          <a:p>
            <a:pPr algn="just" eaLnBrk="1" fontAlgn="auto" hangingPunct="1">
              <a:lnSpc>
                <a:spcPct val="170000"/>
              </a:lnSpc>
              <a:spcAft>
                <a:spcPts val="0"/>
              </a:spcAft>
              <a:buFont typeface="Wingdings" pitchFamily="2" charset="2"/>
              <a:buChar char="v"/>
              <a:defRPr/>
            </a:pPr>
            <a:r>
              <a:rPr lang="en-US" sz="2800" dirty="0" err="1">
                <a:solidFill>
                  <a:schemeClr val="tx1"/>
                </a:solidFill>
                <a:latin typeface="Garamond" pitchFamily="18" charset="0"/>
                <a:ea typeface="+mn-ea"/>
              </a:rPr>
              <a:t>Climatological</a:t>
            </a:r>
            <a:r>
              <a:rPr lang="en-US" sz="2800" dirty="0">
                <a:solidFill>
                  <a:schemeClr val="tx1"/>
                </a:solidFill>
                <a:latin typeface="Garamond" pitchFamily="18" charset="0"/>
                <a:ea typeface="+mn-ea"/>
              </a:rPr>
              <a:t> / Atmospheric Hazards</a:t>
            </a:r>
          </a:p>
          <a:p>
            <a:pPr algn="just" eaLnBrk="1" fontAlgn="auto" hangingPunct="1">
              <a:lnSpc>
                <a:spcPct val="170000"/>
              </a:lnSpc>
              <a:spcAft>
                <a:spcPts val="0"/>
              </a:spcAft>
              <a:buFont typeface="Wingdings" pitchFamily="2" charset="2"/>
              <a:buChar char="v"/>
              <a:defRPr/>
            </a:pPr>
            <a:r>
              <a:rPr lang="en-US" sz="2800" dirty="0">
                <a:solidFill>
                  <a:schemeClr val="tx1"/>
                </a:solidFill>
                <a:latin typeface="Garamond" pitchFamily="18" charset="0"/>
                <a:ea typeface="+mn-ea"/>
              </a:rPr>
              <a:t>Geophysical Hazards</a:t>
            </a:r>
          </a:p>
          <a:p>
            <a:pPr algn="just" eaLnBrk="1" fontAlgn="auto" hangingPunct="1">
              <a:lnSpc>
                <a:spcPct val="170000"/>
              </a:lnSpc>
              <a:spcAft>
                <a:spcPts val="0"/>
              </a:spcAft>
              <a:buFont typeface="Wingdings" pitchFamily="2" charset="2"/>
              <a:buChar char="v"/>
              <a:defRPr/>
            </a:pPr>
            <a:r>
              <a:rPr lang="en-US" sz="2800" dirty="0">
                <a:solidFill>
                  <a:schemeClr val="tx1"/>
                </a:solidFill>
                <a:latin typeface="Garamond" pitchFamily="18" charset="0"/>
                <a:ea typeface="+mn-ea"/>
              </a:rPr>
              <a:t>Technological Hazards</a:t>
            </a:r>
          </a:p>
          <a:p>
            <a:pPr algn="just" eaLnBrk="1" fontAlgn="auto" hangingPunct="1">
              <a:lnSpc>
                <a:spcPct val="170000"/>
              </a:lnSpc>
              <a:spcAft>
                <a:spcPts val="0"/>
              </a:spcAft>
              <a:buFont typeface="Wingdings" pitchFamily="2" charset="2"/>
              <a:buChar char="v"/>
              <a:defRPr/>
            </a:pPr>
            <a:r>
              <a:rPr lang="en-US" sz="2800" dirty="0">
                <a:solidFill>
                  <a:schemeClr val="tx1"/>
                </a:solidFill>
                <a:latin typeface="Garamond" pitchFamily="18" charset="0"/>
                <a:ea typeface="+mn-ea"/>
              </a:rPr>
              <a:t> Industrial Hazards</a:t>
            </a:r>
          </a:p>
          <a:p>
            <a:pPr eaLnBrk="1" fontAlgn="auto" hangingPunct="1">
              <a:lnSpc>
                <a:spcPct val="170000"/>
              </a:lnSpc>
              <a:spcAft>
                <a:spcPts val="0"/>
              </a:spcAft>
              <a:buFont typeface="Arial" charset="0"/>
              <a:buChar char="•"/>
              <a:defRPr/>
            </a:pPr>
            <a:endParaRPr lang="en-US" sz="2800" dirty="0">
              <a:ea typeface="+mn-ea"/>
            </a:endParaRPr>
          </a:p>
          <a:p>
            <a:pPr eaLnBrk="1" fontAlgn="auto" hangingPunct="1">
              <a:lnSpc>
                <a:spcPct val="170000"/>
              </a:lnSpc>
              <a:spcAft>
                <a:spcPts val="0"/>
              </a:spcAft>
              <a:buFont typeface="Wingdings 2"/>
              <a:buNone/>
              <a:defRPr/>
            </a:pPr>
            <a:endParaRPr lang="en-US" sz="2800" dirty="0">
              <a:ea typeface="+mn-ea"/>
            </a:endParaRPr>
          </a:p>
          <a:p>
            <a:pPr eaLnBrk="1" fontAlgn="auto" hangingPunct="1">
              <a:lnSpc>
                <a:spcPct val="170000"/>
              </a:lnSpc>
              <a:spcAft>
                <a:spcPts val="0"/>
              </a:spcAft>
              <a:buFont typeface="Wingdings 2"/>
              <a:buNone/>
              <a:defRPr/>
            </a:pPr>
            <a:endParaRPr lang="en-US" sz="2800" dirty="0">
              <a:ea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arn(inVertic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99">
                                            <p:txEl>
                                              <p:pRg st="0" end="0"/>
                                            </p:txEl>
                                          </p:spTgt>
                                        </p:tgtEl>
                                        <p:attrNameLst>
                                          <p:attrName>style.visibility</p:attrName>
                                        </p:attrNameLst>
                                      </p:cBhvr>
                                      <p:to>
                                        <p:strVal val="visible"/>
                                      </p:to>
                                    </p:set>
                                    <p:animEffect transition="in" filter="fade">
                                      <p:cBhvr>
                                        <p:cTn id="12" dur="1000"/>
                                        <p:tgtEl>
                                          <p:spTgt spid="4099">
                                            <p:txEl>
                                              <p:pRg st="0" end="0"/>
                                            </p:txEl>
                                          </p:spTgt>
                                        </p:tgtEl>
                                      </p:cBhvr>
                                    </p:animEffect>
                                    <p:anim calcmode="lin" valueType="num">
                                      <p:cBhvr>
                                        <p:cTn id="13" dur="1000" fill="hold"/>
                                        <p:tgtEl>
                                          <p:spTgt spid="409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0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099">
                                            <p:txEl>
                                              <p:pRg st="1" end="1"/>
                                            </p:txEl>
                                          </p:spTgt>
                                        </p:tgtEl>
                                        <p:attrNameLst>
                                          <p:attrName>style.visibility</p:attrName>
                                        </p:attrNameLst>
                                      </p:cBhvr>
                                      <p:to>
                                        <p:strVal val="visible"/>
                                      </p:to>
                                    </p:set>
                                    <p:animEffect transition="in" filter="fade">
                                      <p:cBhvr>
                                        <p:cTn id="19" dur="1000"/>
                                        <p:tgtEl>
                                          <p:spTgt spid="4099">
                                            <p:txEl>
                                              <p:pRg st="1" end="1"/>
                                            </p:txEl>
                                          </p:spTgt>
                                        </p:tgtEl>
                                      </p:cBhvr>
                                    </p:animEffect>
                                    <p:anim calcmode="lin" valueType="num">
                                      <p:cBhvr>
                                        <p:cTn id="20" dur="1000" fill="hold"/>
                                        <p:tgtEl>
                                          <p:spTgt spid="4099">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0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099">
                                            <p:txEl>
                                              <p:pRg st="2" end="2"/>
                                            </p:txEl>
                                          </p:spTgt>
                                        </p:tgtEl>
                                        <p:attrNameLst>
                                          <p:attrName>style.visibility</p:attrName>
                                        </p:attrNameLst>
                                      </p:cBhvr>
                                      <p:to>
                                        <p:strVal val="visible"/>
                                      </p:to>
                                    </p:set>
                                    <p:animEffect transition="in" filter="fade">
                                      <p:cBhvr>
                                        <p:cTn id="26" dur="1000"/>
                                        <p:tgtEl>
                                          <p:spTgt spid="4099">
                                            <p:txEl>
                                              <p:pRg st="2" end="2"/>
                                            </p:txEl>
                                          </p:spTgt>
                                        </p:tgtEl>
                                      </p:cBhvr>
                                    </p:animEffect>
                                    <p:anim calcmode="lin" valueType="num">
                                      <p:cBhvr>
                                        <p:cTn id="27" dur="1000" fill="hold"/>
                                        <p:tgtEl>
                                          <p:spTgt spid="4099">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0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099">
                                            <p:txEl>
                                              <p:pRg st="3" end="3"/>
                                            </p:txEl>
                                          </p:spTgt>
                                        </p:tgtEl>
                                        <p:attrNameLst>
                                          <p:attrName>style.visibility</p:attrName>
                                        </p:attrNameLst>
                                      </p:cBhvr>
                                      <p:to>
                                        <p:strVal val="visible"/>
                                      </p:to>
                                    </p:set>
                                    <p:animEffect transition="in" filter="fade">
                                      <p:cBhvr>
                                        <p:cTn id="33" dur="1000"/>
                                        <p:tgtEl>
                                          <p:spTgt spid="4099">
                                            <p:txEl>
                                              <p:pRg st="3" end="3"/>
                                            </p:txEl>
                                          </p:spTgt>
                                        </p:tgtEl>
                                      </p:cBhvr>
                                    </p:animEffect>
                                    <p:anim calcmode="lin" valueType="num">
                                      <p:cBhvr>
                                        <p:cTn id="34" dur="1000" fill="hold"/>
                                        <p:tgtEl>
                                          <p:spTgt spid="4099">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409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409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E06D-D67F-424C-AEB8-4ECE2F7C9958}"/>
              </a:ext>
            </a:extLst>
          </p:cNvPr>
          <p:cNvSpPr>
            <a:spLocks noGrp="1"/>
          </p:cNvSpPr>
          <p:nvPr>
            <p:ph type="title"/>
          </p:nvPr>
        </p:nvSpPr>
        <p:spPr>
          <a:xfrm>
            <a:off x="1066800" y="304800"/>
            <a:ext cx="7620000" cy="838200"/>
          </a:xfrm>
        </p:spPr>
        <p:txBody>
          <a:bodyPr vert="horz" wrap="square" lIns="91440" tIns="45720" rIns="91440" bIns="45720" numCol="1" anchorCtr="0" compatLnSpc="1">
            <a:prstTxWarp prst="textNoShape">
              <a:avLst/>
            </a:prstTxWarp>
            <a:noAutofit/>
          </a:bodyPr>
          <a:lstStyle/>
          <a:p>
            <a:pPr eaLnBrk="1" hangingPunct="1">
              <a:defRPr/>
            </a:pPr>
            <a:r>
              <a:rPr lang="en-US" sz="2600" b="1" dirty="0">
                <a:solidFill>
                  <a:schemeClr val="tx1"/>
                </a:solidFill>
                <a:effectLst>
                  <a:outerShdw blurRad="38100" dist="38100" dir="2700000" algn="tl">
                    <a:srgbClr val="C0C0C0"/>
                  </a:outerShdw>
                </a:effectLst>
                <a:latin typeface="Garamond" pitchFamily="18" charset="0"/>
              </a:rPr>
              <a:t>Climatological / Atmospheric Hazards:</a:t>
            </a:r>
            <a:br>
              <a:rPr lang="en-US" sz="3600" b="1" dirty="0">
                <a:solidFill>
                  <a:schemeClr val="tx1"/>
                </a:solidFill>
                <a:effectLst>
                  <a:outerShdw blurRad="38100" dist="38100" dir="2700000" algn="tl">
                    <a:srgbClr val="C0C0C0"/>
                  </a:outerShdw>
                </a:effectLst>
              </a:rPr>
            </a:br>
            <a:endParaRPr lang="en-US" sz="3600" b="1" dirty="0">
              <a:solidFill>
                <a:schemeClr val="tx1"/>
              </a:solidFill>
              <a:effectLst>
                <a:outerShdw blurRad="38100" dist="38100" dir="2700000" algn="tl">
                  <a:srgbClr val="C0C0C0"/>
                </a:outerShdw>
              </a:effectLst>
            </a:endParaRPr>
          </a:p>
        </p:txBody>
      </p:sp>
      <p:sp>
        <p:nvSpPr>
          <p:cNvPr id="11267" name="Content Placeholder 2">
            <a:extLst>
              <a:ext uri="{FF2B5EF4-FFF2-40B4-BE49-F238E27FC236}">
                <a16:creationId xmlns:a16="http://schemas.microsoft.com/office/drawing/2014/main" id="{88FBDDD9-1DAB-4944-92B0-E20966F3DEA6}"/>
              </a:ext>
            </a:extLst>
          </p:cNvPr>
          <p:cNvSpPr>
            <a:spLocks noGrp="1"/>
          </p:cNvSpPr>
          <p:nvPr>
            <p:ph sz="half" idx="1"/>
          </p:nvPr>
        </p:nvSpPr>
        <p:spPr>
          <a:xfrm>
            <a:off x="1295400" y="1106010"/>
            <a:ext cx="2667000" cy="4419600"/>
          </a:xfrm>
        </p:spPr>
        <p:txBody>
          <a:bodyPr/>
          <a:lstStyle/>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Heat waves</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Floods</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Droughts</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Tornadoes</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Dust storms</a:t>
            </a:r>
          </a:p>
          <a:p>
            <a:pPr eaLnBrk="1" hangingPunct="1">
              <a:buFont typeface="Wingdings" panose="05000000000000000000" pitchFamily="2" charset="2"/>
              <a:buChar char="v"/>
            </a:pPr>
            <a:endParaRPr lang="en-US" altLang="en-US" sz="2600" dirty="0"/>
          </a:p>
          <a:p>
            <a:pPr eaLnBrk="1" hangingPunct="1">
              <a:buFont typeface="Wingdings" panose="05000000000000000000" pitchFamily="2" charset="2"/>
              <a:buNone/>
            </a:pPr>
            <a:endParaRPr lang="en-US" altLang="en-US" sz="2400" dirty="0"/>
          </a:p>
        </p:txBody>
      </p:sp>
      <p:sp>
        <p:nvSpPr>
          <p:cNvPr id="11268" name="Content Placeholder 3">
            <a:extLst>
              <a:ext uri="{FF2B5EF4-FFF2-40B4-BE49-F238E27FC236}">
                <a16:creationId xmlns:a16="http://schemas.microsoft.com/office/drawing/2014/main" id="{81C0F81D-50E0-4940-B552-606AE9AE33DB}"/>
              </a:ext>
            </a:extLst>
          </p:cNvPr>
          <p:cNvSpPr>
            <a:spLocks noGrp="1"/>
          </p:cNvSpPr>
          <p:nvPr>
            <p:ph sz="half" idx="2"/>
          </p:nvPr>
        </p:nvSpPr>
        <p:spPr>
          <a:xfrm>
            <a:off x="4191000" y="1066800"/>
            <a:ext cx="4953000" cy="5059363"/>
          </a:xfrm>
        </p:spPr>
        <p:txBody>
          <a:bodyPr/>
          <a:lstStyle/>
          <a:p>
            <a:pPr eaLnBrk="1" hangingPunct="1">
              <a:buFont typeface="Wingdings" panose="05000000000000000000" pitchFamily="2" charset="2"/>
              <a:buChar char="v"/>
            </a:pPr>
            <a:r>
              <a:rPr lang="en-US" altLang="en-US" dirty="0">
                <a:latin typeface="Garamond" panose="02020404030301010803" pitchFamily="18" charset="0"/>
                <a:cs typeface="Arial" panose="020B0604020202020204" pitchFamily="34" charset="0"/>
              </a:rPr>
              <a:t> </a:t>
            </a:r>
            <a:r>
              <a:rPr lang="en-US" altLang="en-US" sz="2600" dirty="0">
                <a:latin typeface="Garamond" panose="02020404030301010803" pitchFamily="18" charset="0"/>
                <a:cs typeface="Arial" panose="020B0604020202020204" pitchFamily="34" charset="0"/>
              </a:rPr>
              <a:t>Extreme cold</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Wind storm</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Tropical storm</a:t>
            </a:r>
          </a:p>
          <a:p>
            <a:pPr eaLnBrk="1" hangingPunct="1">
              <a:buFont typeface="Arial" panose="020B0604020202020204" pitchFamily="34" charset="0"/>
              <a:buNone/>
            </a:pPr>
            <a:r>
              <a:rPr lang="en-US" altLang="en-US" sz="2600" dirty="0">
                <a:latin typeface="Garamond" panose="02020404030301010803" pitchFamily="18" charset="0"/>
                <a:cs typeface="Arial" panose="020B0604020202020204" pitchFamily="34" charset="0"/>
              </a:rPr>
              <a:t>    (</a:t>
            </a:r>
            <a:r>
              <a:rPr lang="en-US" altLang="en-US" sz="2600" i="1" dirty="0">
                <a:latin typeface="Garamond" panose="02020404030301010803" pitchFamily="18" charset="0"/>
                <a:cs typeface="Arial" panose="020B0604020202020204" pitchFamily="34" charset="0"/>
              </a:rPr>
              <a:t>cyclones/typhoons/hurricanes</a:t>
            </a:r>
            <a:r>
              <a:rPr lang="en-US" altLang="en-US" sz="2600" dirty="0">
                <a:latin typeface="Garamond" panose="02020404030301010803" pitchFamily="18" charset="0"/>
                <a:cs typeface="Arial" panose="020B0604020202020204" pitchFamily="34" charset="0"/>
              </a:rPr>
              <a:t>)</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Avalanche</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Wildfires </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lightening</a:t>
            </a:r>
          </a:p>
          <a:p>
            <a:pPr eaLnBrk="1" hangingPunct="1">
              <a:buFont typeface="Wingdings" panose="05000000000000000000" pitchFamily="2" charset="2"/>
              <a:buChar char="v"/>
            </a:pPr>
            <a:r>
              <a:rPr lang="en-US" altLang="en-US" sz="2600" dirty="0">
                <a:latin typeface="Garamond" panose="02020404030301010803" pitchFamily="18" charset="0"/>
                <a:cs typeface="Arial" panose="020B0604020202020204" pitchFamily="34" charset="0"/>
              </a:rPr>
              <a:t> Hail</a:t>
            </a:r>
          </a:p>
          <a:p>
            <a:pPr eaLnBrk="1" hangingPunct="1"/>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267">
                                            <p:txEl>
                                              <p:pRg st="0" end="0"/>
                                            </p:txEl>
                                          </p:spTgt>
                                        </p:tgtEl>
                                        <p:attrNameLst>
                                          <p:attrName>style.visibility</p:attrName>
                                        </p:attrNameLst>
                                      </p:cBhvr>
                                      <p:to>
                                        <p:strVal val="visible"/>
                                      </p:to>
                                    </p:set>
                                    <p:animEffect transition="in" filter="fade">
                                      <p:cBhvr>
                                        <p:cTn id="12" dur="1000"/>
                                        <p:tgtEl>
                                          <p:spTgt spid="11267">
                                            <p:txEl>
                                              <p:pRg st="0" end="0"/>
                                            </p:txEl>
                                          </p:spTgt>
                                        </p:tgtEl>
                                      </p:cBhvr>
                                    </p:animEffect>
                                    <p:anim calcmode="lin" valueType="num">
                                      <p:cBhvr>
                                        <p:cTn id="13" dur="10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2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267">
                                            <p:txEl>
                                              <p:pRg st="1" end="1"/>
                                            </p:txEl>
                                          </p:spTgt>
                                        </p:tgtEl>
                                        <p:attrNameLst>
                                          <p:attrName>style.visibility</p:attrName>
                                        </p:attrNameLst>
                                      </p:cBhvr>
                                      <p:to>
                                        <p:strVal val="visible"/>
                                      </p:to>
                                    </p:set>
                                    <p:animEffect transition="in" filter="fade">
                                      <p:cBhvr>
                                        <p:cTn id="19" dur="1000"/>
                                        <p:tgtEl>
                                          <p:spTgt spid="11267">
                                            <p:txEl>
                                              <p:pRg st="1" end="1"/>
                                            </p:txEl>
                                          </p:spTgt>
                                        </p:tgtEl>
                                      </p:cBhvr>
                                    </p:animEffect>
                                    <p:anim calcmode="lin" valueType="num">
                                      <p:cBhvr>
                                        <p:cTn id="20" dur="10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12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267">
                                            <p:txEl>
                                              <p:pRg st="2" end="2"/>
                                            </p:txEl>
                                          </p:spTgt>
                                        </p:tgtEl>
                                        <p:attrNameLst>
                                          <p:attrName>style.visibility</p:attrName>
                                        </p:attrNameLst>
                                      </p:cBhvr>
                                      <p:to>
                                        <p:strVal val="visible"/>
                                      </p:to>
                                    </p:set>
                                    <p:animEffect transition="in" filter="fade">
                                      <p:cBhvr>
                                        <p:cTn id="26" dur="1000"/>
                                        <p:tgtEl>
                                          <p:spTgt spid="11267">
                                            <p:txEl>
                                              <p:pRg st="2" end="2"/>
                                            </p:txEl>
                                          </p:spTgt>
                                        </p:tgtEl>
                                      </p:cBhvr>
                                    </p:animEffect>
                                    <p:anim calcmode="lin" valueType="num">
                                      <p:cBhvr>
                                        <p:cTn id="27" dur="10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126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267">
                                            <p:txEl>
                                              <p:pRg st="3" end="3"/>
                                            </p:txEl>
                                          </p:spTgt>
                                        </p:tgtEl>
                                        <p:attrNameLst>
                                          <p:attrName>style.visibility</p:attrName>
                                        </p:attrNameLst>
                                      </p:cBhvr>
                                      <p:to>
                                        <p:strVal val="visible"/>
                                      </p:to>
                                    </p:set>
                                    <p:animEffect transition="in" filter="fade">
                                      <p:cBhvr>
                                        <p:cTn id="33" dur="1000"/>
                                        <p:tgtEl>
                                          <p:spTgt spid="11267">
                                            <p:txEl>
                                              <p:pRg st="3" end="3"/>
                                            </p:txEl>
                                          </p:spTgt>
                                        </p:tgtEl>
                                      </p:cBhvr>
                                    </p:animEffect>
                                    <p:anim calcmode="lin" valueType="num">
                                      <p:cBhvr>
                                        <p:cTn id="34" dur="10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126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1267">
                                            <p:txEl>
                                              <p:pRg st="4" end="4"/>
                                            </p:txEl>
                                          </p:spTgt>
                                        </p:tgtEl>
                                        <p:attrNameLst>
                                          <p:attrName>style.visibility</p:attrName>
                                        </p:attrNameLst>
                                      </p:cBhvr>
                                      <p:to>
                                        <p:strVal val="visible"/>
                                      </p:to>
                                    </p:set>
                                    <p:animEffect transition="in" filter="fade">
                                      <p:cBhvr>
                                        <p:cTn id="40" dur="1000"/>
                                        <p:tgtEl>
                                          <p:spTgt spid="11267">
                                            <p:txEl>
                                              <p:pRg st="4" end="4"/>
                                            </p:txEl>
                                          </p:spTgt>
                                        </p:tgtEl>
                                      </p:cBhvr>
                                    </p:animEffect>
                                    <p:anim calcmode="lin" valueType="num">
                                      <p:cBhvr>
                                        <p:cTn id="41" dur="10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1126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1268">
                                            <p:txEl>
                                              <p:pRg st="0" end="0"/>
                                            </p:txEl>
                                          </p:spTgt>
                                        </p:tgtEl>
                                        <p:attrNameLst>
                                          <p:attrName>style.visibility</p:attrName>
                                        </p:attrNameLst>
                                      </p:cBhvr>
                                      <p:to>
                                        <p:strVal val="visible"/>
                                      </p:to>
                                    </p:set>
                                    <p:animEffect transition="in" filter="fade">
                                      <p:cBhvr>
                                        <p:cTn id="47" dur="1000"/>
                                        <p:tgtEl>
                                          <p:spTgt spid="11268">
                                            <p:txEl>
                                              <p:pRg st="0" end="0"/>
                                            </p:txEl>
                                          </p:spTgt>
                                        </p:tgtEl>
                                      </p:cBhvr>
                                    </p:animEffect>
                                    <p:anim calcmode="lin" valueType="num">
                                      <p:cBhvr>
                                        <p:cTn id="48" dur="1000" fill="hold"/>
                                        <p:tgtEl>
                                          <p:spTgt spid="11268">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1126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1268">
                                            <p:txEl>
                                              <p:pRg st="1" end="1"/>
                                            </p:txEl>
                                          </p:spTgt>
                                        </p:tgtEl>
                                        <p:attrNameLst>
                                          <p:attrName>style.visibility</p:attrName>
                                        </p:attrNameLst>
                                      </p:cBhvr>
                                      <p:to>
                                        <p:strVal val="visible"/>
                                      </p:to>
                                    </p:set>
                                    <p:animEffect transition="in" filter="fade">
                                      <p:cBhvr>
                                        <p:cTn id="54" dur="1000"/>
                                        <p:tgtEl>
                                          <p:spTgt spid="11268">
                                            <p:txEl>
                                              <p:pRg st="1" end="1"/>
                                            </p:txEl>
                                          </p:spTgt>
                                        </p:tgtEl>
                                      </p:cBhvr>
                                    </p:animEffect>
                                    <p:anim calcmode="lin" valueType="num">
                                      <p:cBhvr>
                                        <p:cTn id="55" dur="10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p:cTn id="56" dur="1000" fill="hold"/>
                                        <p:tgtEl>
                                          <p:spTgt spid="1126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1268">
                                            <p:txEl>
                                              <p:pRg st="2" end="2"/>
                                            </p:txEl>
                                          </p:spTgt>
                                        </p:tgtEl>
                                        <p:attrNameLst>
                                          <p:attrName>style.visibility</p:attrName>
                                        </p:attrNameLst>
                                      </p:cBhvr>
                                      <p:to>
                                        <p:strVal val="visible"/>
                                      </p:to>
                                    </p:set>
                                    <p:animEffect transition="in" filter="fade">
                                      <p:cBhvr>
                                        <p:cTn id="61" dur="1000"/>
                                        <p:tgtEl>
                                          <p:spTgt spid="11268">
                                            <p:txEl>
                                              <p:pRg st="2" end="2"/>
                                            </p:txEl>
                                          </p:spTgt>
                                        </p:tgtEl>
                                      </p:cBhvr>
                                    </p:animEffect>
                                    <p:anim calcmode="lin" valueType="num">
                                      <p:cBhvr>
                                        <p:cTn id="62" dur="1000" fill="hold"/>
                                        <p:tgtEl>
                                          <p:spTgt spid="11268">
                                            <p:txEl>
                                              <p:pRg st="2" end="2"/>
                                            </p:txEl>
                                          </p:spTgt>
                                        </p:tgtEl>
                                        <p:attrNameLst>
                                          <p:attrName>ppt_x</p:attrName>
                                        </p:attrNameLst>
                                      </p:cBhvr>
                                      <p:tavLst>
                                        <p:tav tm="0">
                                          <p:val>
                                            <p:strVal val="#ppt_x"/>
                                          </p:val>
                                        </p:tav>
                                        <p:tav tm="100000">
                                          <p:val>
                                            <p:strVal val="#ppt_x"/>
                                          </p:val>
                                        </p:tav>
                                      </p:tavLst>
                                    </p:anim>
                                    <p:anim calcmode="lin" valueType="num">
                                      <p:cBhvr>
                                        <p:cTn id="63" dur="1000" fill="hold"/>
                                        <p:tgtEl>
                                          <p:spTgt spid="1126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1268">
                                            <p:txEl>
                                              <p:pRg st="3" end="3"/>
                                            </p:txEl>
                                          </p:spTgt>
                                        </p:tgtEl>
                                        <p:attrNameLst>
                                          <p:attrName>style.visibility</p:attrName>
                                        </p:attrNameLst>
                                      </p:cBhvr>
                                      <p:to>
                                        <p:strVal val="visible"/>
                                      </p:to>
                                    </p:set>
                                    <p:animEffect transition="in" filter="fade">
                                      <p:cBhvr>
                                        <p:cTn id="68" dur="1000"/>
                                        <p:tgtEl>
                                          <p:spTgt spid="11268">
                                            <p:txEl>
                                              <p:pRg st="3" end="3"/>
                                            </p:txEl>
                                          </p:spTgt>
                                        </p:tgtEl>
                                      </p:cBhvr>
                                    </p:animEffect>
                                    <p:anim calcmode="lin" valueType="num">
                                      <p:cBhvr>
                                        <p:cTn id="69" dur="1000" fill="hold"/>
                                        <p:tgtEl>
                                          <p:spTgt spid="11268">
                                            <p:txEl>
                                              <p:pRg st="3" end="3"/>
                                            </p:txEl>
                                          </p:spTgt>
                                        </p:tgtEl>
                                        <p:attrNameLst>
                                          <p:attrName>ppt_x</p:attrName>
                                        </p:attrNameLst>
                                      </p:cBhvr>
                                      <p:tavLst>
                                        <p:tav tm="0">
                                          <p:val>
                                            <p:strVal val="#ppt_x"/>
                                          </p:val>
                                        </p:tav>
                                        <p:tav tm="100000">
                                          <p:val>
                                            <p:strVal val="#ppt_x"/>
                                          </p:val>
                                        </p:tav>
                                      </p:tavLst>
                                    </p:anim>
                                    <p:anim calcmode="lin" valueType="num">
                                      <p:cBhvr>
                                        <p:cTn id="70" dur="1000" fill="hold"/>
                                        <p:tgtEl>
                                          <p:spTgt spid="1126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1268">
                                            <p:txEl>
                                              <p:pRg st="4" end="4"/>
                                            </p:txEl>
                                          </p:spTgt>
                                        </p:tgtEl>
                                        <p:attrNameLst>
                                          <p:attrName>style.visibility</p:attrName>
                                        </p:attrNameLst>
                                      </p:cBhvr>
                                      <p:to>
                                        <p:strVal val="visible"/>
                                      </p:to>
                                    </p:set>
                                    <p:animEffect transition="in" filter="fade">
                                      <p:cBhvr>
                                        <p:cTn id="75" dur="1000"/>
                                        <p:tgtEl>
                                          <p:spTgt spid="11268">
                                            <p:txEl>
                                              <p:pRg st="4" end="4"/>
                                            </p:txEl>
                                          </p:spTgt>
                                        </p:tgtEl>
                                      </p:cBhvr>
                                    </p:animEffect>
                                    <p:anim calcmode="lin" valueType="num">
                                      <p:cBhvr>
                                        <p:cTn id="76" dur="1000" fill="hold"/>
                                        <p:tgtEl>
                                          <p:spTgt spid="11268">
                                            <p:txEl>
                                              <p:pRg st="4" end="4"/>
                                            </p:txEl>
                                          </p:spTgt>
                                        </p:tgtEl>
                                        <p:attrNameLst>
                                          <p:attrName>ppt_x</p:attrName>
                                        </p:attrNameLst>
                                      </p:cBhvr>
                                      <p:tavLst>
                                        <p:tav tm="0">
                                          <p:val>
                                            <p:strVal val="#ppt_x"/>
                                          </p:val>
                                        </p:tav>
                                        <p:tav tm="100000">
                                          <p:val>
                                            <p:strVal val="#ppt_x"/>
                                          </p:val>
                                        </p:tav>
                                      </p:tavLst>
                                    </p:anim>
                                    <p:anim calcmode="lin" valueType="num">
                                      <p:cBhvr>
                                        <p:cTn id="77" dur="1000" fill="hold"/>
                                        <p:tgtEl>
                                          <p:spTgt spid="1126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1268">
                                            <p:txEl>
                                              <p:pRg st="5" end="5"/>
                                            </p:txEl>
                                          </p:spTgt>
                                        </p:tgtEl>
                                        <p:attrNameLst>
                                          <p:attrName>style.visibility</p:attrName>
                                        </p:attrNameLst>
                                      </p:cBhvr>
                                      <p:to>
                                        <p:strVal val="visible"/>
                                      </p:to>
                                    </p:set>
                                    <p:animEffect transition="in" filter="fade">
                                      <p:cBhvr>
                                        <p:cTn id="82" dur="1000"/>
                                        <p:tgtEl>
                                          <p:spTgt spid="11268">
                                            <p:txEl>
                                              <p:pRg st="5" end="5"/>
                                            </p:txEl>
                                          </p:spTgt>
                                        </p:tgtEl>
                                      </p:cBhvr>
                                    </p:animEffect>
                                    <p:anim calcmode="lin" valueType="num">
                                      <p:cBhvr>
                                        <p:cTn id="83" dur="1000" fill="hold"/>
                                        <p:tgtEl>
                                          <p:spTgt spid="11268">
                                            <p:txEl>
                                              <p:pRg st="5" end="5"/>
                                            </p:txEl>
                                          </p:spTgt>
                                        </p:tgtEl>
                                        <p:attrNameLst>
                                          <p:attrName>ppt_x</p:attrName>
                                        </p:attrNameLst>
                                      </p:cBhvr>
                                      <p:tavLst>
                                        <p:tav tm="0">
                                          <p:val>
                                            <p:strVal val="#ppt_x"/>
                                          </p:val>
                                        </p:tav>
                                        <p:tav tm="100000">
                                          <p:val>
                                            <p:strVal val="#ppt_x"/>
                                          </p:val>
                                        </p:tav>
                                      </p:tavLst>
                                    </p:anim>
                                    <p:anim calcmode="lin" valueType="num">
                                      <p:cBhvr>
                                        <p:cTn id="84" dur="1000" fill="hold"/>
                                        <p:tgtEl>
                                          <p:spTgt spid="1126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11268">
                                            <p:txEl>
                                              <p:pRg st="6" end="6"/>
                                            </p:txEl>
                                          </p:spTgt>
                                        </p:tgtEl>
                                        <p:attrNameLst>
                                          <p:attrName>style.visibility</p:attrName>
                                        </p:attrNameLst>
                                      </p:cBhvr>
                                      <p:to>
                                        <p:strVal val="visible"/>
                                      </p:to>
                                    </p:set>
                                    <p:animEffect transition="in" filter="fade">
                                      <p:cBhvr>
                                        <p:cTn id="89" dur="1000"/>
                                        <p:tgtEl>
                                          <p:spTgt spid="11268">
                                            <p:txEl>
                                              <p:pRg st="6" end="6"/>
                                            </p:txEl>
                                          </p:spTgt>
                                        </p:tgtEl>
                                      </p:cBhvr>
                                    </p:animEffect>
                                    <p:anim calcmode="lin" valueType="num">
                                      <p:cBhvr>
                                        <p:cTn id="90" dur="1000" fill="hold"/>
                                        <p:tgtEl>
                                          <p:spTgt spid="11268">
                                            <p:txEl>
                                              <p:pRg st="6" end="6"/>
                                            </p:txEl>
                                          </p:spTgt>
                                        </p:tgtEl>
                                        <p:attrNameLst>
                                          <p:attrName>ppt_x</p:attrName>
                                        </p:attrNameLst>
                                      </p:cBhvr>
                                      <p:tavLst>
                                        <p:tav tm="0">
                                          <p:val>
                                            <p:strVal val="#ppt_x"/>
                                          </p:val>
                                        </p:tav>
                                        <p:tav tm="100000">
                                          <p:val>
                                            <p:strVal val="#ppt_x"/>
                                          </p:val>
                                        </p:tav>
                                      </p:tavLst>
                                    </p:anim>
                                    <p:anim calcmode="lin" valueType="num">
                                      <p:cBhvr>
                                        <p:cTn id="91" dur="1000" fill="hold"/>
                                        <p:tgtEl>
                                          <p:spTgt spid="1126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11268">
                                            <p:txEl>
                                              <p:pRg st="7" end="7"/>
                                            </p:txEl>
                                          </p:spTgt>
                                        </p:tgtEl>
                                        <p:attrNameLst>
                                          <p:attrName>style.visibility</p:attrName>
                                        </p:attrNameLst>
                                      </p:cBhvr>
                                      <p:to>
                                        <p:strVal val="visible"/>
                                      </p:to>
                                    </p:set>
                                    <p:animEffect transition="in" filter="fade">
                                      <p:cBhvr>
                                        <p:cTn id="96" dur="1000"/>
                                        <p:tgtEl>
                                          <p:spTgt spid="11268">
                                            <p:txEl>
                                              <p:pRg st="7" end="7"/>
                                            </p:txEl>
                                          </p:spTgt>
                                        </p:tgtEl>
                                      </p:cBhvr>
                                    </p:animEffect>
                                    <p:anim calcmode="lin" valueType="num">
                                      <p:cBhvr>
                                        <p:cTn id="97" dur="1000" fill="hold"/>
                                        <p:tgtEl>
                                          <p:spTgt spid="11268">
                                            <p:txEl>
                                              <p:pRg st="7" end="7"/>
                                            </p:txEl>
                                          </p:spTgt>
                                        </p:tgtEl>
                                        <p:attrNameLst>
                                          <p:attrName>ppt_x</p:attrName>
                                        </p:attrNameLst>
                                      </p:cBhvr>
                                      <p:tavLst>
                                        <p:tav tm="0">
                                          <p:val>
                                            <p:strVal val="#ppt_x"/>
                                          </p:val>
                                        </p:tav>
                                        <p:tav tm="100000">
                                          <p:val>
                                            <p:strVal val="#ppt_x"/>
                                          </p:val>
                                        </p:tav>
                                      </p:tavLst>
                                    </p:anim>
                                    <p:anim calcmode="lin" valueType="num">
                                      <p:cBhvr>
                                        <p:cTn id="98" dur="1000" fill="hold"/>
                                        <p:tgtEl>
                                          <p:spTgt spid="1126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267" grpId="0" build="p"/>
      <p:bldP spid="1126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9169928B-73BE-4D04-94A0-D40D872969EE}"/>
              </a:ext>
            </a:extLst>
          </p:cNvPr>
          <p:cNvSpPr>
            <a:spLocks noGrp="1"/>
          </p:cNvSpPr>
          <p:nvPr>
            <p:ph sz="half" idx="1"/>
          </p:nvPr>
        </p:nvSpPr>
        <p:spPr>
          <a:xfrm>
            <a:off x="838200" y="990600"/>
            <a:ext cx="3657600" cy="5105400"/>
          </a:xfrm>
        </p:spPr>
        <p:txBody>
          <a:bodyPr/>
          <a:lstStyle/>
          <a:p>
            <a:pPr eaLnBrk="1" hangingPunct="1">
              <a:buFont typeface="Wingdings" panose="05000000000000000000" pitchFamily="2" charset="2"/>
              <a:buNone/>
            </a:pPr>
            <a:r>
              <a:rPr lang="en-US" altLang="en-US" sz="2600" u="sng" dirty="0">
                <a:latin typeface="Garamond" panose="02020404030301010803" pitchFamily="18" charset="0"/>
              </a:rPr>
              <a:t>Geophysical Hazards</a:t>
            </a:r>
          </a:p>
          <a:p>
            <a:pPr eaLnBrk="1" hangingPunct="1">
              <a:buFont typeface="Wingdings" panose="05000000000000000000" pitchFamily="2" charset="2"/>
              <a:buChar char="v"/>
            </a:pPr>
            <a:r>
              <a:rPr lang="en-US" altLang="en-US" sz="2600" dirty="0"/>
              <a:t> </a:t>
            </a:r>
            <a:r>
              <a:rPr lang="en-US" altLang="en-US" sz="2600" dirty="0">
                <a:latin typeface="Garamond" panose="02020404030301010803" pitchFamily="18" charset="0"/>
              </a:rPr>
              <a:t>Landslides</a:t>
            </a:r>
          </a:p>
          <a:p>
            <a:pPr eaLnBrk="1" hangingPunct="1">
              <a:buFont typeface="Wingdings" panose="05000000000000000000" pitchFamily="2" charset="2"/>
              <a:buChar char="v"/>
            </a:pPr>
            <a:r>
              <a:rPr lang="en-US" altLang="en-US" sz="2600" dirty="0">
                <a:latin typeface="Garamond" panose="02020404030301010803" pitchFamily="18" charset="0"/>
              </a:rPr>
              <a:t> River Erosion</a:t>
            </a:r>
          </a:p>
          <a:p>
            <a:pPr eaLnBrk="1" hangingPunct="1">
              <a:buFont typeface="Wingdings" panose="05000000000000000000" pitchFamily="2" charset="2"/>
              <a:buChar char="v"/>
            </a:pPr>
            <a:r>
              <a:rPr lang="en-US" altLang="en-US" sz="2600" dirty="0">
                <a:latin typeface="Garamond" panose="02020404030301010803" pitchFamily="18" charset="0"/>
              </a:rPr>
              <a:t> Earthquake</a:t>
            </a:r>
          </a:p>
          <a:p>
            <a:pPr eaLnBrk="1" hangingPunct="1">
              <a:buFont typeface="Wingdings" panose="05000000000000000000" pitchFamily="2" charset="2"/>
              <a:buChar char="v"/>
            </a:pPr>
            <a:r>
              <a:rPr lang="en-US" altLang="en-US" sz="2600" dirty="0">
                <a:latin typeface="Garamond" panose="02020404030301010803" pitchFamily="18" charset="0"/>
              </a:rPr>
              <a:t> Tsunami</a:t>
            </a:r>
          </a:p>
          <a:p>
            <a:pPr eaLnBrk="1" hangingPunct="1">
              <a:buFont typeface="Wingdings" panose="05000000000000000000" pitchFamily="2" charset="2"/>
              <a:buChar char="v"/>
            </a:pPr>
            <a:r>
              <a:rPr lang="en-US" altLang="en-US" sz="2600" dirty="0">
                <a:latin typeface="Garamond" panose="02020404030301010803" pitchFamily="18" charset="0"/>
              </a:rPr>
              <a:t>  Volcano</a:t>
            </a:r>
          </a:p>
          <a:p>
            <a:pPr eaLnBrk="1" hangingPunct="1">
              <a:buFont typeface="Arial" panose="020B0604020202020204" pitchFamily="34" charset="0"/>
              <a:buNone/>
            </a:pPr>
            <a:r>
              <a:rPr lang="en-US" altLang="en-US" sz="2600" dirty="0"/>
              <a:t> </a:t>
            </a:r>
          </a:p>
          <a:p>
            <a:pPr eaLnBrk="1" hangingPunct="1">
              <a:buFont typeface="Wingdings" panose="05000000000000000000" pitchFamily="2" charset="2"/>
              <a:buChar char="v"/>
            </a:pPr>
            <a:endParaRPr lang="en-US" altLang="en-US" dirty="0"/>
          </a:p>
        </p:txBody>
      </p:sp>
      <p:sp>
        <p:nvSpPr>
          <p:cNvPr id="12291" name="Content Placeholder 4">
            <a:extLst>
              <a:ext uri="{FF2B5EF4-FFF2-40B4-BE49-F238E27FC236}">
                <a16:creationId xmlns:a16="http://schemas.microsoft.com/office/drawing/2014/main" id="{FFDE8422-E0B0-4D76-8DB9-CD82367E0A59}"/>
              </a:ext>
            </a:extLst>
          </p:cNvPr>
          <p:cNvSpPr>
            <a:spLocks noGrp="1"/>
          </p:cNvSpPr>
          <p:nvPr>
            <p:ph sz="half" idx="2"/>
          </p:nvPr>
        </p:nvSpPr>
        <p:spPr>
          <a:xfrm>
            <a:off x="4267200" y="1143000"/>
            <a:ext cx="4419600" cy="3657600"/>
          </a:xfrm>
        </p:spPr>
        <p:txBody>
          <a:bodyPr>
            <a:normAutofit/>
          </a:bodyPr>
          <a:lstStyle/>
          <a:p>
            <a:pPr eaLnBrk="1" hangingPunct="1">
              <a:buFont typeface="Wingdings" panose="05000000000000000000" pitchFamily="2" charset="2"/>
              <a:buNone/>
            </a:pPr>
            <a:r>
              <a:rPr lang="en-US" altLang="en-US" sz="2600" u="sng" dirty="0">
                <a:latin typeface="Garamond" panose="02020404030301010803" pitchFamily="18" charset="0"/>
              </a:rPr>
              <a:t>Technological Hazards</a:t>
            </a:r>
          </a:p>
          <a:p>
            <a:pPr eaLnBrk="1" hangingPunct="1">
              <a:buFont typeface="Wingdings" panose="05000000000000000000" pitchFamily="2" charset="2"/>
              <a:buChar char="v"/>
            </a:pPr>
            <a:r>
              <a:rPr lang="en-US" altLang="en-US" sz="2600" dirty="0">
                <a:latin typeface="Garamond" panose="02020404030301010803" pitchFamily="18" charset="0"/>
              </a:rPr>
              <a:t>Toxic chemical releases;</a:t>
            </a:r>
          </a:p>
          <a:p>
            <a:pPr eaLnBrk="1" hangingPunct="1">
              <a:buFont typeface="Wingdings" panose="05000000000000000000" pitchFamily="2" charset="2"/>
              <a:buChar char="v"/>
            </a:pPr>
            <a:r>
              <a:rPr lang="en-US" altLang="en-US" sz="2600" dirty="0">
                <a:latin typeface="Garamond" panose="02020404030301010803" pitchFamily="18" charset="0"/>
              </a:rPr>
              <a:t>Transit accident (oil spill);</a:t>
            </a:r>
          </a:p>
          <a:p>
            <a:pPr eaLnBrk="1" hangingPunct="1">
              <a:buFont typeface="Wingdings" panose="05000000000000000000" pitchFamily="2" charset="2"/>
              <a:buChar char="v"/>
            </a:pPr>
            <a:r>
              <a:rPr lang="en-US" altLang="en-US" sz="2600" dirty="0">
                <a:latin typeface="Garamond" panose="02020404030301010803" pitchFamily="18" charset="0"/>
              </a:rPr>
              <a:t>Nuclear power plant;</a:t>
            </a:r>
          </a:p>
          <a:p>
            <a:pPr eaLnBrk="1" hangingPunct="1">
              <a:buFont typeface="Wingdings" panose="05000000000000000000" pitchFamily="2" charset="2"/>
              <a:buChar char="v"/>
            </a:pPr>
            <a:r>
              <a:rPr lang="en-US" altLang="en-US" sz="2600" dirty="0">
                <a:latin typeface="Garamond" panose="02020404030301010803" pitchFamily="18" charset="0"/>
              </a:rPr>
              <a:t>Building / infrastructure collapse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Effect transition="in" filter="fade">
                                      <p:cBhvr>
                                        <p:cTn id="7" dur="1000"/>
                                        <p:tgtEl>
                                          <p:spTgt spid="12290">
                                            <p:txEl>
                                              <p:pRg st="0" end="0"/>
                                            </p:txEl>
                                          </p:spTgt>
                                        </p:tgtEl>
                                      </p:cBhvr>
                                    </p:animEffect>
                                    <p:anim calcmode="lin" valueType="num">
                                      <p:cBhvr>
                                        <p:cTn id="8" dur="1000" fill="hold"/>
                                        <p:tgtEl>
                                          <p:spTgt spid="1229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29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290">
                                            <p:txEl>
                                              <p:pRg st="1" end="1"/>
                                            </p:txEl>
                                          </p:spTgt>
                                        </p:tgtEl>
                                        <p:attrNameLst>
                                          <p:attrName>style.visibility</p:attrName>
                                        </p:attrNameLst>
                                      </p:cBhvr>
                                      <p:to>
                                        <p:strVal val="visible"/>
                                      </p:to>
                                    </p:set>
                                    <p:animEffect transition="in" filter="fade">
                                      <p:cBhvr>
                                        <p:cTn id="14" dur="1000"/>
                                        <p:tgtEl>
                                          <p:spTgt spid="12290">
                                            <p:txEl>
                                              <p:pRg st="1" end="1"/>
                                            </p:txEl>
                                          </p:spTgt>
                                        </p:tgtEl>
                                      </p:cBhvr>
                                    </p:animEffect>
                                    <p:anim calcmode="lin" valueType="num">
                                      <p:cBhvr>
                                        <p:cTn id="15" dur="1000" fill="hold"/>
                                        <p:tgtEl>
                                          <p:spTgt spid="1229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29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290">
                                            <p:txEl>
                                              <p:pRg st="2" end="2"/>
                                            </p:txEl>
                                          </p:spTgt>
                                        </p:tgtEl>
                                        <p:attrNameLst>
                                          <p:attrName>style.visibility</p:attrName>
                                        </p:attrNameLst>
                                      </p:cBhvr>
                                      <p:to>
                                        <p:strVal val="visible"/>
                                      </p:to>
                                    </p:set>
                                    <p:animEffect transition="in" filter="fade">
                                      <p:cBhvr>
                                        <p:cTn id="21" dur="1000"/>
                                        <p:tgtEl>
                                          <p:spTgt spid="12290">
                                            <p:txEl>
                                              <p:pRg st="2" end="2"/>
                                            </p:txEl>
                                          </p:spTgt>
                                        </p:tgtEl>
                                      </p:cBhvr>
                                    </p:animEffect>
                                    <p:anim calcmode="lin" valueType="num">
                                      <p:cBhvr>
                                        <p:cTn id="22" dur="1000" fill="hold"/>
                                        <p:tgtEl>
                                          <p:spTgt spid="1229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29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290">
                                            <p:txEl>
                                              <p:pRg st="3" end="3"/>
                                            </p:txEl>
                                          </p:spTgt>
                                        </p:tgtEl>
                                        <p:attrNameLst>
                                          <p:attrName>style.visibility</p:attrName>
                                        </p:attrNameLst>
                                      </p:cBhvr>
                                      <p:to>
                                        <p:strVal val="visible"/>
                                      </p:to>
                                    </p:set>
                                    <p:animEffect transition="in" filter="fade">
                                      <p:cBhvr>
                                        <p:cTn id="28" dur="1000"/>
                                        <p:tgtEl>
                                          <p:spTgt spid="12290">
                                            <p:txEl>
                                              <p:pRg st="3" end="3"/>
                                            </p:txEl>
                                          </p:spTgt>
                                        </p:tgtEl>
                                      </p:cBhvr>
                                    </p:animEffect>
                                    <p:anim calcmode="lin" valueType="num">
                                      <p:cBhvr>
                                        <p:cTn id="29" dur="1000" fill="hold"/>
                                        <p:tgtEl>
                                          <p:spTgt spid="12290">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229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290">
                                            <p:txEl>
                                              <p:pRg st="4" end="4"/>
                                            </p:txEl>
                                          </p:spTgt>
                                        </p:tgtEl>
                                        <p:attrNameLst>
                                          <p:attrName>style.visibility</p:attrName>
                                        </p:attrNameLst>
                                      </p:cBhvr>
                                      <p:to>
                                        <p:strVal val="visible"/>
                                      </p:to>
                                    </p:set>
                                    <p:animEffect transition="in" filter="fade">
                                      <p:cBhvr>
                                        <p:cTn id="35" dur="1000"/>
                                        <p:tgtEl>
                                          <p:spTgt spid="12290">
                                            <p:txEl>
                                              <p:pRg st="4" end="4"/>
                                            </p:txEl>
                                          </p:spTgt>
                                        </p:tgtEl>
                                      </p:cBhvr>
                                    </p:animEffect>
                                    <p:anim calcmode="lin" valueType="num">
                                      <p:cBhvr>
                                        <p:cTn id="36" dur="1000" fill="hold"/>
                                        <p:tgtEl>
                                          <p:spTgt spid="12290">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229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290">
                                            <p:txEl>
                                              <p:pRg st="5" end="5"/>
                                            </p:txEl>
                                          </p:spTgt>
                                        </p:tgtEl>
                                        <p:attrNameLst>
                                          <p:attrName>style.visibility</p:attrName>
                                        </p:attrNameLst>
                                      </p:cBhvr>
                                      <p:to>
                                        <p:strVal val="visible"/>
                                      </p:to>
                                    </p:set>
                                    <p:animEffect transition="in" filter="fade">
                                      <p:cBhvr>
                                        <p:cTn id="42" dur="1000"/>
                                        <p:tgtEl>
                                          <p:spTgt spid="12290">
                                            <p:txEl>
                                              <p:pRg st="5" end="5"/>
                                            </p:txEl>
                                          </p:spTgt>
                                        </p:tgtEl>
                                      </p:cBhvr>
                                    </p:animEffect>
                                    <p:anim calcmode="lin" valueType="num">
                                      <p:cBhvr>
                                        <p:cTn id="43" dur="1000" fill="hold"/>
                                        <p:tgtEl>
                                          <p:spTgt spid="12290">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229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290">
                                            <p:txEl>
                                              <p:pRg st="6" end="6"/>
                                            </p:txEl>
                                          </p:spTgt>
                                        </p:tgtEl>
                                        <p:attrNameLst>
                                          <p:attrName>style.visibility</p:attrName>
                                        </p:attrNameLst>
                                      </p:cBhvr>
                                      <p:to>
                                        <p:strVal val="visible"/>
                                      </p:to>
                                    </p:set>
                                    <p:animEffect transition="in" filter="fade">
                                      <p:cBhvr>
                                        <p:cTn id="49" dur="1000"/>
                                        <p:tgtEl>
                                          <p:spTgt spid="12290">
                                            <p:txEl>
                                              <p:pRg st="6" end="6"/>
                                            </p:txEl>
                                          </p:spTgt>
                                        </p:tgtEl>
                                      </p:cBhvr>
                                    </p:animEffect>
                                    <p:anim calcmode="lin" valueType="num">
                                      <p:cBhvr>
                                        <p:cTn id="50" dur="1000" fill="hold"/>
                                        <p:tgtEl>
                                          <p:spTgt spid="12290">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229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2291">
                                            <p:txEl>
                                              <p:pRg st="0" end="0"/>
                                            </p:txEl>
                                          </p:spTgt>
                                        </p:tgtEl>
                                        <p:attrNameLst>
                                          <p:attrName>style.visibility</p:attrName>
                                        </p:attrNameLst>
                                      </p:cBhvr>
                                      <p:to>
                                        <p:strVal val="visible"/>
                                      </p:to>
                                    </p:set>
                                    <p:animEffect transition="in" filter="fade">
                                      <p:cBhvr>
                                        <p:cTn id="56" dur="1000"/>
                                        <p:tgtEl>
                                          <p:spTgt spid="12291">
                                            <p:txEl>
                                              <p:pRg st="0" end="0"/>
                                            </p:txEl>
                                          </p:spTgt>
                                        </p:tgtEl>
                                      </p:cBhvr>
                                    </p:animEffect>
                                    <p:anim calcmode="lin" valueType="num">
                                      <p:cBhvr>
                                        <p:cTn id="57" dur="10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p:cTn id="58" dur="1000" fill="hold"/>
                                        <p:tgtEl>
                                          <p:spTgt spid="122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2291">
                                            <p:txEl>
                                              <p:pRg st="1" end="1"/>
                                            </p:txEl>
                                          </p:spTgt>
                                        </p:tgtEl>
                                        <p:attrNameLst>
                                          <p:attrName>style.visibility</p:attrName>
                                        </p:attrNameLst>
                                      </p:cBhvr>
                                      <p:to>
                                        <p:strVal val="visible"/>
                                      </p:to>
                                    </p:set>
                                    <p:animEffect transition="in" filter="fade">
                                      <p:cBhvr>
                                        <p:cTn id="63" dur="1000"/>
                                        <p:tgtEl>
                                          <p:spTgt spid="12291">
                                            <p:txEl>
                                              <p:pRg st="1" end="1"/>
                                            </p:txEl>
                                          </p:spTgt>
                                        </p:tgtEl>
                                      </p:cBhvr>
                                    </p:animEffect>
                                    <p:anim calcmode="lin" valueType="num">
                                      <p:cBhvr>
                                        <p:cTn id="64" dur="10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p:cTn id="65" dur="1000" fill="hold"/>
                                        <p:tgtEl>
                                          <p:spTgt spid="12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2291">
                                            <p:txEl>
                                              <p:pRg st="2" end="2"/>
                                            </p:txEl>
                                          </p:spTgt>
                                        </p:tgtEl>
                                        <p:attrNameLst>
                                          <p:attrName>style.visibility</p:attrName>
                                        </p:attrNameLst>
                                      </p:cBhvr>
                                      <p:to>
                                        <p:strVal val="visible"/>
                                      </p:to>
                                    </p:set>
                                    <p:animEffect transition="in" filter="fade">
                                      <p:cBhvr>
                                        <p:cTn id="70" dur="1000"/>
                                        <p:tgtEl>
                                          <p:spTgt spid="12291">
                                            <p:txEl>
                                              <p:pRg st="2" end="2"/>
                                            </p:txEl>
                                          </p:spTgt>
                                        </p:tgtEl>
                                      </p:cBhvr>
                                    </p:animEffect>
                                    <p:anim calcmode="lin" valueType="num">
                                      <p:cBhvr>
                                        <p:cTn id="71" dur="10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p:cTn id="72" dur="1000" fill="hold"/>
                                        <p:tgtEl>
                                          <p:spTgt spid="1229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2291">
                                            <p:txEl>
                                              <p:pRg st="3" end="3"/>
                                            </p:txEl>
                                          </p:spTgt>
                                        </p:tgtEl>
                                        <p:attrNameLst>
                                          <p:attrName>style.visibility</p:attrName>
                                        </p:attrNameLst>
                                      </p:cBhvr>
                                      <p:to>
                                        <p:strVal val="visible"/>
                                      </p:to>
                                    </p:set>
                                    <p:animEffect transition="in" filter="fade">
                                      <p:cBhvr>
                                        <p:cTn id="77" dur="1000"/>
                                        <p:tgtEl>
                                          <p:spTgt spid="12291">
                                            <p:txEl>
                                              <p:pRg st="3" end="3"/>
                                            </p:txEl>
                                          </p:spTgt>
                                        </p:tgtEl>
                                      </p:cBhvr>
                                    </p:animEffect>
                                    <p:anim calcmode="lin" valueType="num">
                                      <p:cBhvr>
                                        <p:cTn id="78" dur="10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p:cTn id="79" dur="1000" fill="hold"/>
                                        <p:tgtEl>
                                          <p:spTgt spid="1229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2291">
                                            <p:txEl>
                                              <p:pRg st="4" end="4"/>
                                            </p:txEl>
                                          </p:spTgt>
                                        </p:tgtEl>
                                        <p:attrNameLst>
                                          <p:attrName>style.visibility</p:attrName>
                                        </p:attrNameLst>
                                      </p:cBhvr>
                                      <p:to>
                                        <p:strVal val="visible"/>
                                      </p:to>
                                    </p:set>
                                    <p:animEffect transition="in" filter="fade">
                                      <p:cBhvr>
                                        <p:cTn id="84" dur="1000"/>
                                        <p:tgtEl>
                                          <p:spTgt spid="12291">
                                            <p:txEl>
                                              <p:pRg st="4" end="4"/>
                                            </p:txEl>
                                          </p:spTgt>
                                        </p:tgtEl>
                                      </p:cBhvr>
                                    </p:animEffect>
                                    <p:anim calcmode="lin" valueType="num">
                                      <p:cBhvr>
                                        <p:cTn id="85" dur="10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p:cTn id="86" dur="1000" fill="hold"/>
                                        <p:tgtEl>
                                          <p:spTgt spid="1229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P spid="1229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CBDC9ED-BDB9-4C09-B49F-04C9C7604061}"/>
              </a:ext>
            </a:extLst>
          </p:cNvPr>
          <p:cNvSpPr>
            <a:spLocks noGrp="1"/>
          </p:cNvSpPr>
          <p:nvPr>
            <p:ph type="ctrTitle"/>
          </p:nvPr>
        </p:nvSpPr>
        <p:spPr>
          <a:xfrm>
            <a:off x="1752600" y="304800"/>
            <a:ext cx="7543800" cy="838200"/>
          </a:xfrm>
        </p:spPr>
        <p:txBody>
          <a:bodyPr vert="horz" wrap="square" lIns="91440" tIns="45720" rIns="91440" bIns="45720" numCol="1" anchorCtr="0" compatLnSpc="1">
            <a:prstTxWarp prst="textNoShape">
              <a:avLst/>
            </a:prstTxWarp>
          </a:bodyPr>
          <a:lstStyle/>
          <a:p>
            <a:pPr algn="l" eaLnBrk="1" hangingPunct="1">
              <a:defRPr/>
            </a:pPr>
            <a:r>
              <a:rPr lang="en-US" sz="3000" dirty="0">
                <a:solidFill>
                  <a:schemeClr val="tx1"/>
                </a:solidFill>
                <a:effectLst>
                  <a:outerShdw blurRad="38100" dist="38100" dir="2700000" algn="tl">
                    <a:srgbClr val="C0C0C0"/>
                  </a:outerShdw>
                </a:effectLst>
                <a:latin typeface="Garamond" pitchFamily="18" charset="0"/>
              </a:rPr>
              <a:t>Industrial Hazards </a:t>
            </a:r>
          </a:p>
        </p:txBody>
      </p:sp>
      <p:sp>
        <p:nvSpPr>
          <p:cNvPr id="13315" name="Subtitle 2">
            <a:extLst>
              <a:ext uri="{FF2B5EF4-FFF2-40B4-BE49-F238E27FC236}">
                <a16:creationId xmlns:a16="http://schemas.microsoft.com/office/drawing/2014/main" id="{F893EDC3-8216-42E6-9B39-5CCD99D91226}"/>
              </a:ext>
            </a:extLst>
          </p:cNvPr>
          <p:cNvSpPr>
            <a:spLocks noGrp="1"/>
          </p:cNvSpPr>
          <p:nvPr>
            <p:ph type="subTitle" idx="1"/>
          </p:nvPr>
        </p:nvSpPr>
        <p:spPr>
          <a:xfrm>
            <a:off x="1143000" y="1143000"/>
            <a:ext cx="7315200" cy="5638800"/>
          </a:xfrm>
        </p:spPr>
        <p:txBody>
          <a:bodyPr>
            <a:normAutofit fontScale="85000" lnSpcReduction="20000"/>
          </a:bodyPr>
          <a:lstStyle/>
          <a:p>
            <a:pPr marL="26988" algn="just" eaLnBrk="1" hangingPunct="1">
              <a:lnSpc>
                <a:spcPct val="80000"/>
              </a:lnSpc>
            </a:pPr>
            <a:r>
              <a:rPr lang="en-US" altLang="en-US" sz="2800" dirty="0">
                <a:solidFill>
                  <a:srgbClr val="320E04"/>
                </a:solidFill>
                <a:latin typeface="Garamond" panose="02020404030301010803" pitchFamily="18" charset="0"/>
              </a:rPr>
              <a:t>Industrial Hazards may be defined as the contamination of the product in  industries that may cause </a:t>
            </a:r>
          </a:p>
          <a:p>
            <a:pPr marL="26988" algn="just" eaLnBrk="1" hangingPunct="1">
              <a:lnSpc>
                <a:spcPct val="80000"/>
              </a:lnSpc>
              <a:buFont typeface="Arial" panose="020B0604020202020204" pitchFamily="34" charset="0"/>
              <a:buChar char="•"/>
            </a:pPr>
            <a:r>
              <a:rPr lang="en-US" altLang="en-US" sz="2800" dirty="0">
                <a:solidFill>
                  <a:srgbClr val="320E04"/>
                </a:solidFill>
                <a:latin typeface="Garamond" panose="02020404030301010803" pitchFamily="18" charset="0"/>
              </a:rPr>
              <a:t>  health problems</a:t>
            </a:r>
          </a:p>
          <a:p>
            <a:pPr marL="26988" algn="just" eaLnBrk="1" hangingPunct="1">
              <a:lnSpc>
                <a:spcPct val="80000"/>
              </a:lnSpc>
              <a:buFont typeface="Arial" panose="020B0604020202020204" pitchFamily="34" charset="0"/>
              <a:buChar char="•"/>
            </a:pPr>
            <a:r>
              <a:rPr lang="en-US" altLang="en-US" sz="2800" dirty="0">
                <a:solidFill>
                  <a:srgbClr val="320E04"/>
                </a:solidFill>
                <a:latin typeface="Garamond" panose="02020404030301010803" pitchFamily="18" charset="0"/>
              </a:rPr>
              <a:t>  safety problems </a:t>
            </a:r>
          </a:p>
          <a:p>
            <a:pPr marL="26988" algn="just" eaLnBrk="1" hangingPunct="1">
              <a:lnSpc>
                <a:spcPct val="80000"/>
              </a:lnSpc>
              <a:buFont typeface="Arial" panose="020B0604020202020204" pitchFamily="34" charset="0"/>
              <a:buChar char="•"/>
            </a:pPr>
            <a:r>
              <a:rPr lang="en-US" altLang="en-US" sz="2800" dirty="0">
                <a:solidFill>
                  <a:srgbClr val="320E04"/>
                </a:solidFill>
                <a:latin typeface="Garamond" panose="02020404030301010803" pitchFamily="18" charset="0"/>
              </a:rPr>
              <a:t>  environmental problems</a:t>
            </a:r>
          </a:p>
          <a:p>
            <a:pPr marL="26988" algn="just" eaLnBrk="1" hangingPunct="1">
              <a:lnSpc>
                <a:spcPct val="80000"/>
              </a:lnSpc>
              <a:buFont typeface="Arial" panose="020B0604020202020204" pitchFamily="34" charset="0"/>
              <a:buChar char="•"/>
            </a:pPr>
            <a:r>
              <a:rPr lang="en-US" altLang="en-US" sz="2800" dirty="0">
                <a:solidFill>
                  <a:srgbClr val="320E04"/>
                </a:solidFill>
                <a:latin typeface="Garamond" panose="02020404030301010803" pitchFamily="18" charset="0"/>
              </a:rPr>
              <a:t>  adverse impact on the quality of product</a:t>
            </a:r>
          </a:p>
          <a:p>
            <a:pPr marL="26988" algn="just" eaLnBrk="1" hangingPunct="1">
              <a:lnSpc>
                <a:spcPct val="80000"/>
              </a:lnSpc>
              <a:buFont typeface="Arial" panose="020B0604020202020204" pitchFamily="34" charset="0"/>
              <a:buChar char="•"/>
            </a:pPr>
            <a:endParaRPr lang="en-US" altLang="en-US" sz="2800" dirty="0">
              <a:solidFill>
                <a:srgbClr val="320E04"/>
              </a:solidFill>
              <a:latin typeface="Garamond" panose="02020404030301010803" pitchFamily="18" charset="0"/>
            </a:endParaRPr>
          </a:p>
          <a:p>
            <a:pPr marL="26988" algn="just" eaLnBrk="1" hangingPunct="1">
              <a:lnSpc>
                <a:spcPct val="80000"/>
              </a:lnSpc>
            </a:pPr>
            <a:endParaRPr lang="en-US" altLang="en-US" sz="2800" dirty="0">
              <a:solidFill>
                <a:srgbClr val="320E04"/>
              </a:solidFill>
              <a:latin typeface="Garamond" panose="02020404030301010803" pitchFamily="18" charset="0"/>
            </a:endParaRPr>
          </a:p>
          <a:p>
            <a:pPr marL="26988" algn="just" eaLnBrk="1" hangingPunct="1">
              <a:lnSpc>
                <a:spcPct val="80000"/>
              </a:lnSpc>
              <a:buFont typeface="Arial" panose="020B0604020202020204" pitchFamily="34" charset="0"/>
              <a:buChar char="•"/>
            </a:pPr>
            <a:r>
              <a:rPr lang="en-US" altLang="en-US" sz="2800" dirty="0">
                <a:latin typeface="Garamond" panose="02020404030301010803" pitchFamily="18" charset="0"/>
              </a:rPr>
              <a:t>Types of industrial hazards</a:t>
            </a:r>
          </a:p>
          <a:p>
            <a:pPr lvl="1" algn="just" eaLnBrk="1" hangingPunct="1">
              <a:lnSpc>
                <a:spcPct val="80000"/>
              </a:lnSpc>
              <a:buClr>
                <a:schemeClr val="tx1"/>
              </a:buClr>
              <a:buFont typeface="Wingdings" panose="05000000000000000000" pitchFamily="2" charset="2"/>
              <a:buChar char="v"/>
            </a:pPr>
            <a:r>
              <a:rPr lang="en-US" altLang="en-US" dirty="0">
                <a:solidFill>
                  <a:schemeClr val="tx1"/>
                </a:solidFill>
                <a:latin typeface="Garamond" panose="02020404030301010803" pitchFamily="18" charset="0"/>
              </a:rPr>
              <a:t>Chemical Hazards</a:t>
            </a:r>
          </a:p>
          <a:p>
            <a:pPr lvl="1" algn="just" eaLnBrk="1" hangingPunct="1">
              <a:lnSpc>
                <a:spcPct val="80000"/>
              </a:lnSpc>
              <a:buClr>
                <a:schemeClr val="tx1"/>
              </a:buClr>
              <a:buFont typeface="Wingdings" panose="05000000000000000000" pitchFamily="2" charset="2"/>
              <a:buChar char="v"/>
            </a:pPr>
            <a:r>
              <a:rPr lang="en-US" altLang="en-US" dirty="0">
                <a:solidFill>
                  <a:schemeClr val="tx1"/>
                </a:solidFill>
                <a:latin typeface="Garamond" panose="02020404030301010803" pitchFamily="18" charset="0"/>
              </a:rPr>
              <a:t>Physical Hazards</a:t>
            </a:r>
          </a:p>
          <a:p>
            <a:pPr lvl="1" algn="just" eaLnBrk="1" hangingPunct="1">
              <a:lnSpc>
                <a:spcPct val="80000"/>
              </a:lnSpc>
              <a:buClr>
                <a:schemeClr val="tx1"/>
              </a:buClr>
              <a:buFont typeface="Wingdings" panose="05000000000000000000" pitchFamily="2" charset="2"/>
              <a:buChar char="v"/>
            </a:pPr>
            <a:r>
              <a:rPr lang="en-US" altLang="en-US" dirty="0">
                <a:solidFill>
                  <a:schemeClr val="tx1"/>
                </a:solidFill>
                <a:latin typeface="Garamond" panose="02020404030301010803" pitchFamily="18" charset="0"/>
              </a:rPr>
              <a:t>Biological Hazards</a:t>
            </a:r>
          </a:p>
          <a:p>
            <a:pPr marL="26988" eaLnBrk="1" hangingPunct="1">
              <a:lnSpc>
                <a:spcPct val="130000"/>
              </a:lnSpc>
              <a:buFont typeface="Arial" panose="020B0604020202020204" pitchFamily="34" charset="0"/>
              <a:buChar char="•"/>
            </a:pPr>
            <a:endParaRPr lang="en-US" altLang="en-US" sz="2200" dirty="0">
              <a:latin typeface="Garamond" panose="02020404030301010803" pitchFamily="18" charset="0"/>
            </a:endParaRPr>
          </a:p>
          <a:p>
            <a:pPr marL="26988" eaLnBrk="1" hangingPunct="1">
              <a:lnSpc>
                <a:spcPct val="130000"/>
              </a:lnSpc>
            </a:pPr>
            <a:br>
              <a:rPr lang="en-US" altLang="en-US" sz="2200" dirty="0">
                <a:solidFill>
                  <a:srgbClr val="320E04"/>
                </a:solidFill>
              </a:rPr>
            </a:br>
            <a:endParaRPr lang="en-US" altLang="en-US" sz="2200" dirty="0">
              <a:solidFill>
                <a:srgbClr val="320E04"/>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arn(inVertical)">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3315">
                                            <p:txEl>
                                              <p:pRg st="0" end="0"/>
                                            </p:txEl>
                                          </p:spTgt>
                                        </p:tgtEl>
                                        <p:attrNameLst>
                                          <p:attrName>style.visibility</p:attrName>
                                        </p:attrNameLst>
                                      </p:cBhvr>
                                      <p:to>
                                        <p:strVal val="visible"/>
                                      </p:to>
                                    </p:set>
                                    <p:animEffect transition="in" filter="fade">
                                      <p:cBhvr>
                                        <p:cTn id="12" dur="1000"/>
                                        <p:tgtEl>
                                          <p:spTgt spid="13315">
                                            <p:txEl>
                                              <p:pRg st="0" end="0"/>
                                            </p:txEl>
                                          </p:spTgt>
                                        </p:tgtEl>
                                      </p:cBhvr>
                                    </p:animEffect>
                                    <p:anim calcmode="lin" valueType="num">
                                      <p:cBhvr>
                                        <p:cTn id="13" dur="10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33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315">
                                            <p:txEl>
                                              <p:pRg st="1" end="1"/>
                                            </p:txEl>
                                          </p:spTgt>
                                        </p:tgtEl>
                                        <p:attrNameLst>
                                          <p:attrName>style.visibility</p:attrName>
                                        </p:attrNameLst>
                                      </p:cBhvr>
                                      <p:to>
                                        <p:strVal val="visible"/>
                                      </p:to>
                                    </p:set>
                                    <p:animEffect transition="in" filter="fade">
                                      <p:cBhvr>
                                        <p:cTn id="19" dur="1000"/>
                                        <p:tgtEl>
                                          <p:spTgt spid="13315">
                                            <p:txEl>
                                              <p:pRg st="1" end="1"/>
                                            </p:txEl>
                                          </p:spTgt>
                                        </p:tgtEl>
                                      </p:cBhvr>
                                    </p:animEffect>
                                    <p:anim calcmode="lin" valueType="num">
                                      <p:cBhvr>
                                        <p:cTn id="20" dur="10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33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3315">
                                            <p:txEl>
                                              <p:pRg st="2" end="2"/>
                                            </p:txEl>
                                          </p:spTgt>
                                        </p:tgtEl>
                                        <p:attrNameLst>
                                          <p:attrName>style.visibility</p:attrName>
                                        </p:attrNameLst>
                                      </p:cBhvr>
                                      <p:to>
                                        <p:strVal val="visible"/>
                                      </p:to>
                                    </p:set>
                                    <p:animEffect transition="in" filter="fade">
                                      <p:cBhvr>
                                        <p:cTn id="26" dur="1000"/>
                                        <p:tgtEl>
                                          <p:spTgt spid="13315">
                                            <p:txEl>
                                              <p:pRg st="2" end="2"/>
                                            </p:txEl>
                                          </p:spTgt>
                                        </p:tgtEl>
                                      </p:cBhvr>
                                    </p:animEffect>
                                    <p:anim calcmode="lin" valueType="num">
                                      <p:cBhvr>
                                        <p:cTn id="27" dur="10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33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3315">
                                            <p:txEl>
                                              <p:pRg st="3" end="3"/>
                                            </p:txEl>
                                          </p:spTgt>
                                        </p:tgtEl>
                                        <p:attrNameLst>
                                          <p:attrName>style.visibility</p:attrName>
                                        </p:attrNameLst>
                                      </p:cBhvr>
                                      <p:to>
                                        <p:strVal val="visible"/>
                                      </p:to>
                                    </p:set>
                                    <p:animEffect transition="in" filter="fade">
                                      <p:cBhvr>
                                        <p:cTn id="33" dur="1000"/>
                                        <p:tgtEl>
                                          <p:spTgt spid="13315">
                                            <p:txEl>
                                              <p:pRg st="3" end="3"/>
                                            </p:txEl>
                                          </p:spTgt>
                                        </p:tgtEl>
                                      </p:cBhvr>
                                    </p:animEffect>
                                    <p:anim calcmode="lin" valueType="num">
                                      <p:cBhvr>
                                        <p:cTn id="34" dur="10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33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3315">
                                            <p:txEl>
                                              <p:pRg st="4" end="4"/>
                                            </p:txEl>
                                          </p:spTgt>
                                        </p:tgtEl>
                                        <p:attrNameLst>
                                          <p:attrName>style.visibility</p:attrName>
                                        </p:attrNameLst>
                                      </p:cBhvr>
                                      <p:to>
                                        <p:strVal val="visible"/>
                                      </p:to>
                                    </p:set>
                                    <p:animEffect transition="in" filter="fade">
                                      <p:cBhvr>
                                        <p:cTn id="40" dur="1000"/>
                                        <p:tgtEl>
                                          <p:spTgt spid="13315">
                                            <p:txEl>
                                              <p:pRg st="4" end="4"/>
                                            </p:txEl>
                                          </p:spTgt>
                                        </p:tgtEl>
                                      </p:cBhvr>
                                    </p:animEffect>
                                    <p:anim calcmode="lin" valueType="num">
                                      <p:cBhvr>
                                        <p:cTn id="41" dur="10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133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3315">
                                            <p:txEl>
                                              <p:pRg st="7" end="7"/>
                                            </p:txEl>
                                          </p:spTgt>
                                        </p:tgtEl>
                                        <p:attrNameLst>
                                          <p:attrName>style.visibility</p:attrName>
                                        </p:attrNameLst>
                                      </p:cBhvr>
                                      <p:to>
                                        <p:strVal val="visible"/>
                                      </p:to>
                                    </p:set>
                                    <p:animEffect transition="in" filter="fade">
                                      <p:cBhvr>
                                        <p:cTn id="47" dur="1000"/>
                                        <p:tgtEl>
                                          <p:spTgt spid="13315">
                                            <p:txEl>
                                              <p:pRg st="7" end="7"/>
                                            </p:txEl>
                                          </p:spTgt>
                                        </p:tgtEl>
                                      </p:cBhvr>
                                    </p:animEffect>
                                    <p:anim calcmode="lin" valueType="num">
                                      <p:cBhvr>
                                        <p:cTn id="48" dur="1000" fill="hold"/>
                                        <p:tgtEl>
                                          <p:spTgt spid="13315">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13315">
                                            <p:txEl>
                                              <p:pRg st="7" end="7"/>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315">
                                            <p:txEl>
                                              <p:pRg st="8" end="8"/>
                                            </p:txEl>
                                          </p:spTgt>
                                        </p:tgtEl>
                                        <p:attrNameLst>
                                          <p:attrName>style.visibility</p:attrName>
                                        </p:attrNameLst>
                                      </p:cBhvr>
                                      <p:to>
                                        <p:strVal val="visible"/>
                                      </p:to>
                                    </p:set>
                                    <p:animEffect transition="in" filter="fade">
                                      <p:cBhvr>
                                        <p:cTn id="52" dur="1000"/>
                                        <p:tgtEl>
                                          <p:spTgt spid="13315">
                                            <p:txEl>
                                              <p:pRg st="8" end="8"/>
                                            </p:txEl>
                                          </p:spTgt>
                                        </p:tgtEl>
                                      </p:cBhvr>
                                    </p:animEffect>
                                    <p:anim calcmode="lin" valueType="num">
                                      <p:cBhvr>
                                        <p:cTn id="53" dur="1000" fill="hold"/>
                                        <p:tgtEl>
                                          <p:spTgt spid="13315">
                                            <p:txEl>
                                              <p:pRg st="8" end="8"/>
                                            </p:txEl>
                                          </p:spTgt>
                                        </p:tgtEl>
                                        <p:attrNameLst>
                                          <p:attrName>ppt_x</p:attrName>
                                        </p:attrNameLst>
                                      </p:cBhvr>
                                      <p:tavLst>
                                        <p:tav tm="0">
                                          <p:val>
                                            <p:strVal val="#ppt_x"/>
                                          </p:val>
                                        </p:tav>
                                        <p:tav tm="100000">
                                          <p:val>
                                            <p:strVal val="#ppt_x"/>
                                          </p:val>
                                        </p:tav>
                                      </p:tavLst>
                                    </p:anim>
                                    <p:anim calcmode="lin" valueType="num">
                                      <p:cBhvr>
                                        <p:cTn id="54" dur="1000" fill="hold"/>
                                        <p:tgtEl>
                                          <p:spTgt spid="13315">
                                            <p:txEl>
                                              <p:pRg st="8" end="8"/>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315">
                                            <p:txEl>
                                              <p:pRg st="9" end="9"/>
                                            </p:txEl>
                                          </p:spTgt>
                                        </p:tgtEl>
                                        <p:attrNameLst>
                                          <p:attrName>style.visibility</p:attrName>
                                        </p:attrNameLst>
                                      </p:cBhvr>
                                      <p:to>
                                        <p:strVal val="visible"/>
                                      </p:to>
                                    </p:set>
                                    <p:animEffect transition="in" filter="fade">
                                      <p:cBhvr>
                                        <p:cTn id="57" dur="1000"/>
                                        <p:tgtEl>
                                          <p:spTgt spid="13315">
                                            <p:txEl>
                                              <p:pRg st="9" end="9"/>
                                            </p:txEl>
                                          </p:spTgt>
                                        </p:tgtEl>
                                      </p:cBhvr>
                                    </p:animEffect>
                                    <p:anim calcmode="lin" valueType="num">
                                      <p:cBhvr>
                                        <p:cTn id="58" dur="1000" fill="hold"/>
                                        <p:tgtEl>
                                          <p:spTgt spid="13315">
                                            <p:txEl>
                                              <p:pRg st="9" end="9"/>
                                            </p:txEl>
                                          </p:spTgt>
                                        </p:tgtEl>
                                        <p:attrNameLst>
                                          <p:attrName>ppt_x</p:attrName>
                                        </p:attrNameLst>
                                      </p:cBhvr>
                                      <p:tavLst>
                                        <p:tav tm="0">
                                          <p:val>
                                            <p:strVal val="#ppt_x"/>
                                          </p:val>
                                        </p:tav>
                                        <p:tav tm="100000">
                                          <p:val>
                                            <p:strVal val="#ppt_x"/>
                                          </p:val>
                                        </p:tav>
                                      </p:tavLst>
                                    </p:anim>
                                    <p:anim calcmode="lin" valueType="num">
                                      <p:cBhvr>
                                        <p:cTn id="59" dur="1000" fill="hold"/>
                                        <p:tgtEl>
                                          <p:spTgt spid="13315">
                                            <p:txEl>
                                              <p:pRg st="9" end="9"/>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315">
                                            <p:txEl>
                                              <p:pRg st="10" end="10"/>
                                            </p:txEl>
                                          </p:spTgt>
                                        </p:tgtEl>
                                        <p:attrNameLst>
                                          <p:attrName>style.visibility</p:attrName>
                                        </p:attrNameLst>
                                      </p:cBhvr>
                                      <p:to>
                                        <p:strVal val="visible"/>
                                      </p:to>
                                    </p:set>
                                    <p:animEffect transition="in" filter="fade">
                                      <p:cBhvr>
                                        <p:cTn id="62" dur="1000"/>
                                        <p:tgtEl>
                                          <p:spTgt spid="13315">
                                            <p:txEl>
                                              <p:pRg st="10" end="10"/>
                                            </p:txEl>
                                          </p:spTgt>
                                        </p:tgtEl>
                                      </p:cBhvr>
                                    </p:animEffect>
                                    <p:anim calcmode="lin" valueType="num">
                                      <p:cBhvr>
                                        <p:cTn id="63" dur="1000" fill="hold"/>
                                        <p:tgtEl>
                                          <p:spTgt spid="13315">
                                            <p:txEl>
                                              <p:pRg st="10" end="10"/>
                                            </p:txEl>
                                          </p:spTgt>
                                        </p:tgtEl>
                                        <p:attrNameLst>
                                          <p:attrName>ppt_x</p:attrName>
                                        </p:attrNameLst>
                                      </p:cBhvr>
                                      <p:tavLst>
                                        <p:tav tm="0">
                                          <p:val>
                                            <p:strVal val="#ppt_x"/>
                                          </p:val>
                                        </p:tav>
                                        <p:tav tm="100000">
                                          <p:val>
                                            <p:strVal val="#ppt_x"/>
                                          </p:val>
                                        </p:tav>
                                      </p:tavLst>
                                    </p:anim>
                                    <p:anim calcmode="lin" valueType="num">
                                      <p:cBhvr>
                                        <p:cTn id="64" dur="1000" fill="hold"/>
                                        <p:tgtEl>
                                          <p:spTgt spid="13315">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3315">
                                            <p:txEl>
                                              <p:pRg st="12" end="12"/>
                                            </p:txEl>
                                          </p:spTgt>
                                        </p:tgtEl>
                                        <p:attrNameLst>
                                          <p:attrName>style.visibility</p:attrName>
                                        </p:attrNameLst>
                                      </p:cBhvr>
                                      <p:to>
                                        <p:strVal val="visible"/>
                                      </p:to>
                                    </p:set>
                                    <p:animEffect transition="in" filter="fade">
                                      <p:cBhvr>
                                        <p:cTn id="69" dur="1000"/>
                                        <p:tgtEl>
                                          <p:spTgt spid="13315">
                                            <p:txEl>
                                              <p:pRg st="12" end="12"/>
                                            </p:txEl>
                                          </p:spTgt>
                                        </p:tgtEl>
                                      </p:cBhvr>
                                    </p:animEffect>
                                    <p:anim calcmode="lin" valueType="num">
                                      <p:cBhvr>
                                        <p:cTn id="70" dur="1000" fill="hold"/>
                                        <p:tgtEl>
                                          <p:spTgt spid="13315">
                                            <p:txEl>
                                              <p:pRg st="12" end="12"/>
                                            </p:txEl>
                                          </p:spTgt>
                                        </p:tgtEl>
                                        <p:attrNameLst>
                                          <p:attrName>ppt_x</p:attrName>
                                        </p:attrNameLst>
                                      </p:cBhvr>
                                      <p:tavLst>
                                        <p:tav tm="0">
                                          <p:val>
                                            <p:strVal val="#ppt_x"/>
                                          </p:val>
                                        </p:tav>
                                        <p:tav tm="100000">
                                          <p:val>
                                            <p:strVal val="#ppt_x"/>
                                          </p:val>
                                        </p:tav>
                                      </p:tavLst>
                                    </p:anim>
                                    <p:anim calcmode="lin" valueType="num">
                                      <p:cBhvr>
                                        <p:cTn id="71" dur="1000" fill="hold"/>
                                        <p:tgtEl>
                                          <p:spTgt spid="13315">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1331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a:extLst>
              <a:ext uri="{FF2B5EF4-FFF2-40B4-BE49-F238E27FC236}">
                <a16:creationId xmlns:a16="http://schemas.microsoft.com/office/drawing/2014/main" id="{BF4F2C4C-7B60-49E9-A04D-BB6322B993C6}"/>
              </a:ext>
            </a:extLst>
          </p:cNvPr>
          <p:cNvSpPr>
            <a:spLocks noGrp="1" noChangeArrowheads="1"/>
          </p:cNvSpPr>
          <p:nvPr>
            <p:ph type="title"/>
          </p:nvPr>
        </p:nvSpPr>
        <p:spPr>
          <a:xfrm>
            <a:off x="1066800" y="609600"/>
            <a:ext cx="7391400" cy="1143000"/>
          </a:xfrm>
        </p:spPr>
        <p:txBody>
          <a:bodyPr vert="horz" wrap="square" lIns="91440" tIns="45720" rIns="91440" bIns="45720" numCol="1" anchorCtr="0" compatLnSpc="1">
            <a:prstTxWarp prst="textNoShape">
              <a:avLst/>
            </a:prstTxWarp>
          </a:bodyPr>
          <a:lstStyle/>
          <a:p>
            <a:pPr algn="ctr" eaLnBrk="1" hangingPunct="1">
              <a:defRPr/>
            </a:pPr>
            <a:r>
              <a:rPr lang="en-US" sz="2800" dirty="0">
                <a:solidFill>
                  <a:schemeClr val="tx1"/>
                </a:solidFill>
                <a:effectLst>
                  <a:outerShdw blurRad="38100" dist="38100" dir="2700000" algn="tl">
                    <a:srgbClr val="C0C0C0"/>
                  </a:outerShdw>
                </a:effectLst>
                <a:latin typeface="Garamond" pitchFamily="18" charset="0"/>
              </a:rPr>
              <a:t>Natural Hazards Affecting  Bangladesh</a:t>
            </a:r>
          </a:p>
        </p:txBody>
      </p:sp>
      <p:sp>
        <p:nvSpPr>
          <p:cNvPr id="14339" name="Content Placeholder 3">
            <a:extLst>
              <a:ext uri="{FF2B5EF4-FFF2-40B4-BE49-F238E27FC236}">
                <a16:creationId xmlns:a16="http://schemas.microsoft.com/office/drawing/2014/main" id="{CE156857-B4DA-49CD-A0CE-200603B0F36F}"/>
              </a:ext>
            </a:extLst>
          </p:cNvPr>
          <p:cNvSpPr>
            <a:spLocks noGrp="1"/>
          </p:cNvSpPr>
          <p:nvPr>
            <p:ph sz="half" idx="1"/>
          </p:nvPr>
        </p:nvSpPr>
        <p:spPr>
          <a:xfrm>
            <a:off x="1066800" y="1981200"/>
            <a:ext cx="3810000" cy="4114800"/>
          </a:xfrm>
        </p:spPr>
        <p:txBody>
          <a:bodyPr/>
          <a:lstStyle/>
          <a:p>
            <a:pPr eaLnBrk="1" hangingPunct="1">
              <a:lnSpc>
                <a:spcPct val="110000"/>
              </a:lnSpc>
            </a:pPr>
            <a:r>
              <a:rPr lang="en-US" altLang="en-US" sz="2400" dirty="0">
                <a:latin typeface="Garamond" panose="02020404030301010803" pitchFamily="18" charset="0"/>
              </a:rPr>
              <a:t>Floods  </a:t>
            </a:r>
          </a:p>
          <a:p>
            <a:pPr lvl="1" eaLnBrk="1" hangingPunct="1">
              <a:lnSpc>
                <a:spcPct val="110000"/>
              </a:lnSpc>
            </a:pPr>
            <a:r>
              <a:rPr lang="en-US" altLang="en-US" sz="2400" dirty="0">
                <a:latin typeface="Garamond" panose="02020404030301010803" pitchFamily="18" charset="0"/>
              </a:rPr>
              <a:t>River Water Overflow</a:t>
            </a:r>
          </a:p>
          <a:p>
            <a:pPr lvl="1" eaLnBrk="1" hangingPunct="1">
              <a:lnSpc>
                <a:spcPct val="110000"/>
              </a:lnSpc>
            </a:pPr>
            <a:r>
              <a:rPr lang="en-US" altLang="en-US" sz="2400" dirty="0">
                <a:latin typeface="Garamond" panose="02020404030301010803" pitchFamily="18" charset="0"/>
              </a:rPr>
              <a:t>Rain water  stagnation</a:t>
            </a:r>
          </a:p>
          <a:p>
            <a:pPr eaLnBrk="1" hangingPunct="1">
              <a:lnSpc>
                <a:spcPct val="110000"/>
              </a:lnSpc>
            </a:pPr>
            <a:r>
              <a:rPr lang="en-US" altLang="en-US" sz="2400" dirty="0">
                <a:latin typeface="Garamond" panose="02020404030301010803" pitchFamily="18" charset="0"/>
              </a:rPr>
              <a:t> Earthquakes </a:t>
            </a:r>
          </a:p>
          <a:p>
            <a:pPr eaLnBrk="1" hangingPunct="1">
              <a:lnSpc>
                <a:spcPct val="110000"/>
              </a:lnSpc>
            </a:pPr>
            <a:r>
              <a:rPr lang="en-US" altLang="en-US" sz="2400" dirty="0">
                <a:latin typeface="Garamond" panose="02020404030301010803" pitchFamily="18" charset="0"/>
              </a:rPr>
              <a:t> Thunderstorms </a:t>
            </a:r>
            <a:endParaRPr lang="en-US" altLang="en-US" sz="2000" dirty="0">
              <a:latin typeface="Garamond" panose="02020404030301010803" pitchFamily="18" charset="0"/>
            </a:endParaRPr>
          </a:p>
          <a:p>
            <a:pPr eaLnBrk="1" hangingPunct="1">
              <a:lnSpc>
                <a:spcPct val="110000"/>
              </a:lnSpc>
            </a:pPr>
            <a:r>
              <a:rPr lang="en-US" altLang="en-US" sz="2400" dirty="0">
                <a:latin typeface="Garamond" panose="02020404030301010803" pitchFamily="18" charset="0"/>
              </a:rPr>
              <a:t>Lightning</a:t>
            </a:r>
          </a:p>
          <a:p>
            <a:pPr eaLnBrk="1" hangingPunct="1">
              <a:lnSpc>
                <a:spcPct val="110000"/>
              </a:lnSpc>
            </a:pPr>
            <a:r>
              <a:rPr lang="en-US" altLang="en-US" sz="2400" dirty="0">
                <a:latin typeface="Garamond" panose="02020404030301010803" pitchFamily="18" charset="0"/>
              </a:rPr>
              <a:t>Landslides</a:t>
            </a:r>
          </a:p>
          <a:p>
            <a:pPr eaLnBrk="1" hangingPunct="1">
              <a:lnSpc>
                <a:spcPct val="110000"/>
              </a:lnSpc>
            </a:pPr>
            <a:endParaRPr lang="en-US" altLang="en-US" sz="2200" dirty="0"/>
          </a:p>
          <a:p>
            <a:pPr eaLnBrk="1" hangingPunct="1"/>
            <a:endParaRPr lang="en-US" altLang="en-US" dirty="0"/>
          </a:p>
        </p:txBody>
      </p:sp>
      <p:sp>
        <p:nvSpPr>
          <p:cNvPr id="14340" name="Rectangle 3">
            <a:extLst>
              <a:ext uri="{FF2B5EF4-FFF2-40B4-BE49-F238E27FC236}">
                <a16:creationId xmlns:a16="http://schemas.microsoft.com/office/drawing/2014/main" id="{507D9549-2955-4631-BE22-45836BE07D3B}"/>
              </a:ext>
            </a:extLst>
          </p:cNvPr>
          <p:cNvSpPr>
            <a:spLocks noGrp="1" noChangeArrowheads="1"/>
          </p:cNvSpPr>
          <p:nvPr>
            <p:ph type="body" sz="half" idx="2"/>
          </p:nvPr>
        </p:nvSpPr>
        <p:spPr>
          <a:xfrm>
            <a:off x="4953000" y="1181100"/>
            <a:ext cx="3810000" cy="4114800"/>
          </a:xfrm>
        </p:spPr>
        <p:txBody>
          <a:bodyPr>
            <a:normAutofit lnSpcReduction="10000"/>
          </a:bodyPr>
          <a:lstStyle/>
          <a:p>
            <a:pPr eaLnBrk="1" hangingPunct="1">
              <a:lnSpc>
                <a:spcPct val="110000"/>
              </a:lnSpc>
              <a:buFont typeface="Wingdings" panose="05000000000000000000" pitchFamily="2" charset="2"/>
              <a:buNone/>
            </a:pPr>
            <a:endParaRPr lang="en-US" altLang="en-US" sz="2200" dirty="0"/>
          </a:p>
          <a:p>
            <a:pPr eaLnBrk="1" hangingPunct="1">
              <a:lnSpc>
                <a:spcPct val="110000"/>
              </a:lnSpc>
            </a:pPr>
            <a:r>
              <a:rPr lang="en-US" altLang="en-US" sz="2400" dirty="0">
                <a:latin typeface="Garamond" panose="02020404030301010803" pitchFamily="18" charset="0"/>
              </a:rPr>
              <a:t>Cyclones and</a:t>
            </a:r>
          </a:p>
          <a:p>
            <a:pPr eaLnBrk="1" hangingPunct="1">
              <a:lnSpc>
                <a:spcPct val="110000"/>
              </a:lnSpc>
              <a:buFont typeface="Wingdings" panose="05000000000000000000" pitchFamily="2" charset="2"/>
              <a:buNone/>
            </a:pPr>
            <a:r>
              <a:rPr lang="en-US" altLang="en-US" sz="2400" dirty="0">
                <a:latin typeface="Garamond" panose="02020404030301010803" pitchFamily="18" charset="0"/>
              </a:rPr>
              <a:t>     Storm Surge</a:t>
            </a:r>
          </a:p>
          <a:p>
            <a:pPr eaLnBrk="1" hangingPunct="1">
              <a:lnSpc>
                <a:spcPct val="110000"/>
              </a:lnSpc>
            </a:pPr>
            <a:r>
              <a:rPr lang="en-US" altLang="en-US" sz="2400" dirty="0">
                <a:latin typeface="Garamond" panose="02020404030301010803" pitchFamily="18" charset="0"/>
              </a:rPr>
              <a:t> Tsunami</a:t>
            </a:r>
          </a:p>
          <a:p>
            <a:pPr eaLnBrk="1" hangingPunct="1">
              <a:lnSpc>
                <a:spcPct val="110000"/>
              </a:lnSpc>
            </a:pPr>
            <a:r>
              <a:rPr lang="en-US" altLang="en-US" sz="2400" dirty="0">
                <a:latin typeface="Garamond" panose="02020404030301010803" pitchFamily="18" charset="0"/>
              </a:rPr>
              <a:t> River Bank Erosion </a:t>
            </a:r>
          </a:p>
          <a:p>
            <a:pPr eaLnBrk="1" hangingPunct="1">
              <a:lnSpc>
                <a:spcPct val="110000"/>
              </a:lnSpc>
            </a:pPr>
            <a:r>
              <a:rPr lang="en-US" altLang="en-US" sz="2400" dirty="0">
                <a:latin typeface="Garamond" panose="02020404030301010803" pitchFamily="18" charset="0"/>
              </a:rPr>
              <a:t> Arsenic Contamination</a:t>
            </a:r>
          </a:p>
          <a:p>
            <a:pPr eaLnBrk="1" hangingPunct="1">
              <a:lnSpc>
                <a:spcPct val="110000"/>
              </a:lnSpc>
            </a:pPr>
            <a:r>
              <a:rPr lang="en-US" altLang="en-US" sz="2400" dirty="0">
                <a:latin typeface="Garamond" panose="02020404030301010803" pitchFamily="18" charset="0"/>
              </a:rPr>
              <a:t>Salinity Intrusion</a:t>
            </a:r>
          </a:p>
          <a:p>
            <a:pPr eaLnBrk="1" hangingPunct="1">
              <a:lnSpc>
                <a:spcPct val="110000"/>
              </a:lnSpc>
            </a:pPr>
            <a:r>
              <a:rPr lang="en-US" altLang="en-US" sz="2400" dirty="0">
                <a:latin typeface="Garamond" panose="02020404030301010803" pitchFamily="18" charset="0"/>
              </a:rPr>
              <a:t>Drought</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5634"/>
                                        </p:tgtEl>
                                        <p:attrNameLst>
                                          <p:attrName>style.visibility</p:attrName>
                                        </p:attrNameLst>
                                      </p:cBhvr>
                                      <p:to>
                                        <p:strVal val="visible"/>
                                      </p:to>
                                    </p:set>
                                    <p:animEffect transition="in" filter="barn(inVertical)">
                                      <p:cBhvr>
                                        <p:cTn id="7" dur="500"/>
                                        <p:tgtEl>
                                          <p:spTgt spid="32563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4339">
                                            <p:txEl>
                                              <p:pRg st="0" end="0"/>
                                            </p:txEl>
                                          </p:spTgt>
                                        </p:tgtEl>
                                        <p:attrNameLst>
                                          <p:attrName>style.visibility</p:attrName>
                                        </p:attrNameLst>
                                      </p:cBhvr>
                                      <p:to>
                                        <p:strVal val="visible"/>
                                      </p:to>
                                    </p:set>
                                    <p:animEffect transition="in" filter="fade">
                                      <p:cBhvr>
                                        <p:cTn id="12" dur="1000"/>
                                        <p:tgtEl>
                                          <p:spTgt spid="14339">
                                            <p:txEl>
                                              <p:pRg st="0" end="0"/>
                                            </p:txEl>
                                          </p:spTgt>
                                        </p:tgtEl>
                                      </p:cBhvr>
                                    </p:animEffect>
                                    <p:anim calcmode="lin" valueType="num">
                                      <p:cBhvr>
                                        <p:cTn id="13" dur="10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4339">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339">
                                            <p:txEl>
                                              <p:pRg st="1" end="1"/>
                                            </p:txEl>
                                          </p:spTgt>
                                        </p:tgtEl>
                                        <p:attrNameLst>
                                          <p:attrName>style.visibility</p:attrName>
                                        </p:attrNameLst>
                                      </p:cBhvr>
                                      <p:to>
                                        <p:strVal val="visible"/>
                                      </p:to>
                                    </p:set>
                                    <p:animEffect transition="in" filter="fade">
                                      <p:cBhvr>
                                        <p:cTn id="17" dur="1000"/>
                                        <p:tgtEl>
                                          <p:spTgt spid="14339">
                                            <p:txEl>
                                              <p:pRg st="1" end="1"/>
                                            </p:txEl>
                                          </p:spTgt>
                                        </p:tgtEl>
                                      </p:cBhvr>
                                    </p:animEffect>
                                    <p:anim calcmode="lin" valueType="num">
                                      <p:cBhvr>
                                        <p:cTn id="18" dur="1000" fill="hold"/>
                                        <p:tgtEl>
                                          <p:spTgt spid="14339">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14339">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339">
                                            <p:txEl>
                                              <p:pRg st="2" end="2"/>
                                            </p:txEl>
                                          </p:spTgt>
                                        </p:tgtEl>
                                        <p:attrNameLst>
                                          <p:attrName>style.visibility</p:attrName>
                                        </p:attrNameLst>
                                      </p:cBhvr>
                                      <p:to>
                                        <p:strVal val="visible"/>
                                      </p:to>
                                    </p:set>
                                    <p:animEffect transition="in" filter="fade">
                                      <p:cBhvr>
                                        <p:cTn id="22" dur="1000"/>
                                        <p:tgtEl>
                                          <p:spTgt spid="14339">
                                            <p:txEl>
                                              <p:pRg st="2" end="2"/>
                                            </p:txEl>
                                          </p:spTgt>
                                        </p:tgtEl>
                                      </p:cBhvr>
                                    </p:animEffect>
                                    <p:anim calcmode="lin" valueType="num">
                                      <p:cBhvr>
                                        <p:cTn id="23" dur="1000" fill="hold"/>
                                        <p:tgtEl>
                                          <p:spTgt spid="14339">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143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4339">
                                            <p:txEl>
                                              <p:pRg st="3" end="3"/>
                                            </p:txEl>
                                          </p:spTgt>
                                        </p:tgtEl>
                                        <p:attrNameLst>
                                          <p:attrName>style.visibility</p:attrName>
                                        </p:attrNameLst>
                                      </p:cBhvr>
                                      <p:to>
                                        <p:strVal val="visible"/>
                                      </p:to>
                                    </p:set>
                                    <p:animEffect transition="in" filter="fade">
                                      <p:cBhvr>
                                        <p:cTn id="29" dur="1000"/>
                                        <p:tgtEl>
                                          <p:spTgt spid="14339">
                                            <p:txEl>
                                              <p:pRg st="3" end="3"/>
                                            </p:txEl>
                                          </p:spTgt>
                                        </p:tgtEl>
                                      </p:cBhvr>
                                    </p:animEffect>
                                    <p:anim calcmode="lin" valueType="num">
                                      <p:cBhvr>
                                        <p:cTn id="30" dur="1000" fill="hold"/>
                                        <p:tgtEl>
                                          <p:spTgt spid="14339">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143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4339">
                                            <p:txEl>
                                              <p:pRg st="4" end="4"/>
                                            </p:txEl>
                                          </p:spTgt>
                                        </p:tgtEl>
                                        <p:attrNameLst>
                                          <p:attrName>style.visibility</p:attrName>
                                        </p:attrNameLst>
                                      </p:cBhvr>
                                      <p:to>
                                        <p:strVal val="visible"/>
                                      </p:to>
                                    </p:set>
                                    <p:animEffect transition="in" filter="fade">
                                      <p:cBhvr>
                                        <p:cTn id="36" dur="1000"/>
                                        <p:tgtEl>
                                          <p:spTgt spid="14339">
                                            <p:txEl>
                                              <p:pRg st="4" end="4"/>
                                            </p:txEl>
                                          </p:spTgt>
                                        </p:tgtEl>
                                      </p:cBhvr>
                                    </p:animEffect>
                                    <p:anim calcmode="lin" valueType="num">
                                      <p:cBhvr>
                                        <p:cTn id="37" dur="1000" fill="hold"/>
                                        <p:tgtEl>
                                          <p:spTgt spid="14339">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1433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4339">
                                            <p:txEl>
                                              <p:pRg st="5" end="5"/>
                                            </p:txEl>
                                          </p:spTgt>
                                        </p:tgtEl>
                                        <p:attrNameLst>
                                          <p:attrName>style.visibility</p:attrName>
                                        </p:attrNameLst>
                                      </p:cBhvr>
                                      <p:to>
                                        <p:strVal val="visible"/>
                                      </p:to>
                                    </p:set>
                                    <p:animEffect transition="in" filter="fade">
                                      <p:cBhvr>
                                        <p:cTn id="43" dur="1000"/>
                                        <p:tgtEl>
                                          <p:spTgt spid="14339">
                                            <p:txEl>
                                              <p:pRg st="5" end="5"/>
                                            </p:txEl>
                                          </p:spTgt>
                                        </p:tgtEl>
                                      </p:cBhvr>
                                    </p:animEffect>
                                    <p:anim calcmode="lin" valueType="num">
                                      <p:cBhvr>
                                        <p:cTn id="44" dur="1000" fill="hold"/>
                                        <p:tgtEl>
                                          <p:spTgt spid="14339">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1433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4339">
                                            <p:txEl>
                                              <p:pRg st="6" end="6"/>
                                            </p:txEl>
                                          </p:spTgt>
                                        </p:tgtEl>
                                        <p:attrNameLst>
                                          <p:attrName>style.visibility</p:attrName>
                                        </p:attrNameLst>
                                      </p:cBhvr>
                                      <p:to>
                                        <p:strVal val="visible"/>
                                      </p:to>
                                    </p:set>
                                    <p:animEffect transition="in" filter="fade">
                                      <p:cBhvr>
                                        <p:cTn id="50" dur="1000"/>
                                        <p:tgtEl>
                                          <p:spTgt spid="14339">
                                            <p:txEl>
                                              <p:pRg st="6" end="6"/>
                                            </p:txEl>
                                          </p:spTgt>
                                        </p:tgtEl>
                                      </p:cBhvr>
                                    </p:animEffect>
                                    <p:anim calcmode="lin" valueType="num">
                                      <p:cBhvr>
                                        <p:cTn id="51" dur="1000" fill="hold"/>
                                        <p:tgtEl>
                                          <p:spTgt spid="14339">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1433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4340">
                                            <p:txEl>
                                              <p:pRg st="1" end="1"/>
                                            </p:txEl>
                                          </p:spTgt>
                                        </p:tgtEl>
                                        <p:attrNameLst>
                                          <p:attrName>style.visibility</p:attrName>
                                        </p:attrNameLst>
                                      </p:cBhvr>
                                      <p:to>
                                        <p:strVal val="visible"/>
                                      </p:to>
                                    </p:set>
                                    <p:animEffect transition="in" filter="fade">
                                      <p:cBhvr>
                                        <p:cTn id="57" dur="1000"/>
                                        <p:tgtEl>
                                          <p:spTgt spid="14340">
                                            <p:txEl>
                                              <p:pRg st="1" end="1"/>
                                            </p:txEl>
                                          </p:spTgt>
                                        </p:tgtEl>
                                      </p:cBhvr>
                                    </p:animEffect>
                                    <p:anim calcmode="lin" valueType="num">
                                      <p:cBhvr>
                                        <p:cTn id="58" dur="1000" fill="hold"/>
                                        <p:tgtEl>
                                          <p:spTgt spid="14340">
                                            <p:txEl>
                                              <p:pRg st="1" end="1"/>
                                            </p:txEl>
                                          </p:spTgt>
                                        </p:tgtEl>
                                        <p:attrNameLst>
                                          <p:attrName>ppt_x</p:attrName>
                                        </p:attrNameLst>
                                      </p:cBhvr>
                                      <p:tavLst>
                                        <p:tav tm="0">
                                          <p:val>
                                            <p:strVal val="#ppt_x"/>
                                          </p:val>
                                        </p:tav>
                                        <p:tav tm="100000">
                                          <p:val>
                                            <p:strVal val="#ppt_x"/>
                                          </p:val>
                                        </p:tav>
                                      </p:tavLst>
                                    </p:anim>
                                    <p:anim calcmode="lin" valueType="num">
                                      <p:cBhvr>
                                        <p:cTn id="59" dur="1000" fill="hold"/>
                                        <p:tgtEl>
                                          <p:spTgt spid="1434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4340">
                                            <p:txEl>
                                              <p:pRg st="2" end="2"/>
                                            </p:txEl>
                                          </p:spTgt>
                                        </p:tgtEl>
                                        <p:attrNameLst>
                                          <p:attrName>style.visibility</p:attrName>
                                        </p:attrNameLst>
                                      </p:cBhvr>
                                      <p:to>
                                        <p:strVal val="visible"/>
                                      </p:to>
                                    </p:set>
                                    <p:animEffect transition="in" filter="fade">
                                      <p:cBhvr>
                                        <p:cTn id="64" dur="1000"/>
                                        <p:tgtEl>
                                          <p:spTgt spid="14340">
                                            <p:txEl>
                                              <p:pRg st="2" end="2"/>
                                            </p:txEl>
                                          </p:spTgt>
                                        </p:tgtEl>
                                      </p:cBhvr>
                                    </p:animEffect>
                                    <p:anim calcmode="lin" valueType="num">
                                      <p:cBhvr>
                                        <p:cTn id="65" dur="1000" fill="hold"/>
                                        <p:tgtEl>
                                          <p:spTgt spid="14340">
                                            <p:txEl>
                                              <p:pRg st="2" end="2"/>
                                            </p:txEl>
                                          </p:spTgt>
                                        </p:tgtEl>
                                        <p:attrNameLst>
                                          <p:attrName>ppt_x</p:attrName>
                                        </p:attrNameLst>
                                      </p:cBhvr>
                                      <p:tavLst>
                                        <p:tav tm="0">
                                          <p:val>
                                            <p:strVal val="#ppt_x"/>
                                          </p:val>
                                        </p:tav>
                                        <p:tav tm="100000">
                                          <p:val>
                                            <p:strVal val="#ppt_x"/>
                                          </p:val>
                                        </p:tav>
                                      </p:tavLst>
                                    </p:anim>
                                    <p:anim calcmode="lin" valueType="num">
                                      <p:cBhvr>
                                        <p:cTn id="66" dur="1000" fill="hold"/>
                                        <p:tgtEl>
                                          <p:spTgt spid="1434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4340">
                                            <p:txEl>
                                              <p:pRg st="3" end="3"/>
                                            </p:txEl>
                                          </p:spTgt>
                                        </p:tgtEl>
                                        <p:attrNameLst>
                                          <p:attrName>style.visibility</p:attrName>
                                        </p:attrNameLst>
                                      </p:cBhvr>
                                      <p:to>
                                        <p:strVal val="visible"/>
                                      </p:to>
                                    </p:set>
                                    <p:animEffect transition="in" filter="fade">
                                      <p:cBhvr>
                                        <p:cTn id="71" dur="1000"/>
                                        <p:tgtEl>
                                          <p:spTgt spid="14340">
                                            <p:txEl>
                                              <p:pRg st="3" end="3"/>
                                            </p:txEl>
                                          </p:spTgt>
                                        </p:tgtEl>
                                      </p:cBhvr>
                                    </p:animEffect>
                                    <p:anim calcmode="lin" valueType="num">
                                      <p:cBhvr>
                                        <p:cTn id="72" dur="1000" fill="hold"/>
                                        <p:tgtEl>
                                          <p:spTgt spid="14340">
                                            <p:txEl>
                                              <p:pRg st="3" end="3"/>
                                            </p:txEl>
                                          </p:spTgt>
                                        </p:tgtEl>
                                        <p:attrNameLst>
                                          <p:attrName>ppt_x</p:attrName>
                                        </p:attrNameLst>
                                      </p:cBhvr>
                                      <p:tavLst>
                                        <p:tav tm="0">
                                          <p:val>
                                            <p:strVal val="#ppt_x"/>
                                          </p:val>
                                        </p:tav>
                                        <p:tav tm="100000">
                                          <p:val>
                                            <p:strVal val="#ppt_x"/>
                                          </p:val>
                                        </p:tav>
                                      </p:tavLst>
                                    </p:anim>
                                    <p:anim calcmode="lin" valueType="num">
                                      <p:cBhvr>
                                        <p:cTn id="73" dur="1000" fill="hold"/>
                                        <p:tgtEl>
                                          <p:spTgt spid="1434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4340">
                                            <p:txEl>
                                              <p:pRg st="4" end="4"/>
                                            </p:txEl>
                                          </p:spTgt>
                                        </p:tgtEl>
                                        <p:attrNameLst>
                                          <p:attrName>style.visibility</p:attrName>
                                        </p:attrNameLst>
                                      </p:cBhvr>
                                      <p:to>
                                        <p:strVal val="visible"/>
                                      </p:to>
                                    </p:set>
                                    <p:animEffect transition="in" filter="fade">
                                      <p:cBhvr>
                                        <p:cTn id="78" dur="1000"/>
                                        <p:tgtEl>
                                          <p:spTgt spid="14340">
                                            <p:txEl>
                                              <p:pRg st="4" end="4"/>
                                            </p:txEl>
                                          </p:spTgt>
                                        </p:tgtEl>
                                      </p:cBhvr>
                                    </p:animEffect>
                                    <p:anim calcmode="lin" valueType="num">
                                      <p:cBhvr>
                                        <p:cTn id="79" dur="1000" fill="hold"/>
                                        <p:tgtEl>
                                          <p:spTgt spid="14340">
                                            <p:txEl>
                                              <p:pRg st="4" end="4"/>
                                            </p:txEl>
                                          </p:spTgt>
                                        </p:tgtEl>
                                        <p:attrNameLst>
                                          <p:attrName>ppt_x</p:attrName>
                                        </p:attrNameLst>
                                      </p:cBhvr>
                                      <p:tavLst>
                                        <p:tav tm="0">
                                          <p:val>
                                            <p:strVal val="#ppt_x"/>
                                          </p:val>
                                        </p:tav>
                                        <p:tav tm="100000">
                                          <p:val>
                                            <p:strVal val="#ppt_x"/>
                                          </p:val>
                                        </p:tav>
                                      </p:tavLst>
                                    </p:anim>
                                    <p:anim calcmode="lin" valueType="num">
                                      <p:cBhvr>
                                        <p:cTn id="80" dur="1000" fill="hold"/>
                                        <p:tgtEl>
                                          <p:spTgt spid="1434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14340">
                                            <p:txEl>
                                              <p:pRg st="5" end="5"/>
                                            </p:txEl>
                                          </p:spTgt>
                                        </p:tgtEl>
                                        <p:attrNameLst>
                                          <p:attrName>style.visibility</p:attrName>
                                        </p:attrNameLst>
                                      </p:cBhvr>
                                      <p:to>
                                        <p:strVal val="visible"/>
                                      </p:to>
                                    </p:set>
                                    <p:animEffect transition="in" filter="fade">
                                      <p:cBhvr>
                                        <p:cTn id="85" dur="1000"/>
                                        <p:tgtEl>
                                          <p:spTgt spid="14340">
                                            <p:txEl>
                                              <p:pRg st="5" end="5"/>
                                            </p:txEl>
                                          </p:spTgt>
                                        </p:tgtEl>
                                      </p:cBhvr>
                                    </p:animEffect>
                                    <p:anim calcmode="lin" valueType="num">
                                      <p:cBhvr>
                                        <p:cTn id="86" dur="1000" fill="hold"/>
                                        <p:tgtEl>
                                          <p:spTgt spid="14340">
                                            <p:txEl>
                                              <p:pRg st="5" end="5"/>
                                            </p:txEl>
                                          </p:spTgt>
                                        </p:tgtEl>
                                        <p:attrNameLst>
                                          <p:attrName>ppt_x</p:attrName>
                                        </p:attrNameLst>
                                      </p:cBhvr>
                                      <p:tavLst>
                                        <p:tav tm="0">
                                          <p:val>
                                            <p:strVal val="#ppt_x"/>
                                          </p:val>
                                        </p:tav>
                                        <p:tav tm="100000">
                                          <p:val>
                                            <p:strVal val="#ppt_x"/>
                                          </p:val>
                                        </p:tav>
                                      </p:tavLst>
                                    </p:anim>
                                    <p:anim calcmode="lin" valueType="num">
                                      <p:cBhvr>
                                        <p:cTn id="87" dur="1000" fill="hold"/>
                                        <p:tgtEl>
                                          <p:spTgt spid="1434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14340">
                                            <p:txEl>
                                              <p:pRg st="6" end="6"/>
                                            </p:txEl>
                                          </p:spTgt>
                                        </p:tgtEl>
                                        <p:attrNameLst>
                                          <p:attrName>style.visibility</p:attrName>
                                        </p:attrNameLst>
                                      </p:cBhvr>
                                      <p:to>
                                        <p:strVal val="visible"/>
                                      </p:to>
                                    </p:set>
                                    <p:animEffect transition="in" filter="fade">
                                      <p:cBhvr>
                                        <p:cTn id="92" dur="1000"/>
                                        <p:tgtEl>
                                          <p:spTgt spid="14340">
                                            <p:txEl>
                                              <p:pRg st="6" end="6"/>
                                            </p:txEl>
                                          </p:spTgt>
                                        </p:tgtEl>
                                      </p:cBhvr>
                                    </p:animEffect>
                                    <p:anim calcmode="lin" valueType="num">
                                      <p:cBhvr>
                                        <p:cTn id="93" dur="1000" fill="hold"/>
                                        <p:tgtEl>
                                          <p:spTgt spid="14340">
                                            <p:txEl>
                                              <p:pRg st="6" end="6"/>
                                            </p:txEl>
                                          </p:spTgt>
                                        </p:tgtEl>
                                        <p:attrNameLst>
                                          <p:attrName>ppt_x</p:attrName>
                                        </p:attrNameLst>
                                      </p:cBhvr>
                                      <p:tavLst>
                                        <p:tav tm="0">
                                          <p:val>
                                            <p:strVal val="#ppt_x"/>
                                          </p:val>
                                        </p:tav>
                                        <p:tav tm="100000">
                                          <p:val>
                                            <p:strVal val="#ppt_x"/>
                                          </p:val>
                                        </p:tav>
                                      </p:tavLst>
                                    </p:anim>
                                    <p:anim calcmode="lin" valueType="num">
                                      <p:cBhvr>
                                        <p:cTn id="94" dur="1000" fill="hold"/>
                                        <p:tgtEl>
                                          <p:spTgt spid="1434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14340">
                                            <p:txEl>
                                              <p:pRg st="7" end="7"/>
                                            </p:txEl>
                                          </p:spTgt>
                                        </p:tgtEl>
                                        <p:attrNameLst>
                                          <p:attrName>style.visibility</p:attrName>
                                        </p:attrNameLst>
                                      </p:cBhvr>
                                      <p:to>
                                        <p:strVal val="visible"/>
                                      </p:to>
                                    </p:set>
                                    <p:animEffect transition="in" filter="fade">
                                      <p:cBhvr>
                                        <p:cTn id="99" dur="1000"/>
                                        <p:tgtEl>
                                          <p:spTgt spid="14340">
                                            <p:txEl>
                                              <p:pRg st="7" end="7"/>
                                            </p:txEl>
                                          </p:spTgt>
                                        </p:tgtEl>
                                      </p:cBhvr>
                                    </p:animEffect>
                                    <p:anim calcmode="lin" valueType="num">
                                      <p:cBhvr>
                                        <p:cTn id="100" dur="1000" fill="hold"/>
                                        <p:tgtEl>
                                          <p:spTgt spid="14340">
                                            <p:txEl>
                                              <p:pRg st="7" end="7"/>
                                            </p:txEl>
                                          </p:spTgt>
                                        </p:tgtEl>
                                        <p:attrNameLst>
                                          <p:attrName>ppt_x</p:attrName>
                                        </p:attrNameLst>
                                      </p:cBhvr>
                                      <p:tavLst>
                                        <p:tav tm="0">
                                          <p:val>
                                            <p:strVal val="#ppt_x"/>
                                          </p:val>
                                        </p:tav>
                                        <p:tav tm="100000">
                                          <p:val>
                                            <p:strVal val="#ppt_x"/>
                                          </p:val>
                                        </p:tav>
                                      </p:tavLst>
                                    </p:anim>
                                    <p:anim calcmode="lin" valueType="num">
                                      <p:cBhvr>
                                        <p:cTn id="101" dur="1000" fill="hold"/>
                                        <p:tgtEl>
                                          <p:spTgt spid="1434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4" grpId="0"/>
      <p:bldP spid="14339" grpId="0" build="p"/>
      <p:bldP spid="1434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F26018D-9079-4E2E-9FA1-72B792CF1D88}"/>
              </a:ext>
            </a:extLst>
          </p:cNvPr>
          <p:cNvSpPr>
            <a:spLocks noGrp="1" noChangeArrowheads="1"/>
          </p:cNvSpPr>
          <p:nvPr>
            <p:ph type="title"/>
          </p:nvPr>
        </p:nvSpPr>
        <p:spPr>
          <a:xfrm>
            <a:off x="1066800" y="381000"/>
            <a:ext cx="7620000" cy="1066800"/>
          </a:xfrm>
        </p:spPr>
        <p:txBody>
          <a:bodyPr vert="horz" wrap="square" lIns="91440" tIns="45720" rIns="91440" bIns="45720" numCol="1" anchorCtr="0" compatLnSpc="1">
            <a:prstTxWarp prst="textNoShape">
              <a:avLst/>
            </a:prstTxWarp>
          </a:bodyPr>
          <a:lstStyle/>
          <a:p>
            <a:pPr eaLnBrk="1" hangingPunct="1">
              <a:defRPr/>
            </a:pPr>
            <a:r>
              <a:rPr lang="en-US" sz="2800" b="1" dirty="0">
                <a:solidFill>
                  <a:schemeClr val="tx1"/>
                </a:solidFill>
                <a:effectLst>
                  <a:outerShdw blurRad="38100" dist="38100" dir="2700000" algn="tl">
                    <a:srgbClr val="C0C0C0"/>
                  </a:outerShdw>
                </a:effectLst>
                <a:latin typeface="Garamond" pitchFamily="18" charset="0"/>
              </a:rPr>
              <a:t>Cyclone</a:t>
            </a:r>
          </a:p>
        </p:txBody>
      </p:sp>
      <p:sp>
        <p:nvSpPr>
          <p:cNvPr id="15363" name="Rectangle 3">
            <a:extLst>
              <a:ext uri="{FF2B5EF4-FFF2-40B4-BE49-F238E27FC236}">
                <a16:creationId xmlns:a16="http://schemas.microsoft.com/office/drawing/2014/main" id="{EE32EBAE-7470-44C1-B75F-2E981EEDE76C}"/>
              </a:ext>
            </a:extLst>
          </p:cNvPr>
          <p:cNvSpPr>
            <a:spLocks noGrp="1" noChangeArrowheads="1"/>
          </p:cNvSpPr>
          <p:nvPr>
            <p:ph idx="1"/>
          </p:nvPr>
        </p:nvSpPr>
        <p:spPr>
          <a:xfrm>
            <a:off x="762000" y="1524000"/>
            <a:ext cx="7924800" cy="4572000"/>
          </a:xfrm>
        </p:spPr>
        <p:txBody>
          <a:bodyPr/>
          <a:lstStyle/>
          <a:p>
            <a:pPr algn="just" eaLnBrk="1" hangingPunct="1">
              <a:buFont typeface="Wingdings" panose="05000000000000000000" pitchFamily="2" charset="2"/>
              <a:buNone/>
            </a:pPr>
            <a:r>
              <a:rPr lang="en-US" altLang="en-US" dirty="0">
                <a:latin typeface="Garamond" panose="02020404030301010803" pitchFamily="18" charset="0"/>
              </a:rPr>
              <a:t>   </a:t>
            </a:r>
            <a:r>
              <a:rPr lang="en-US" altLang="en-US" sz="2800" dirty="0">
                <a:latin typeface="Garamond" panose="02020404030301010803" pitchFamily="18" charset="0"/>
              </a:rPr>
              <a:t>is an area of closed, circular fluid motion rotating in the same direction as the Earth.</a:t>
            </a:r>
            <a:r>
              <a:rPr lang="en-US" altLang="en-US" sz="2800" dirty="0"/>
              <a:t> </a:t>
            </a:r>
            <a:r>
              <a:rPr lang="en-US" altLang="en-US" sz="2800" dirty="0">
                <a:latin typeface="Garamond" panose="02020404030301010803" pitchFamily="18" charset="0"/>
              </a:rPr>
              <a:t>This is usually characterized by inward spiraling winds that rotate counter clockwise in the Northern Hemisphere and clockwise in the Southern Hemisphere of the Earth. Most large-scale cyclonic circulations are centered on areas of low atmospheric pressure.</a:t>
            </a:r>
          </a:p>
          <a:p>
            <a:pPr algn="just" eaLnBrk="1" hangingPunct="1"/>
            <a:r>
              <a:rPr lang="en-US" altLang="en-US" sz="2600" dirty="0">
                <a:latin typeface="Garamond" panose="02020404030301010803" pitchFamily="18" charset="0"/>
              </a:rPr>
              <a:t>The terms </a:t>
            </a:r>
            <a:r>
              <a:rPr lang="en-US" altLang="en-US" sz="2600" b="1" dirty="0">
                <a:latin typeface="Garamond" panose="02020404030301010803" pitchFamily="18" charset="0"/>
              </a:rPr>
              <a:t>"hurricane"</a:t>
            </a:r>
            <a:r>
              <a:rPr lang="en-US" altLang="en-US" sz="2600" dirty="0">
                <a:latin typeface="Garamond" panose="02020404030301010803" pitchFamily="18" charset="0"/>
              </a:rPr>
              <a:t> and </a:t>
            </a:r>
            <a:r>
              <a:rPr lang="en-US" altLang="en-US" sz="2600" b="1" dirty="0">
                <a:latin typeface="Garamond" panose="02020404030301010803" pitchFamily="18" charset="0"/>
              </a:rPr>
              <a:t>"typhoon"</a:t>
            </a:r>
            <a:r>
              <a:rPr lang="en-US" altLang="en-US" sz="2600" dirty="0">
                <a:latin typeface="Garamond" panose="02020404030301010803" pitchFamily="18" charset="0"/>
              </a:rPr>
              <a:t> are regionally specific names for a strong </a:t>
            </a:r>
            <a:r>
              <a:rPr lang="en-US" altLang="en-US" sz="2600" b="1" dirty="0">
                <a:latin typeface="Garamond" panose="02020404030301010803" pitchFamily="18" charset="0"/>
              </a:rPr>
              <a:t>"cyclone"</a:t>
            </a:r>
            <a:r>
              <a:rPr lang="en-US" altLang="en-US" sz="2600" dirty="0">
                <a:latin typeface="Garamond" panose="02020404030301010803" pitchFamily="18" charset="0"/>
              </a:rPr>
              <a:t>.</a:t>
            </a:r>
            <a:endParaRPr lang="en-US" altLang="en-US" sz="26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3730"/>
                                        </p:tgtEl>
                                        <p:attrNameLst>
                                          <p:attrName>style.visibility</p:attrName>
                                        </p:attrNameLst>
                                      </p:cBhvr>
                                      <p:to>
                                        <p:strVal val="visible"/>
                                      </p:to>
                                    </p:set>
                                    <p:animEffect transition="in" filter="barn(inVertical)">
                                      <p:cBhvr>
                                        <p:cTn id="7" dur="500"/>
                                        <p:tgtEl>
                                          <p:spTgt spid="7373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5363">
                                            <p:txEl>
                                              <p:pRg st="0" end="0"/>
                                            </p:txEl>
                                          </p:spTgt>
                                        </p:tgtEl>
                                        <p:attrNameLst>
                                          <p:attrName>style.visibility</p:attrName>
                                        </p:attrNameLst>
                                      </p:cBhvr>
                                      <p:to>
                                        <p:strVal val="visible"/>
                                      </p:to>
                                    </p:set>
                                    <p:animEffect transition="in" filter="fade">
                                      <p:cBhvr>
                                        <p:cTn id="12" dur="1000"/>
                                        <p:tgtEl>
                                          <p:spTgt spid="15363">
                                            <p:txEl>
                                              <p:pRg st="0" end="0"/>
                                            </p:txEl>
                                          </p:spTgt>
                                        </p:tgtEl>
                                      </p:cBhvr>
                                    </p:animEffect>
                                    <p:anim calcmode="lin" valueType="num">
                                      <p:cBhvr>
                                        <p:cTn id="13" dur="10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53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5363">
                                            <p:txEl>
                                              <p:pRg st="1" end="1"/>
                                            </p:txEl>
                                          </p:spTgt>
                                        </p:tgtEl>
                                        <p:attrNameLst>
                                          <p:attrName>style.visibility</p:attrName>
                                        </p:attrNameLst>
                                      </p:cBhvr>
                                      <p:to>
                                        <p:strVal val="visible"/>
                                      </p:to>
                                    </p:set>
                                    <p:animEffect transition="in" filter="fade">
                                      <p:cBhvr>
                                        <p:cTn id="19" dur="1000"/>
                                        <p:tgtEl>
                                          <p:spTgt spid="15363">
                                            <p:txEl>
                                              <p:pRg st="1" end="1"/>
                                            </p:txEl>
                                          </p:spTgt>
                                        </p:tgtEl>
                                      </p:cBhvr>
                                    </p:animEffect>
                                    <p:anim calcmode="lin" valueType="num">
                                      <p:cBhvr>
                                        <p:cTn id="20" dur="10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536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p:bldP spid="1536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5">
            <a:extLst>
              <a:ext uri="{FF2B5EF4-FFF2-40B4-BE49-F238E27FC236}">
                <a16:creationId xmlns:a16="http://schemas.microsoft.com/office/drawing/2014/main" id="{02789659-63B5-4705-9D5D-39BA855BEEF0}"/>
              </a:ext>
            </a:extLst>
          </p:cNvPr>
          <p:cNvSpPr>
            <a:spLocks noGrp="1" noChangeArrowheads="1"/>
          </p:cNvSpPr>
          <p:nvPr>
            <p:ph type="title"/>
          </p:nvPr>
        </p:nvSpPr>
        <p:spPr>
          <a:xfrm>
            <a:off x="990600" y="381000"/>
            <a:ext cx="7696200" cy="762000"/>
          </a:xfrm>
        </p:spPr>
        <p:txBody>
          <a:bodyPr vert="horz" wrap="square" lIns="91440" tIns="45720" rIns="91440" bIns="45720" numCol="1" anchorCtr="0" compatLnSpc="1">
            <a:prstTxWarp prst="textNoShape">
              <a:avLst/>
            </a:prstTxWarp>
          </a:bodyPr>
          <a:lstStyle/>
          <a:p>
            <a:pPr eaLnBrk="1" hangingPunct="1">
              <a:defRPr/>
            </a:pPr>
            <a:r>
              <a:rPr lang="en-US" sz="2800" b="1" dirty="0">
                <a:solidFill>
                  <a:schemeClr val="tx1"/>
                </a:solidFill>
                <a:effectLst>
                  <a:outerShdw blurRad="38100" dist="38100" dir="2700000" algn="tl">
                    <a:srgbClr val="C0C0C0"/>
                  </a:outerShdw>
                </a:effectLst>
                <a:latin typeface="Garamond" pitchFamily="18" charset="0"/>
              </a:rPr>
              <a:t>Different names of cyclone over the world</a:t>
            </a:r>
          </a:p>
        </p:txBody>
      </p:sp>
      <p:sp>
        <p:nvSpPr>
          <p:cNvPr id="17411" name="Rectangle 3">
            <a:extLst>
              <a:ext uri="{FF2B5EF4-FFF2-40B4-BE49-F238E27FC236}">
                <a16:creationId xmlns:a16="http://schemas.microsoft.com/office/drawing/2014/main" id="{16375650-2DCC-4C65-826A-60BEB05AB7E6}"/>
              </a:ext>
            </a:extLst>
          </p:cNvPr>
          <p:cNvSpPr>
            <a:spLocks noGrp="1" noChangeArrowheads="1"/>
          </p:cNvSpPr>
          <p:nvPr>
            <p:ph idx="1"/>
          </p:nvPr>
        </p:nvSpPr>
        <p:spPr>
          <a:xfrm>
            <a:off x="609600" y="1447800"/>
            <a:ext cx="8077200" cy="4648200"/>
          </a:xfrm>
        </p:spPr>
        <p:txBody>
          <a:bodyPr/>
          <a:lstStyle/>
          <a:p>
            <a:pPr algn="just" eaLnBrk="1" hangingPunct="1">
              <a:lnSpc>
                <a:spcPct val="90000"/>
              </a:lnSpc>
            </a:pPr>
            <a:r>
              <a:rPr lang="en-US" altLang="en-US" sz="2800" b="1">
                <a:latin typeface="Garamond" panose="02020404030301010803" pitchFamily="18" charset="0"/>
              </a:rPr>
              <a:t>"</a:t>
            </a:r>
            <a:r>
              <a:rPr lang="en-US" altLang="en-US" sz="2800" b="1" u="sng">
                <a:latin typeface="Garamond" panose="02020404030301010803" pitchFamily="18" charset="0"/>
              </a:rPr>
              <a:t>hurricane</a:t>
            </a:r>
            <a:r>
              <a:rPr lang="en-US" altLang="en-US" sz="2800" b="1">
                <a:latin typeface="Garamond" panose="02020404030301010803" pitchFamily="18" charset="0"/>
              </a:rPr>
              <a:t>"</a:t>
            </a:r>
            <a:r>
              <a:rPr lang="en-US" altLang="en-US" sz="2800">
                <a:latin typeface="Garamond" panose="02020404030301010803" pitchFamily="18" charset="0"/>
              </a:rPr>
              <a:t> (the North Atlantic Ocean, the Northeast Pacific Ocean east of the dateline, or the South Pacific Ocean) </a:t>
            </a:r>
          </a:p>
          <a:p>
            <a:pPr algn="just" eaLnBrk="1" hangingPunct="1">
              <a:lnSpc>
                <a:spcPct val="90000"/>
              </a:lnSpc>
            </a:pPr>
            <a:r>
              <a:rPr lang="en-US" altLang="en-US" sz="2800" b="1">
                <a:latin typeface="Garamond" panose="02020404030301010803" pitchFamily="18" charset="0"/>
              </a:rPr>
              <a:t>"</a:t>
            </a:r>
            <a:r>
              <a:rPr lang="en-US" altLang="en-US" sz="2800" b="1" u="sng">
                <a:latin typeface="Garamond" panose="02020404030301010803" pitchFamily="18" charset="0"/>
              </a:rPr>
              <a:t>typhoon</a:t>
            </a:r>
            <a:r>
              <a:rPr lang="en-US" altLang="en-US" sz="2800" b="1">
                <a:latin typeface="Garamond" panose="02020404030301010803" pitchFamily="18" charset="0"/>
              </a:rPr>
              <a:t>"</a:t>
            </a:r>
            <a:r>
              <a:rPr lang="en-US" altLang="en-US" sz="2800">
                <a:latin typeface="Garamond" panose="02020404030301010803" pitchFamily="18" charset="0"/>
              </a:rPr>
              <a:t> (the Northwest Pacific Ocean west of the dateline) </a:t>
            </a:r>
          </a:p>
          <a:p>
            <a:pPr algn="just" eaLnBrk="1" hangingPunct="1">
              <a:lnSpc>
                <a:spcPct val="90000"/>
              </a:lnSpc>
            </a:pPr>
            <a:r>
              <a:rPr lang="en-US" altLang="en-US" sz="2800" b="1">
                <a:latin typeface="Garamond" panose="02020404030301010803" pitchFamily="18" charset="0"/>
              </a:rPr>
              <a:t>"</a:t>
            </a:r>
            <a:r>
              <a:rPr lang="en-US" altLang="en-US" sz="2800" b="1" u="sng">
                <a:latin typeface="Garamond" panose="02020404030301010803" pitchFamily="18" charset="0"/>
              </a:rPr>
              <a:t>severe tropical cyclone</a:t>
            </a:r>
            <a:r>
              <a:rPr lang="en-US" altLang="en-US" sz="2800" b="1">
                <a:latin typeface="Garamond" panose="02020404030301010803" pitchFamily="18" charset="0"/>
              </a:rPr>
              <a:t>"</a:t>
            </a:r>
            <a:r>
              <a:rPr lang="en-US" altLang="en-US" sz="2800">
                <a:latin typeface="Garamond" panose="02020404030301010803" pitchFamily="18" charset="0"/>
              </a:rPr>
              <a:t> (the Southwest Pacific Ocean or Southeast Indian Ocean) </a:t>
            </a:r>
          </a:p>
          <a:p>
            <a:pPr algn="just" eaLnBrk="1" hangingPunct="1">
              <a:lnSpc>
                <a:spcPct val="90000"/>
              </a:lnSpc>
            </a:pPr>
            <a:r>
              <a:rPr lang="en-US" altLang="en-US" sz="2800" b="1">
                <a:latin typeface="Garamond" panose="02020404030301010803" pitchFamily="18" charset="0"/>
              </a:rPr>
              <a:t>"</a:t>
            </a:r>
            <a:r>
              <a:rPr lang="en-US" altLang="en-US" sz="2800" b="1" u="sng">
                <a:latin typeface="Garamond" panose="02020404030301010803" pitchFamily="18" charset="0"/>
              </a:rPr>
              <a:t>severe cyclonic storm</a:t>
            </a:r>
            <a:r>
              <a:rPr lang="en-US" altLang="en-US" sz="2800" b="1">
                <a:latin typeface="Garamond" panose="02020404030301010803" pitchFamily="18" charset="0"/>
              </a:rPr>
              <a:t>"</a:t>
            </a:r>
            <a:r>
              <a:rPr lang="en-US" altLang="en-US" sz="2800">
                <a:latin typeface="Garamond" panose="02020404030301010803" pitchFamily="18" charset="0"/>
              </a:rPr>
              <a:t> (the North Indian Ocean) </a:t>
            </a:r>
          </a:p>
          <a:p>
            <a:pPr algn="just" eaLnBrk="1" hangingPunct="1">
              <a:lnSpc>
                <a:spcPct val="90000"/>
              </a:lnSpc>
            </a:pPr>
            <a:r>
              <a:rPr lang="en-US" altLang="en-US" sz="2800" b="1">
                <a:latin typeface="Garamond" panose="02020404030301010803" pitchFamily="18" charset="0"/>
              </a:rPr>
              <a:t>"</a:t>
            </a:r>
            <a:r>
              <a:rPr lang="en-US" altLang="en-US" sz="2800" b="1" u="sng">
                <a:latin typeface="Garamond" panose="02020404030301010803" pitchFamily="18" charset="0"/>
              </a:rPr>
              <a:t>tropical cyclone</a:t>
            </a:r>
            <a:r>
              <a:rPr lang="en-US" altLang="en-US" sz="2800" b="1">
                <a:latin typeface="Garamond" panose="02020404030301010803" pitchFamily="18" charset="0"/>
              </a:rPr>
              <a:t>"</a:t>
            </a:r>
            <a:r>
              <a:rPr lang="en-US" altLang="en-US" sz="2800">
                <a:latin typeface="Garamond" panose="02020404030301010803" pitchFamily="18" charset="0"/>
              </a:rPr>
              <a:t> (the Southwest Indian Ocean) </a:t>
            </a:r>
          </a:p>
          <a:p>
            <a:pPr eaLnBrk="1" hangingPunct="1">
              <a:lnSpc>
                <a:spcPct val="90000"/>
              </a:lnSpc>
              <a:buFont typeface="Wingdings" panose="05000000000000000000" pitchFamily="2" charset="2"/>
              <a:buNone/>
            </a:pPr>
            <a:endParaRPr lang="en-US" altLang="en-US" sz="280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barn(inVertical)">
                                      <p:cBhvr>
                                        <p:cTn id="7" dur="500"/>
                                        <p:tgtEl>
                                          <p:spTgt spid="5837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7411">
                                            <p:txEl>
                                              <p:pRg st="0" end="0"/>
                                            </p:txEl>
                                          </p:spTgt>
                                        </p:tgtEl>
                                        <p:attrNameLst>
                                          <p:attrName>style.visibility</p:attrName>
                                        </p:attrNameLst>
                                      </p:cBhvr>
                                      <p:to>
                                        <p:strVal val="visible"/>
                                      </p:to>
                                    </p:set>
                                    <p:animEffect transition="in" filter="fade">
                                      <p:cBhvr>
                                        <p:cTn id="12" dur="1000"/>
                                        <p:tgtEl>
                                          <p:spTgt spid="17411">
                                            <p:txEl>
                                              <p:pRg st="0" end="0"/>
                                            </p:txEl>
                                          </p:spTgt>
                                        </p:tgtEl>
                                      </p:cBhvr>
                                    </p:animEffect>
                                    <p:anim calcmode="lin" valueType="num">
                                      <p:cBhvr>
                                        <p:cTn id="13" dur="10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74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411">
                                            <p:txEl>
                                              <p:pRg st="1" end="1"/>
                                            </p:txEl>
                                          </p:spTgt>
                                        </p:tgtEl>
                                        <p:attrNameLst>
                                          <p:attrName>style.visibility</p:attrName>
                                        </p:attrNameLst>
                                      </p:cBhvr>
                                      <p:to>
                                        <p:strVal val="visible"/>
                                      </p:to>
                                    </p:set>
                                    <p:animEffect transition="in" filter="fade">
                                      <p:cBhvr>
                                        <p:cTn id="19" dur="1000"/>
                                        <p:tgtEl>
                                          <p:spTgt spid="17411">
                                            <p:txEl>
                                              <p:pRg st="1" end="1"/>
                                            </p:txEl>
                                          </p:spTgt>
                                        </p:tgtEl>
                                      </p:cBhvr>
                                    </p:animEffect>
                                    <p:anim calcmode="lin" valueType="num">
                                      <p:cBhvr>
                                        <p:cTn id="20" dur="10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74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7411">
                                            <p:txEl>
                                              <p:pRg st="2" end="2"/>
                                            </p:txEl>
                                          </p:spTgt>
                                        </p:tgtEl>
                                        <p:attrNameLst>
                                          <p:attrName>style.visibility</p:attrName>
                                        </p:attrNameLst>
                                      </p:cBhvr>
                                      <p:to>
                                        <p:strVal val="visible"/>
                                      </p:to>
                                    </p:set>
                                    <p:animEffect transition="in" filter="fade">
                                      <p:cBhvr>
                                        <p:cTn id="26" dur="1000"/>
                                        <p:tgtEl>
                                          <p:spTgt spid="17411">
                                            <p:txEl>
                                              <p:pRg st="2" end="2"/>
                                            </p:txEl>
                                          </p:spTgt>
                                        </p:tgtEl>
                                      </p:cBhvr>
                                    </p:animEffect>
                                    <p:anim calcmode="lin" valueType="num">
                                      <p:cBhvr>
                                        <p:cTn id="27" dur="10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74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7411">
                                            <p:txEl>
                                              <p:pRg st="3" end="3"/>
                                            </p:txEl>
                                          </p:spTgt>
                                        </p:tgtEl>
                                        <p:attrNameLst>
                                          <p:attrName>style.visibility</p:attrName>
                                        </p:attrNameLst>
                                      </p:cBhvr>
                                      <p:to>
                                        <p:strVal val="visible"/>
                                      </p:to>
                                    </p:set>
                                    <p:animEffect transition="in" filter="fade">
                                      <p:cBhvr>
                                        <p:cTn id="33" dur="1000"/>
                                        <p:tgtEl>
                                          <p:spTgt spid="17411">
                                            <p:txEl>
                                              <p:pRg st="3" end="3"/>
                                            </p:txEl>
                                          </p:spTgt>
                                        </p:tgtEl>
                                      </p:cBhvr>
                                    </p:animEffect>
                                    <p:anim calcmode="lin" valueType="num">
                                      <p:cBhvr>
                                        <p:cTn id="34" dur="10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74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7411">
                                            <p:txEl>
                                              <p:pRg st="4" end="4"/>
                                            </p:txEl>
                                          </p:spTgt>
                                        </p:tgtEl>
                                        <p:attrNameLst>
                                          <p:attrName>style.visibility</p:attrName>
                                        </p:attrNameLst>
                                      </p:cBhvr>
                                      <p:to>
                                        <p:strVal val="visible"/>
                                      </p:to>
                                    </p:set>
                                    <p:animEffect transition="in" filter="fade">
                                      <p:cBhvr>
                                        <p:cTn id="40" dur="1000"/>
                                        <p:tgtEl>
                                          <p:spTgt spid="17411">
                                            <p:txEl>
                                              <p:pRg st="4" end="4"/>
                                            </p:txEl>
                                          </p:spTgt>
                                        </p:tgtEl>
                                      </p:cBhvr>
                                    </p:animEffect>
                                    <p:anim calcmode="lin" valueType="num">
                                      <p:cBhvr>
                                        <p:cTn id="41" dur="10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174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1741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a:extLst>
              <a:ext uri="{FF2B5EF4-FFF2-40B4-BE49-F238E27FC236}">
                <a16:creationId xmlns:a16="http://schemas.microsoft.com/office/drawing/2014/main" id="{1DB4A257-D67C-439F-80EC-96D2B49C184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0" y="1447800"/>
            <a:ext cx="6316579" cy="4572000"/>
          </a:xfrm>
          <a:noFill/>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1C0D5BC-D189-4208-8010-9F1616193250}"/>
              </a:ext>
            </a:extLst>
          </p:cNvPr>
          <p:cNvSpPr>
            <a:spLocks noGrp="1" noChangeArrowheads="1"/>
          </p:cNvSpPr>
          <p:nvPr>
            <p:ph type="title"/>
          </p:nvPr>
        </p:nvSpPr>
        <p:spPr>
          <a:xfrm>
            <a:off x="1219200" y="457200"/>
            <a:ext cx="7086600" cy="533400"/>
          </a:xfrm>
        </p:spPr>
        <p:txBody>
          <a:bodyPr vert="horz" wrap="square" lIns="91440" tIns="45720" rIns="91440" bIns="45720" numCol="1" anchorCtr="0" compatLnSpc="1">
            <a:prstTxWarp prst="textNoShape">
              <a:avLst/>
            </a:prstTxWarp>
            <a:noAutofit/>
          </a:bodyPr>
          <a:lstStyle/>
          <a:p>
            <a:pPr eaLnBrk="1" hangingPunct="1">
              <a:defRPr/>
            </a:pPr>
            <a:r>
              <a:rPr lang="en-US" sz="2800" b="1" dirty="0">
                <a:solidFill>
                  <a:schemeClr val="tx1"/>
                </a:solidFill>
                <a:effectLst>
                  <a:outerShdw blurRad="38100" dist="38100" dir="2700000" algn="tl">
                    <a:srgbClr val="C0C0C0"/>
                  </a:outerShdw>
                </a:effectLst>
                <a:latin typeface="Garamond" pitchFamily="18" charset="0"/>
              </a:rPr>
              <a:t>Formation of cyclone</a:t>
            </a:r>
            <a:br>
              <a:rPr lang="en-US" sz="2800" b="1" dirty="0">
                <a:solidFill>
                  <a:schemeClr val="tx1"/>
                </a:solidFill>
                <a:effectLst>
                  <a:outerShdw blurRad="38100" dist="38100" dir="2700000" algn="tl">
                    <a:srgbClr val="C0C0C0"/>
                  </a:outerShdw>
                </a:effectLst>
                <a:latin typeface="Garamond" pitchFamily="18" charset="0"/>
              </a:rPr>
            </a:br>
            <a:endParaRPr lang="en-US" sz="2800" b="1" dirty="0">
              <a:solidFill>
                <a:schemeClr val="tx1"/>
              </a:solidFill>
              <a:effectLst>
                <a:outerShdw blurRad="38100" dist="38100" dir="2700000" algn="tl">
                  <a:srgbClr val="C0C0C0"/>
                </a:outerShdw>
              </a:effectLst>
              <a:latin typeface="Garamond" pitchFamily="18" charset="0"/>
            </a:endParaRPr>
          </a:p>
        </p:txBody>
      </p:sp>
      <p:sp>
        <p:nvSpPr>
          <p:cNvPr id="62467" name="Rectangle 3">
            <a:extLst>
              <a:ext uri="{FF2B5EF4-FFF2-40B4-BE49-F238E27FC236}">
                <a16:creationId xmlns:a16="http://schemas.microsoft.com/office/drawing/2014/main" id="{EAAA04A5-18C0-4082-AA37-A2485FC72622}"/>
              </a:ext>
            </a:extLst>
          </p:cNvPr>
          <p:cNvSpPr>
            <a:spLocks noGrp="1" noChangeArrowheads="1"/>
          </p:cNvSpPr>
          <p:nvPr>
            <p:ph idx="1"/>
          </p:nvPr>
        </p:nvSpPr>
        <p:spPr>
          <a:xfrm>
            <a:off x="990600" y="1143000"/>
            <a:ext cx="7848600" cy="5410200"/>
          </a:xfrm>
        </p:spPr>
        <p:txBody>
          <a:bodyPr>
            <a:normAutofit/>
          </a:bodyPr>
          <a:lstStyle/>
          <a:p>
            <a:pPr marL="365760" indent="-283464" algn="just" eaLnBrk="1" fontAlgn="auto" hangingPunct="1">
              <a:spcAft>
                <a:spcPts val="0"/>
              </a:spcAft>
              <a:buFont typeface="Wingdings 2"/>
              <a:buChar char=""/>
              <a:defRPr/>
            </a:pPr>
            <a:r>
              <a:rPr lang="en-US" sz="2800" dirty="0">
                <a:latin typeface="Garamond" pitchFamily="18" charset="0"/>
                <a:ea typeface="+mn-ea"/>
              </a:rPr>
              <a:t>Storms that originate in oceans or seas.</a:t>
            </a:r>
          </a:p>
          <a:p>
            <a:pPr marL="365760" indent="-283464" algn="just" eaLnBrk="1" fontAlgn="auto" hangingPunct="1">
              <a:spcAft>
                <a:spcPts val="0"/>
              </a:spcAft>
              <a:buFont typeface="Wingdings 2"/>
              <a:buChar char=""/>
              <a:defRPr/>
            </a:pPr>
            <a:r>
              <a:rPr lang="en-US" sz="2800" dirty="0">
                <a:latin typeface="Garamond" pitchFamily="18" charset="0"/>
                <a:ea typeface="+mn-ea"/>
              </a:rPr>
              <a:t>Formed when the sea temperature is 27</a:t>
            </a:r>
            <a:r>
              <a:rPr lang="en-US" sz="2800" baseline="30000" dirty="0">
                <a:latin typeface="Garamond" pitchFamily="18" charset="0"/>
                <a:ea typeface="+mn-ea"/>
              </a:rPr>
              <a:t>0</a:t>
            </a:r>
            <a:r>
              <a:rPr lang="en-US" sz="2800" dirty="0">
                <a:latin typeface="Garamond" pitchFamily="18" charset="0"/>
                <a:ea typeface="+mn-ea"/>
              </a:rPr>
              <a:t> or above</a:t>
            </a:r>
          </a:p>
          <a:p>
            <a:pPr marL="365760" indent="-283464" algn="just" eaLnBrk="1" fontAlgn="auto" hangingPunct="1">
              <a:spcAft>
                <a:spcPts val="0"/>
              </a:spcAft>
              <a:buFont typeface="Wingdings 2"/>
              <a:buChar char=""/>
              <a:defRPr/>
            </a:pPr>
            <a:r>
              <a:rPr lang="en-US" sz="2800" dirty="0">
                <a:latin typeface="Garamond" pitchFamily="18" charset="0"/>
                <a:ea typeface="+mn-ea"/>
              </a:rPr>
              <a:t>Air above the sea surface is heated and the warm moist air starts to rise.</a:t>
            </a:r>
          </a:p>
          <a:p>
            <a:pPr marL="365760" indent="-283464" algn="just" eaLnBrk="1" fontAlgn="auto" hangingPunct="1">
              <a:spcAft>
                <a:spcPts val="0"/>
              </a:spcAft>
              <a:buFont typeface="Wingdings 2"/>
              <a:buChar char=""/>
              <a:defRPr/>
            </a:pPr>
            <a:r>
              <a:rPr lang="en-US" sz="2800" dirty="0">
                <a:latin typeface="Garamond" pitchFamily="18" charset="0"/>
                <a:ea typeface="+mn-ea"/>
              </a:rPr>
              <a:t>A deep centre of low pressure develops</a:t>
            </a:r>
          </a:p>
          <a:p>
            <a:pPr marL="365760" indent="-283464" algn="just" eaLnBrk="1" fontAlgn="auto" hangingPunct="1">
              <a:spcAft>
                <a:spcPts val="0"/>
              </a:spcAft>
              <a:buFont typeface="Wingdings 2"/>
              <a:buChar char=""/>
              <a:defRPr/>
            </a:pPr>
            <a:r>
              <a:rPr lang="en-US" sz="2800" dirty="0">
                <a:latin typeface="Garamond" pitchFamily="18" charset="0"/>
                <a:ea typeface="+mn-ea"/>
              </a:rPr>
              <a:t>Wind speeds around the centre of the cyclone increase to 150 -200kph </a:t>
            </a:r>
          </a:p>
          <a:p>
            <a:pPr marL="365760" indent="-283464" algn="just" eaLnBrk="1" fontAlgn="auto" hangingPunct="1">
              <a:spcAft>
                <a:spcPts val="0"/>
              </a:spcAft>
              <a:buFont typeface="Wingdings 2"/>
              <a:buChar char=""/>
              <a:defRPr/>
            </a:pPr>
            <a:r>
              <a:rPr lang="en-US" sz="2800" dirty="0">
                <a:latin typeface="Garamond" pitchFamily="18" charset="0"/>
                <a:ea typeface="+mn-ea"/>
              </a:rPr>
              <a:t>Torrential rain falls from </a:t>
            </a:r>
            <a:r>
              <a:rPr lang="en-US" sz="2800" dirty="0" err="1">
                <a:latin typeface="Garamond" pitchFamily="18" charset="0"/>
                <a:ea typeface="+mn-ea"/>
              </a:rPr>
              <a:t>cumulo</a:t>
            </a:r>
            <a:r>
              <a:rPr lang="en-US" sz="2800" dirty="0">
                <a:latin typeface="Garamond" pitchFamily="18" charset="0"/>
                <a:ea typeface="+mn-ea"/>
              </a:rPr>
              <a:t>-nimbus cloud</a:t>
            </a:r>
          </a:p>
          <a:p>
            <a:pPr marL="365760" indent="-283464" algn="just" eaLnBrk="1" fontAlgn="auto" hangingPunct="1">
              <a:spcAft>
                <a:spcPts val="0"/>
              </a:spcAft>
              <a:buFont typeface="Wingdings 2"/>
              <a:buChar char=""/>
              <a:defRPr/>
            </a:pPr>
            <a:r>
              <a:rPr lang="en-US" sz="2800" dirty="0">
                <a:latin typeface="Garamond" pitchFamily="18" charset="0"/>
                <a:ea typeface="+mn-ea"/>
              </a:rPr>
              <a:t>Weather is calm and dry in the centre which is known as eye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barn(inVertical)">
                                      <p:cBhvr>
                                        <p:cTn id="7" dur="500"/>
                                        <p:tgtEl>
                                          <p:spTgt spid="6246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2467">
                                            <p:txEl>
                                              <p:pRg st="0" end="0"/>
                                            </p:txEl>
                                          </p:spTgt>
                                        </p:tgtEl>
                                        <p:attrNameLst>
                                          <p:attrName>style.visibility</p:attrName>
                                        </p:attrNameLst>
                                      </p:cBhvr>
                                      <p:to>
                                        <p:strVal val="visible"/>
                                      </p:to>
                                    </p:set>
                                    <p:animEffect transition="in" filter="fade">
                                      <p:cBhvr>
                                        <p:cTn id="12" dur="1000"/>
                                        <p:tgtEl>
                                          <p:spTgt spid="62467">
                                            <p:txEl>
                                              <p:pRg st="0" end="0"/>
                                            </p:txEl>
                                          </p:spTgt>
                                        </p:tgtEl>
                                      </p:cBhvr>
                                    </p:animEffect>
                                    <p:anim calcmode="lin" valueType="num">
                                      <p:cBhvr>
                                        <p:cTn id="13" dur="10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24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2467">
                                            <p:txEl>
                                              <p:pRg st="1" end="1"/>
                                            </p:txEl>
                                          </p:spTgt>
                                        </p:tgtEl>
                                        <p:attrNameLst>
                                          <p:attrName>style.visibility</p:attrName>
                                        </p:attrNameLst>
                                      </p:cBhvr>
                                      <p:to>
                                        <p:strVal val="visible"/>
                                      </p:to>
                                    </p:set>
                                    <p:animEffect transition="in" filter="fade">
                                      <p:cBhvr>
                                        <p:cTn id="19" dur="1000"/>
                                        <p:tgtEl>
                                          <p:spTgt spid="62467">
                                            <p:txEl>
                                              <p:pRg st="1" end="1"/>
                                            </p:txEl>
                                          </p:spTgt>
                                        </p:tgtEl>
                                      </p:cBhvr>
                                    </p:animEffect>
                                    <p:anim calcmode="lin" valueType="num">
                                      <p:cBhvr>
                                        <p:cTn id="20" dur="10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24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2467">
                                            <p:txEl>
                                              <p:pRg st="2" end="2"/>
                                            </p:txEl>
                                          </p:spTgt>
                                        </p:tgtEl>
                                        <p:attrNameLst>
                                          <p:attrName>style.visibility</p:attrName>
                                        </p:attrNameLst>
                                      </p:cBhvr>
                                      <p:to>
                                        <p:strVal val="visible"/>
                                      </p:to>
                                    </p:set>
                                    <p:animEffect transition="in" filter="fade">
                                      <p:cBhvr>
                                        <p:cTn id="26" dur="1000"/>
                                        <p:tgtEl>
                                          <p:spTgt spid="62467">
                                            <p:txEl>
                                              <p:pRg st="2" end="2"/>
                                            </p:txEl>
                                          </p:spTgt>
                                        </p:tgtEl>
                                      </p:cBhvr>
                                    </p:animEffect>
                                    <p:anim calcmode="lin" valueType="num">
                                      <p:cBhvr>
                                        <p:cTn id="27" dur="10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246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2467">
                                            <p:txEl>
                                              <p:pRg st="3" end="3"/>
                                            </p:txEl>
                                          </p:spTgt>
                                        </p:tgtEl>
                                        <p:attrNameLst>
                                          <p:attrName>style.visibility</p:attrName>
                                        </p:attrNameLst>
                                      </p:cBhvr>
                                      <p:to>
                                        <p:strVal val="visible"/>
                                      </p:to>
                                    </p:set>
                                    <p:animEffect transition="in" filter="fade">
                                      <p:cBhvr>
                                        <p:cTn id="33" dur="1000"/>
                                        <p:tgtEl>
                                          <p:spTgt spid="62467">
                                            <p:txEl>
                                              <p:pRg st="3" end="3"/>
                                            </p:txEl>
                                          </p:spTgt>
                                        </p:tgtEl>
                                      </p:cBhvr>
                                    </p:animEffect>
                                    <p:anim calcmode="lin" valueType="num">
                                      <p:cBhvr>
                                        <p:cTn id="34" dur="1000" fill="hold"/>
                                        <p:tgtEl>
                                          <p:spTgt spid="6246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246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2467">
                                            <p:txEl>
                                              <p:pRg st="4" end="4"/>
                                            </p:txEl>
                                          </p:spTgt>
                                        </p:tgtEl>
                                        <p:attrNameLst>
                                          <p:attrName>style.visibility</p:attrName>
                                        </p:attrNameLst>
                                      </p:cBhvr>
                                      <p:to>
                                        <p:strVal val="visible"/>
                                      </p:to>
                                    </p:set>
                                    <p:animEffect transition="in" filter="fade">
                                      <p:cBhvr>
                                        <p:cTn id="40" dur="1000"/>
                                        <p:tgtEl>
                                          <p:spTgt spid="62467">
                                            <p:txEl>
                                              <p:pRg st="4" end="4"/>
                                            </p:txEl>
                                          </p:spTgt>
                                        </p:tgtEl>
                                      </p:cBhvr>
                                    </p:animEffect>
                                    <p:anim calcmode="lin" valueType="num">
                                      <p:cBhvr>
                                        <p:cTn id="41" dur="1000" fill="hold"/>
                                        <p:tgtEl>
                                          <p:spTgt spid="6246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246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62467">
                                            <p:txEl>
                                              <p:pRg st="5" end="5"/>
                                            </p:txEl>
                                          </p:spTgt>
                                        </p:tgtEl>
                                        <p:attrNameLst>
                                          <p:attrName>style.visibility</p:attrName>
                                        </p:attrNameLst>
                                      </p:cBhvr>
                                      <p:to>
                                        <p:strVal val="visible"/>
                                      </p:to>
                                    </p:set>
                                    <p:animEffect transition="in" filter="fade">
                                      <p:cBhvr>
                                        <p:cTn id="47" dur="1000"/>
                                        <p:tgtEl>
                                          <p:spTgt spid="62467">
                                            <p:txEl>
                                              <p:pRg st="5" end="5"/>
                                            </p:txEl>
                                          </p:spTgt>
                                        </p:tgtEl>
                                      </p:cBhvr>
                                    </p:animEffect>
                                    <p:anim calcmode="lin" valueType="num">
                                      <p:cBhvr>
                                        <p:cTn id="48" dur="1000" fill="hold"/>
                                        <p:tgtEl>
                                          <p:spTgt spid="62467">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6246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62467">
                                            <p:txEl>
                                              <p:pRg st="6" end="6"/>
                                            </p:txEl>
                                          </p:spTgt>
                                        </p:tgtEl>
                                        <p:attrNameLst>
                                          <p:attrName>style.visibility</p:attrName>
                                        </p:attrNameLst>
                                      </p:cBhvr>
                                      <p:to>
                                        <p:strVal val="visible"/>
                                      </p:to>
                                    </p:set>
                                    <p:animEffect transition="in" filter="fade">
                                      <p:cBhvr>
                                        <p:cTn id="54" dur="1000"/>
                                        <p:tgtEl>
                                          <p:spTgt spid="62467">
                                            <p:txEl>
                                              <p:pRg st="6" end="6"/>
                                            </p:txEl>
                                          </p:spTgt>
                                        </p:tgtEl>
                                      </p:cBhvr>
                                    </p:animEffect>
                                    <p:anim calcmode="lin" valueType="num">
                                      <p:cBhvr>
                                        <p:cTn id="55" dur="1000" fill="hold"/>
                                        <p:tgtEl>
                                          <p:spTgt spid="62467">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6246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6246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8917-8F24-48C2-924D-D80388BD6D77}"/>
              </a:ext>
            </a:extLst>
          </p:cNvPr>
          <p:cNvSpPr>
            <a:spLocks noGrp="1"/>
          </p:cNvSpPr>
          <p:nvPr>
            <p:ph type="title"/>
          </p:nvPr>
        </p:nvSpPr>
        <p:spPr>
          <a:xfrm>
            <a:off x="381000" y="6096000"/>
            <a:ext cx="8229600" cy="381000"/>
          </a:xfrm>
        </p:spPr>
        <p:txBody>
          <a:bodyPr vert="horz" wrap="square" lIns="91440" tIns="45720" rIns="91440" bIns="45720" numCol="1" anchorCtr="0" compatLnSpc="1">
            <a:prstTxWarp prst="textNoShape">
              <a:avLst/>
            </a:prstTxWarp>
            <a:normAutofit fontScale="90000"/>
          </a:bodyPr>
          <a:lstStyle/>
          <a:p>
            <a:pPr eaLnBrk="1" hangingPunct="1">
              <a:defRPr/>
            </a:pPr>
            <a:r>
              <a:rPr lang="en-US" sz="2000" dirty="0">
                <a:effectLst>
                  <a:outerShdw blurRad="38100" dist="38100" dir="2700000" algn="tl">
                    <a:srgbClr val="C0C0C0"/>
                  </a:outerShdw>
                </a:effectLst>
                <a:latin typeface="Garamond" pitchFamily="18" charset="0"/>
              </a:rPr>
              <a:t>                                                  </a:t>
            </a:r>
            <a:r>
              <a:rPr lang="en-US" sz="2000" dirty="0">
                <a:solidFill>
                  <a:schemeClr val="tx1"/>
                </a:solidFill>
                <a:effectLst>
                  <a:outerShdw blurRad="38100" dist="38100" dir="2700000" algn="tl">
                    <a:srgbClr val="C0C0C0"/>
                  </a:outerShdw>
                </a:effectLst>
                <a:latin typeface="Garamond" pitchFamily="18" charset="0"/>
              </a:rPr>
              <a:t>Cyclone</a:t>
            </a:r>
            <a:br>
              <a:rPr lang="en-US" sz="2000" dirty="0">
                <a:solidFill>
                  <a:schemeClr val="tx1"/>
                </a:solidFill>
                <a:effectLst>
                  <a:outerShdw blurRad="38100" dist="38100" dir="2700000" algn="tl">
                    <a:srgbClr val="C0C0C0"/>
                  </a:outerShdw>
                </a:effectLst>
                <a:latin typeface="Garamond" pitchFamily="18" charset="0"/>
              </a:rPr>
            </a:br>
            <a:endParaRPr lang="en-US" sz="2000" dirty="0">
              <a:solidFill>
                <a:schemeClr val="tx1"/>
              </a:solidFill>
              <a:effectLst>
                <a:outerShdw blurRad="38100" dist="38100" dir="2700000" algn="tl">
                  <a:srgbClr val="C0C0C0"/>
                </a:outerShdw>
              </a:effectLst>
              <a:latin typeface="Garamond" pitchFamily="18" charset="0"/>
            </a:endParaRPr>
          </a:p>
        </p:txBody>
      </p:sp>
      <p:pic>
        <p:nvPicPr>
          <p:cNvPr id="16387" name="Picture 2">
            <a:extLst>
              <a:ext uri="{FF2B5EF4-FFF2-40B4-BE49-F238E27FC236}">
                <a16:creationId xmlns:a16="http://schemas.microsoft.com/office/drawing/2014/main" id="{9D168F8E-87A0-494D-9AB7-BAECD0374A3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09800" y="889366"/>
            <a:ext cx="5111750" cy="4901834"/>
          </a:xfrm>
          <a:noFill/>
        </p:spPr>
      </p:pic>
    </p:spTree>
    <p:custDataLst>
      <p:tags r:id="rId1"/>
    </p:custDataLst>
    <p:extLst>
      <p:ext uri="{BB962C8B-B14F-4D97-AF65-F5344CB8AC3E}">
        <p14:creationId xmlns:p14="http://schemas.microsoft.com/office/powerpoint/2010/main" val="169081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circle(in)">
                                      <p:cBhvr>
                                        <p:cTn id="7" dur="2000"/>
                                        <p:tgtEl>
                                          <p:spTgt spid="1638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7BB8-6D9A-4A0B-95F6-BEF1874B5B22}"/>
              </a:ext>
            </a:extLst>
          </p:cNvPr>
          <p:cNvSpPr>
            <a:spLocks noGrp="1"/>
          </p:cNvSpPr>
          <p:nvPr>
            <p:ph type="title"/>
          </p:nvPr>
        </p:nvSpPr>
        <p:spPr>
          <a:xfrm>
            <a:off x="1435100" y="274638"/>
            <a:ext cx="7499350" cy="639762"/>
          </a:xfrm>
        </p:spPr>
        <p:txBody>
          <a:bodyPr vert="horz" wrap="square" lIns="91440" tIns="45720" rIns="91440" bIns="45720" numCol="1" anchorCtr="0" compatLnSpc="1">
            <a:prstTxWarp prst="textNoShape">
              <a:avLst/>
            </a:prstTxWarp>
          </a:bodyPr>
          <a:lstStyle/>
          <a:p>
            <a:pPr eaLnBrk="1" hangingPunct="1">
              <a:defRPr/>
            </a:pPr>
            <a:r>
              <a:rPr lang="en-US" sz="2800" dirty="0">
                <a:solidFill>
                  <a:schemeClr val="tx1"/>
                </a:solidFill>
                <a:effectLst>
                  <a:outerShdw blurRad="38100" dist="38100" dir="2700000" algn="tl">
                    <a:srgbClr val="C0C0C0"/>
                  </a:outerShdw>
                </a:effectLst>
                <a:latin typeface="Garamond" pitchFamily="18" charset="0"/>
              </a:rPr>
              <a:t>Tornado</a:t>
            </a:r>
          </a:p>
        </p:txBody>
      </p:sp>
      <p:sp>
        <p:nvSpPr>
          <p:cNvPr id="20483" name="Content Placeholder 2">
            <a:extLst>
              <a:ext uri="{FF2B5EF4-FFF2-40B4-BE49-F238E27FC236}">
                <a16:creationId xmlns:a16="http://schemas.microsoft.com/office/drawing/2014/main" id="{7A786DA8-7FA6-4488-93CD-A5CE9D7A3FFB}"/>
              </a:ext>
            </a:extLst>
          </p:cNvPr>
          <p:cNvSpPr>
            <a:spLocks noGrp="1"/>
          </p:cNvSpPr>
          <p:nvPr>
            <p:ph idx="1"/>
          </p:nvPr>
        </p:nvSpPr>
        <p:spPr>
          <a:xfrm>
            <a:off x="990600" y="1066800"/>
            <a:ext cx="7943850" cy="5181600"/>
          </a:xfrm>
        </p:spPr>
        <p:txBody>
          <a:bodyPr/>
          <a:lstStyle/>
          <a:p>
            <a:pPr algn="just" eaLnBrk="1" hangingPunct="1"/>
            <a:r>
              <a:rPr lang="en-US" altLang="en-US" sz="2600" dirty="0">
                <a:latin typeface="Garamond" panose="02020404030301010803" pitchFamily="18" charset="0"/>
              </a:rPr>
              <a:t>Tornados are storm systems that form on land due to pressure differences. They are characterized by </a:t>
            </a:r>
          </a:p>
          <a:p>
            <a:pPr algn="just" eaLnBrk="1" hangingPunct="1">
              <a:buFont typeface="Wingdings 2" panose="05020102010507070707" pitchFamily="18" charset="2"/>
              <a:buNone/>
            </a:pPr>
            <a:r>
              <a:rPr lang="en-US" altLang="en-US" sz="2600" dirty="0">
                <a:latin typeface="Garamond" panose="02020404030301010803" pitchFamily="18" charset="0"/>
              </a:rPr>
              <a:t>    - large rotating air columns, which are like funnels</a:t>
            </a:r>
          </a:p>
          <a:p>
            <a:pPr algn="just" eaLnBrk="1" hangingPunct="1">
              <a:buFont typeface="Wingdings 2" panose="05020102010507070707" pitchFamily="18" charset="2"/>
              <a:buNone/>
            </a:pPr>
            <a:r>
              <a:rPr lang="en-US" altLang="en-US" sz="2600" dirty="0">
                <a:latin typeface="Garamond" panose="02020404030301010803" pitchFamily="18" charset="0"/>
              </a:rPr>
              <a:t>    - that are connected with clouds at the top and land below. </a:t>
            </a:r>
          </a:p>
          <a:p>
            <a:pPr algn="just" eaLnBrk="1" hangingPunct="1"/>
            <a:r>
              <a:rPr lang="en-US" altLang="en-US" sz="2600" dirty="0">
                <a:latin typeface="Garamond" panose="02020404030301010803" pitchFamily="18" charset="0"/>
              </a:rPr>
              <a:t>They move with phenomenal speeds, touching 300 mph on land before dissipating.</a:t>
            </a:r>
          </a:p>
          <a:p>
            <a:pPr algn="just" eaLnBrk="1" hangingPunct="1"/>
            <a:r>
              <a:rPr lang="en-US" altLang="en-US" sz="2400" dirty="0">
                <a:latin typeface="Garamond" panose="02020404030301010803" pitchFamily="18" charset="0"/>
              </a:rPr>
              <a:t>On a local scale, it is the most destructive of all atmospheric phenomena.</a:t>
            </a:r>
            <a:endParaRPr lang="en-US" altLang="en-US" sz="26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0483">
                                            <p:txEl>
                                              <p:pRg st="0" end="0"/>
                                            </p:txEl>
                                          </p:spTgt>
                                        </p:tgtEl>
                                        <p:attrNameLst>
                                          <p:attrName>style.visibility</p:attrName>
                                        </p:attrNameLst>
                                      </p:cBhvr>
                                      <p:to>
                                        <p:strVal val="visible"/>
                                      </p:to>
                                    </p:set>
                                    <p:animEffect transition="in" filter="fade">
                                      <p:cBhvr>
                                        <p:cTn id="12" dur="1000"/>
                                        <p:tgtEl>
                                          <p:spTgt spid="20483">
                                            <p:txEl>
                                              <p:pRg st="0" end="0"/>
                                            </p:txEl>
                                          </p:spTgt>
                                        </p:tgtEl>
                                      </p:cBhvr>
                                    </p:animEffect>
                                    <p:anim calcmode="lin" valueType="num">
                                      <p:cBhvr>
                                        <p:cTn id="13" dur="10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4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483">
                                            <p:txEl>
                                              <p:pRg st="1" end="1"/>
                                            </p:txEl>
                                          </p:spTgt>
                                        </p:tgtEl>
                                        <p:attrNameLst>
                                          <p:attrName>style.visibility</p:attrName>
                                        </p:attrNameLst>
                                      </p:cBhvr>
                                      <p:to>
                                        <p:strVal val="visible"/>
                                      </p:to>
                                    </p:set>
                                    <p:animEffect transition="in" filter="fade">
                                      <p:cBhvr>
                                        <p:cTn id="19" dur="1000"/>
                                        <p:tgtEl>
                                          <p:spTgt spid="20483">
                                            <p:txEl>
                                              <p:pRg st="1" end="1"/>
                                            </p:txEl>
                                          </p:spTgt>
                                        </p:tgtEl>
                                      </p:cBhvr>
                                    </p:animEffect>
                                    <p:anim calcmode="lin" valueType="num">
                                      <p:cBhvr>
                                        <p:cTn id="20" dur="10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04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0483">
                                            <p:txEl>
                                              <p:pRg st="2" end="2"/>
                                            </p:txEl>
                                          </p:spTgt>
                                        </p:tgtEl>
                                        <p:attrNameLst>
                                          <p:attrName>style.visibility</p:attrName>
                                        </p:attrNameLst>
                                      </p:cBhvr>
                                      <p:to>
                                        <p:strVal val="visible"/>
                                      </p:to>
                                    </p:set>
                                    <p:animEffect transition="in" filter="fade">
                                      <p:cBhvr>
                                        <p:cTn id="26" dur="1000"/>
                                        <p:tgtEl>
                                          <p:spTgt spid="20483">
                                            <p:txEl>
                                              <p:pRg st="2" end="2"/>
                                            </p:txEl>
                                          </p:spTgt>
                                        </p:tgtEl>
                                      </p:cBhvr>
                                    </p:animEffect>
                                    <p:anim calcmode="lin" valueType="num">
                                      <p:cBhvr>
                                        <p:cTn id="27" dur="10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04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0483">
                                            <p:txEl>
                                              <p:pRg st="3" end="3"/>
                                            </p:txEl>
                                          </p:spTgt>
                                        </p:tgtEl>
                                        <p:attrNameLst>
                                          <p:attrName>style.visibility</p:attrName>
                                        </p:attrNameLst>
                                      </p:cBhvr>
                                      <p:to>
                                        <p:strVal val="visible"/>
                                      </p:to>
                                    </p:set>
                                    <p:animEffect transition="in" filter="fade">
                                      <p:cBhvr>
                                        <p:cTn id="33" dur="1000"/>
                                        <p:tgtEl>
                                          <p:spTgt spid="20483">
                                            <p:txEl>
                                              <p:pRg st="3" end="3"/>
                                            </p:txEl>
                                          </p:spTgt>
                                        </p:tgtEl>
                                      </p:cBhvr>
                                    </p:animEffect>
                                    <p:anim calcmode="lin" valueType="num">
                                      <p:cBhvr>
                                        <p:cTn id="34" dur="10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204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0483">
                                            <p:txEl>
                                              <p:pRg st="4" end="4"/>
                                            </p:txEl>
                                          </p:spTgt>
                                        </p:tgtEl>
                                        <p:attrNameLst>
                                          <p:attrName>style.visibility</p:attrName>
                                        </p:attrNameLst>
                                      </p:cBhvr>
                                      <p:to>
                                        <p:strVal val="visible"/>
                                      </p:to>
                                    </p:set>
                                    <p:animEffect transition="in" filter="fade">
                                      <p:cBhvr>
                                        <p:cTn id="40" dur="1000"/>
                                        <p:tgtEl>
                                          <p:spTgt spid="20483">
                                            <p:txEl>
                                              <p:pRg st="4" end="4"/>
                                            </p:txEl>
                                          </p:spTgt>
                                        </p:tgtEl>
                                      </p:cBhvr>
                                    </p:animEffect>
                                    <p:anim calcmode="lin" valueType="num">
                                      <p:cBhvr>
                                        <p:cTn id="41" dur="10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2048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48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07AE3DD0-E469-435B-A103-18635667110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71600" y="1371600"/>
            <a:ext cx="6805612" cy="4385744"/>
          </a:xfrm>
          <a:noFill/>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circle(in)">
                                      <p:cBhvr>
                                        <p:cTn id="7" dur="2000"/>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ACBFB-3DAD-4428-A77C-E26FAD882F2F}"/>
              </a:ext>
            </a:extLst>
          </p:cNvPr>
          <p:cNvSpPr>
            <a:spLocks noGrp="1"/>
          </p:cNvSpPr>
          <p:nvPr>
            <p:ph type="title"/>
          </p:nvPr>
        </p:nvSpPr>
        <p:spPr>
          <a:xfrm>
            <a:off x="1435100" y="274638"/>
            <a:ext cx="7499350" cy="944562"/>
          </a:xfrm>
        </p:spPr>
        <p:txBody>
          <a:bodyPr vert="horz" wrap="square" lIns="91440" tIns="45720" rIns="91440" bIns="45720" numCol="1" anchorCtr="0" compatLnSpc="1">
            <a:prstTxWarp prst="textNoShape">
              <a:avLst/>
            </a:prstTxWarp>
          </a:bodyPr>
          <a:lstStyle/>
          <a:p>
            <a:pPr eaLnBrk="1" hangingPunct="1">
              <a:defRPr/>
            </a:pPr>
            <a:r>
              <a:rPr lang="en-US" sz="2800" dirty="0">
                <a:solidFill>
                  <a:schemeClr val="tx1"/>
                </a:solidFill>
                <a:effectLst>
                  <a:outerShdw blurRad="38100" dist="38100" dir="2700000" algn="tl">
                    <a:srgbClr val="C0C0C0"/>
                  </a:outerShdw>
                </a:effectLst>
                <a:latin typeface="Garamond" pitchFamily="18" charset="0"/>
              </a:rPr>
              <a:t>Cyclone Vs Tornado</a:t>
            </a:r>
          </a:p>
        </p:txBody>
      </p:sp>
      <p:sp>
        <p:nvSpPr>
          <p:cNvPr id="22531" name="Content Placeholder 2">
            <a:extLst>
              <a:ext uri="{FF2B5EF4-FFF2-40B4-BE49-F238E27FC236}">
                <a16:creationId xmlns:a16="http://schemas.microsoft.com/office/drawing/2014/main" id="{AFAFF903-B00F-4CE3-A2BD-333C06EC58D4}"/>
              </a:ext>
            </a:extLst>
          </p:cNvPr>
          <p:cNvSpPr>
            <a:spLocks noGrp="1"/>
          </p:cNvSpPr>
          <p:nvPr>
            <p:ph idx="1"/>
          </p:nvPr>
        </p:nvSpPr>
        <p:spPr>
          <a:xfrm>
            <a:off x="1219200" y="1447800"/>
            <a:ext cx="7543800" cy="4800600"/>
          </a:xfrm>
        </p:spPr>
        <p:txBody>
          <a:bodyPr/>
          <a:lstStyle/>
          <a:p>
            <a:pPr eaLnBrk="1" hangingPunct="1"/>
            <a:r>
              <a:rPr lang="en-US" altLang="en-US" sz="2600" dirty="0">
                <a:latin typeface="Garamond" panose="02020404030301010803" pitchFamily="18" charset="0"/>
              </a:rPr>
              <a:t>Similarity – all storms are created due to severe differences in air pressure and caused due to temperature differences. </a:t>
            </a:r>
          </a:p>
          <a:p>
            <a:pPr eaLnBrk="1" hangingPunct="1"/>
            <a:endParaRPr lang="en-US" altLang="en-US" sz="2600" dirty="0">
              <a:latin typeface="Garamond" panose="02020404030301010803" pitchFamily="18" charset="0"/>
            </a:endParaRPr>
          </a:p>
          <a:p>
            <a:pPr eaLnBrk="1" hangingPunct="1"/>
            <a:r>
              <a:rPr lang="en-US" altLang="en-US" sz="2600" dirty="0">
                <a:latin typeface="Garamond" panose="02020404030301010803" pitchFamily="18" charset="0"/>
              </a:rPr>
              <a:t>Difference – cyclones originate in the ocean and tornado on land. </a:t>
            </a:r>
          </a:p>
          <a:p>
            <a:pPr eaLnBrk="1" hangingPunct="1">
              <a:buFont typeface="Wingdings 2" panose="05020102010507070707" pitchFamily="18" charset="2"/>
              <a:buNone/>
            </a:pPr>
            <a:r>
              <a:rPr lang="en-US" altLang="en-US" sz="2600" dirty="0">
                <a:latin typeface="Garamond" panose="02020404030301010803" pitchFamily="18" charset="0"/>
              </a:rPr>
              <a:t>   - tornados are in contact with land at the bottom and cumuliform cloud at the top.</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2531">
                                            <p:txEl>
                                              <p:pRg st="0" end="0"/>
                                            </p:txEl>
                                          </p:spTgt>
                                        </p:tgtEl>
                                        <p:attrNameLst>
                                          <p:attrName>style.visibility</p:attrName>
                                        </p:attrNameLst>
                                      </p:cBhvr>
                                      <p:to>
                                        <p:strVal val="visible"/>
                                      </p:to>
                                    </p:set>
                                    <p:animEffect transition="in" filter="fade">
                                      <p:cBhvr>
                                        <p:cTn id="12" dur="1000"/>
                                        <p:tgtEl>
                                          <p:spTgt spid="22531">
                                            <p:txEl>
                                              <p:pRg st="0" end="0"/>
                                            </p:txEl>
                                          </p:spTgt>
                                        </p:tgtEl>
                                      </p:cBhvr>
                                    </p:animEffect>
                                    <p:anim calcmode="lin" valueType="num">
                                      <p:cBhvr>
                                        <p:cTn id="13" dur="10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253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animEffect transition="in" filter="fade">
                                      <p:cBhvr>
                                        <p:cTn id="19" dur="1000"/>
                                        <p:tgtEl>
                                          <p:spTgt spid="22531">
                                            <p:txEl>
                                              <p:pRg st="2" end="2"/>
                                            </p:txEl>
                                          </p:spTgt>
                                        </p:tgtEl>
                                      </p:cBhvr>
                                    </p:animEffect>
                                    <p:anim calcmode="lin" valueType="num">
                                      <p:cBhvr>
                                        <p:cTn id="20"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2253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2531">
                                            <p:txEl>
                                              <p:pRg st="3" end="3"/>
                                            </p:txEl>
                                          </p:spTgt>
                                        </p:tgtEl>
                                        <p:attrNameLst>
                                          <p:attrName>style.visibility</p:attrName>
                                        </p:attrNameLst>
                                      </p:cBhvr>
                                      <p:to>
                                        <p:strVal val="visible"/>
                                      </p:to>
                                    </p:set>
                                    <p:animEffect transition="in" filter="fade">
                                      <p:cBhvr>
                                        <p:cTn id="26" dur="1000"/>
                                        <p:tgtEl>
                                          <p:spTgt spid="22531">
                                            <p:txEl>
                                              <p:pRg st="3" end="3"/>
                                            </p:txEl>
                                          </p:spTgt>
                                        </p:tgtEl>
                                      </p:cBhvr>
                                    </p:animEffect>
                                    <p:anim calcmode="lin" valueType="num">
                                      <p:cBhvr>
                                        <p:cTn id="27" dur="10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2253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253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BF7B966-C3D2-490F-BD76-67E65DDFE3E0}"/>
              </a:ext>
            </a:extLst>
          </p:cNvPr>
          <p:cNvSpPr>
            <a:spLocks noGrp="1" noChangeArrowheads="1"/>
          </p:cNvSpPr>
          <p:nvPr>
            <p:ph type="title"/>
          </p:nvPr>
        </p:nvSpPr>
        <p:spPr>
          <a:xfrm>
            <a:off x="1066800" y="152400"/>
            <a:ext cx="7620000" cy="762000"/>
          </a:xfrm>
        </p:spPr>
        <p:txBody>
          <a:bodyPr vert="horz" wrap="square" lIns="91440" tIns="45720" rIns="91440" bIns="45720" numCol="1" anchorCtr="0" compatLnSpc="1">
            <a:prstTxWarp prst="textNoShape">
              <a:avLst/>
            </a:prstTxWarp>
          </a:bodyPr>
          <a:lstStyle/>
          <a:p>
            <a:pPr eaLnBrk="1" hangingPunct="1">
              <a:defRPr/>
            </a:pPr>
            <a:r>
              <a:rPr lang="en-US" sz="2800" b="1" dirty="0">
                <a:solidFill>
                  <a:schemeClr val="tx1"/>
                </a:solidFill>
                <a:effectLst>
                  <a:outerShdw blurRad="38100" dist="38100" dir="2700000" algn="tl">
                    <a:srgbClr val="C0C0C0"/>
                  </a:outerShdw>
                </a:effectLst>
                <a:latin typeface="Garamond" pitchFamily="18" charset="0"/>
              </a:rPr>
              <a:t>Impact of cyclone and tornado </a:t>
            </a:r>
          </a:p>
        </p:txBody>
      </p:sp>
      <p:sp>
        <p:nvSpPr>
          <p:cNvPr id="23555" name="Rectangle 3">
            <a:extLst>
              <a:ext uri="{FF2B5EF4-FFF2-40B4-BE49-F238E27FC236}">
                <a16:creationId xmlns:a16="http://schemas.microsoft.com/office/drawing/2014/main" id="{F5F78A61-077C-4F1B-916B-5F05DE30F023}"/>
              </a:ext>
            </a:extLst>
          </p:cNvPr>
          <p:cNvSpPr>
            <a:spLocks noGrp="1" noChangeArrowheads="1"/>
          </p:cNvSpPr>
          <p:nvPr>
            <p:ph idx="1"/>
          </p:nvPr>
        </p:nvSpPr>
        <p:spPr>
          <a:xfrm>
            <a:off x="762000" y="990600"/>
            <a:ext cx="7696200" cy="5105400"/>
          </a:xfrm>
        </p:spPr>
        <p:txBody>
          <a:bodyPr/>
          <a:lstStyle/>
          <a:p>
            <a:pPr algn="just" eaLnBrk="1" hangingPunct="1"/>
            <a:r>
              <a:rPr lang="en-US" altLang="en-US" sz="2800" dirty="0">
                <a:latin typeface="Garamond" panose="02020404030301010803" pitchFamily="18" charset="0"/>
              </a:rPr>
              <a:t>Loss of life (social losses)</a:t>
            </a:r>
          </a:p>
          <a:p>
            <a:pPr algn="just" eaLnBrk="1" hangingPunct="1"/>
            <a:r>
              <a:rPr lang="en-US" altLang="en-US" sz="2800" dirty="0">
                <a:latin typeface="Garamond" panose="02020404030301010803" pitchFamily="18" charset="0"/>
              </a:rPr>
              <a:t>Economic losses</a:t>
            </a:r>
          </a:p>
          <a:p>
            <a:pPr lvl="1" algn="just" eaLnBrk="1" hangingPunct="1"/>
            <a:r>
              <a:rPr lang="en-US" altLang="en-US" sz="2400" dirty="0">
                <a:latin typeface="Garamond" panose="02020404030301010803" pitchFamily="18" charset="0"/>
              </a:rPr>
              <a:t>Damage of homes </a:t>
            </a:r>
          </a:p>
          <a:p>
            <a:pPr lvl="1" algn="just" eaLnBrk="1" hangingPunct="1"/>
            <a:r>
              <a:rPr lang="en-US" altLang="en-US" sz="2400" dirty="0">
                <a:latin typeface="Garamond" panose="02020404030301010803" pitchFamily="18" charset="0"/>
              </a:rPr>
              <a:t>Damage of business (loss of crops and animals of firms)</a:t>
            </a:r>
          </a:p>
          <a:p>
            <a:pPr lvl="1" algn="just" eaLnBrk="1" hangingPunct="1"/>
            <a:r>
              <a:rPr lang="en-US" altLang="en-US" sz="2400" dirty="0">
                <a:latin typeface="Garamond" panose="02020404030301010803" pitchFamily="18" charset="0"/>
              </a:rPr>
              <a:t>Public utility are badly disrupted</a:t>
            </a:r>
          </a:p>
          <a:p>
            <a:pPr lvl="1" algn="just" eaLnBrk="1" hangingPunct="1"/>
            <a:r>
              <a:rPr lang="en-US" altLang="en-US" sz="2400" dirty="0">
                <a:latin typeface="Garamond" panose="02020404030301010803" pitchFamily="18" charset="0"/>
              </a:rPr>
              <a:t>Disruption of fresh water supply, sewerage treatment, waste disposal</a:t>
            </a:r>
          </a:p>
          <a:p>
            <a:pPr lvl="1" algn="just" eaLnBrk="1" hangingPunct="1"/>
            <a:r>
              <a:rPr lang="en-US" altLang="en-US" sz="2400" dirty="0">
                <a:latin typeface="Garamond" panose="02020404030301010803" pitchFamily="18" charset="0"/>
              </a:rPr>
              <a:t>Increase of disease and epidemics</a:t>
            </a:r>
          </a:p>
          <a:p>
            <a:pPr lvl="1" algn="just" eaLnBrk="1" hangingPunct="1"/>
            <a:endParaRPr lang="en-US" altLang="en-US" sz="24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barn(inVertical)">
                                      <p:cBhvr>
                                        <p:cTn id="7" dur="500"/>
                                        <p:tgtEl>
                                          <p:spTgt spid="6349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3555">
                                            <p:txEl>
                                              <p:pRg st="0" end="0"/>
                                            </p:txEl>
                                          </p:spTgt>
                                        </p:tgtEl>
                                        <p:attrNameLst>
                                          <p:attrName>style.visibility</p:attrName>
                                        </p:attrNameLst>
                                      </p:cBhvr>
                                      <p:to>
                                        <p:strVal val="visible"/>
                                      </p:to>
                                    </p:set>
                                    <p:animEffect transition="in" filter="fade">
                                      <p:cBhvr>
                                        <p:cTn id="12" dur="1000"/>
                                        <p:tgtEl>
                                          <p:spTgt spid="23555">
                                            <p:txEl>
                                              <p:pRg st="0" end="0"/>
                                            </p:txEl>
                                          </p:spTgt>
                                        </p:tgtEl>
                                      </p:cBhvr>
                                    </p:animEffect>
                                    <p:anim calcmode="lin" valueType="num">
                                      <p:cBhvr>
                                        <p:cTn id="13" dur="10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35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3555">
                                            <p:txEl>
                                              <p:pRg st="1" end="1"/>
                                            </p:txEl>
                                          </p:spTgt>
                                        </p:tgtEl>
                                        <p:attrNameLst>
                                          <p:attrName>style.visibility</p:attrName>
                                        </p:attrNameLst>
                                      </p:cBhvr>
                                      <p:to>
                                        <p:strVal val="visible"/>
                                      </p:to>
                                    </p:set>
                                    <p:animEffect transition="in" filter="fade">
                                      <p:cBhvr>
                                        <p:cTn id="19" dur="1000"/>
                                        <p:tgtEl>
                                          <p:spTgt spid="23555">
                                            <p:txEl>
                                              <p:pRg st="1" end="1"/>
                                            </p:txEl>
                                          </p:spTgt>
                                        </p:tgtEl>
                                      </p:cBhvr>
                                    </p:animEffect>
                                    <p:anim calcmode="lin" valueType="num">
                                      <p:cBhvr>
                                        <p:cTn id="20" dur="10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3555">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3555">
                                            <p:txEl>
                                              <p:pRg st="2" end="2"/>
                                            </p:txEl>
                                          </p:spTgt>
                                        </p:tgtEl>
                                        <p:attrNameLst>
                                          <p:attrName>style.visibility</p:attrName>
                                        </p:attrNameLst>
                                      </p:cBhvr>
                                      <p:to>
                                        <p:strVal val="visible"/>
                                      </p:to>
                                    </p:set>
                                    <p:animEffect transition="in" filter="fade">
                                      <p:cBhvr>
                                        <p:cTn id="24" dur="1000"/>
                                        <p:tgtEl>
                                          <p:spTgt spid="23555">
                                            <p:txEl>
                                              <p:pRg st="2" end="2"/>
                                            </p:txEl>
                                          </p:spTgt>
                                        </p:tgtEl>
                                      </p:cBhvr>
                                    </p:animEffect>
                                    <p:anim calcmode="lin" valueType="num">
                                      <p:cBhvr>
                                        <p:cTn id="25" dur="10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3555">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3555">
                                            <p:txEl>
                                              <p:pRg st="3" end="3"/>
                                            </p:txEl>
                                          </p:spTgt>
                                        </p:tgtEl>
                                        <p:attrNameLst>
                                          <p:attrName>style.visibility</p:attrName>
                                        </p:attrNameLst>
                                      </p:cBhvr>
                                      <p:to>
                                        <p:strVal val="visible"/>
                                      </p:to>
                                    </p:set>
                                    <p:animEffect transition="in" filter="fade">
                                      <p:cBhvr>
                                        <p:cTn id="29" dur="1000"/>
                                        <p:tgtEl>
                                          <p:spTgt spid="23555">
                                            <p:txEl>
                                              <p:pRg st="3" end="3"/>
                                            </p:txEl>
                                          </p:spTgt>
                                        </p:tgtEl>
                                      </p:cBhvr>
                                    </p:animEffect>
                                    <p:anim calcmode="lin" valueType="num">
                                      <p:cBhvr>
                                        <p:cTn id="30" dur="10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23555">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3555">
                                            <p:txEl>
                                              <p:pRg st="4" end="4"/>
                                            </p:txEl>
                                          </p:spTgt>
                                        </p:tgtEl>
                                        <p:attrNameLst>
                                          <p:attrName>style.visibility</p:attrName>
                                        </p:attrNameLst>
                                      </p:cBhvr>
                                      <p:to>
                                        <p:strVal val="visible"/>
                                      </p:to>
                                    </p:set>
                                    <p:animEffect transition="in" filter="fade">
                                      <p:cBhvr>
                                        <p:cTn id="34" dur="1000"/>
                                        <p:tgtEl>
                                          <p:spTgt spid="23555">
                                            <p:txEl>
                                              <p:pRg st="4" end="4"/>
                                            </p:txEl>
                                          </p:spTgt>
                                        </p:tgtEl>
                                      </p:cBhvr>
                                    </p:animEffect>
                                    <p:anim calcmode="lin" valueType="num">
                                      <p:cBhvr>
                                        <p:cTn id="35" dur="10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23555">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3555">
                                            <p:txEl>
                                              <p:pRg st="5" end="5"/>
                                            </p:txEl>
                                          </p:spTgt>
                                        </p:tgtEl>
                                        <p:attrNameLst>
                                          <p:attrName>style.visibility</p:attrName>
                                        </p:attrNameLst>
                                      </p:cBhvr>
                                      <p:to>
                                        <p:strVal val="visible"/>
                                      </p:to>
                                    </p:set>
                                    <p:animEffect transition="in" filter="fade">
                                      <p:cBhvr>
                                        <p:cTn id="39" dur="1000"/>
                                        <p:tgtEl>
                                          <p:spTgt spid="23555">
                                            <p:txEl>
                                              <p:pRg st="5" end="5"/>
                                            </p:txEl>
                                          </p:spTgt>
                                        </p:tgtEl>
                                      </p:cBhvr>
                                    </p:animEffect>
                                    <p:anim calcmode="lin" valueType="num">
                                      <p:cBhvr>
                                        <p:cTn id="40" dur="10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23555">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3555">
                                            <p:txEl>
                                              <p:pRg st="6" end="6"/>
                                            </p:txEl>
                                          </p:spTgt>
                                        </p:tgtEl>
                                        <p:attrNameLst>
                                          <p:attrName>style.visibility</p:attrName>
                                        </p:attrNameLst>
                                      </p:cBhvr>
                                      <p:to>
                                        <p:strVal val="visible"/>
                                      </p:to>
                                    </p:set>
                                    <p:animEffect transition="in" filter="fade">
                                      <p:cBhvr>
                                        <p:cTn id="44" dur="1000"/>
                                        <p:tgtEl>
                                          <p:spTgt spid="23555">
                                            <p:txEl>
                                              <p:pRg st="6" end="6"/>
                                            </p:txEl>
                                          </p:spTgt>
                                        </p:tgtEl>
                                      </p:cBhvr>
                                    </p:animEffect>
                                    <p:anim calcmode="lin" valueType="num">
                                      <p:cBhvr>
                                        <p:cTn id="45" dur="1000" fill="hold"/>
                                        <p:tgtEl>
                                          <p:spTgt spid="23555">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2355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p:bldP spid="2355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descr="oc30$004Cyclones">
            <a:extLst>
              <a:ext uri="{FF2B5EF4-FFF2-40B4-BE49-F238E27FC236}">
                <a16:creationId xmlns:a16="http://schemas.microsoft.com/office/drawing/2014/main" id="{2F97066D-2C36-48B6-8777-314E6BCF85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9200" y="533400"/>
            <a:ext cx="4095750" cy="5446760"/>
          </a:xfrm>
          <a:prstGeom prst="rect">
            <a:avLst/>
          </a:prstGeom>
          <a:solidFill>
            <a:srgbClr val="FF6600">
              <a:alpha val="27058"/>
            </a:srgb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4579" name="Rectangle 5">
            <a:extLst>
              <a:ext uri="{FF2B5EF4-FFF2-40B4-BE49-F238E27FC236}">
                <a16:creationId xmlns:a16="http://schemas.microsoft.com/office/drawing/2014/main" id="{96B9186E-0D03-4659-9E15-5D438E0D44C8}"/>
              </a:ext>
            </a:extLst>
          </p:cNvPr>
          <p:cNvSpPr>
            <a:spLocks noChangeArrowheads="1"/>
          </p:cNvSpPr>
          <p:nvPr/>
        </p:nvSpPr>
        <p:spPr bwMode="auto">
          <a:xfrm>
            <a:off x="5638800" y="3657600"/>
            <a:ext cx="3311525" cy="259238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180975" indent="-180975">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pPr eaLnBrk="1" hangingPunct="1">
              <a:lnSpc>
                <a:spcPct val="80000"/>
              </a:lnSpc>
              <a:spcBef>
                <a:spcPct val="20000"/>
              </a:spcBef>
              <a:buClr>
                <a:schemeClr val="hlink"/>
              </a:buClr>
              <a:buSzPct val="65000"/>
              <a:buFont typeface="Wingdings" panose="05000000000000000000" pitchFamily="2" charset="2"/>
              <a:buNone/>
            </a:pPr>
            <a:r>
              <a:rPr lang="en-GB" altLang="en-US" sz="2800" dirty="0">
                <a:latin typeface="Garamond" panose="02020404030301010803" pitchFamily="18" charset="0"/>
              </a:rPr>
              <a:t>Entire coastal</a:t>
            </a:r>
          </a:p>
          <a:p>
            <a:pPr eaLnBrk="1" hangingPunct="1">
              <a:lnSpc>
                <a:spcPct val="80000"/>
              </a:lnSpc>
              <a:spcBef>
                <a:spcPct val="20000"/>
              </a:spcBef>
              <a:buClr>
                <a:schemeClr val="hlink"/>
              </a:buClr>
              <a:buSzPct val="65000"/>
              <a:buFont typeface="Wingdings" panose="05000000000000000000" pitchFamily="2" charset="2"/>
              <a:buNone/>
            </a:pPr>
            <a:r>
              <a:rPr lang="en-GB" altLang="en-US" sz="2800" dirty="0">
                <a:latin typeface="Garamond" panose="02020404030301010803" pitchFamily="18" charset="0"/>
              </a:rPr>
              <a:t>belt is vulnerable</a:t>
            </a:r>
          </a:p>
          <a:p>
            <a:pPr eaLnBrk="1" hangingPunct="1">
              <a:lnSpc>
                <a:spcPct val="80000"/>
              </a:lnSpc>
              <a:spcBef>
                <a:spcPct val="20000"/>
              </a:spcBef>
              <a:buClr>
                <a:schemeClr val="hlink"/>
              </a:buClr>
              <a:buSzPct val="65000"/>
              <a:buFont typeface="Wingdings" panose="05000000000000000000" pitchFamily="2" charset="2"/>
              <a:buNone/>
            </a:pPr>
            <a:r>
              <a:rPr lang="en-GB" altLang="en-US" sz="2800" dirty="0">
                <a:latin typeface="Garamond" panose="02020404030301010803" pitchFamily="18" charset="0"/>
              </a:rPr>
              <a:t>to Storm Surges</a:t>
            </a:r>
          </a:p>
          <a:p>
            <a:pPr eaLnBrk="1" hangingPunct="1">
              <a:lnSpc>
                <a:spcPct val="80000"/>
              </a:lnSpc>
              <a:spcBef>
                <a:spcPct val="20000"/>
              </a:spcBef>
              <a:buClr>
                <a:schemeClr val="hlink"/>
              </a:buClr>
              <a:buSzPct val="65000"/>
              <a:buFont typeface="Wingdings" panose="05000000000000000000" pitchFamily="2" charset="2"/>
              <a:buNone/>
            </a:pPr>
            <a:r>
              <a:rPr lang="en-GB" altLang="en-US" sz="2800" dirty="0">
                <a:latin typeface="Garamond" panose="02020404030301010803" pitchFamily="18" charset="0"/>
              </a:rPr>
              <a:t>and Cyclones</a:t>
            </a:r>
            <a:r>
              <a:rPr lang="en-GB" altLang="en-US" sz="3600" dirty="0"/>
              <a:t>.</a:t>
            </a:r>
          </a:p>
        </p:txBody>
      </p:sp>
      <p:sp>
        <p:nvSpPr>
          <p:cNvPr id="70662" name="AutoShape 6">
            <a:extLst>
              <a:ext uri="{FF2B5EF4-FFF2-40B4-BE49-F238E27FC236}">
                <a16:creationId xmlns:a16="http://schemas.microsoft.com/office/drawing/2014/main" id="{D3F0DDED-8B41-459B-AB25-F2DF9070FA7D}"/>
              </a:ext>
            </a:extLst>
          </p:cNvPr>
          <p:cNvSpPr>
            <a:spLocks noChangeArrowheads="1"/>
          </p:cNvSpPr>
          <p:nvPr/>
        </p:nvSpPr>
        <p:spPr bwMode="auto">
          <a:xfrm rot="17280619">
            <a:off x="2114550" y="4608560"/>
            <a:ext cx="1295400" cy="838200"/>
          </a:xfrm>
          <a:prstGeom prst="rightArrow">
            <a:avLst>
              <a:gd name="adj1" fmla="val 50000"/>
              <a:gd name="adj2" fmla="val 38636"/>
            </a:avLst>
          </a:prstGeom>
          <a:solidFill>
            <a:srgbClr val="FF0000">
              <a:alpha val="43137"/>
            </a:srgbClr>
          </a:solidFill>
          <a:ln w="9525">
            <a:solidFill>
              <a:srgbClr val="FF0000"/>
            </a:solidFill>
            <a:prstDash val="sysDot"/>
            <a:miter lim="800000"/>
            <a:headEnd/>
            <a:tailEnd/>
          </a:ln>
        </p:spPr>
        <p:txBody>
          <a:bodyPr wrap="none" anchor="ct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endParaRPr lang="en-US" altLang="en-US"/>
          </a:p>
        </p:txBody>
      </p:sp>
      <p:sp>
        <p:nvSpPr>
          <p:cNvPr id="24581" name="Rectangle 7">
            <a:extLst>
              <a:ext uri="{FF2B5EF4-FFF2-40B4-BE49-F238E27FC236}">
                <a16:creationId xmlns:a16="http://schemas.microsoft.com/office/drawing/2014/main" id="{65447B1A-953B-40DE-857A-A54FD629495D}"/>
              </a:ext>
            </a:extLst>
          </p:cNvPr>
          <p:cNvSpPr>
            <a:spLocks noChangeArrowheads="1"/>
          </p:cNvSpPr>
          <p:nvPr/>
        </p:nvSpPr>
        <p:spPr bwMode="auto">
          <a:xfrm>
            <a:off x="2571750" y="3389360"/>
            <a:ext cx="914400" cy="9144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pPr algn="ctr" eaLnBrk="1" hangingPunct="1"/>
            <a:r>
              <a:rPr lang="en-US" altLang="en-US" dirty="0">
                <a:latin typeface="Arial" panose="020B0604020202020204" pitchFamily="34" charset="0"/>
              </a:rPr>
              <a:t>SIDR</a:t>
            </a:r>
            <a:r>
              <a:rPr lang="ja-JP" altLang="en-US" dirty="0">
                <a:latin typeface="Arial" panose="020B0604020202020204" pitchFamily="34" charset="0"/>
              </a:rPr>
              <a:t>’</a:t>
            </a:r>
            <a:r>
              <a:rPr lang="en-US" altLang="ja-JP" dirty="0">
                <a:latin typeface="Arial" panose="020B0604020202020204" pitchFamily="34" charset="0"/>
              </a:rPr>
              <a:t>s </a:t>
            </a:r>
          </a:p>
          <a:p>
            <a:pPr algn="ctr" eaLnBrk="1" hangingPunct="1"/>
            <a:r>
              <a:rPr lang="en-US" altLang="en-US" dirty="0">
                <a:latin typeface="Arial" panose="020B0604020202020204" pitchFamily="34" charset="0"/>
              </a:rPr>
              <a:t>route</a:t>
            </a:r>
          </a:p>
        </p:txBody>
      </p:sp>
      <p:sp>
        <p:nvSpPr>
          <p:cNvPr id="24582" name="TextBox 5">
            <a:extLst>
              <a:ext uri="{FF2B5EF4-FFF2-40B4-BE49-F238E27FC236}">
                <a16:creationId xmlns:a16="http://schemas.microsoft.com/office/drawing/2014/main" id="{B94A43E8-D585-4CD9-BB3E-018CFB5505AA}"/>
              </a:ext>
            </a:extLst>
          </p:cNvPr>
          <p:cNvSpPr txBox="1">
            <a:spLocks noChangeArrowheads="1"/>
          </p:cNvSpPr>
          <p:nvPr/>
        </p:nvSpPr>
        <p:spPr bwMode="auto">
          <a:xfrm>
            <a:off x="5562600" y="2209800"/>
            <a:ext cx="3276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r>
              <a:rPr lang="en-US" altLang="en-US" dirty="0">
                <a:solidFill>
                  <a:srgbClr val="000000"/>
                </a:solidFill>
                <a:hlinkClick r:id="rId4"/>
              </a:rPr>
              <a:t>Total fatalities</a:t>
            </a:r>
            <a:r>
              <a:rPr lang="en-US" altLang="en-US" dirty="0">
                <a:solidFill>
                  <a:srgbClr val="000000"/>
                </a:solidFill>
              </a:rPr>
              <a:t>: 10,000</a:t>
            </a:r>
          </a:p>
          <a:p>
            <a:r>
              <a:rPr lang="en-US" altLang="en-US" dirty="0">
                <a:solidFill>
                  <a:srgbClr val="000000"/>
                </a:solidFill>
                <a:hlinkClick r:id="rId5"/>
              </a:rPr>
              <a:t>Date</a:t>
            </a:r>
            <a:r>
              <a:rPr lang="en-US" altLang="en-US" dirty="0">
                <a:solidFill>
                  <a:srgbClr val="000000"/>
                </a:solidFill>
              </a:rPr>
              <a:t>: November 2007</a:t>
            </a:r>
          </a:p>
          <a:p>
            <a:r>
              <a:rPr lang="en-US" altLang="en-US" dirty="0">
                <a:solidFill>
                  <a:srgbClr val="000000"/>
                </a:solidFill>
                <a:hlinkClick r:id="rId6"/>
              </a:rPr>
              <a:t>Affected areas</a:t>
            </a:r>
            <a:r>
              <a:rPr lang="en-US" altLang="en-US" dirty="0">
                <a:solidFill>
                  <a:srgbClr val="000000"/>
                </a:solidFill>
              </a:rPr>
              <a:t>: </a:t>
            </a:r>
            <a:r>
              <a:rPr lang="en-US" altLang="en-US" dirty="0">
                <a:solidFill>
                  <a:srgbClr val="000000"/>
                </a:solidFill>
                <a:hlinkClick r:id="rId7"/>
              </a:rPr>
              <a:t>Bangladesh</a:t>
            </a:r>
            <a:r>
              <a:rPr lang="en-US" altLang="en-US" dirty="0">
                <a:solidFill>
                  <a:srgbClr val="000000"/>
                </a:solidFill>
              </a:rPr>
              <a:t>, </a:t>
            </a:r>
            <a:r>
              <a:rPr lang="en-US" altLang="en-US" dirty="0">
                <a:solidFill>
                  <a:srgbClr val="000000"/>
                </a:solidFill>
                <a:hlinkClick r:id="rId8"/>
              </a:rPr>
              <a:t>India</a:t>
            </a:r>
            <a:endParaRPr lang="en-US" altLang="en-US" dirty="0">
              <a:solidFill>
                <a:srgbClr val="000000"/>
              </a:solidFill>
            </a:endParaRPr>
          </a:p>
          <a:p>
            <a:endParaRPr lang="en-US" altLang="en-US" dirty="0"/>
          </a:p>
        </p:txBody>
      </p:sp>
      <p:sp>
        <p:nvSpPr>
          <p:cNvPr id="24583" name="TextBox 6">
            <a:extLst>
              <a:ext uri="{FF2B5EF4-FFF2-40B4-BE49-F238E27FC236}">
                <a16:creationId xmlns:a16="http://schemas.microsoft.com/office/drawing/2014/main" id="{66911159-0FC0-427F-969F-212AD5E2158B}"/>
              </a:ext>
            </a:extLst>
          </p:cNvPr>
          <p:cNvSpPr txBox="1">
            <a:spLocks noChangeArrowheads="1"/>
          </p:cNvSpPr>
          <p:nvPr/>
        </p:nvSpPr>
        <p:spPr bwMode="auto">
          <a:xfrm>
            <a:off x="5638800" y="228600"/>
            <a:ext cx="2971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r>
              <a:rPr lang="en-US" altLang="en-US" dirty="0"/>
              <a:t>Cyclone </a:t>
            </a:r>
            <a:r>
              <a:rPr lang="en-US" altLang="en-US" dirty="0" err="1"/>
              <a:t>Sidr</a:t>
            </a:r>
            <a:r>
              <a:rPr lang="en-US" altLang="en-US" dirty="0"/>
              <a:t> was the strongest named cyclone in the Bay of Bengal that resulted into one of the worst natural disasters in Bangladesh</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0662"/>
                                        </p:tgtEl>
                                        <p:attrNameLst>
                                          <p:attrName>style.visibility</p:attrName>
                                        </p:attrNameLst>
                                      </p:cBhvr>
                                      <p:to>
                                        <p:strVal val="visible"/>
                                      </p:to>
                                    </p:set>
                                    <p:animEffect transition="in" filter="fade">
                                      <p:cBhvr>
                                        <p:cTn id="7" dur="1000"/>
                                        <p:tgtEl>
                                          <p:spTgt spid="70662"/>
                                        </p:tgtEl>
                                      </p:cBhvr>
                                    </p:animEffect>
                                    <p:anim calcmode="lin" valueType="num">
                                      <p:cBhvr>
                                        <p:cTn id="8" dur="1000" fill="hold"/>
                                        <p:tgtEl>
                                          <p:spTgt spid="70662"/>
                                        </p:tgtEl>
                                        <p:attrNameLst>
                                          <p:attrName>ppt_x</p:attrName>
                                        </p:attrNameLst>
                                      </p:cBhvr>
                                      <p:tavLst>
                                        <p:tav tm="0">
                                          <p:val>
                                            <p:strVal val="#ppt_x"/>
                                          </p:val>
                                        </p:tav>
                                        <p:tav tm="100000">
                                          <p:val>
                                            <p:strVal val="#ppt_x"/>
                                          </p:val>
                                        </p:tav>
                                      </p:tavLst>
                                    </p:anim>
                                    <p:anim calcmode="lin" valueType="num">
                                      <p:cBhvr>
                                        <p:cTn id="9" dur="1000" fill="hold"/>
                                        <p:tgtEl>
                                          <p:spTgt spid="7066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578"/>
                                        </p:tgtEl>
                                        <p:attrNameLst>
                                          <p:attrName>style.visibility</p:attrName>
                                        </p:attrNameLst>
                                      </p:cBhvr>
                                      <p:to>
                                        <p:strVal val="visible"/>
                                      </p:to>
                                    </p:set>
                                    <p:animEffect transition="in" filter="fade">
                                      <p:cBhvr>
                                        <p:cTn id="12" dur="1000"/>
                                        <p:tgtEl>
                                          <p:spTgt spid="24578"/>
                                        </p:tgtEl>
                                      </p:cBhvr>
                                    </p:animEffect>
                                    <p:anim calcmode="lin" valueType="num">
                                      <p:cBhvr>
                                        <p:cTn id="13" dur="1000" fill="hold"/>
                                        <p:tgtEl>
                                          <p:spTgt spid="24578"/>
                                        </p:tgtEl>
                                        <p:attrNameLst>
                                          <p:attrName>ppt_x</p:attrName>
                                        </p:attrNameLst>
                                      </p:cBhvr>
                                      <p:tavLst>
                                        <p:tav tm="0">
                                          <p:val>
                                            <p:strVal val="#ppt_x"/>
                                          </p:val>
                                        </p:tav>
                                        <p:tav tm="100000">
                                          <p:val>
                                            <p:strVal val="#ppt_x"/>
                                          </p:val>
                                        </p:tav>
                                      </p:tavLst>
                                    </p:anim>
                                    <p:anim calcmode="lin" valueType="num">
                                      <p:cBhvr>
                                        <p:cTn id="14" dur="1000" fill="hold"/>
                                        <p:tgtEl>
                                          <p:spTgt spid="2457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4581"/>
                                        </p:tgtEl>
                                        <p:attrNameLst>
                                          <p:attrName>style.visibility</p:attrName>
                                        </p:attrNameLst>
                                      </p:cBhvr>
                                      <p:to>
                                        <p:strVal val="visible"/>
                                      </p:to>
                                    </p:set>
                                    <p:animEffect transition="in" filter="fade">
                                      <p:cBhvr>
                                        <p:cTn id="17" dur="1000"/>
                                        <p:tgtEl>
                                          <p:spTgt spid="24581"/>
                                        </p:tgtEl>
                                      </p:cBhvr>
                                    </p:animEffect>
                                    <p:anim calcmode="lin" valueType="num">
                                      <p:cBhvr>
                                        <p:cTn id="18" dur="1000" fill="hold"/>
                                        <p:tgtEl>
                                          <p:spTgt spid="24581"/>
                                        </p:tgtEl>
                                        <p:attrNameLst>
                                          <p:attrName>ppt_x</p:attrName>
                                        </p:attrNameLst>
                                      </p:cBhvr>
                                      <p:tavLst>
                                        <p:tav tm="0">
                                          <p:val>
                                            <p:strVal val="#ppt_x"/>
                                          </p:val>
                                        </p:tav>
                                        <p:tav tm="100000">
                                          <p:val>
                                            <p:strVal val="#ppt_x"/>
                                          </p:val>
                                        </p:tav>
                                      </p:tavLst>
                                    </p:anim>
                                    <p:anim calcmode="lin" valueType="num">
                                      <p:cBhvr>
                                        <p:cTn id="19" dur="1000" fill="hold"/>
                                        <p:tgtEl>
                                          <p:spTgt spid="2458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4583"/>
                                        </p:tgtEl>
                                        <p:attrNameLst>
                                          <p:attrName>style.visibility</p:attrName>
                                        </p:attrNameLst>
                                      </p:cBhvr>
                                      <p:to>
                                        <p:strVal val="visible"/>
                                      </p:to>
                                    </p:set>
                                    <p:animEffect transition="in" filter="barn(inVertical)">
                                      <p:cBhvr>
                                        <p:cTn id="24" dur="500"/>
                                        <p:tgtEl>
                                          <p:spTgt spid="2458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4582"/>
                                        </p:tgtEl>
                                        <p:attrNameLst>
                                          <p:attrName>style.visibility</p:attrName>
                                        </p:attrNameLst>
                                      </p:cBhvr>
                                      <p:to>
                                        <p:strVal val="visible"/>
                                      </p:to>
                                    </p:set>
                                    <p:anim calcmode="lin" valueType="num">
                                      <p:cBhvr additive="base">
                                        <p:cTn id="29" dur="500" fill="hold"/>
                                        <p:tgtEl>
                                          <p:spTgt spid="24582"/>
                                        </p:tgtEl>
                                        <p:attrNameLst>
                                          <p:attrName>ppt_x</p:attrName>
                                        </p:attrNameLst>
                                      </p:cBhvr>
                                      <p:tavLst>
                                        <p:tav tm="0">
                                          <p:val>
                                            <p:strVal val="#ppt_x"/>
                                          </p:val>
                                        </p:tav>
                                        <p:tav tm="100000">
                                          <p:val>
                                            <p:strVal val="#ppt_x"/>
                                          </p:val>
                                        </p:tav>
                                      </p:tavLst>
                                    </p:anim>
                                    <p:anim calcmode="lin" valueType="num">
                                      <p:cBhvr additive="base">
                                        <p:cTn id="30" dur="500" fill="hold"/>
                                        <p:tgtEl>
                                          <p:spTgt spid="2458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4579"/>
                                        </p:tgtEl>
                                        <p:attrNameLst>
                                          <p:attrName>style.visibility</p:attrName>
                                        </p:attrNameLst>
                                      </p:cBhvr>
                                      <p:to>
                                        <p:strVal val="visible"/>
                                      </p:to>
                                    </p:set>
                                    <p:animEffect transition="in" filter="wipe(down)">
                                      <p:cBhvr>
                                        <p:cTn id="35" dur="500"/>
                                        <p:tgtEl>
                                          <p:spTgt spid="2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nimBg="1"/>
      <p:bldP spid="70662" grpId="0" animBg="1"/>
      <p:bldP spid="24581" grpId="0" animBg="1"/>
      <p:bldP spid="24582" grpId="0"/>
      <p:bldP spid="2458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descr="Bangladesh-map">
            <a:extLst>
              <a:ext uri="{FF2B5EF4-FFF2-40B4-BE49-F238E27FC236}">
                <a16:creationId xmlns:a16="http://schemas.microsoft.com/office/drawing/2014/main" id="{C04F9C17-4ECD-4957-BF73-61A6234A923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769937"/>
            <a:ext cx="4334132" cy="4648200"/>
          </a:xfrm>
          <a:noFill/>
        </p:spPr>
      </p:pic>
      <p:sp>
        <p:nvSpPr>
          <p:cNvPr id="25603" name="Text Box 6">
            <a:extLst>
              <a:ext uri="{FF2B5EF4-FFF2-40B4-BE49-F238E27FC236}">
                <a16:creationId xmlns:a16="http://schemas.microsoft.com/office/drawing/2014/main" id="{6C5ACF7A-0BE2-4257-B197-6102A073F13F}"/>
              </a:ext>
            </a:extLst>
          </p:cNvPr>
          <p:cNvSpPr txBox="1">
            <a:spLocks noChangeArrowheads="1"/>
          </p:cNvSpPr>
          <p:nvPr/>
        </p:nvSpPr>
        <p:spPr bwMode="auto">
          <a:xfrm>
            <a:off x="5638800" y="1408112"/>
            <a:ext cx="29718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MS PGothic" panose="020B0600070205080204" pitchFamily="34" charset="-128"/>
              </a:defRPr>
            </a:lvl9pPr>
          </a:lstStyle>
          <a:p>
            <a:pPr algn="just" eaLnBrk="1" hangingPunct="1">
              <a:spcBef>
                <a:spcPct val="50000"/>
              </a:spcBef>
              <a:buFontTx/>
              <a:buChar char="•"/>
            </a:pPr>
            <a:r>
              <a:rPr lang="en-GB" altLang="en-US" sz="2400" dirty="0">
                <a:latin typeface="Garamond" panose="02020404030301010803" pitchFamily="18" charset="0"/>
              </a:rPr>
              <a:t>In 1970, 300,000 people died in a cyclone </a:t>
            </a:r>
          </a:p>
          <a:p>
            <a:pPr algn="just" eaLnBrk="1" hangingPunct="1">
              <a:spcBef>
                <a:spcPct val="50000"/>
              </a:spcBef>
              <a:buFontTx/>
              <a:buChar char="•"/>
            </a:pPr>
            <a:r>
              <a:rPr lang="en-GB" altLang="en-US" sz="2400" dirty="0">
                <a:latin typeface="Garamond" panose="02020404030301010803" pitchFamily="18" charset="0"/>
              </a:rPr>
              <a:t> 1988 cyclone Death toll over 2,000 </a:t>
            </a:r>
          </a:p>
          <a:p>
            <a:pPr algn="just" eaLnBrk="1" hangingPunct="1">
              <a:spcBef>
                <a:spcPct val="50000"/>
              </a:spcBef>
              <a:buFontTx/>
              <a:buChar char="•"/>
            </a:pPr>
            <a:r>
              <a:rPr lang="en-GB" altLang="en-US" sz="2400" dirty="0">
                <a:latin typeface="Garamond" panose="02020404030301010803" pitchFamily="18" charset="0"/>
              </a:rPr>
              <a:t>  cyclone 1991 an estimated </a:t>
            </a:r>
            <a:r>
              <a:rPr lang="en-GB" altLang="en-US" sz="2400" b="1" dirty="0">
                <a:latin typeface="Garamond" panose="02020404030301010803" pitchFamily="18" charset="0"/>
              </a:rPr>
              <a:t>140,000 deaths</a:t>
            </a:r>
            <a:r>
              <a:rPr lang="en-GB" altLang="en-US" sz="2400" dirty="0">
                <a:latin typeface="Garamond" panose="02020404030301010803" pitchFamily="18" charset="0"/>
              </a:rPr>
              <a:t>. </a:t>
            </a:r>
          </a:p>
          <a:p>
            <a:pPr eaLnBrk="1" hangingPunct="1">
              <a:spcBef>
                <a:spcPct val="50000"/>
              </a:spcBef>
            </a:pPr>
            <a:endParaRPr lang="en-GB" altLang="en-US" sz="24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fade">
                                      <p:cBhvr>
                                        <p:cTn id="7" dur="1000"/>
                                        <p:tgtEl>
                                          <p:spTgt spid="25602"/>
                                        </p:tgtEl>
                                      </p:cBhvr>
                                    </p:animEffect>
                                    <p:anim calcmode="lin" valueType="num">
                                      <p:cBhvr>
                                        <p:cTn id="8" dur="1000" fill="hold"/>
                                        <p:tgtEl>
                                          <p:spTgt spid="25602"/>
                                        </p:tgtEl>
                                        <p:attrNameLst>
                                          <p:attrName>ppt_x</p:attrName>
                                        </p:attrNameLst>
                                      </p:cBhvr>
                                      <p:tavLst>
                                        <p:tav tm="0">
                                          <p:val>
                                            <p:strVal val="#ppt_x"/>
                                          </p:val>
                                        </p:tav>
                                        <p:tav tm="100000">
                                          <p:val>
                                            <p:strVal val="#ppt_x"/>
                                          </p:val>
                                        </p:tav>
                                      </p:tavLst>
                                    </p:anim>
                                    <p:anim calcmode="lin" valueType="num">
                                      <p:cBhvr>
                                        <p:cTn id="9" dur="1000" fill="hold"/>
                                        <p:tgtEl>
                                          <p:spTgt spid="2560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5603"/>
                                        </p:tgtEl>
                                        <p:attrNameLst>
                                          <p:attrName>style.visibility</p:attrName>
                                        </p:attrNameLst>
                                      </p:cBhvr>
                                      <p:to>
                                        <p:strVal val="visible"/>
                                      </p:to>
                                    </p:set>
                                    <p:anim calcmode="lin" valueType="num">
                                      <p:cBhvr additive="base">
                                        <p:cTn id="14" dur="500" fill="hold"/>
                                        <p:tgtEl>
                                          <p:spTgt spid="25603"/>
                                        </p:tgtEl>
                                        <p:attrNameLst>
                                          <p:attrName>ppt_x</p:attrName>
                                        </p:attrNameLst>
                                      </p:cBhvr>
                                      <p:tavLst>
                                        <p:tav tm="0">
                                          <p:val>
                                            <p:strVal val="#ppt_x"/>
                                          </p:val>
                                        </p:tav>
                                        <p:tav tm="100000">
                                          <p:val>
                                            <p:strVal val="#ppt_x"/>
                                          </p:val>
                                        </p:tav>
                                      </p:tavLst>
                                    </p:anim>
                                    <p:anim calcmode="lin" valueType="num">
                                      <p:cBhvr additive="base">
                                        <p:cTn id="15" dur="500" fill="hold"/>
                                        <p:tgtEl>
                                          <p:spTgt spid="256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378D80FB-19DD-47B5-90B8-64D009698C5F}"/>
              </a:ext>
            </a:extLst>
          </p:cNvPr>
          <p:cNvSpPr>
            <a:spLocks noGrp="1" noChangeArrowheads="1"/>
          </p:cNvSpPr>
          <p:nvPr>
            <p:ph type="title"/>
          </p:nvPr>
        </p:nvSpPr>
        <p:spPr>
          <a:xfrm>
            <a:off x="1219200" y="152400"/>
            <a:ext cx="7010400" cy="914400"/>
          </a:xfrm>
        </p:spPr>
        <p:txBody>
          <a:bodyPr vert="horz" wrap="square" lIns="91440" tIns="45720" rIns="91440" bIns="45720" numCol="1" anchorCtr="0" compatLnSpc="1">
            <a:prstTxWarp prst="textNoShape">
              <a:avLst/>
            </a:prstTxWarp>
          </a:bodyPr>
          <a:lstStyle/>
          <a:p>
            <a:pPr eaLnBrk="1" hangingPunct="1">
              <a:defRPr/>
            </a:pPr>
            <a:r>
              <a:rPr lang="en-US" sz="2800" b="1" dirty="0">
                <a:solidFill>
                  <a:schemeClr val="tx1"/>
                </a:solidFill>
                <a:effectLst>
                  <a:outerShdw blurRad="38100" dist="38100" dir="2700000" algn="tl">
                    <a:srgbClr val="C0C0C0"/>
                  </a:outerShdw>
                </a:effectLst>
                <a:latin typeface="Garamond" pitchFamily="18" charset="0"/>
              </a:rPr>
              <a:t>Flood</a:t>
            </a:r>
          </a:p>
        </p:txBody>
      </p:sp>
      <p:sp>
        <p:nvSpPr>
          <p:cNvPr id="26627" name="Rectangle 3">
            <a:extLst>
              <a:ext uri="{FF2B5EF4-FFF2-40B4-BE49-F238E27FC236}">
                <a16:creationId xmlns:a16="http://schemas.microsoft.com/office/drawing/2014/main" id="{4E9031C8-F3D9-4A19-A2BB-7D1D39B32D98}"/>
              </a:ext>
            </a:extLst>
          </p:cNvPr>
          <p:cNvSpPr>
            <a:spLocks noGrp="1" noChangeArrowheads="1"/>
          </p:cNvSpPr>
          <p:nvPr>
            <p:ph idx="1"/>
          </p:nvPr>
        </p:nvSpPr>
        <p:spPr>
          <a:xfrm>
            <a:off x="762000" y="990600"/>
            <a:ext cx="7924800" cy="5105400"/>
          </a:xfrm>
        </p:spPr>
        <p:txBody>
          <a:bodyPr/>
          <a:lstStyle/>
          <a:p>
            <a:pPr algn="just">
              <a:buNone/>
            </a:pPr>
            <a:r>
              <a:rPr lang="en-US" dirty="0"/>
              <a:t>A </a:t>
            </a:r>
            <a:r>
              <a:rPr lang="en-US" b="1" dirty="0"/>
              <a:t>flood</a:t>
            </a:r>
            <a:r>
              <a:rPr lang="en-US" dirty="0"/>
              <a:t> is an overflow of water that submerges land that is usually dry. This is most commonly due to an overflowing river,  a dam break, snowmelt, or heavy rainfall. Less commonly happening are tsunamis, storm surge.</a:t>
            </a:r>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barn(inVertical)">
                                      <p:cBhvr>
                                        <p:cTn id="7" dur="500"/>
                                        <p:tgtEl>
                                          <p:spTgt spid="7475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fade">
                                      <p:cBhvr>
                                        <p:cTn id="12" dur="1000"/>
                                        <p:tgtEl>
                                          <p:spTgt spid="26627">
                                            <p:txEl>
                                              <p:pRg st="0" end="0"/>
                                            </p:txEl>
                                          </p:spTgt>
                                        </p:tgtEl>
                                      </p:cBhvr>
                                    </p:animEffect>
                                    <p:anim calcmode="lin" valueType="num">
                                      <p:cBhvr>
                                        <p:cTn id="13" dur="10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662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p:bldP spid="2662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4FF0019D-C669-498D-B3AB-BEC42DB0199C}"/>
              </a:ext>
            </a:extLst>
          </p:cNvPr>
          <p:cNvSpPr>
            <a:spLocks noGrp="1" noChangeArrowheads="1"/>
          </p:cNvSpPr>
          <p:nvPr>
            <p:ph type="title"/>
          </p:nvPr>
        </p:nvSpPr>
        <p:spPr>
          <a:xfrm>
            <a:off x="990600" y="152400"/>
            <a:ext cx="7696200" cy="914400"/>
          </a:xfrm>
        </p:spPr>
        <p:txBody>
          <a:bodyPr vert="horz" wrap="square" lIns="91440" tIns="45720" rIns="91440" bIns="45720" numCol="1" anchorCtr="0" compatLnSpc="1">
            <a:prstTxWarp prst="textNoShape">
              <a:avLst/>
            </a:prstTxWarp>
          </a:bodyPr>
          <a:lstStyle/>
          <a:p>
            <a:pPr eaLnBrk="1" hangingPunct="1">
              <a:defRPr/>
            </a:pPr>
            <a:r>
              <a:rPr lang="en-US" sz="2800" b="1" u="sng" dirty="0">
                <a:solidFill>
                  <a:schemeClr val="tx1"/>
                </a:solidFill>
                <a:effectLst>
                  <a:outerShdw blurRad="38100" dist="38100" dir="2700000" algn="tl">
                    <a:srgbClr val="C0C0C0"/>
                  </a:outerShdw>
                </a:effectLst>
                <a:latin typeface="Garamond" pitchFamily="18" charset="0"/>
              </a:rPr>
              <a:t>Principal types of flood</a:t>
            </a:r>
          </a:p>
        </p:txBody>
      </p:sp>
      <p:sp>
        <p:nvSpPr>
          <p:cNvPr id="27651" name="Rectangle 3">
            <a:extLst>
              <a:ext uri="{FF2B5EF4-FFF2-40B4-BE49-F238E27FC236}">
                <a16:creationId xmlns:a16="http://schemas.microsoft.com/office/drawing/2014/main" id="{CAFC2843-9B6B-4A29-AD49-F84DB66D680E}"/>
              </a:ext>
            </a:extLst>
          </p:cNvPr>
          <p:cNvSpPr>
            <a:spLocks noGrp="1" noChangeArrowheads="1"/>
          </p:cNvSpPr>
          <p:nvPr>
            <p:ph idx="1"/>
          </p:nvPr>
        </p:nvSpPr>
        <p:spPr>
          <a:xfrm>
            <a:off x="914400" y="1143000"/>
            <a:ext cx="7848600" cy="5334000"/>
          </a:xfrm>
        </p:spPr>
        <p:txBody>
          <a:bodyPr/>
          <a:lstStyle/>
          <a:p>
            <a:pPr eaLnBrk="1" hangingPunct="1">
              <a:buFont typeface="Wingdings" panose="05000000000000000000" pitchFamily="2" charset="2"/>
              <a:buNone/>
            </a:pPr>
            <a:r>
              <a:rPr lang="en-US" altLang="en-US" sz="2800" dirty="0">
                <a:latin typeface="Times New Roman" panose="02020603050405020304" pitchFamily="18" charset="0"/>
                <a:cs typeface="Times New Roman" panose="02020603050405020304" pitchFamily="18" charset="0"/>
              </a:rPr>
              <a:t>Flooding can be divided into different categories according to their </a:t>
            </a:r>
            <a:r>
              <a:rPr lang="en-US" altLang="en-US" sz="2800" b="1" dirty="0">
                <a:latin typeface="Times New Roman" panose="02020603050405020304" pitchFamily="18" charset="0"/>
                <a:cs typeface="Times New Roman" panose="02020603050405020304" pitchFamily="18" charset="0"/>
              </a:rPr>
              <a:t>duration</a:t>
            </a:r>
            <a:r>
              <a:rPr lang="en-US" altLang="en-US" sz="2800" dirty="0">
                <a:latin typeface="Times New Roman" panose="02020603050405020304" pitchFamily="18" charset="0"/>
                <a:cs typeface="Times New Roman" panose="02020603050405020304" pitchFamily="18" charset="0"/>
              </a:rPr>
              <a:t>:</a:t>
            </a:r>
          </a:p>
          <a:p>
            <a:pPr eaLnBrk="1" hangingPunct="1">
              <a:buFont typeface="Wingdings" panose="05000000000000000000" pitchFamily="2" charset="2"/>
              <a:buNone/>
            </a:pPr>
            <a:r>
              <a:rPr lang="en-US" altLang="en-US" sz="2800" b="1" dirty="0">
                <a:latin typeface="Times New Roman" panose="02020603050405020304" pitchFamily="18" charset="0"/>
                <a:cs typeface="Times New Roman" panose="02020603050405020304" pitchFamily="18" charset="0"/>
              </a:rPr>
              <a:t>1. Slow-Onset Floods</a:t>
            </a:r>
            <a:endParaRPr lang="en-US" altLang="en-US" sz="28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r>
              <a:rPr lang="en-US" altLang="en-US" sz="2800" dirty="0">
                <a:latin typeface="Times New Roman" panose="02020603050405020304" pitchFamily="18" charset="0"/>
                <a:cs typeface="Times New Roman" panose="02020603050405020304" pitchFamily="18" charset="0"/>
              </a:rPr>
              <a:t>	Slow-Onset Floods usually last for a relatively longer period, it may last for </a:t>
            </a:r>
            <a:r>
              <a:rPr lang="en-US" altLang="en-US" sz="2800" dirty="0">
                <a:solidFill>
                  <a:srgbClr val="FF0000"/>
                </a:solidFill>
                <a:latin typeface="Times New Roman" panose="02020603050405020304" pitchFamily="18" charset="0"/>
                <a:cs typeface="Times New Roman" panose="02020603050405020304" pitchFamily="18" charset="0"/>
              </a:rPr>
              <a:t>one or more weeks, or even months</a:t>
            </a:r>
            <a:r>
              <a:rPr lang="en-US" altLang="en-US" sz="2800" dirty="0">
                <a:latin typeface="Times New Roman" panose="02020603050405020304" pitchFamily="18" charset="0"/>
                <a:cs typeface="Times New Roman" panose="02020603050405020304" pitchFamily="18" charset="0"/>
              </a:rPr>
              <a:t>. As this kind of flood last for a long period, it can lead to lose of stock, damage to agricultural products, roads and rail links.</a:t>
            </a:r>
          </a:p>
          <a:p>
            <a:pPr eaLnBrk="1" hangingPunct="1">
              <a:buFont typeface="Wingdings" panose="05000000000000000000" pitchFamily="2" charset="2"/>
              <a:buNone/>
            </a:pPr>
            <a:r>
              <a:rPr lang="en-US" altLang="en-US" sz="2800" dirty="0">
                <a:latin typeface="Times New Roman" panose="02020603050405020304" pitchFamily="18" charset="0"/>
                <a:cs typeface="Times New Roman" panose="02020603050405020304" pitchFamily="18" charset="0"/>
              </a:rPr>
              <a:t> </a:t>
            </a:r>
          </a:p>
          <a:p>
            <a:pPr eaLnBrk="1" hangingPunct="1">
              <a:lnSpc>
                <a:spcPct val="90000"/>
              </a:lnSpc>
            </a:pPr>
            <a:endParaRPr lang="en-US" altLang="en-US" sz="28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fade">
                                      <p:cBhvr>
                                        <p:cTn id="7" dur="1000"/>
                                        <p:tgtEl>
                                          <p:spTgt spid="75778"/>
                                        </p:tgtEl>
                                      </p:cBhvr>
                                    </p:animEffect>
                                    <p:anim calcmode="lin" valueType="num">
                                      <p:cBhvr>
                                        <p:cTn id="8" dur="1000" fill="hold"/>
                                        <p:tgtEl>
                                          <p:spTgt spid="75778"/>
                                        </p:tgtEl>
                                        <p:attrNameLst>
                                          <p:attrName>ppt_x</p:attrName>
                                        </p:attrNameLst>
                                      </p:cBhvr>
                                      <p:tavLst>
                                        <p:tav tm="0">
                                          <p:val>
                                            <p:strVal val="#ppt_x"/>
                                          </p:val>
                                        </p:tav>
                                        <p:tav tm="100000">
                                          <p:val>
                                            <p:strVal val="#ppt_x"/>
                                          </p:val>
                                        </p:tav>
                                      </p:tavLst>
                                    </p:anim>
                                    <p:anim calcmode="lin" valueType="num">
                                      <p:cBhvr>
                                        <p:cTn id="9" dur="1000" fill="hold"/>
                                        <p:tgtEl>
                                          <p:spTgt spid="7577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651">
                                            <p:txEl>
                                              <p:pRg st="0" end="0"/>
                                            </p:txEl>
                                          </p:spTgt>
                                        </p:tgtEl>
                                        <p:attrNameLst>
                                          <p:attrName>style.visibility</p:attrName>
                                        </p:attrNameLst>
                                      </p:cBhvr>
                                      <p:to>
                                        <p:strVal val="visible"/>
                                      </p:to>
                                    </p:set>
                                    <p:animEffect transition="in" filter="fade">
                                      <p:cBhvr>
                                        <p:cTn id="14" dur="1000"/>
                                        <p:tgtEl>
                                          <p:spTgt spid="27651">
                                            <p:txEl>
                                              <p:pRg st="0" end="0"/>
                                            </p:txEl>
                                          </p:spTgt>
                                        </p:tgtEl>
                                      </p:cBhvr>
                                    </p:animEffect>
                                    <p:anim calcmode="lin" valueType="num">
                                      <p:cBhvr>
                                        <p:cTn id="15" dur="10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765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651">
                                            <p:txEl>
                                              <p:pRg st="1" end="1"/>
                                            </p:txEl>
                                          </p:spTgt>
                                        </p:tgtEl>
                                        <p:attrNameLst>
                                          <p:attrName>style.visibility</p:attrName>
                                        </p:attrNameLst>
                                      </p:cBhvr>
                                      <p:to>
                                        <p:strVal val="visible"/>
                                      </p:to>
                                    </p:set>
                                    <p:animEffect transition="in" filter="fade">
                                      <p:cBhvr>
                                        <p:cTn id="21" dur="1000"/>
                                        <p:tgtEl>
                                          <p:spTgt spid="27651">
                                            <p:txEl>
                                              <p:pRg st="1" end="1"/>
                                            </p:txEl>
                                          </p:spTgt>
                                        </p:tgtEl>
                                      </p:cBhvr>
                                    </p:animEffect>
                                    <p:anim calcmode="lin" valueType="num">
                                      <p:cBhvr>
                                        <p:cTn id="22"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765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7651">
                                            <p:txEl>
                                              <p:pRg st="2" end="2"/>
                                            </p:txEl>
                                          </p:spTgt>
                                        </p:tgtEl>
                                        <p:attrNameLst>
                                          <p:attrName>style.visibility</p:attrName>
                                        </p:attrNameLst>
                                      </p:cBhvr>
                                      <p:to>
                                        <p:strVal val="visible"/>
                                      </p:to>
                                    </p:set>
                                    <p:animEffect transition="in" filter="fade">
                                      <p:cBhvr>
                                        <p:cTn id="28" dur="1000"/>
                                        <p:tgtEl>
                                          <p:spTgt spid="27651">
                                            <p:txEl>
                                              <p:pRg st="2" end="2"/>
                                            </p:txEl>
                                          </p:spTgt>
                                        </p:tgtEl>
                                      </p:cBhvr>
                                    </p:animEffect>
                                    <p:anim calcmode="lin" valueType="num">
                                      <p:cBhvr>
                                        <p:cTn id="29" dur="10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765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7651">
                                            <p:txEl>
                                              <p:pRg st="3" end="3"/>
                                            </p:txEl>
                                          </p:spTgt>
                                        </p:tgtEl>
                                        <p:attrNameLst>
                                          <p:attrName>style.visibility</p:attrName>
                                        </p:attrNameLst>
                                      </p:cBhvr>
                                      <p:to>
                                        <p:strVal val="visible"/>
                                      </p:to>
                                    </p:set>
                                    <p:animEffect transition="in" filter="fade">
                                      <p:cBhvr>
                                        <p:cTn id="35" dur="1000"/>
                                        <p:tgtEl>
                                          <p:spTgt spid="27651">
                                            <p:txEl>
                                              <p:pRg st="3" end="3"/>
                                            </p:txEl>
                                          </p:spTgt>
                                        </p:tgtEl>
                                      </p:cBhvr>
                                    </p:animEffect>
                                    <p:anim calcmode="lin" valueType="num">
                                      <p:cBhvr>
                                        <p:cTn id="36" dur="10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765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276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a:extLst>
              <a:ext uri="{FF2B5EF4-FFF2-40B4-BE49-F238E27FC236}">
                <a16:creationId xmlns:a16="http://schemas.microsoft.com/office/drawing/2014/main" id="{57E8096F-2043-41DA-A41A-A65FE8E7768B}"/>
              </a:ext>
            </a:extLst>
          </p:cNvPr>
          <p:cNvSpPr>
            <a:spLocks noGrp="1" noChangeArrowheads="1"/>
          </p:cNvSpPr>
          <p:nvPr>
            <p:ph idx="1"/>
          </p:nvPr>
        </p:nvSpPr>
        <p:spPr>
          <a:xfrm>
            <a:off x="838200" y="1143000"/>
            <a:ext cx="7848600" cy="4953000"/>
          </a:xfrm>
        </p:spPr>
        <p:txBody>
          <a:bodyPr>
            <a:normAutofit fontScale="92500" lnSpcReduction="10000"/>
          </a:bodyPr>
          <a:lstStyle/>
          <a:p>
            <a:pPr marL="365760" indent="-283464" eaLnBrk="1" fontAlgn="auto" hangingPunct="1">
              <a:spcAft>
                <a:spcPts val="0"/>
              </a:spcAft>
              <a:buFont typeface="Wingdings" pitchFamily="2" charset="2"/>
              <a:buNone/>
              <a:defRPr/>
            </a:pPr>
            <a:r>
              <a:rPr lang="en-US" sz="2800" b="1" dirty="0">
                <a:ea typeface="+mn-ea"/>
              </a:rPr>
              <a:t>2</a:t>
            </a:r>
            <a:r>
              <a:rPr lang="en-US" sz="2800" b="1" dirty="0">
                <a:latin typeface="Times New Roman" pitchFamily="18" charset="0"/>
                <a:ea typeface="+mn-ea"/>
                <a:cs typeface="Times New Roman" pitchFamily="18" charset="0"/>
              </a:rPr>
              <a:t>. Rapid-Onset Floods</a:t>
            </a:r>
            <a:endParaRPr lang="en-US" sz="2800" dirty="0">
              <a:latin typeface="Times New Roman" pitchFamily="18" charset="0"/>
              <a:ea typeface="+mn-ea"/>
              <a:cs typeface="Times New Roman" pitchFamily="18" charset="0"/>
            </a:endParaRPr>
          </a:p>
          <a:p>
            <a:pPr marL="365760" indent="-283464" algn="just" eaLnBrk="1" fontAlgn="auto" hangingPunct="1">
              <a:spcAft>
                <a:spcPts val="0"/>
              </a:spcAft>
              <a:buFont typeface="Wingdings" pitchFamily="2" charset="2"/>
              <a:buNone/>
              <a:defRPr/>
            </a:pPr>
            <a:r>
              <a:rPr lang="en-US" sz="2800" dirty="0">
                <a:latin typeface="Times New Roman" pitchFamily="18" charset="0"/>
                <a:ea typeface="+mn-ea"/>
                <a:cs typeface="Times New Roman" pitchFamily="18" charset="0"/>
              </a:rPr>
              <a:t>	Rapid-Onset Floods last for a relatively shorter period, they usually last for </a:t>
            </a:r>
            <a:r>
              <a:rPr lang="en-US" sz="2800" dirty="0">
                <a:solidFill>
                  <a:srgbClr val="FF0000"/>
                </a:solidFill>
                <a:latin typeface="Times New Roman" pitchFamily="18" charset="0"/>
                <a:ea typeface="+mn-ea"/>
                <a:cs typeface="Times New Roman" pitchFamily="18" charset="0"/>
              </a:rPr>
              <a:t>one or two days </a:t>
            </a:r>
            <a:r>
              <a:rPr lang="en-US" sz="2800" dirty="0">
                <a:latin typeface="Times New Roman" pitchFamily="18" charset="0"/>
                <a:ea typeface="+mn-ea"/>
                <a:cs typeface="Times New Roman" pitchFamily="18" charset="0"/>
              </a:rPr>
              <a:t>only. Although this kind of flood lasts for a shorter period, it can cause more damages and pose a greater risk to life and property as people usually have less time to take preventative action during rapid-onset floods.</a:t>
            </a:r>
          </a:p>
          <a:p>
            <a:pPr marL="365760" indent="-283464" eaLnBrk="1" fontAlgn="auto" hangingPunct="1">
              <a:spcAft>
                <a:spcPts val="0"/>
              </a:spcAft>
              <a:buFont typeface="Wingdings" pitchFamily="2" charset="2"/>
              <a:buNone/>
              <a:defRPr/>
            </a:pPr>
            <a:r>
              <a:rPr lang="en-US" sz="2800" b="1" dirty="0">
                <a:latin typeface="Times New Roman" pitchFamily="18" charset="0"/>
                <a:ea typeface="+mn-ea"/>
                <a:cs typeface="Times New Roman" pitchFamily="18" charset="0"/>
              </a:rPr>
              <a:t>3. Flash Floods</a:t>
            </a:r>
            <a:endParaRPr lang="en-US" sz="2800" dirty="0">
              <a:latin typeface="Times New Roman" pitchFamily="18" charset="0"/>
              <a:ea typeface="+mn-ea"/>
              <a:cs typeface="Times New Roman" pitchFamily="18" charset="0"/>
            </a:endParaRPr>
          </a:p>
          <a:p>
            <a:pPr marL="365760" indent="-283464" algn="just" eaLnBrk="1" fontAlgn="auto" hangingPunct="1">
              <a:spcAft>
                <a:spcPts val="0"/>
              </a:spcAft>
              <a:buFont typeface="Wingdings" pitchFamily="2" charset="2"/>
              <a:buNone/>
              <a:defRPr/>
            </a:pPr>
            <a:r>
              <a:rPr lang="en-US" sz="2800" dirty="0">
                <a:latin typeface="Times New Roman" pitchFamily="18" charset="0"/>
                <a:ea typeface="+mn-ea"/>
                <a:cs typeface="Times New Roman" pitchFamily="18" charset="0"/>
              </a:rPr>
              <a:t>	Flash Floods may occur </a:t>
            </a:r>
            <a:r>
              <a:rPr lang="en-US" sz="2800" dirty="0">
                <a:solidFill>
                  <a:srgbClr val="FF0000"/>
                </a:solidFill>
                <a:latin typeface="Times New Roman" pitchFamily="18" charset="0"/>
                <a:ea typeface="+mn-ea"/>
                <a:cs typeface="Times New Roman" pitchFamily="18" charset="0"/>
              </a:rPr>
              <a:t>within minutes or a few hours </a:t>
            </a:r>
            <a:r>
              <a:rPr lang="en-US" sz="2800" dirty="0">
                <a:latin typeface="Times New Roman" pitchFamily="18" charset="0"/>
                <a:ea typeface="+mn-ea"/>
                <a:cs typeface="Times New Roman" pitchFamily="18" charset="0"/>
              </a:rPr>
              <a:t>after heavy rainfall, tropical storm, failure of dams or releases of ice jams. And it causes the greatest damages to society.</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fade">
                                      <p:cBhvr>
                                        <p:cTn id="7" dur="1000"/>
                                        <p:tgtEl>
                                          <p:spTgt spid="76803">
                                            <p:txEl>
                                              <p:pRg st="0" end="0"/>
                                            </p:txEl>
                                          </p:spTgt>
                                        </p:tgtEl>
                                      </p:cBhvr>
                                    </p:animEffect>
                                    <p:anim calcmode="lin" valueType="num">
                                      <p:cBhvr>
                                        <p:cTn id="8" dur="1000" fill="hold"/>
                                        <p:tgtEl>
                                          <p:spTgt spid="768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68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6803">
                                            <p:txEl>
                                              <p:pRg st="1" end="1"/>
                                            </p:txEl>
                                          </p:spTgt>
                                        </p:tgtEl>
                                        <p:attrNameLst>
                                          <p:attrName>style.visibility</p:attrName>
                                        </p:attrNameLst>
                                      </p:cBhvr>
                                      <p:to>
                                        <p:strVal val="visible"/>
                                      </p:to>
                                    </p:set>
                                    <p:animEffect transition="in" filter="fade">
                                      <p:cBhvr>
                                        <p:cTn id="14" dur="1000"/>
                                        <p:tgtEl>
                                          <p:spTgt spid="76803">
                                            <p:txEl>
                                              <p:pRg st="1" end="1"/>
                                            </p:txEl>
                                          </p:spTgt>
                                        </p:tgtEl>
                                      </p:cBhvr>
                                    </p:animEffect>
                                    <p:anim calcmode="lin" valueType="num">
                                      <p:cBhvr>
                                        <p:cTn id="15" dur="1000" fill="hold"/>
                                        <p:tgtEl>
                                          <p:spTgt spid="7680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68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6803">
                                            <p:txEl>
                                              <p:pRg st="2" end="2"/>
                                            </p:txEl>
                                          </p:spTgt>
                                        </p:tgtEl>
                                        <p:attrNameLst>
                                          <p:attrName>style.visibility</p:attrName>
                                        </p:attrNameLst>
                                      </p:cBhvr>
                                      <p:to>
                                        <p:strVal val="visible"/>
                                      </p:to>
                                    </p:set>
                                    <p:animEffect transition="in" filter="fade">
                                      <p:cBhvr>
                                        <p:cTn id="21" dur="1000"/>
                                        <p:tgtEl>
                                          <p:spTgt spid="76803">
                                            <p:txEl>
                                              <p:pRg st="2" end="2"/>
                                            </p:txEl>
                                          </p:spTgt>
                                        </p:tgtEl>
                                      </p:cBhvr>
                                    </p:animEffect>
                                    <p:anim calcmode="lin" valueType="num">
                                      <p:cBhvr>
                                        <p:cTn id="22" dur="1000" fill="hold"/>
                                        <p:tgtEl>
                                          <p:spTgt spid="7680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68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6803">
                                            <p:txEl>
                                              <p:pRg st="3" end="3"/>
                                            </p:txEl>
                                          </p:spTgt>
                                        </p:tgtEl>
                                        <p:attrNameLst>
                                          <p:attrName>style.visibility</p:attrName>
                                        </p:attrNameLst>
                                      </p:cBhvr>
                                      <p:to>
                                        <p:strVal val="visible"/>
                                      </p:to>
                                    </p:set>
                                    <p:animEffect transition="in" filter="fade">
                                      <p:cBhvr>
                                        <p:cTn id="28" dur="1000"/>
                                        <p:tgtEl>
                                          <p:spTgt spid="76803">
                                            <p:txEl>
                                              <p:pRg st="3" end="3"/>
                                            </p:txEl>
                                          </p:spTgt>
                                        </p:tgtEl>
                                      </p:cBhvr>
                                    </p:animEffect>
                                    <p:anim calcmode="lin" valueType="num">
                                      <p:cBhvr>
                                        <p:cTn id="29" dur="1000" fill="hold"/>
                                        <p:tgtEl>
                                          <p:spTgt spid="7680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680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D2E09A12-E6CC-42FE-9A1F-132A7A8D7FEF}"/>
              </a:ext>
            </a:extLst>
          </p:cNvPr>
          <p:cNvSpPr>
            <a:spLocks noGrp="1" noChangeArrowheads="1"/>
          </p:cNvSpPr>
          <p:nvPr>
            <p:ph idx="1"/>
          </p:nvPr>
        </p:nvSpPr>
        <p:spPr>
          <a:xfrm>
            <a:off x="990600" y="1371600"/>
            <a:ext cx="7848600" cy="5486400"/>
          </a:xfrm>
        </p:spPr>
        <p:txBody>
          <a:bodyPr>
            <a:normAutofit lnSpcReduction="10000"/>
          </a:bodyPr>
          <a:lstStyle/>
          <a:p>
            <a:pPr eaLnBrk="1" hangingPunct="1">
              <a:lnSpc>
                <a:spcPct val="90000"/>
              </a:lnSpc>
              <a:buFont typeface="Wingdings" panose="05000000000000000000" pitchFamily="2" charset="2"/>
              <a:buNone/>
            </a:pPr>
            <a:r>
              <a:rPr lang="en-US" altLang="en-US" sz="2600" dirty="0">
                <a:latin typeface="Times New Roman" panose="02020603050405020304" pitchFamily="18" charset="0"/>
                <a:cs typeface="Times New Roman" panose="02020603050405020304" pitchFamily="18" charset="0"/>
              </a:rPr>
              <a:t>Flooding can also be divided into different categories according to their </a:t>
            </a:r>
            <a:r>
              <a:rPr lang="en-US" altLang="en-US" sz="2600" b="1" dirty="0">
                <a:latin typeface="Times New Roman" panose="02020603050405020304" pitchFamily="18" charset="0"/>
                <a:cs typeface="Times New Roman" panose="02020603050405020304" pitchFamily="18" charset="0"/>
              </a:rPr>
              <a:t>location</a:t>
            </a:r>
            <a:r>
              <a:rPr lang="en-US" altLang="en-US" sz="2600" dirty="0">
                <a:latin typeface="Times New Roman" panose="02020603050405020304" pitchFamily="18" charset="0"/>
                <a:cs typeface="Times New Roman" panose="02020603050405020304" pitchFamily="18" charset="0"/>
              </a:rPr>
              <a:t>:</a:t>
            </a:r>
          </a:p>
          <a:p>
            <a:pPr eaLnBrk="1" hangingPunct="1">
              <a:lnSpc>
                <a:spcPct val="90000"/>
              </a:lnSpc>
              <a:buFont typeface="Wingdings" panose="05000000000000000000" pitchFamily="2" charset="2"/>
              <a:buNone/>
            </a:pPr>
            <a:r>
              <a:rPr lang="en-US" altLang="en-US" sz="2600" b="1" dirty="0">
                <a:latin typeface="Times New Roman" panose="02020603050405020304" pitchFamily="18" charset="0"/>
                <a:cs typeface="Times New Roman" panose="02020603050405020304" pitchFamily="18" charset="0"/>
              </a:rPr>
              <a:t>1. Coastal Floods</a:t>
            </a:r>
            <a:endParaRPr lang="en-US" altLang="en-US" sz="2600" dirty="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pPr>
            <a:r>
              <a:rPr lang="en-US" altLang="en-US" sz="2600" dirty="0">
                <a:latin typeface="Times New Roman" panose="02020603050405020304" pitchFamily="18" charset="0"/>
                <a:cs typeface="Times New Roman" panose="02020603050405020304" pitchFamily="18" charset="0"/>
              </a:rPr>
              <a:t>	Coastal Floods usually occur along coastal areas. When there are hurricanes and tropical storms which will produce heavy rains, or giant tidal waves created by volcanoes or earthquakes, ocean water may be driven onto the coastal areas and cause coastal floods.</a:t>
            </a:r>
          </a:p>
          <a:p>
            <a:pPr eaLnBrk="1" hangingPunct="1">
              <a:lnSpc>
                <a:spcPct val="90000"/>
              </a:lnSpc>
              <a:buFont typeface="Wingdings" panose="05000000000000000000" pitchFamily="2" charset="2"/>
              <a:buNone/>
            </a:pPr>
            <a:r>
              <a:rPr lang="en-US" altLang="en-US" sz="2600" b="1" dirty="0">
                <a:latin typeface="Times New Roman" panose="02020603050405020304" pitchFamily="18" charset="0"/>
                <a:cs typeface="Times New Roman" panose="02020603050405020304" pitchFamily="18" charset="0"/>
              </a:rPr>
              <a:t>2. River Floods</a:t>
            </a:r>
            <a:endParaRPr lang="en-US" altLang="en-US" sz="2600" dirty="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pPr>
            <a:r>
              <a:rPr lang="en-US" altLang="en-US" sz="2600" dirty="0">
                <a:latin typeface="Times New Roman" panose="02020603050405020304" pitchFamily="18" charset="0"/>
                <a:cs typeface="Times New Roman" panose="02020603050405020304" pitchFamily="18" charset="0"/>
              </a:rPr>
              <a:t>	This is the most common type of flooding. When the actual amount of river flow is larger than the amount that the channel can hold, river will overflow its banks and flood the areas alongside the river. And this may cause by reasons like snow melt or heavy rain.</a:t>
            </a:r>
          </a:p>
          <a:p>
            <a:pPr eaLnBrk="1" hangingPunct="1">
              <a:lnSpc>
                <a:spcPct val="90000"/>
              </a:lnSpc>
            </a:pPr>
            <a:endParaRPr lang="en-US" altLang="en-US" sz="2200" dirty="0"/>
          </a:p>
          <a:p>
            <a:pPr eaLnBrk="1" hangingPunct="1">
              <a:lnSpc>
                <a:spcPct val="90000"/>
              </a:lnSpc>
              <a:buFont typeface="Wingdings" panose="05000000000000000000" pitchFamily="2" charset="2"/>
              <a:buNone/>
            </a:pPr>
            <a:endParaRPr lang="en-US" altLang="en-US" sz="2400" dirty="0">
              <a:latin typeface="Garamond" panose="02020404030301010803" pitchFamily="18" charset="0"/>
            </a:endParaRPr>
          </a:p>
          <a:p>
            <a:pPr algn="just" eaLnBrk="1" hangingPunct="1">
              <a:lnSpc>
                <a:spcPct val="70000"/>
              </a:lnSpc>
              <a:buFont typeface="Wingdings" panose="05000000000000000000" pitchFamily="2" charset="2"/>
              <a:buNone/>
            </a:pPr>
            <a:endParaRPr lang="en-US" altLang="en-US" sz="24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fade">
                                      <p:cBhvr>
                                        <p:cTn id="7" dur="1000"/>
                                        <p:tgtEl>
                                          <p:spTgt spid="29698">
                                            <p:txEl>
                                              <p:pRg st="0" end="0"/>
                                            </p:txEl>
                                          </p:spTgt>
                                        </p:tgtEl>
                                      </p:cBhvr>
                                    </p:animEffect>
                                    <p:anim calcmode="lin" valueType="num">
                                      <p:cBhvr>
                                        <p:cTn id="8" dur="1000" fill="hold"/>
                                        <p:tgtEl>
                                          <p:spTgt spid="2969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969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9698">
                                            <p:txEl>
                                              <p:pRg st="1" end="1"/>
                                            </p:txEl>
                                          </p:spTgt>
                                        </p:tgtEl>
                                        <p:attrNameLst>
                                          <p:attrName>style.visibility</p:attrName>
                                        </p:attrNameLst>
                                      </p:cBhvr>
                                      <p:to>
                                        <p:strVal val="visible"/>
                                      </p:to>
                                    </p:set>
                                    <p:animEffect transition="in" filter="fade">
                                      <p:cBhvr>
                                        <p:cTn id="14" dur="1000"/>
                                        <p:tgtEl>
                                          <p:spTgt spid="29698">
                                            <p:txEl>
                                              <p:pRg st="1" end="1"/>
                                            </p:txEl>
                                          </p:spTgt>
                                        </p:tgtEl>
                                      </p:cBhvr>
                                    </p:animEffect>
                                    <p:anim calcmode="lin" valueType="num">
                                      <p:cBhvr>
                                        <p:cTn id="15" dur="1000" fill="hold"/>
                                        <p:tgtEl>
                                          <p:spTgt spid="2969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969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9698">
                                            <p:txEl>
                                              <p:pRg st="2" end="2"/>
                                            </p:txEl>
                                          </p:spTgt>
                                        </p:tgtEl>
                                        <p:attrNameLst>
                                          <p:attrName>style.visibility</p:attrName>
                                        </p:attrNameLst>
                                      </p:cBhvr>
                                      <p:to>
                                        <p:strVal val="visible"/>
                                      </p:to>
                                    </p:set>
                                    <p:animEffect transition="in" filter="fade">
                                      <p:cBhvr>
                                        <p:cTn id="21" dur="1000"/>
                                        <p:tgtEl>
                                          <p:spTgt spid="29698">
                                            <p:txEl>
                                              <p:pRg st="2" end="2"/>
                                            </p:txEl>
                                          </p:spTgt>
                                        </p:tgtEl>
                                      </p:cBhvr>
                                    </p:animEffect>
                                    <p:anim calcmode="lin" valueType="num">
                                      <p:cBhvr>
                                        <p:cTn id="22" dur="1000" fill="hold"/>
                                        <p:tgtEl>
                                          <p:spTgt spid="2969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969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9698">
                                            <p:txEl>
                                              <p:pRg st="3" end="3"/>
                                            </p:txEl>
                                          </p:spTgt>
                                        </p:tgtEl>
                                        <p:attrNameLst>
                                          <p:attrName>style.visibility</p:attrName>
                                        </p:attrNameLst>
                                      </p:cBhvr>
                                      <p:to>
                                        <p:strVal val="visible"/>
                                      </p:to>
                                    </p:set>
                                    <p:animEffect transition="in" filter="fade">
                                      <p:cBhvr>
                                        <p:cTn id="28" dur="1000"/>
                                        <p:tgtEl>
                                          <p:spTgt spid="29698">
                                            <p:txEl>
                                              <p:pRg st="3" end="3"/>
                                            </p:txEl>
                                          </p:spTgt>
                                        </p:tgtEl>
                                      </p:cBhvr>
                                    </p:animEffect>
                                    <p:anim calcmode="lin" valueType="num">
                                      <p:cBhvr>
                                        <p:cTn id="29" dur="1000" fill="hold"/>
                                        <p:tgtEl>
                                          <p:spTgt spid="2969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969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9698">
                                            <p:txEl>
                                              <p:pRg st="4" end="4"/>
                                            </p:txEl>
                                          </p:spTgt>
                                        </p:tgtEl>
                                        <p:attrNameLst>
                                          <p:attrName>style.visibility</p:attrName>
                                        </p:attrNameLst>
                                      </p:cBhvr>
                                      <p:to>
                                        <p:strVal val="visible"/>
                                      </p:to>
                                    </p:set>
                                    <p:animEffect transition="in" filter="fade">
                                      <p:cBhvr>
                                        <p:cTn id="35" dur="1000"/>
                                        <p:tgtEl>
                                          <p:spTgt spid="29698">
                                            <p:txEl>
                                              <p:pRg st="4" end="4"/>
                                            </p:txEl>
                                          </p:spTgt>
                                        </p:tgtEl>
                                      </p:cBhvr>
                                    </p:animEffect>
                                    <p:anim calcmode="lin" valueType="num">
                                      <p:cBhvr>
                                        <p:cTn id="36" dur="1000" fill="hold"/>
                                        <p:tgtEl>
                                          <p:spTgt spid="29698">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969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F223A-3896-4BC5-BEAC-A3E8A85C069F}"/>
              </a:ext>
            </a:extLst>
          </p:cNvPr>
          <p:cNvSpPr>
            <a:spLocks noGrp="1"/>
          </p:cNvSpPr>
          <p:nvPr>
            <p:ph type="title"/>
          </p:nvPr>
        </p:nvSpPr>
        <p:spPr>
          <a:xfrm>
            <a:off x="1435100" y="274638"/>
            <a:ext cx="7499350" cy="2468562"/>
          </a:xfrm>
        </p:spPr>
        <p:txBody>
          <a:bodyPr vert="horz" wrap="square" lIns="91440" tIns="45720" rIns="91440" bIns="45720" numCol="1" anchorCtr="0" compatLnSpc="1">
            <a:prstTxWarp prst="textNoShape">
              <a:avLst/>
            </a:prstTxWarp>
            <a:normAutofit fontScale="90000"/>
          </a:bodyPr>
          <a:lstStyle/>
          <a:p>
            <a:pPr algn="l" eaLnBrk="1" hangingPunct="1">
              <a:defRPr/>
            </a:pPr>
            <a:br>
              <a:rPr lang="en-US" sz="1800" b="1" dirty="0">
                <a:effectLst>
                  <a:outerShdw blurRad="38100" dist="38100" dir="2700000" algn="tl">
                    <a:srgbClr val="C0C0C0"/>
                  </a:outerShdw>
                </a:effectLst>
              </a:rPr>
            </a:br>
            <a:br>
              <a:rPr lang="en-US" sz="1800" b="1" dirty="0">
                <a:effectLst>
                  <a:outerShdw blurRad="38100" dist="38100" dir="2700000" algn="tl">
                    <a:srgbClr val="C0C0C0"/>
                  </a:outerShdw>
                </a:effectLst>
              </a:rPr>
            </a:br>
            <a:br>
              <a:rPr lang="en-US" sz="1800" b="1" dirty="0">
                <a:effectLst>
                  <a:outerShdw blurRad="38100" dist="38100" dir="2700000" algn="tl">
                    <a:srgbClr val="C0C0C0"/>
                  </a:outerShdw>
                </a:effectLst>
              </a:rPr>
            </a:br>
            <a:br>
              <a:rPr lang="en-US" sz="1800" b="1" dirty="0">
                <a:effectLst>
                  <a:outerShdw blurRad="38100" dist="38100" dir="2700000" algn="tl">
                    <a:srgbClr val="C0C0C0"/>
                  </a:outerShdw>
                </a:effectLst>
              </a:rPr>
            </a:br>
            <a:br>
              <a:rPr lang="en-US" sz="1800" b="1" dirty="0">
                <a:effectLst>
                  <a:outerShdw blurRad="38100" dist="38100" dir="2700000" algn="tl">
                    <a:srgbClr val="C0C0C0"/>
                  </a:outerShdw>
                </a:effectLst>
              </a:rPr>
            </a:br>
            <a:r>
              <a:rPr lang="en-US" sz="2300" b="1" dirty="0">
                <a:solidFill>
                  <a:schemeClr val="tx1"/>
                </a:solidFill>
                <a:effectLst>
                  <a:outerShdw blurRad="38100" dist="38100" dir="2700000" algn="tl">
                    <a:srgbClr val="C0C0C0"/>
                  </a:outerShdw>
                </a:effectLst>
                <a:latin typeface="Times New Roman" pitchFamily="18" charset="0"/>
                <a:cs typeface="Times New Roman" pitchFamily="18" charset="0"/>
              </a:rPr>
              <a:t>3.  Urban Floods</a:t>
            </a:r>
            <a:br>
              <a:rPr lang="en-US" sz="2300" b="1" dirty="0">
                <a:solidFill>
                  <a:schemeClr val="tx1"/>
                </a:solidFill>
                <a:effectLst>
                  <a:outerShdw blurRad="38100" dist="38100" dir="2700000" algn="tl">
                    <a:srgbClr val="C0C0C0"/>
                  </a:outerShdw>
                </a:effectLst>
                <a:latin typeface="Times New Roman" pitchFamily="18" charset="0"/>
                <a:cs typeface="Times New Roman" pitchFamily="18" charset="0"/>
              </a:rPr>
            </a:br>
            <a:br>
              <a:rPr lang="en-US" sz="2300" dirty="0">
                <a:solidFill>
                  <a:schemeClr val="tx1"/>
                </a:solidFill>
                <a:effectLst>
                  <a:outerShdw blurRad="38100" dist="38100" dir="2700000" algn="tl">
                    <a:srgbClr val="C0C0C0"/>
                  </a:outerShdw>
                </a:effectLst>
                <a:latin typeface="Times New Roman" pitchFamily="18" charset="0"/>
                <a:cs typeface="Times New Roman" pitchFamily="18" charset="0"/>
              </a:rPr>
            </a:br>
            <a:r>
              <a:rPr lang="en-US" sz="3100" dirty="0">
                <a:solidFill>
                  <a:schemeClr val="tx1"/>
                </a:solidFill>
                <a:effectLst>
                  <a:outerShdw blurRad="38100" dist="38100" dir="2700000" algn="tl">
                    <a:srgbClr val="C0C0C0"/>
                  </a:outerShdw>
                </a:effectLst>
                <a:latin typeface="Times New Roman" pitchFamily="18" charset="0"/>
                <a:cs typeface="Times New Roman" pitchFamily="18" charset="0"/>
              </a:rPr>
              <a:t>In most of the urban area, roads are usually paved. With heavy rain, the large amount of rain water cannot be absorbed into the ground and leads to urban floods.</a:t>
            </a:r>
            <a:br>
              <a:rPr lang="en-US" sz="2300" dirty="0">
                <a:solidFill>
                  <a:schemeClr val="tx1"/>
                </a:solidFill>
                <a:effectLst>
                  <a:outerShdw blurRad="38100" dist="38100" dir="2700000" algn="tl">
                    <a:srgbClr val="C0C0C0"/>
                  </a:outerShdw>
                </a:effectLst>
                <a:latin typeface="Times New Roman" pitchFamily="18" charset="0"/>
                <a:cs typeface="Times New Roman" pitchFamily="18" charset="0"/>
              </a:rPr>
            </a:br>
            <a:endParaRPr lang="en-US" sz="2300" dirty="0">
              <a:solidFill>
                <a:schemeClr val="tx1"/>
              </a:solidFill>
              <a:effectLst>
                <a:outerShdw blurRad="38100" dist="38100" dir="2700000" algn="tl">
                  <a:srgbClr val="C0C0C0"/>
                </a:outerShdw>
              </a:effectLst>
              <a:latin typeface="Times New Roman" pitchFamily="18" charset="0"/>
              <a:cs typeface="Times New Roman"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85FB183-7417-4604-8D3D-FF72096041D7}"/>
              </a:ext>
            </a:extLst>
          </p:cNvPr>
          <p:cNvSpPr>
            <a:spLocks noGrp="1" noChangeArrowheads="1"/>
          </p:cNvSpPr>
          <p:nvPr>
            <p:ph type="title"/>
          </p:nvPr>
        </p:nvSpPr>
        <p:spPr>
          <a:xfrm>
            <a:off x="1066800" y="152400"/>
            <a:ext cx="7620000" cy="533400"/>
          </a:xfrm>
        </p:spPr>
        <p:txBody>
          <a:bodyPr vert="horz" wrap="square" lIns="91440" tIns="45720" rIns="91440" bIns="45720" numCol="1" anchorCtr="0" compatLnSpc="1">
            <a:prstTxWarp prst="textNoShape">
              <a:avLst/>
            </a:prstTxWarp>
          </a:bodyPr>
          <a:lstStyle/>
          <a:p>
            <a:pPr eaLnBrk="1" hangingPunct="1">
              <a:defRPr/>
            </a:pPr>
            <a:r>
              <a:rPr lang="en-US" sz="2900" u="sng" dirty="0">
                <a:solidFill>
                  <a:schemeClr val="tx1"/>
                </a:solidFill>
                <a:effectLst>
                  <a:outerShdw blurRad="38100" dist="38100" dir="2700000" algn="tl">
                    <a:srgbClr val="C0C0C0"/>
                  </a:outerShdw>
                </a:effectLst>
                <a:latin typeface="Garamond" pitchFamily="18" charset="0"/>
              </a:rPr>
              <a:t>Effects of flood</a:t>
            </a:r>
          </a:p>
        </p:txBody>
      </p:sp>
      <p:sp>
        <p:nvSpPr>
          <p:cNvPr id="31747" name="Rectangle 3">
            <a:extLst>
              <a:ext uri="{FF2B5EF4-FFF2-40B4-BE49-F238E27FC236}">
                <a16:creationId xmlns:a16="http://schemas.microsoft.com/office/drawing/2014/main" id="{240C8216-C382-4688-8F36-7CD856176AB3}"/>
              </a:ext>
            </a:extLst>
          </p:cNvPr>
          <p:cNvSpPr>
            <a:spLocks noGrp="1" noChangeArrowheads="1"/>
          </p:cNvSpPr>
          <p:nvPr>
            <p:ph idx="1"/>
          </p:nvPr>
        </p:nvSpPr>
        <p:spPr>
          <a:xfrm>
            <a:off x="990600" y="838200"/>
            <a:ext cx="7924800" cy="5867400"/>
          </a:xfrm>
        </p:spPr>
        <p:txBody>
          <a:bodyPr/>
          <a:lstStyle/>
          <a:p>
            <a:pPr algn="just" eaLnBrk="1" hangingPunct="1"/>
            <a:r>
              <a:rPr lang="en-US" altLang="en-US" sz="2800" dirty="0">
                <a:latin typeface="Garamond" panose="02020404030301010803" pitchFamily="18" charset="0"/>
              </a:rPr>
              <a:t>Immediate/Short-term</a:t>
            </a:r>
          </a:p>
          <a:p>
            <a:pPr lvl="1" algn="just" eaLnBrk="1" hangingPunct="1"/>
            <a:r>
              <a:rPr lang="en-US" altLang="en-US" sz="2400" dirty="0">
                <a:latin typeface="Garamond" panose="02020404030301010803" pitchFamily="18" charset="0"/>
              </a:rPr>
              <a:t>Loss of human life</a:t>
            </a:r>
          </a:p>
          <a:p>
            <a:pPr lvl="1" algn="just" eaLnBrk="1" hangingPunct="1"/>
            <a:r>
              <a:rPr lang="en-US" altLang="en-US" sz="2400" dirty="0">
                <a:latin typeface="Garamond" panose="02020404030301010803" pitchFamily="18" charset="0"/>
              </a:rPr>
              <a:t>Destruction of houses, offices, factories and work places</a:t>
            </a:r>
          </a:p>
          <a:p>
            <a:pPr lvl="1" algn="just" eaLnBrk="1" hangingPunct="1"/>
            <a:r>
              <a:rPr lang="en-US" altLang="en-US" sz="2400" dirty="0">
                <a:latin typeface="Garamond" panose="02020404030301010803" pitchFamily="18" charset="0"/>
              </a:rPr>
              <a:t>Loss of livestock</a:t>
            </a:r>
          </a:p>
          <a:p>
            <a:pPr lvl="1" algn="just" eaLnBrk="1" hangingPunct="1"/>
            <a:r>
              <a:rPr lang="en-US" altLang="en-US" sz="2400" dirty="0">
                <a:latin typeface="Garamond" panose="02020404030301010803" pitchFamily="18" charset="0"/>
              </a:rPr>
              <a:t>Damages of crops</a:t>
            </a:r>
          </a:p>
          <a:p>
            <a:pPr lvl="1" algn="just" eaLnBrk="1" hangingPunct="1"/>
            <a:r>
              <a:rPr lang="en-US" altLang="en-US" sz="2400" dirty="0">
                <a:latin typeface="Garamond" panose="02020404030301010803" pitchFamily="18" charset="0"/>
              </a:rPr>
              <a:t>Damages of transportation and communication systems</a:t>
            </a:r>
          </a:p>
          <a:p>
            <a:pPr algn="just" eaLnBrk="1" hangingPunct="1"/>
            <a:r>
              <a:rPr lang="en-US" altLang="en-US" sz="2800" dirty="0">
                <a:latin typeface="Garamond" panose="02020404030301010803" pitchFamily="18" charset="0"/>
              </a:rPr>
              <a:t>Long-term</a:t>
            </a:r>
          </a:p>
          <a:p>
            <a:pPr lvl="1" algn="just" eaLnBrk="1" hangingPunct="1"/>
            <a:r>
              <a:rPr lang="en-US" altLang="en-US" sz="2400" dirty="0">
                <a:latin typeface="Garamond" panose="02020404030301010803" pitchFamily="18" charset="0"/>
              </a:rPr>
              <a:t>People become homeless</a:t>
            </a:r>
          </a:p>
          <a:p>
            <a:pPr lvl="1" algn="just" eaLnBrk="1" hangingPunct="1"/>
            <a:r>
              <a:rPr lang="en-US" altLang="en-US" sz="2400" dirty="0">
                <a:latin typeface="Garamond" panose="02020404030301010803" pitchFamily="18" charset="0"/>
              </a:rPr>
              <a:t>Suffering from water-related diseases</a:t>
            </a:r>
          </a:p>
          <a:p>
            <a:pPr lvl="1" algn="just" eaLnBrk="1" hangingPunct="1"/>
            <a:r>
              <a:rPr lang="en-US" altLang="en-US" sz="2400" dirty="0">
                <a:latin typeface="Garamond" panose="02020404030301010803" pitchFamily="18" charset="0"/>
              </a:rPr>
              <a:t>Shortage of safe drinking water and food</a:t>
            </a:r>
          </a:p>
          <a:p>
            <a:pPr lvl="1" algn="just" eaLnBrk="1" hangingPunct="1"/>
            <a:r>
              <a:rPr lang="en-US" altLang="en-US" sz="2400" dirty="0">
                <a:latin typeface="Garamond" panose="02020404030301010803" pitchFamily="18" charset="0"/>
              </a:rPr>
              <a:t>Problems of moving between places</a:t>
            </a:r>
          </a:p>
          <a:p>
            <a:pPr eaLnBrk="1" hangingPunct="1"/>
            <a:endParaRPr lang="en-US" altLang="en-US" sz="28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fade">
                                      <p:cBhvr>
                                        <p:cTn id="7" dur="1000"/>
                                        <p:tgtEl>
                                          <p:spTgt spid="80898"/>
                                        </p:tgtEl>
                                      </p:cBhvr>
                                    </p:animEffect>
                                    <p:anim calcmode="lin" valueType="num">
                                      <p:cBhvr>
                                        <p:cTn id="8" dur="1000" fill="hold"/>
                                        <p:tgtEl>
                                          <p:spTgt spid="80898"/>
                                        </p:tgtEl>
                                        <p:attrNameLst>
                                          <p:attrName>ppt_x</p:attrName>
                                        </p:attrNameLst>
                                      </p:cBhvr>
                                      <p:tavLst>
                                        <p:tav tm="0">
                                          <p:val>
                                            <p:strVal val="#ppt_x"/>
                                          </p:val>
                                        </p:tav>
                                        <p:tav tm="100000">
                                          <p:val>
                                            <p:strVal val="#ppt_x"/>
                                          </p:val>
                                        </p:tav>
                                      </p:tavLst>
                                    </p:anim>
                                    <p:anim calcmode="lin" valueType="num">
                                      <p:cBhvr>
                                        <p:cTn id="9" dur="1000" fill="hold"/>
                                        <p:tgtEl>
                                          <p:spTgt spid="8089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1747">
                                            <p:txEl>
                                              <p:pRg st="0" end="0"/>
                                            </p:txEl>
                                          </p:spTgt>
                                        </p:tgtEl>
                                        <p:attrNameLst>
                                          <p:attrName>style.visibility</p:attrName>
                                        </p:attrNameLst>
                                      </p:cBhvr>
                                      <p:to>
                                        <p:strVal val="visible"/>
                                      </p:to>
                                    </p:set>
                                    <p:animEffect transition="in" filter="fade">
                                      <p:cBhvr>
                                        <p:cTn id="14" dur="1000"/>
                                        <p:tgtEl>
                                          <p:spTgt spid="31747">
                                            <p:txEl>
                                              <p:pRg st="0" end="0"/>
                                            </p:txEl>
                                          </p:spTgt>
                                        </p:tgtEl>
                                      </p:cBhvr>
                                    </p:animEffect>
                                    <p:anim calcmode="lin" valueType="num">
                                      <p:cBhvr>
                                        <p:cTn id="15" dur="10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174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1747">
                                            <p:txEl>
                                              <p:pRg st="1" end="1"/>
                                            </p:txEl>
                                          </p:spTgt>
                                        </p:tgtEl>
                                        <p:attrNameLst>
                                          <p:attrName>style.visibility</p:attrName>
                                        </p:attrNameLst>
                                      </p:cBhvr>
                                      <p:to>
                                        <p:strVal val="visible"/>
                                      </p:to>
                                    </p:set>
                                    <p:animEffect transition="in" filter="fade">
                                      <p:cBhvr>
                                        <p:cTn id="19" dur="1000"/>
                                        <p:tgtEl>
                                          <p:spTgt spid="31747">
                                            <p:txEl>
                                              <p:pRg st="1" end="1"/>
                                            </p:txEl>
                                          </p:spTgt>
                                        </p:tgtEl>
                                      </p:cBhvr>
                                    </p:animEffect>
                                    <p:anim calcmode="lin" valueType="num">
                                      <p:cBhvr>
                                        <p:cTn id="20" dur="10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174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1747">
                                            <p:txEl>
                                              <p:pRg st="2" end="2"/>
                                            </p:txEl>
                                          </p:spTgt>
                                        </p:tgtEl>
                                        <p:attrNameLst>
                                          <p:attrName>style.visibility</p:attrName>
                                        </p:attrNameLst>
                                      </p:cBhvr>
                                      <p:to>
                                        <p:strVal val="visible"/>
                                      </p:to>
                                    </p:set>
                                    <p:animEffect transition="in" filter="fade">
                                      <p:cBhvr>
                                        <p:cTn id="24" dur="1000"/>
                                        <p:tgtEl>
                                          <p:spTgt spid="31747">
                                            <p:txEl>
                                              <p:pRg st="2" end="2"/>
                                            </p:txEl>
                                          </p:spTgt>
                                        </p:tgtEl>
                                      </p:cBhvr>
                                    </p:animEffect>
                                    <p:anim calcmode="lin" valueType="num">
                                      <p:cBhvr>
                                        <p:cTn id="25" dur="10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174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1747">
                                            <p:txEl>
                                              <p:pRg st="3" end="3"/>
                                            </p:txEl>
                                          </p:spTgt>
                                        </p:tgtEl>
                                        <p:attrNameLst>
                                          <p:attrName>style.visibility</p:attrName>
                                        </p:attrNameLst>
                                      </p:cBhvr>
                                      <p:to>
                                        <p:strVal val="visible"/>
                                      </p:to>
                                    </p:set>
                                    <p:animEffect transition="in" filter="fade">
                                      <p:cBhvr>
                                        <p:cTn id="29" dur="1000"/>
                                        <p:tgtEl>
                                          <p:spTgt spid="31747">
                                            <p:txEl>
                                              <p:pRg st="3" end="3"/>
                                            </p:txEl>
                                          </p:spTgt>
                                        </p:tgtEl>
                                      </p:cBhvr>
                                    </p:animEffect>
                                    <p:anim calcmode="lin" valueType="num">
                                      <p:cBhvr>
                                        <p:cTn id="30" dur="10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174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747">
                                            <p:txEl>
                                              <p:pRg st="4" end="4"/>
                                            </p:txEl>
                                          </p:spTgt>
                                        </p:tgtEl>
                                        <p:attrNameLst>
                                          <p:attrName>style.visibility</p:attrName>
                                        </p:attrNameLst>
                                      </p:cBhvr>
                                      <p:to>
                                        <p:strVal val="visible"/>
                                      </p:to>
                                    </p:set>
                                    <p:animEffect transition="in" filter="fade">
                                      <p:cBhvr>
                                        <p:cTn id="34" dur="1000"/>
                                        <p:tgtEl>
                                          <p:spTgt spid="31747">
                                            <p:txEl>
                                              <p:pRg st="4" end="4"/>
                                            </p:txEl>
                                          </p:spTgt>
                                        </p:tgtEl>
                                      </p:cBhvr>
                                    </p:animEffect>
                                    <p:anim calcmode="lin" valueType="num">
                                      <p:cBhvr>
                                        <p:cTn id="35" dur="10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174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1747">
                                            <p:txEl>
                                              <p:pRg st="5" end="5"/>
                                            </p:txEl>
                                          </p:spTgt>
                                        </p:tgtEl>
                                        <p:attrNameLst>
                                          <p:attrName>style.visibility</p:attrName>
                                        </p:attrNameLst>
                                      </p:cBhvr>
                                      <p:to>
                                        <p:strVal val="visible"/>
                                      </p:to>
                                    </p:set>
                                    <p:animEffect transition="in" filter="fade">
                                      <p:cBhvr>
                                        <p:cTn id="39" dur="1000"/>
                                        <p:tgtEl>
                                          <p:spTgt spid="31747">
                                            <p:txEl>
                                              <p:pRg st="5" end="5"/>
                                            </p:txEl>
                                          </p:spTgt>
                                        </p:tgtEl>
                                      </p:cBhvr>
                                    </p:animEffect>
                                    <p:anim calcmode="lin" valueType="num">
                                      <p:cBhvr>
                                        <p:cTn id="40" dur="1000" fill="hold"/>
                                        <p:tgtEl>
                                          <p:spTgt spid="3174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174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1747">
                                            <p:txEl>
                                              <p:pRg st="6" end="6"/>
                                            </p:txEl>
                                          </p:spTgt>
                                        </p:tgtEl>
                                        <p:attrNameLst>
                                          <p:attrName>style.visibility</p:attrName>
                                        </p:attrNameLst>
                                      </p:cBhvr>
                                      <p:to>
                                        <p:strVal val="visible"/>
                                      </p:to>
                                    </p:set>
                                    <p:animEffect transition="in" filter="fade">
                                      <p:cBhvr>
                                        <p:cTn id="46" dur="1000"/>
                                        <p:tgtEl>
                                          <p:spTgt spid="31747">
                                            <p:txEl>
                                              <p:pRg st="6" end="6"/>
                                            </p:txEl>
                                          </p:spTgt>
                                        </p:tgtEl>
                                      </p:cBhvr>
                                    </p:animEffect>
                                    <p:anim calcmode="lin" valueType="num">
                                      <p:cBhvr>
                                        <p:cTn id="47" dur="1000" fill="hold"/>
                                        <p:tgtEl>
                                          <p:spTgt spid="31747">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31747">
                                            <p:txEl>
                                              <p:pRg st="6" end="6"/>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1747">
                                            <p:txEl>
                                              <p:pRg st="7" end="7"/>
                                            </p:txEl>
                                          </p:spTgt>
                                        </p:tgtEl>
                                        <p:attrNameLst>
                                          <p:attrName>style.visibility</p:attrName>
                                        </p:attrNameLst>
                                      </p:cBhvr>
                                      <p:to>
                                        <p:strVal val="visible"/>
                                      </p:to>
                                    </p:set>
                                    <p:animEffect transition="in" filter="fade">
                                      <p:cBhvr>
                                        <p:cTn id="51" dur="1000"/>
                                        <p:tgtEl>
                                          <p:spTgt spid="31747">
                                            <p:txEl>
                                              <p:pRg st="7" end="7"/>
                                            </p:txEl>
                                          </p:spTgt>
                                        </p:tgtEl>
                                      </p:cBhvr>
                                    </p:animEffect>
                                    <p:anim calcmode="lin" valueType="num">
                                      <p:cBhvr>
                                        <p:cTn id="52" dur="1000" fill="hold"/>
                                        <p:tgtEl>
                                          <p:spTgt spid="31747">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31747">
                                            <p:txEl>
                                              <p:pRg st="7" end="7"/>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1747">
                                            <p:txEl>
                                              <p:pRg st="8" end="8"/>
                                            </p:txEl>
                                          </p:spTgt>
                                        </p:tgtEl>
                                        <p:attrNameLst>
                                          <p:attrName>style.visibility</p:attrName>
                                        </p:attrNameLst>
                                      </p:cBhvr>
                                      <p:to>
                                        <p:strVal val="visible"/>
                                      </p:to>
                                    </p:set>
                                    <p:animEffect transition="in" filter="fade">
                                      <p:cBhvr>
                                        <p:cTn id="56" dur="1000"/>
                                        <p:tgtEl>
                                          <p:spTgt spid="31747">
                                            <p:txEl>
                                              <p:pRg st="8" end="8"/>
                                            </p:txEl>
                                          </p:spTgt>
                                        </p:tgtEl>
                                      </p:cBhvr>
                                    </p:animEffect>
                                    <p:anim calcmode="lin" valueType="num">
                                      <p:cBhvr>
                                        <p:cTn id="57" dur="1000" fill="hold"/>
                                        <p:tgtEl>
                                          <p:spTgt spid="31747">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1747">
                                            <p:txEl>
                                              <p:pRg st="8" end="8"/>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31747">
                                            <p:txEl>
                                              <p:pRg st="9" end="9"/>
                                            </p:txEl>
                                          </p:spTgt>
                                        </p:tgtEl>
                                        <p:attrNameLst>
                                          <p:attrName>style.visibility</p:attrName>
                                        </p:attrNameLst>
                                      </p:cBhvr>
                                      <p:to>
                                        <p:strVal val="visible"/>
                                      </p:to>
                                    </p:set>
                                    <p:animEffect transition="in" filter="fade">
                                      <p:cBhvr>
                                        <p:cTn id="61" dur="1000"/>
                                        <p:tgtEl>
                                          <p:spTgt spid="31747">
                                            <p:txEl>
                                              <p:pRg st="9" end="9"/>
                                            </p:txEl>
                                          </p:spTgt>
                                        </p:tgtEl>
                                      </p:cBhvr>
                                    </p:animEffect>
                                    <p:anim calcmode="lin" valueType="num">
                                      <p:cBhvr>
                                        <p:cTn id="62" dur="1000" fill="hold"/>
                                        <p:tgtEl>
                                          <p:spTgt spid="31747">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1747">
                                            <p:txEl>
                                              <p:pRg st="9" end="9"/>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31747">
                                            <p:txEl>
                                              <p:pRg st="10" end="10"/>
                                            </p:txEl>
                                          </p:spTgt>
                                        </p:tgtEl>
                                        <p:attrNameLst>
                                          <p:attrName>style.visibility</p:attrName>
                                        </p:attrNameLst>
                                      </p:cBhvr>
                                      <p:to>
                                        <p:strVal val="visible"/>
                                      </p:to>
                                    </p:set>
                                    <p:animEffect transition="in" filter="fade">
                                      <p:cBhvr>
                                        <p:cTn id="66" dur="1000"/>
                                        <p:tgtEl>
                                          <p:spTgt spid="31747">
                                            <p:txEl>
                                              <p:pRg st="10" end="10"/>
                                            </p:txEl>
                                          </p:spTgt>
                                        </p:tgtEl>
                                      </p:cBhvr>
                                    </p:animEffect>
                                    <p:anim calcmode="lin" valueType="num">
                                      <p:cBhvr>
                                        <p:cTn id="67" dur="1000" fill="hold"/>
                                        <p:tgtEl>
                                          <p:spTgt spid="31747">
                                            <p:txEl>
                                              <p:pRg st="10" end="10"/>
                                            </p:txEl>
                                          </p:spTgt>
                                        </p:tgtEl>
                                        <p:attrNameLst>
                                          <p:attrName>ppt_x</p:attrName>
                                        </p:attrNameLst>
                                      </p:cBhvr>
                                      <p:tavLst>
                                        <p:tav tm="0">
                                          <p:val>
                                            <p:strVal val="#ppt_x"/>
                                          </p:val>
                                        </p:tav>
                                        <p:tav tm="100000">
                                          <p:val>
                                            <p:strVal val="#ppt_x"/>
                                          </p:val>
                                        </p:tav>
                                      </p:tavLst>
                                    </p:anim>
                                    <p:anim calcmode="lin" valueType="num">
                                      <p:cBhvr>
                                        <p:cTn id="68" dur="1000" fill="hold"/>
                                        <p:tgtEl>
                                          <p:spTgt spid="3174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p:bldP spid="3174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7A4A7131-1997-4AEC-82BA-CC7992C8B70B}"/>
              </a:ext>
            </a:extLst>
          </p:cNvPr>
          <p:cNvSpPr>
            <a:spLocks noGrp="1" noChangeArrowheads="1"/>
          </p:cNvSpPr>
          <p:nvPr>
            <p:ph type="title"/>
          </p:nvPr>
        </p:nvSpPr>
        <p:spPr>
          <a:xfrm>
            <a:off x="990600" y="152400"/>
            <a:ext cx="7696200" cy="533400"/>
          </a:xfrm>
        </p:spPr>
        <p:txBody>
          <a:bodyPr vert="horz" wrap="square" lIns="91440" tIns="45720" rIns="91440" bIns="45720" numCol="1" anchorCtr="0" compatLnSpc="1">
            <a:prstTxWarp prst="textNoShape">
              <a:avLst/>
            </a:prstTxWarp>
          </a:bodyPr>
          <a:lstStyle/>
          <a:p>
            <a:pPr eaLnBrk="1" hangingPunct="1">
              <a:defRPr/>
            </a:pPr>
            <a:r>
              <a:rPr lang="en-US" sz="2900" u="sng" dirty="0">
                <a:solidFill>
                  <a:schemeClr val="tx1"/>
                </a:solidFill>
                <a:effectLst>
                  <a:outerShdw blurRad="38100" dist="38100" dir="2700000" algn="tl">
                    <a:srgbClr val="C0C0C0"/>
                  </a:outerShdw>
                </a:effectLst>
                <a:latin typeface="Garamond" pitchFamily="18" charset="0"/>
              </a:rPr>
              <a:t>Causes of flood in Bangladesh</a:t>
            </a:r>
          </a:p>
        </p:txBody>
      </p:sp>
      <p:sp>
        <p:nvSpPr>
          <p:cNvPr id="82947" name="Rectangle 3">
            <a:extLst>
              <a:ext uri="{FF2B5EF4-FFF2-40B4-BE49-F238E27FC236}">
                <a16:creationId xmlns:a16="http://schemas.microsoft.com/office/drawing/2014/main" id="{B8E61685-759F-434E-95B8-F1C4F409C836}"/>
              </a:ext>
            </a:extLst>
          </p:cNvPr>
          <p:cNvSpPr>
            <a:spLocks noGrp="1" noChangeArrowheads="1"/>
          </p:cNvSpPr>
          <p:nvPr>
            <p:ph idx="1"/>
          </p:nvPr>
        </p:nvSpPr>
        <p:spPr>
          <a:xfrm>
            <a:off x="1066800" y="685800"/>
            <a:ext cx="7620000" cy="5410200"/>
          </a:xfrm>
        </p:spPr>
        <p:txBody>
          <a:bodyPr>
            <a:normAutofit lnSpcReduction="10000"/>
          </a:bodyPr>
          <a:lstStyle/>
          <a:p>
            <a:pPr marL="365760" indent="-283464" algn="just" eaLnBrk="1" fontAlgn="auto" hangingPunct="1">
              <a:spcAft>
                <a:spcPts val="0"/>
              </a:spcAft>
              <a:buFont typeface="Wingdings 2"/>
              <a:buChar char=""/>
              <a:defRPr/>
            </a:pPr>
            <a:r>
              <a:rPr lang="en-US" sz="2800" dirty="0">
                <a:latin typeface="Garamond" pitchFamily="18" charset="0"/>
                <a:ea typeface="+mn-ea"/>
              </a:rPr>
              <a:t>Low general topography</a:t>
            </a:r>
          </a:p>
          <a:p>
            <a:pPr marL="365760" indent="-283464" algn="just" eaLnBrk="1" fontAlgn="auto" hangingPunct="1">
              <a:spcAft>
                <a:spcPts val="0"/>
              </a:spcAft>
              <a:buFont typeface="Wingdings 2"/>
              <a:buChar char=""/>
              <a:defRPr/>
            </a:pPr>
            <a:r>
              <a:rPr lang="en-US" sz="2800" dirty="0">
                <a:latin typeface="Garamond" pitchFamily="18" charset="0"/>
                <a:ea typeface="+mn-ea"/>
              </a:rPr>
              <a:t>Tropical monsoon climate</a:t>
            </a:r>
          </a:p>
          <a:p>
            <a:pPr marL="365760" indent="-283464" algn="just" eaLnBrk="1" fontAlgn="auto" hangingPunct="1">
              <a:spcAft>
                <a:spcPts val="0"/>
              </a:spcAft>
              <a:buFont typeface="Wingdings 2"/>
              <a:buChar char=""/>
              <a:defRPr/>
            </a:pPr>
            <a:r>
              <a:rPr lang="en-US" sz="2800" dirty="0">
                <a:latin typeface="Garamond" pitchFamily="18" charset="0"/>
                <a:ea typeface="+mn-ea"/>
              </a:rPr>
              <a:t>Heavy monsoon rainfall	</a:t>
            </a:r>
          </a:p>
          <a:p>
            <a:pPr marL="365760" indent="-283464" algn="just" eaLnBrk="1" fontAlgn="auto" hangingPunct="1">
              <a:spcAft>
                <a:spcPts val="0"/>
              </a:spcAft>
              <a:buFont typeface="Wingdings 2"/>
              <a:buChar char=""/>
              <a:defRPr/>
            </a:pPr>
            <a:r>
              <a:rPr lang="en-US" sz="2800" dirty="0">
                <a:latin typeface="Garamond" pitchFamily="18" charset="0"/>
                <a:ea typeface="+mn-ea"/>
              </a:rPr>
              <a:t>Snow melt in the Himalayan mountain during summer</a:t>
            </a:r>
          </a:p>
          <a:p>
            <a:pPr marL="365760" indent="-283464" algn="just" eaLnBrk="1" fontAlgn="auto" hangingPunct="1">
              <a:spcAft>
                <a:spcPts val="0"/>
              </a:spcAft>
              <a:buFont typeface="Wingdings 2"/>
              <a:buChar char=""/>
              <a:defRPr/>
            </a:pPr>
            <a:r>
              <a:rPr lang="en-US" sz="2800" dirty="0">
                <a:latin typeface="Garamond" pitchFamily="18" charset="0"/>
                <a:ea typeface="+mn-ea"/>
              </a:rPr>
              <a:t>Rise in mean sea level during monsoon</a:t>
            </a:r>
          </a:p>
          <a:p>
            <a:pPr marL="365760" indent="-283464" algn="just" eaLnBrk="1" fontAlgn="auto" hangingPunct="1">
              <a:spcAft>
                <a:spcPts val="0"/>
              </a:spcAft>
              <a:buFont typeface="Wingdings 2"/>
              <a:buChar char=""/>
              <a:defRPr/>
            </a:pPr>
            <a:r>
              <a:rPr lang="en-US" sz="2800" dirty="0">
                <a:latin typeface="Garamond" pitchFamily="18" charset="0"/>
                <a:ea typeface="+mn-ea"/>
              </a:rPr>
              <a:t>Flood protecting embankments along  big rivers in India</a:t>
            </a:r>
          </a:p>
          <a:p>
            <a:pPr marL="365760" indent="-283464" algn="just" eaLnBrk="1" fontAlgn="auto" hangingPunct="1">
              <a:spcAft>
                <a:spcPts val="0"/>
              </a:spcAft>
              <a:buFont typeface="Wingdings 2"/>
              <a:buChar char=""/>
              <a:defRPr/>
            </a:pPr>
            <a:r>
              <a:rPr lang="en-US" sz="2800" dirty="0">
                <a:latin typeface="Garamond" pitchFamily="18" charset="0"/>
                <a:ea typeface="+mn-ea"/>
              </a:rPr>
              <a:t>Rise of bed levels of big rivers due to sedimentation.</a:t>
            </a:r>
          </a:p>
          <a:p>
            <a:pPr marL="365760" indent="-283464" algn="just" eaLnBrk="1" fontAlgn="auto" hangingPunct="1">
              <a:spcAft>
                <a:spcPts val="0"/>
              </a:spcAft>
              <a:buFont typeface="Wingdings 2"/>
              <a:buChar char=""/>
              <a:defRPr/>
            </a:pPr>
            <a:r>
              <a:rPr lang="en-US" sz="2800" dirty="0">
                <a:latin typeface="Garamond" pitchFamily="18" charset="0"/>
                <a:ea typeface="+mn-ea"/>
              </a:rPr>
              <a:t>Construction of roads, railways and human settlements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fade">
                                      <p:cBhvr>
                                        <p:cTn id="7" dur="1000"/>
                                        <p:tgtEl>
                                          <p:spTgt spid="82946"/>
                                        </p:tgtEl>
                                      </p:cBhvr>
                                    </p:animEffect>
                                    <p:anim calcmode="lin" valueType="num">
                                      <p:cBhvr>
                                        <p:cTn id="8" dur="1000" fill="hold"/>
                                        <p:tgtEl>
                                          <p:spTgt spid="82946"/>
                                        </p:tgtEl>
                                        <p:attrNameLst>
                                          <p:attrName>ppt_x</p:attrName>
                                        </p:attrNameLst>
                                      </p:cBhvr>
                                      <p:tavLst>
                                        <p:tav tm="0">
                                          <p:val>
                                            <p:strVal val="#ppt_x"/>
                                          </p:val>
                                        </p:tav>
                                        <p:tav tm="100000">
                                          <p:val>
                                            <p:strVal val="#ppt_x"/>
                                          </p:val>
                                        </p:tav>
                                      </p:tavLst>
                                    </p:anim>
                                    <p:anim calcmode="lin" valueType="num">
                                      <p:cBhvr>
                                        <p:cTn id="9" dur="1000" fill="hold"/>
                                        <p:tgtEl>
                                          <p:spTgt spid="829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82947">
                                            <p:txEl>
                                              <p:pRg st="0" end="0"/>
                                            </p:txEl>
                                          </p:spTgt>
                                        </p:tgtEl>
                                        <p:attrNameLst>
                                          <p:attrName>style.visibility</p:attrName>
                                        </p:attrNameLst>
                                      </p:cBhvr>
                                      <p:to>
                                        <p:strVal val="visible"/>
                                      </p:to>
                                    </p:set>
                                    <p:anim calcmode="lin" valueType="num">
                                      <p:cBhvr additive="base">
                                        <p:cTn id="14" dur="500" fill="hold"/>
                                        <p:tgtEl>
                                          <p:spTgt spid="8294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829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2947">
                                            <p:txEl>
                                              <p:pRg st="1" end="1"/>
                                            </p:txEl>
                                          </p:spTgt>
                                        </p:tgtEl>
                                        <p:attrNameLst>
                                          <p:attrName>style.visibility</p:attrName>
                                        </p:attrNameLst>
                                      </p:cBhvr>
                                      <p:to>
                                        <p:strVal val="visible"/>
                                      </p:to>
                                    </p:set>
                                    <p:anim calcmode="lin" valueType="num">
                                      <p:cBhvr additive="base">
                                        <p:cTn id="20" dur="500" fill="hold"/>
                                        <p:tgtEl>
                                          <p:spTgt spid="82947">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829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82947">
                                            <p:txEl>
                                              <p:pRg st="2" end="2"/>
                                            </p:txEl>
                                          </p:spTgt>
                                        </p:tgtEl>
                                        <p:attrNameLst>
                                          <p:attrName>style.visibility</p:attrName>
                                        </p:attrNameLst>
                                      </p:cBhvr>
                                      <p:to>
                                        <p:strVal val="visible"/>
                                      </p:to>
                                    </p:set>
                                    <p:anim calcmode="lin" valueType="num">
                                      <p:cBhvr additive="base">
                                        <p:cTn id="26" dur="500" fill="hold"/>
                                        <p:tgtEl>
                                          <p:spTgt spid="82947">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829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82947">
                                            <p:txEl>
                                              <p:pRg st="3" end="3"/>
                                            </p:txEl>
                                          </p:spTgt>
                                        </p:tgtEl>
                                        <p:attrNameLst>
                                          <p:attrName>style.visibility</p:attrName>
                                        </p:attrNameLst>
                                      </p:cBhvr>
                                      <p:to>
                                        <p:strVal val="visible"/>
                                      </p:to>
                                    </p:set>
                                    <p:anim calcmode="lin" valueType="num">
                                      <p:cBhvr additive="base">
                                        <p:cTn id="32" dur="500" fill="hold"/>
                                        <p:tgtEl>
                                          <p:spTgt spid="82947">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829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82947">
                                            <p:txEl>
                                              <p:pRg st="4" end="4"/>
                                            </p:txEl>
                                          </p:spTgt>
                                        </p:tgtEl>
                                        <p:attrNameLst>
                                          <p:attrName>style.visibility</p:attrName>
                                        </p:attrNameLst>
                                      </p:cBhvr>
                                      <p:to>
                                        <p:strVal val="visible"/>
                                      </p:to>
                                    </p:set>
                                    <p:anim calcmode="lin" valueType="num">
                                      <p:cBhvr additive="base">
                                        <p:cTn id="38" dur="500" fill="hold"/>
                                        <p:tgtEl>
                                          <p:spTgt spid="82947">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829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82947">
                                            <p:txEl>
                                              <p:pRg st="5" end="5"/>
                                            </p:txEl>
                                          </p:spTgt>
                                        </p:tgtEl>
                                        <p:attrNameLst>
                                          <p:attrName>style.visibility</p:attrName>
                                        </p:attrNameLst>
                                      </p:cBhvr>
                                      <p:to>
                                        <p:strVal val="visible"/>
                                      </p:to>
                                    </p:set>
                                    <p:anim calcmode="lin" valueType="num">
                                      <p:cBhvr additive="base">
                                        <p:cTn id="44" dur="500" fill="hold"/>
                                        <p:tgtEl>
                                          <p:spTgt spid="82947">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829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82947">
                                            <p:txEl>
                                              <p:pRg st="6" end="6"/>
                                            </p:txEl>
                                          </p:spTgt>
                                        </p:tgtEl>
                                        <p:attrNameLst>
                                          <p:attrName>style.visibility</p:attrName>
                                        </p:attrNameLst>
                                      </p:cBhvr>
                                      <p:to>
                                        <p:strVal val="visible"/>
                                      </p:to>
                                    </p:set>
                                    <p:anim calcmode="lin" valueType="num">
                                      <p:cBhvr additive="base">
                                        <p:cTn id="50" dur="500" fill="hold"/>
                                        <p:tgtEl>
                                          <p:spTgt spid="82947">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8294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82947">
                                            <p:txEl>
                                              <p:pRg st="7" end="7"/>
                                            </p:txEl>
                                          </p:spTgt>
                                        </p:tgtEl>
                                        <p:attrNameLst>
                                          <p:attrName>style.visibility</p:attrName>
                                        </p:attrNameLst>
                                      </p:cBhvr>
                                      <p:to>
                                        <p:strVal val="visible"/>
                                      </p:to>
                                    </p:set>
                                    <p:anim calcmode="lin" valueType="num">
                                      <p:cBhvr additive="base">
                                        <p:cTn id="56" dur="500" fill="hold"/>
                                        <p:tgtEl>
                                          <p:spTgt spid="82947">
                                            <p:txEl>
                                              <p:pRg st="7" end="7"/>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8294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4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7" descr="flooding">
            <a:extLst>
              <a:ext uri="{FF2B5EF4-FFF2-40B4-BE49-F238E27FC236}">
                <a16:creationId xmlns:a16="http://schemas.microsoft.com/office/drawing/2014/main" id="{BFF19A71-B062-412D-9B56-2CE3E90ACA5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524000" y="209550"/>
            <a:ext cx="5453319" cy="5867400"/>
          </a:xfrm>
          <a:noFill/>
        </p:spPr>
      </p:pic>
      <p:sp>
        <p:nvSpPr>
          <p:cNvPr id="87048" name="Rectangle 8">
            <a:extLst>
              <a:ext uri="{FF2B5EF4-FFF2-40B4-BE49-F238E27FC236}">
                <a16:creationId xmlns:a16="http://schemas.microsoft.com/office/drawing/2014/main" id="{A2F060E3-B1E5-463D-B479-71CAFEE8D5F9}"/>
              </a:ext>
            </a:extLst>
          </p:cNvPr>
          <p:cNvSpPr>
            <a:spLocks noGrp="1" noChangeArrowheads="1"/>
          </p:cNvSpPr>
          <p:nvPr>
            <p:ph sz="half" idx="2"/>
          </p:nvPr>
        </p:nvSpPr>
        <p:spPr>
          <a:xfrm>
            <a:off x="6781800" y="4648200"/>
            <a:ext cx="1905000" cy="1447800"/>
          </a:xfrm>
          <a:solidFill>
            <a:srgbClr val="FFFFFF"/>
          </a:solidFill>
          <a:ln>
            <a:solidFill>
              <a:srgbClr val="000000"/>
            </a:solidFill>
          </a:ln>
        </p:spPr>
        <p:txBody>
          <a:bodyPr>
            <a:normAutofit/>
          </a:bodyPr>
          <a:lstStyle/>
          <a:p>
            <a:pPr eaLnBrk="1" hangingPunct="1">
              <a:buFont typeface="Wingdings" pitchFamily="2" charset="2"/>
              <a:buNone/>
              <a:defRPr/>
            </a:pPr>
            <a:br>
              <a:rPr lang="en-US">
                <a:effectLst>
                  <a:outerShdw blurRad="38100" dist="38100" dir="2700000" algn="tl">
                    <a:srgbClr val="C0C0C0"/>
                  </a:outerShdw>
                </a:effectLst>
              </a:rPr>
            </a:br>
            <a:r>
              <a:rPr lang="en-US" sz="2000">
                <a:solidFill>
                  <a:srgbClr val="000000"/>
                </a:solidFill>
                <a:effectLst>
                  <a:outerShdw blurRad="38100" dist="38100" dir="2700000" algn="tl">
                    <a:srgbClr val="C0C0C0"/>
                  </a:outerShdw>
                </a:effectLst>
                <a:latin typeface="Garamond" pitchFamily="18" charset="0"/>
              </a:rPr>
              <a:t>Vulnerability to Flooding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6C86DE7-E1B9-4B32-BAFC-C558D65415B6}"/>
              </a:ext>
            </a:extLst>
          </p:cNvPr>
          <p:cNvSpPr>
            <a:spLocks noGrp="1" noChangeArrowheads="1"/>
          </p:cNvSpPr>
          <p:nvPr>
            <p:ph type="title"/>
          </p:nvPr>
        </p:nvSpPr>
        <p:spPr>
          <a:xfrm>
            <a:off x="457200" y="228600"/>
            <a:ext cx="8229600" cy="609600"/>
          </a:xfrm>
        </p:spPr>
        <p:txBody>
          <a:bodyPr vert="horz" wrap="square" lIns="91440" tIns="45720" rIns="91440" bIns="45720" numCol="1" anchorCtr="0" compatLnSpc="1">
            <a:prstTxWarp prst="textNoShape">
              <a:avLst/>
            </a:prstTxWarp>
          </a:bodyPr>
          <a:lstStyle/>
          <a:p>
            <a:pPr eaLnBrk="1" hangingPunct="1">
              <a:defRPr/>
            </a:pPr>
            <a:r>
              <a:rPr lang="en-US" sz="3200" dirty="0">
                <a:solidFill>
                  <a:schemeClr val="tx1"/>
                </a:solidFill>
                <a:effectLst>
                  <a:outerShdw blurRad="38100" dist="38100" dir="2700000" algn="tl">
                    <a:srgbClr val="C0C0C0"/>
                  </a:outerShdw>
                </a:effectLst>
                <a:latin typeface="Garamond" pitchFamily="18" charset="0"/>
              </a:rPr>
              <a:t>Drought</a:t>
            </a:r>
          </a:p>
        </p:txBody>
      </p:sp>
      <p:sp>
        <p:nvSpPr>
          <p:cNvPr id="35843" name="Rectangle 3">
            <a:extLst>
              <a:ext uri="{FF2B5EF4-FFF2-40B4-BE49-F238E27FC236}">
                <a16:creationId xmlns:a16="http://schemas.microsoft.com/office/drawing/2014/main" id="{48F09E2C-F3F3-4894-B179-6FC1254F1828}"/>
              </a:ext>
            </a:extLst>
          </p:cNvPr>
          <p:cNvSpPr>
            <a:spLocks noGrp="1" noChangeArrowheads="1"/>
          </p:cNvSpPr>
          <p:nvPr>
            <p:ph sz="quarter" idx="1"/>
          </p:nvPr>
        </p:nvSpPr>
        <p:spPr>
          <a:xfrm>
            <a:off x="723900" y="1430337"/>
            <a:ext cx="7696200" cy="3540125"/>
          </a:xfrm>
        </p:spPr>
        <p:txBody>
          <a:bodyPr/>
          <a:lstStyle/>
          <a:p>
            <a:pPr algn="just" eaLnBrk="1" hangingPunct="1">
              <a:buFont typeface="Wingdings" panose="05000000000000000000" pitchFamily="2" charset="2"/>
              <a:buNone/>
            </a:pPr>
            <a:r>
              <a:rPr lang="en-US" altLang="en-US" sz="2800" dirty="0">
                <a:latin typeface="Garamond" panose="02020404030301010803" pitchFamily="18" charset="0"/>
              </a:rPr>
              <a:t>    </a:t>
            </a:r>
            <a:r>
              <a:rPr lang="en-US" altLang="en-US" dirty="0">
                <a:latin typeface="Garamond" panose="02020404030301010803" pitchFamily="18" charset="0"/>
              </a:rPr>
              <a:t>A drought is an extended period of months or years when a region notes a deficiency in its water supply. Generally, this occurs when a region receives consistently below average precipitation. It occurs when wind and pressure pattern are different from normal, so that expected rains do not fall.</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fill="hold"/>
                                        <p:tgtEl>
                                          <p:spTgt spid="17410"/>
                                        </p:tgtEl>
                                        <p:attrNameLst>
                                          <p:attrName>ppt_x</p:attrName>
                                        </p:attrNameLst>
                                      </p:cBhvr>
                                      <p:tavLst>
                                        <p:tav tm="0">
                                          <p:val>
                                            <p:strVal val="#ppt_x"/>
                                          </p:val>
                                        </p:tav>
                                        <p:tav tm="100000">
                                          <p:val>
                                            <p:strVal val="#ppt_x"/>
                                          </p:val>
                                        </p:tav>
                                      </p:tavLst>
                                    </p:anim>
                                    <p:anim calcmode="lin" valueType="num">
                                      <p:cBhvr additive="base">
                                        <p:cTn id="8" dur="500" fill="hold"/>
                                        <p:tgtEl>
                                          <p:spTgt spid="174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5843">
                                            <p:txEl>
                                              <p:pRg st="0" end="0"/>
                                            </p:txEl>
                                          </p:spTgt>
                                        </p:tgtEl>
                                        <p:attrNameLst>
                                          <p:attrName>style.visibility</p:attrName>
                                        </p:attrNameLst>
                                      </p:cBhvr>
                                      <p:to>
                                        <p:strVal val="visible"/>
                                      </p:to>
                                    </p:set>
                                    <p:animEffect transition="in" filter="fade">
                                      <p:cBhvr>
                                        <p:cTn id="13" dur="1000"/>
                                        <p:tgtEl>
                                          <p:spTgt spid="35843">
                                            <p:txEl>
                                              <p:pRg st="0" end="0"/>
                                            </p:txEl>
                                          </p:spTgt>
                                        </p:tgtEl>
                                      </p:cBhvr>
                                    </p:animEffect>
                                    <p:anim calcmode="lin" valueType="num">
                                      <p:cBhvr>
                                        <p:cTn id="14" dur="1000" fill="hold"/>
                                        <p:tgtEl>
                                          <p:spTgt spid="3584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584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3584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9684B4B-F252-4EB1-B976-1A0AED042356}"/>
              </a:ext>
            </a:extLst>
          </p:cNvPr>
          <p:cNvSpPr>
            <a:spLocks noGrp="1" noChangeArrowheads="1"/>
          </p:cNvSpPr>
          <p:nvPr>
            <p:ph type="title"/>
          </p:nvPr>
        </p:nvSpPr>
        <p:spPr>
          <a:xfrm>
            <a:off x="1143000" y="152400"/>
            <a:ext cx="6781800" cy="560388"/>
          </a:xfrm>
        </p:spPr>
        <p:txBody>
          <a:bodyPr vert="horz" wrap="square" lIns="91440" tIns="45720" rIns="91440" bIns="45720" numCol="1" anchorCtr="0" compatLnSpc="1">
            <a:prstTxWarp prst="textNoShape">
              <a:avLst/>
            </a:prstTxWarp>
            <a:normAutofit fontScale="90000"/>
          </a:bodyPr>
          <a:lstStyle/>
          <a:p>
            <a:pPr eaLnBrk="1" hangingPunct="1">
              <a:defRPr/>
            </a:pPr>
            <a:r>
              <a:rPr lang="en-US" sz="3200" dirty="0">
                <a:solidFill>
                  <a:schemeClr val="tx1"/>
                </a:solidFill>
                <a:effectLst>
                  <a:outerShdw blurRad="38100" dist="38100" dir="2700000" algn="tl">
                    <a:srgbClr val="C0C0C0"/>
                  </a:outerShdw>
                </a:effectLst>
                <a:latin typeface="Garamond" pitchFamily="18" charset="0"/>
              </a:rPr>
              <a:t>Types of Drought</a:t>
            </a:r>
            <a:r>
              <a:rPr lang="en-US" sz="3600" dirty="0">
                <a:effectLst>
                  <a:outerShdw blurRad="38100" dist="38100" dir="2700000" algn="tl">
                    <a:srgbClr val="C0C0C0"/>
                  </a:outerShdw>
                </a:effectLst>
              </a:rPr>
              <a:t> </a:t>
            </a:r>
          </a:p>
        </p:txBody>
      </p:sp>
      <p:sp>
        <p:nvSpPr>
          <p:cNvPr id="36867" name="Rectangle 3">
            <a:extLst>
              <a:ext uri="{FF2B5EF4-FFF2-40B4-BE49-F238E27FC236}">
                <a16:creationId xmlns:a16="http://schemas.microsoft.com/office/drawing/2014/main" id="{D944F70B-1E37-45B1-9300-BAABEF9A0D54}"/>
              </a:ext>
            </a:extLst>
          </p:cNvPr>
          <p:cNvSpPr>
            <a:spLocks noGrp="1" noChangeArrowheads="1"/>
          </p:cNvSpPr>
          <p:nvPr>
            <p:ph sz="quarter" idx="1"/>
          </p:nvPr>
        </p:nvSpPr>
        <p:spPr>
          <a:xfrm>
            <a:off x="762000" y="1371600"/>
            <a:ext cx="8229600" cy="5140325"/>
          </a:xfrm>
        </p:spPr>
        <p:txBody>
          <a:bodyPr>
            <a:normAutofit fontScale="92500" lnSpcReduction="10000"/>
          </a:bodyPr>
          <a:lstStyle/>
          <a:p>
            <a:pPr eaLnBrk="1" hangingPunct="1">
              <a:lnSpc>
                <a:spcPct val="90000"/>
              </a:lnSpc>
              <a:buFont typeface="Wingdings" panose="05000000000000000000" pitchFamily="2" charset="2"/>
              <a:buNone/>
            </a:pPr>
            <a:r>
              <a:rPr lang="en-US" altLang="en-US" sz="2800" b="1" u="sng" dirty="0">
                <a:latin typeface="Garamond" panose="02020404030301010803" pitchFamily="18" charset="0"/>
              </a:rPr>
              <a:t>Meteorological Drought</a:t>
            </a:r>
            <a:br>
              <a:rPr lang="en-US" altLang="en-US" sz="2800" dirty="0">
                <a:latin typeface="Garamond" panose="02020404030301010803" pitchFamily="18" charset="0"/>
              </a:rPr>
            </a:br>
            <a:br>
              <a:rPr lang="en-US" altLang="en-US" dirty="0">
                <a:latin typeface="Garamond" panose="02020404030301010803" pitchFamily="18" charset="0"/>
              </a:rPr>
            </a:br>
            <a:r>
              <a:rPr lang="en-US" altLang="en-US" dirty="0">
                <a:latin typeface="Garamond" panose="02020404030301010803" pitchFamily="18" charset="0"/>
              </a:rPr>
              <a:t>- Related to rainfall amounts.</a:t>
            </a:r>
          </a:p>
          <a:p>
            <a:pPr eaLnBrk="1" hangingPunct="1">
              <a:lnSpc>
                <a:spcPct val="90000"/>
              </a:lnSpc>
              <a:buFont typeface="Wingdings" panose="05000000000000000000" pitchFamily="2" charset="2"/>
              <a:buNone/>
            </a:pPr>
            <a:r>
              <a:rPr lang="en-US" altLang="en-US" dirty="0">
                <a:latin typeface="Garamond" panose="02020404030301010803" pitchFamily="18" charset="0"/>
              </a:rPr>
              <a:t>     - is generally defined by comparing the rainfall with the average rainfall for that place/region.</a:t>
            </a:r>
          </a:p>
          <a:p>
            <a:pPr eaLnBrk="1" hangingPunct="1">
              <a:lnSpc>
                <a:spcPct val="90000"/>
              </a:lnSpc>
              <a:buFont typeface="Wingdings" panose="05000000000000000000" pitchFamily="2" charset="2"/>
              <a:buNone/>
            </a:pPr>
            <a:r>
              <a:rPr lang="en-US" altLang="en-US" b="1" u="sng" dirty="0">
                <a:latin typeface="Garamond" panose="02020404030301010803" pitchFamily="18" charset="0"/>
              </a:rPr>
              <a:t>Agricultural Drought</a:t>
            </a:r>
          </a:p>
          <a:p>
            <a:pPr eaLnBrk="1" hangingPunct="1">
              <a:lnSpc>
                <a:spcPct val="90000"/>
              </a:lnSpc>
              <a:buFont typeface="Wingdings" panose="05000000000000000000" pitchFamily="2" charset="2"/>
              <a:buNone/>
            </a:pPr>
            <a:br>
              <a:rPr lang="en-US" altLang="en-US" dirty="0">
                <a:latin typeface="Garamond" panose="02020404030301010803" pitchFamily="18" charset="0"/>
              </a:rPr>
            </a:br>
            <a:r>
              <a:rPr lang="en-US" altLang="en-US" dirty="0">
                <a:latin typeface="Garamond" panose="02020404030301010803" pitchFamily="18" charset="0"/>
              </a:rPr>
              <a:t>- Related to availability of water to crops.</a:t>
            </a:r>
          </a:p>
          <a:p>
            <a:pPr eaLnBrk="1" hangingPunct="1">
              <a:lnSpc>
                <a:spcPct val="90000"/>
              </a:lnSpc>
              <a:buFont typeface="Wingdings" panose="05000000000000000000" pitchFamily="2" charset="2"/>
              <a:buNone/>
            </a:pPr>
            <a:r>
              <a:rPr lang="en-US" altLang="en-US" dirty="0">
                <a:latin typeface="Garamond" panose="02020404030301010803" pitchFamily="18" charset="0"/>
              </a:rPr>
              <a:t>    - When there is not enough water available for a particular crop to grow at a particular time.</a:t>
            </a:r>
          </a:p>
          <a:p>
            <a:pPr eaLnBrk="1" hangingPunct="1">
              <a:lnSpc>
                <a:spcPct val="90000"/>
              </a:lnSpc>
              <a:buFont typeface="Wingdings" panose="05000000000000000000" pitchFamily="2" charset="2"/>
              <a:buNone/>
            </a:pPr>
            <a:endParaRPr lang="en-US" altLang="en-US" dirty="0">
              <a:latin typeface="Garamond" panose="02020404030301010803" pitchFamily="18" charset="0"/>
            </a:endParaRPr>
          </a:p>
          <a:p>
            <a:pPr eaLnBrk="1" hangingPunct="1">
              <a:lnSpc>
                <a:spcPct val="90000"/>
              </a:lnSpc>
              <a:buFont typeface="Wingdings" panose="05000000000000000000" pitchFamily="2" charset="2"/>
              <a:buNone/>
            </a:pPr>
            <a:br>
              <a:rPr lang="en-US" altLang="en-US" dirty="0">
                <a:latin typeface="Garamond" panose="02020404030301010803" pitchFamily="18" charset="0"/>
              </a:rPr>
            </a:br>
            <a:br>
              <a:rPr lang="en-US" altLang="en-US" sz="2800" dirty="0">
                <a:latin typeface="Garamond" panose="02020404030301010803" pitchFamily="18" charset="0"/>
              </a:rPr>
            </a:br>
            <a:endParaRPr lang="en-US" altLang="en-US"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barn(inVertical)">
                                      <p:cBhvr>
                                        <p:cTn id="7" dur="5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6867">
                                            <p:txEl>
                                              <p:pRg st="0" end="0"/>
                                            </p:txEl>
                                          </p:spTgt>
                                        </p:tgtEl>
                                        <p:attrNameLst>
                                          <p:attrName>style.visibility</p:attrName>
                                        </p:attrNameLst>
                                      </p:cBhvr>
                                      <p:to>
                                        <p:strVal val="visible"/>
                                      </p:to>
                                    </p:set>
                                    <p:animEffect transition="in" filter="fade">
                                      <p:cBhvr>
                                        <p:cTn id="12" dur="1000"/>
                                        <p:tgtEl>
                                          <p:spTgt spid="36867">
                                            <p:txEl>
                                              <p:pRg st="0" end="0"/>
                                            </p:txEl>
                                          </p:spTgt>
                                        </p:tgtEl>
                                      </p:cBhvr>
                                    </p:animEffect>
                                    <p:anim calcmode="lin" valueType="num">
                                      <p:cBhvr>
                                        <p:cTn id="13" dur="10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68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6867">
                                            <p:txEl>
                                              <p:pRg st="1" end="1"/>
                                            </p:txEl>
                                          </p:spTgt>
                                        </p:tgtEl>
                                        <p:attrNameLst>
                                          <p:attrName>style.visibility</p:attrName>
                                        </p:attrNameLst>
                                      </p:cBhvr>
                                      <p:to>
                                        <p:strVal val="visible"/>
                                      </p:to>
                                    </p:set>
                                    <p:animEffect transition="in" filter="fade">
                                      <p:cBhvr>
                                        <p:cTn id="19" dur="1000"/>
                                        <p:tgtEl>
                                          <p:spTgt spid="36867">
                                            <p:txEl>
                                              <p:pRg st="1" end="1"/>
                                            </p:txEl>
                                          </p:spTgt>
                                        </p:tgtEl>
                                      </p:cBhvr>
                                    </p:animEffect>
                                    <p:anim calcmode="lin" valueType="num">
                                      <p:cBhvr>
                                        <p:cTn id="20" dur="10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68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6867">
                                            <p:txEl>
                                              <p:pRg st="2" end="2"/>
                                            </p:txEl>
                                          </p:spTgt>
                                        </p:tgtEl>
                                        <p:attrNameLst>
                                          <p:attrName>style.visibility</p:attrName>
                                        </p:attrNameLst>
                                      </p:cBhvr>
                                      <p:to>
                                        <p:strVal val="visible"/>
                                      </p:to>
                                    </p:set>
                                    <p:animEffect transition="in" filter="fade">
                                      <p:cBhvr>
                                        <p:cTn id="26" dur="1000"/>
                                        <p:tgtEl>
                                          <p:spTgt spid="36867">
                                            <p:txEl>
                                              <p:pRg st="2" end="2"/>
                                            </p:txEl>
                                          </p:spTgt>
                                        </p:tgtEl>
                                      </p:cBhvr>
                                    </p:animEffect>
                                    <p:anim calcmode="lin" valueType="num">
                                      <p:cBhvr>
                                        <p:cTn id="27" dur="10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686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6867">
                                            <p:txEl>
                                              <p:pRg st="3" end="3"/>
                                            </p:txEl>
                                          </p:spTgt>
                                        </p:tgtEl>
                                        <p:attrNameLst>
                                          <p:attrName>style.visibility</p:attrName>
                                        </p:attrNameLst>
                                      </p:cBhvr>
                                      <p:to>
                                        <p:strVal val="visible"/>
                                      </p:to>
                                    </p:set>
                                    <p:animEffect transition="in" filter="fade">
                                      <p:cBhvr>
                                        <p:cTn id="33" dur="1000"/>
                                        <p:tgtEl>
                                          <p:spTgt spid="36867">
                                            <p:txEl>
                                              <p:pRg st="3" end="3"/>
                                            </p:txEl>
                                          </p:spTgt>
                                        </p:tgtEl>
                                      </p:cBhvr>
                                    </p:animEffect>
                                    <p:anim calcmode="lin" valueType="num">
                                      <p:cBhvr>
                                        <p:cTn id="34" dur="10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686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6867">
                                            <p:txEl>
                                              <p:pRg st="4" end="4"/>
                                            </p:txEl>
                                          </p:spTgt>
                                        </p:tgtEl>
                                        <p:attrNameLst>
                                          <p:attrName>style.visibility</p:attrName>
                                        </p:attrNameLst>
                                      </p:cBhvr>
                                      <p:to>
                                        <p:strVal val="visible"/>
                                      </p:to>
                                    </p:set>
                                    <p:animEffect transition="in" filter="fade">
                                      <p:cBhvr>
                                        <p:cTn id="40" dur="1000"/>
                                        <p:tgtEl>
                                          <p:spTgt spid="36867">
                                            <p:txEl>
                                              <p:pRg st="4" end="4"/>
                                            </p:txEl>
                                          </p:spTgt>
                                        </p:tgtEl>
                                      </p:cBhvr>
                                    </p:animEffect>
                                    <p:anim calcmode="lin" valueType="num">
                                      <p:cBhvr>
                                        <p:cTn id="41" dur="10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686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6867">
                                            <p:txEl>
                                              <p:pRg st="6" end="6"/>
                                            </p:txEl>
                                          </p:spTgt>
                                        </p:tgtEl>
                                        <p:attrNameLst>
                                          <p:attrName>style.visibility</p:attrName>
                                        </p:attrNameLst>
                                      </p:cBhvr>
                                      <p:to>
                                        <p:strVal val="visible"/>
                                      </p:to>
                                    </p:set>
                                    <p:animEffect transition="in" filter="fade">
                                      <p:cBhvr>
                                        <p:cTn id="47" dur="1000"/>
                                        <p:tgtEl>
                                          <p:spTgt spid="36867">
                                            <p:txEl>
                                              <p:pRg st="6" end="6"/>
                                            </p:txEl>
                                          </p:spTgt>
                                        </p:tgtEl>
                                      </p:cBhvr>
                                    </p:animEffect>
                                    <p:anim calcmode="lin" valueType="num">
                                      <p:cBhvr>
                                        <p:cTn id="48" dur="1000" fill="hold"/>
                                        <p:tgtEl>
                                          <p:spTgt spid="36867">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686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3686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89A97AEC-2778-4B0F-80C4-75BFCC6D1C10}"/>
              </a:ext>
            </a:extLst>
          </p:cNvPr>
          <p:cNvSpPr>
            <a:spLocks noGrp="1" noChangeArrowheads="1"/>
          </p:cNvSpPr>
          <p:nvPr>
            <p:ph sz="quarter" idx="1"/>
          </p:nvPr>
        </p:nvSpPr>
        <p:spPr>
          <a:xfrm>
            <a:off x="914400" y="1143000"/>
            <a:ext cx="7620000" cy="4114800"/>
          </a:xfrm>
        </p:spPr>
        <p:txBody>
          <a:bodyPr/>
          <a:lstStyle/>
          <a:p>
            <a:pPr eaLnBrk="1" hangingPunct="1">
              <a:lnSpc>
                <a:spcPct val="80000"/>
              </a:lnSpc>
            </a:pPr>
            <a:endParaRPr lang="en-US" altLang="en-US" sz="2800" b="1" u="sng" dirty="0">
              <a:latin typeface="Garamond" panose="02020404030301010803" pitchFamily="18" charset="0"/>
            </a:endParaRPr>
          </a:p>
          <a:p>
            <a:pPr eaLnBrk="1" hangingPunct="1">
              <a:lnSpc>
                <a:spcPct val="80000"/>
              </a:lnSpc>
              <a:buFont typeface="Wingdings" panose="05000000000000000000" pitchFamily="2" charset="2"/>
              <a:buNone/>
            </a:pPr>
            <a:r>
              <a:rPr lang="en-US" altLang="en-US" sz="2800" b="1" u="sng" dirty="0">
                <a:latin typeface="Garamond" panose="02020404030301010803" pitchFamily="18" charset="0"/>
              </a:rPr>
              <a:t>Hydrological Drought</a:t>
            </a:r>
            <a:r>
              <a:rPr lang="en-US" altLang="en-US" sz="2000" dirty="0">
                <a:latin typeface="Garamond" panose="02020404030301010803" pitchFamily="18" charset="0"/>
              </a:rPr>
              <a:t> </a:t>
            </a:r>
            <a:br>
              <a:rPr lang="en-US" altLang="en-US" sz="2000" dirty="0">
                <a:latin typeface="Garamond" panose="02020404030301010803" pitchFamily="18" charset="0"/>
              </a:rPr>
            </a:br>
            <a:endParaRPr lang="en-US" altLang="en-US" sz="2000" dirty="0">
              <a:latin typeface="Garamond" panose="02020404030301010803" pitchFamily="18" charset="0"/>
            </a:endParaRPr>
          </a:p>
          <a:p>
            <a:pPr algn="just" eaLnBrk="1" hangingPunct="1">
              <a:lnSpc>
                <a:spcPct val="80000"/>
              </a:lnSpc>
              <a:buFont typeface="Wingdings" panose="05000000000000000000" pitchFamily="2" charset="2"/>
              <a:buNone/>
            </a:pPr>
            <a:r>
              <a:rPr lang="en-US" altLang="en-US" sz="2000" dirty="0">
                <a:latin typeface="Garamond" panose="02020404030301010803" pitchFamily="18" charset="0"/>
              </a:rPr>
              <a:t>     - </a:t>
            </a:r>
            <a:r>
              <a:rPr lang="en-US" altLang="en-US" sz="2200" dirty="0">
                <a:latin typeface="Garamond" panose="02020404030301010803" pitchFamily="18" charset="0"/>
              </a:rPr>
              <a:t>Hydrological drought is associated with the effects of periods of precipitation shortages on water supply.</a:t>
            </a:r>
          </a:p>
          <a:p>
            <a:pPr algn="just" eaLnBrk="1" hangingPunct="1">
              <a:lnSpc>
                <a:spcPct val="80000"/>
              </a:lnSpc>
              <a:buFont typeface="Wingdings" panose="05000000000000000000" pitchFamily="2" charset="2"/>
              <a:buNone/>
            </a:pPr>
            <a:r>
              <a:rPr lang="en-US" altLang="en-US" sz="2200" dirty="0">
                <a:latin typeface="Garamond" panose="02020404030301010803" pitchFamily="18" charset="0"/>
              </a:rPr>
              <a:t>    - Affects uses which depend on water levels.</a:t>
            </a:r>
          </a:p>
          <a:p>
            <a:pPr eaLnBrk="1" hangingPunct="1">
              <a:lnSpc>
                <a:spcPct val="80000"/>
              </a:lnSpc>
              <a:buFont typeface="Wingdings" panose="05000000000000000000" pitchFamily="2" charset="2"/>
              <a:buNone/>
            </a:pPr>
            <a:br>
              <a:rPr lang="en-US" altLang="en-US" sz="2000" dirty="0">
                <a:latin typeface="Garamond" panose="02020404030301010803" pitchFamily="18" charset="0"/>
              </a:rPr>
            </a:br>
            <a:r>
              <a:rPr lang="en-US" altLang="en-US" sz="2800" b="1" u="sng" dirty="0">
                <a:latin typeface="Garamond" panose="02020404030301010803" pitchFamily="18" charset="0"/>
              </a:rPr>
              <a:t>Socioeconomic Drought</a:t>
            </a:r>
            <a:r>
              <a:rPr lang="en-US" altLang="en-US" sz="2800" dirty="0">
                <a:latin typeface="Garamond" panose="02020404030301010803" pitchFamily="18" charset="0"/>
              </a:rPr>
              <a:t> </a:t>
            </a:r>
            <a:br>
              <a:rPr lang="en-US" altLang="en-US" sz="2800" dirty="0">
                <a:latin typeface="Garamond" panose="02020404030301010803" pitchFamily="18" charset="0"/>
              </a:rPr>
            </a:br>
            <a:br>
              <a:rPr lang="en-US" altLang="en-US" sz="2000" dirty="0">
                <a:latin typeface="Garamond" panose="02020404030301010803" pitchFamily="18" charset="0"/>
              </a:rPr>
            </a:br>
            <a:r>
              <a:rPr lang="en-US" altLang="en-US" sz="2200" dirty="0">
                <a:latin typeface="Garamond" panose="02020404030301010803" pitchFamily="18" charset="0"/>
              </a:rPr>
              <a:t>Socioeconomic drought occurs when the demand for an economic good exceeds supply as a result of a weather-related shortfall in water supply. </a:t>
            </a:r>
            <a:endParaRPr lang="en-US" altLang="en-US" sz="2200" dirty="0">
              <a:latin typeface="Century Schoolbook" panose="020406040505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890">
                                            <p:txEl>
                                              <p:pRg st="1" end="1"/>
                                            </p:txEl>
                                          </p:spTgt>
                                        </p:tgtEl>
                                        <p:attrNameLst>
                                          <p:attrName>style.visibility</p:attrName>
                                        </p:attrNameLst>
                                      </p:cBhvr>
                                      <p:to>
                                        <p:strVal val="visible"/>
                                      </p:to>
                                    </p:set>
                                    <p:animEffect transition="in" filter="fade">
                                      <p:cBhvr>
                                        <p:cTn id="7" dur="1000"/>
                                        <p:tgtEl>
                                          <p:spTgt spid="37890">
                                            <p:txEl>
                                              <p:pRg st="1" end="1"/>
                                            </p:txEl>
                                          </p:spTgt>
                                        </p:tgtEl>
                                      </p:cBhvr>
                                    </p:animEffect>
                                    <p:anim calcmode="lin" valueType="num">
                                      <p:cBhvr>
                                        <p:cTn id="8" dur="1000" fill="hold"/>
                                        <p:tgtEl>
                                          <p:spTgt spid="3789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789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7890">
                                            <p:txEl>
                                              <p:pRg st="2" end="2"/>
                                            </p:txEl>
                                          </p:spTgt>
                                        </p:tgtEl>
                                        <p:attrNameLst>
                                          <p:attrName>style.visibility</p:attrName>
                                        </p:attrNameLst>
                                      </p:cBhvr>
                                      <p:to>
                                        <p:strVal val="visible"/>
                                      </p:to>
                                    </p:set>
                                    <p:animEffect transition="in" filter="fade">
                                      <p:cBhvr>
                                        <p:cTn id="14" dur="1000"/>
                                        <p:tgtEl>
                                          <p:spTgt spid="37890">
                                            <p:txEl>
                                              <p:pRg st="2" end="2"/>
                                            </p:txEl>
                                          </p:spTgt>
                                        </p:tgtEl>
                                      </p:cBhvr>
                                    </p:animEffect>
                                    <p:anim calcmode="lin" valueType="num">
                                      <p:cBhvr>
                                        <p:cTn id="15" dur="1000" fill="hold"/>
                                        <p:tgtEl>
                                          <p:spTgt spid="3789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789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7890">
                                            <p:txEl>
                                              <p:pRg st="3" end="3"/>
                                            </p:txEl>
                                          </p:spTgt>
                                        </p:tgtEl>
                                        <p:attrNameLst>
                                          <p:attrName>style.visibility</p:attrName>
                                        </p:attrNameLst>
                                      </p:cBhvr>
                                      <p:to>
                                        <p:strVal val="visible"/>
                                      </p:to>
                                    </p:set>
                                    <p:animEffect transition="in" filter="fade">
                                      <p:cBhvr>
                                        <p:cTn id="21" dur="1000"/>
                                        <p:tgtEl>
                                          <p:spTgt spid="37890">
                                            <p:txEl>
                                              <p:pRg st="3" end="3"/>
                                            </p:txEl>
                                          </p:spTgt>
                                        </p:tgtEl>
                                      </p:cBhvr>
                                    </p:animEffect>
                                    <p:anim calcmode="lin" valueType="num">
                                      <p:cBhvr>
                                        <p:cTn id="22" dur="1000" fill="hold"/>
                                        <p:tgtEl>
                                          <p:spTgt spid="37890">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789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7890">
                                            <p:txEl>
                                              <p:pRg st="4" end="4"/>
                                            </p:txEl>
                                          </p:spTgt>
                                        </p:tgtEl>
                                        <p:attrNameLst>
                                          <p:attrName>style.visibility</p:attrName>
                                        </p:attrNameLst>
                                      </p:cBhvr>
                                      <p:to>
                                        <p:strVal val="visible"/>
                                      </p:to>
                                    </p:set>
                                    <p:animEffect transition="in" filter="fade">
                                      <p:cBhvr>
                                        <p:cTn id="28" dur="1000"/>
                                        <p:tgtEl>
                                          <p:spTgt spid="37890">
                                            <p:txEl>
                                              <p:pRg st="4" end="4"/>
                                            </p:txEl>
                                          </p:spTgt>
                                        </p:tgtEl>
                                      </p:cBhvr>
                                    </p:animEffect>
                                    <p:anim calcmode="lin" valueType="num">
                                      <p:cBhvr>
                                        <p:cTn id="29" dur="1000" fill="hold"/>
                                        <p:tgtEl>
                                          <p:spTgt spid="37890">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789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43669FC-18B3-433A-B0A0-393EF98520BF}"/>
              </a:ext>
            </a:extLst>
          </p:cNvPr>
          <p:cNvSpPr>
            <a:spLocks noGrp="1" noChangeArrowheads="1"/>
          </p:cNvSpPr>
          <p:nvPr>
            <p:ph type="title"/>
          </p:nvPr>
        </p:nvSpPr>
        <p:spPr>
          <a:xfrm>
            <a:off x="1143000" y="152400"/>
            <a:ext cx="7239000" cy="533400"/>
          </a:xfrm>
        </p:spPr>
        <p:txBody>
          <a:bodyPr vert="horz" wrap="square" lIns="91440" tIns="45720" rIns="91440" bIns="45720" numCol="1" anchorCtr="0" compatLnSpc="1">
            <a:prstTxWarp prst="textNoShape">
              <a:avLst/>
            </a:prstTxWarp>
          </a:bodyPr>
          <a:lstStyle/>
          <a:p>
            <a:pPr eaLnBrk="1" hangingPunct="1">
              <a:defRPr/>
            </a:pPr>
            <a:r>
              <a:rPr lang="en-US" sz="2900" dirty="0">
                <a:solidFill>
                  <a:schemeClr val="tx1"/>
                </a:solidFill>
                <a:effectLst>
                  <a:outerShdw blurRad="38100" dist="38100" dir="2700000" algn="tl">
                    <a:srgbClr val="C0C0C0"/>
                  </a:outerShdw>
                </a:effectLst>
                <a:latin typeface="Garamond" pitchFamily="18" charset="0"/>
              </a:rPr>
              <a:t>Effects of Drought</a:t>
            </a:r>
          </a:p>
        </p:txBody>
      </p:sp>
      <p:sp>
        <p:nvSpPr>
          <p:cNvPr id="38915" name="Rectangle 3">
            <a:extLst>
              <a:ext uri="{FF2B5EF4-FFF2-40B4-BE49-F238E27FC236}">
                <a16:creationId xmlns:a16="http://schemas.microsoft.com/office/drawing/2014/main" id="{8E35D3FE-B8ED-403B-8F8A-F6689E12EAC4}"/>
              </a:ext>
            </a:extLst>
          </p:cNvPr>
          <p:cNvSpPr>
            <a:spLocks noGrp="1" noChangeArrowheads="1"/>
          </p:cNvSpPr>
          <p:nvPr>
            <p:ph sz="quarter" idx="1"/>
          </p:nvPr>
        </p:nvSpPr>
        <p:spPr>
          <a:xfrm>
            <a:off x="533400" y="685800"/>
            <a:ext cx="8229600" cy="6019800"/>
          </a:xfrm>
        </p:spPr>
        <p:txBody>
          <a:bodyPr>
            <a:normAutofit lnSpcReduction="10000"/>
          </a:bodyPr>
          <a:lstStyle/>
          <a:p>
            <a:pPr eaLnBrk="1" hangingPunct="1">
              <a:buFont typeface="Wingdings" panose="05000000000000000000" pitchFamily="2" charset="2"/>
              <a:buNone/>
            </a:pPr>
            <a:br>
              <a:rPr lang="en-US" altLang="en-US" dirty="0">
                <a:latin typeface="Garamond" panose="02020404030301010803" pitchFamily="18" charset="0"/>
              </a:rPr>
            </a:br>
            <a:r>
              <a:rPr lang="en-US" altLang="en-US" dirty="0">
                <a:latin typeface="Garamond" panose="02020404030301010803" pitchFamily="18" charset="0"/>
              </a:rPr>
              <a:t>- </a:t>
            </a:r>
            <a:r>
              <a:rPr lang="en-US" altLang="en-US" sz="2400" dirty="0">
                <a:latin typeface="Garamond" panose="02020404030301010803" pitchFamily="18" charset="0"/>
              </a:rPr>
              <a:t>Damage to crop quality</a:t>
            </a:r>
          </a:p>
          <a:p>
            <a:pPr eaLnBrk="1" hangingPunct="1">
              <a:buFont typeface="Wingdings" panose="05000000000000000000" pitchFamily="2" charset="2"/>
              <a:buNone/>
            </a:pPr>
            <a:r>
              <a:rPr lang="en-US" altLang="en-US" sz="2400" dirty="0">
                <a:latin typeface="Garamond" panose="02020404030301010803" pitchFamily="18" charset="0"/>
              </a:rPr>
              <a:t>    - Food shortages </a:t>
            </a:r>
            <a:br>
              <a:rPr lang="en-US" altLang="en-US" sz="2400" dirty="0">
                <a:latin typeface="Garamond" panose="02020404030301010803" pitchFamily="18" charset="0"/>
              </a:rPr>
            </a:br>
            <a:r>
              <a:rPr lang="en-US" altLang="en-US" sz="2400" dirty="0">
                <a:latin typeface="Garamond" panose="02020404030301010803" pitchFamily="18" charset="0"/>
              </a:rPr>
              <a:t>- Increase in food prices </a:t>
            </a:r>
            <a:br>
              <a:rPr lang="en-US" altLang="en-US" sz="2400" dirty="0">
                <a:latin typeface="Garamond" panose="02020404030301010803" pitchFamily="18" charset="0"/>
              </a:rPr>
            </a:br>
            <a:r>
              <a:rPr lang="en-US" altLang="en-US" sz="2400" dirty="0">
                <a:latin typeface="Garamond" panose="02020404030301010803" pitchFamily="18" charset="0"/>
              </a:rPr>
              <a:t>- Increased importation of food (higher costs) </a:t>
            </a:r>
            <a:br>
              <a:rPr lang="en-US" altLang="en-US" sz="2400" dirty="0">
                <a:latin typeface="Garamond" panose="02020404030301010803" pitchFamily="18" charset="0"/>
              </a:rPr>
            </a:br>
            <a:r>
              <a:rPr lang="en-US" altLang="en-US" sz="2400" dirty="0">
                <a:latin typeface="Garamond" panose="02020404030301010803" pitchFamily="18" charset="0"/>
              </a:rPr>
              <a:t>- Income loss for farmers and others affected </a:t>
            </a:r>
            <a:br>
              <a:rPr lang="en-US" altLang="en-US" sz="2400" dirty="0">
                <a:latin typeface="Garamond" panose="02020404030301010803" pitchFamily="18" charset="0"/>
              </a:rPr>
            </a:br>
            <a:r>
              <a:rPr lang="en-US" altLang="en-US" sz="2400" dirty="0">
                <a:latin typeface="Garamond" panose="02020404030301010803" pitchFamily="18" charset="0"/>
              </a:rPr>
              <a:t>- Loss to recreational and tourism industry </a:t>
            </a:r>
            <a:br>
              <a:rPr lang="en-US" altLang="en-US" sz="2400" dirty="0">
                <a:latin typeface="Garamond" panose="02020404030301010803" pitchFamily="18" charset="0"/>
              </a:rPr>
            </a:br>
            <a:r>
              <a:rPr lang="en-US" altLang="en-US" sz="2400" dirty="0">
                <a:latin typeface="Garamond" panose="02020404030301010803" pitchFamily="18" charset="0"/>
              </a:rPr>
              <a:t>- Loss of hydroelectric power </a:t>
            </a:r>
            <a:br>
              <a:rPr lang="en-US" altLang="en-US" sz="2400" dirty="0">
                <a:latin typeface="Garamond" panose="02020404030301010803" pitchFamily="18" charset="0"/>
              </a:rPr>
            </a:br>
            <a:r>
              <a:rPr lang="en-US" altLang="en-US" sz="2400" dirty="0">
                <a:latin typeface="Garamond" panose="02020404030301010803" pitchFamily="18" charset="0"/>
              </a:rPr>
              <a:t>- Loss of navigability of rivers and canals. </a:t>
            </a:r>
          </a:p>
          <a:p>
            <a:pPr eaLnBrk="1" hangingPunct="1">
              <a:buFont typeface="Wingdings" panose="05000000000000000000" pitchFamily="2" charset="2"/>
              <a:buNone/>
            </a:pPr>
            <a:r>
              <a:rPr lang="en-US" altLang="en-US" sz="2400" dirty="0">
                <a:latin typeface="Garamond" panose="02020404030301010803" pitchFamily="18" charset="0"/>
              </a:rPr>
              <a:t>    - Increased desertification - Damage to animal species </a:t>
            </a:r>
            <a:br>
              <a:rPr lang="en-US" altLang="en-US" sz="2400" dirty="0">
                <a:latin typeface="Garamond" panose="02020404030301010803" pitchFamily="18" charset="0"/>
              </a:rPr>
            </a:br>
            <a:r>
              <a:rPr lang="en-US" altLang="en-US" sz="2400" dirty="0">
                <a:latin typeface="Garamond" panose="02020404030301010803" pitchFamily="18" charset="0"/>
              </a:rPr>
              <a:t>- Reduction and degradation of fish and wildlife habitat </a:t>
            </a:r>
            <a:br>
              <a:rPr lang="en-US" altLang="en-US" sz="2400" dirty="0">
                <a:latin typeface="Garamond" panose="02020404030301010803" pitchFamily="18" charset="0"/>
              </a:rPr>
            </a:br>
            <a:r>
              <a:rPr lang="en-US" altLang="en-US" sz="2400" dirty="0">
                <a:latin typeface="Garamond" panose="02020404030301010803" pitchFamily="18" charset="0"/>
              </a:rPr>
              <a:t>- Lack of feed and drinking water </a:t>
            </a:r>
            <a:br>
              <a:rPr lang="en-US" altLang="en-US" sz="2400" dirty="0">
                <a:latin typeface="Garamond" panose="02020404030301010803" pitchFamily="18" charset="0"/>
              </a:rPr>
            </a:br>
            <a:r>
              <a:rPr lang="en-US" altLang="en-US" sz="2400" dirty="0">
                <a:latin typeface="Garamond" panose="02020404030301010803" pitchFamily="18" charset="0"/>
              </a:rPr>
              <a:t>- Wind and water erosion of soils </a:t>
            </a:r>
          </a:p>
          <a:p>
            <a:pPr eaLnBrk="1" hangingPunct="1">
              <a:buFont typeface="Wingdings" panose="05000000000000000000" pitchFamily="2" charset="2"/>
              <a:buNone/>
            </a:pPr>
            <a:r>
              <a:rPr lang="en-US" altLang="en-US" sz="2400" dirty="0">
                <a:latin typeface="Garamond" panose="02020404030301010803" pitchFamily="18" charset="0"/>
              </a:rPr>
              <a:t>   -Political conflicts </a:t>
            </a:r>
            <a:br>
              <a:rPr lang="en-US" altLang="en-US" sz="2400" dirty="0">
                <a:latin typeface="Garamond" panose="02020404030301010803" pitchFamily="18" charset="0"/>
              </a:rPr>
            </a:br>
            <a:r>
              <a:rPr lang="en-US" altLang="en-US" sz="2400" dirty="0">
                <a:latin typeface="Garamond" panose="02020404030301010803" pitchFamily="18" charset="0"/>
              </a:rPr>
              <a:t>- Social unrest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additive="base">
                                        <p:cTn id="7" dur="500" fill="hold"/>
                                        <p:tgtEl>
                                          <p:spTgt spid="20482"/>
                                        </p:tgtEl>
                                        <p:attrNameLst>
                                          <p:attrName>ppt_x</p:attrName>
                                        </p:attrNameLst>
                                      </p:cBhvr>
                                      <p:tavLst>
                                        <p:tav tm="0">
                                          <p:val>
                                            <p:strVal val="#ppt_x"/>
                                          </p:val>
                                        </p:tav>
                                        <p:tav tm="100000">
                                          <p:val>
                                            <p:strVal val="#ppt_x"/>
                                          </p:val>
                                        </p:tav>
                                      </p:tavLst>
                                    </p:anim>
                                    <p:anim calcmode="lin" valueType="num">
                                      <p:cBhvr additive="base">
                                        <p:cTn id="8"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8915">
                                            <p:txEl>
                                              <p:pRg st="0" end="0"/>
                                            </p:txEl>
                                          </p:spTgt>
                                        </p:tgtEl>
                                        <p:attrNameLst>
                                          <p:attrName>style.visibility</p:attrName>
                                        </p:attrNameLst>
                                      </p:cBhvr>
                                      <p:to>
                                        <p:strVal val="visible"/>
                                      </p:to>
                                    </p:set>
                                    <p:animEffect transition="in" filter="fade">
                                      <p:cBhvr>
                                        <p:cTn id="13" dur="1000"/>
                                        <p:tgtEl>
                                          <p:spTgt spid="38915">
                                            <p:txEl>
                                              <p:pRg st="0" end="0"/>
                                            </p:txEl>
                                          </p:spTgt>
                                        </p:tgtEl>
                                      </p:cBhvr>
                                    </p:animEffect>
                                    <p:anim calcmode="lin" valueType="num">
                                      <p:cBhvr>
                                        <p:cTn id="14" dur="10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891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8915">
                                            <p:txEl>
                                              <p:pRg st="1" end="1"/>
                                            </p:txEl>
                                          </p:spTgt>
                                        </p:tgtEl>
                                        <p:attrNameLst>
                                          <p:attrName>style.visibility</p:attrName>
                                        </p:attrNameLst>
                                      </p:cBhvr>
                                      <p:to>
                                        <p:strVal val="visible"/>
                                      </p:to>
                                    </p:set>
                                    <p:animEffect transition="in" filter="fade">
                                      <p:cBhvr>
                                        <p:cTn id="18" dur="1000"/>
                                        <p:tgtEl>
                                          <p:spTgt spid="38915">
                                            <p:txEl>
                                              <p:pRg st="1" end="1"/>
                                            </p:txEl>
                                          </p:spTgt>
                                        </p:tgtEl>
                                      </p:cBhvr>
                                    </p:animEffect>
                                    <p:anim calcmode="lin" valueType="num">
                                      <p:cBhvr>
                                        <p:cTn id="19" dur="10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891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8915">
                                            <p:txEl>
                                              <p:pRg st="2" end="2"/>
                                            </p:txEl>
                                          </p:spTgt>
                                        </p:tgtEl>
                                        <p:attrNameLst>
                                          <p:attrName>style.visibility</p:attrName>
                                        </p:attrNameLst>
                                      </p:cBhvr>
                                      <p:to>
                                        <p:strVal val="visible"/>
                                      </p:to>
                                    </p:set>
                                    <p:animEffect transition="in" filter="fade">
                                      <p:cBhvr>
                                        <p:cTn id="23" dur="1000"/>
                                        <p:tgtEl>
                                          <p:spTgt spid="38915">
                                            <p:txEl>
                                              <p:pRg st="2" end="2"/>
                                            </p:txEl>
                                          </p:spTgt>
                                        </p:tgtEl>
                                      </p:cBhvr>
                                    </p:animEffect>
                                    <p:anim calcmode="lin" valueType="num">
                                      <p:cBhvr>
                                        <p:cTn id="24" dur="1000" fill="hold"/>
                                        <p:tgtEl>
                                          <p:spTgt spid="3891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38915">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8915">
                                            <p:txEl>
                                              <p:pRg st="3" end="3"/>
                                            </p:txEl>
                                          </p:spTgt>
                                        </p:tgtEl>
                                        <p:attrNameLst>
                                          <p:attrName>style.visibility</p:attrName>
                                        </p:attrNameLst>
                                      </p:cBhvr>
                                      <p:to>
                                        <p:strVal val="visible"/>
                                      </p:to>
                                    </p:set>
                                    <p:animEffect transition="in" filter="fade">
                                      <p:cBhvr>
                                        <p:cTn id="28" dur="1000"/>
                                        <p:tgtEl>
                                          <p:spTgt spid="38915">
                                            <p:txEl>
                                              <p:pRg st="3" end="3"/>
                                            </p:txEl>
                                          </p:spTgt>
                                        </p:tgtEl>
                                      </p:cBhvr>
                                    </p:animEffect>
                                    <p:anim calcmode="lin" valueType="num">
                                      <p:cBhvr>
                                        <p:cTn id="29" dur="1000" fill="hold"/>
                                        <p:tgtEl>
                                          <p:spTgt spid="3891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89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3891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E90E5B5-8B59-40BC-9506-890295BDC9C1}"/>
              </a:ext>
            </a:extLst>
          </p:cNvPr>
          <p:cNvSpPr>
            <a:spLocks noGrp="1" noChangeArrowheads="1"/>
          </p:cNvSpPr>
          <p:nvPr>
            <p:ph type="title"/>
          </p:nvPr>
        </p:nvSpPr>
        <p:spPr>
          <a:xfrm>
            <a:off x="381000" y="0"/>
            <a:ext cx="8229600" cy="560388"/>
          </a:xfrm>
        </p:spPr>
        <p:txBody>
          <a:bodyPr vert="horz" wrap="square" lIns="91440" tIns="45720" rIns="91440" bIns="45720" numCol="1" anchorCtr="0" compatLnSpc="1">
            <a:prstTxWarp prst="textNoShape">
              <a:avLst/>
            </a:prstTxWarp>
            <a:normAutofit fontScale="90000"/>
          </a:bodyPr>
          <a:lstStyle/>
          <a:p>
            <a:pPr eaLnBrk="1" hangingPunct="1">
              <a:defRPr/>
            </a:pPr>
            <a:r>
              <a:rPr lang="en-US" sz="3200" dirty="0">
                <a:solidFill>
                  <a:schemeClr val="tx1"/>
                </a:solidFill>
                <a:effectLst>
                  <a:outerShdw blurRad="38100" dist="38100" dir="2700000" algn="tl">
                    <a:srgbClr val="C0C0C0"/>
                  </a:outerShdw>
                </a:effectLst>
                <a:latin typeface="Garamond" pitchFamily="18" charset="0"/>
              </a:rPr>
              <a:t>Earthquake</a:t>
            </a:r>
          </a:p>
        </p:txBody>
      </p:sp>
      <p:sp>
        <p:nvSpPr>
          <p:cNvPr id="39939" name="Rectangle 3">
            <a:extLst>
              <a:ext uri="{FF2B5EF4-FFF2-40B4-BE49-F238E27FC236}">
                <a16:creationId xmlns:a16="http://schemas.microsoft.com/office/drawing/2014/main" id="{8720F702-FA95-4EE3-BE3D-FC679C71856A}"/>
              </a:ext>
            </a:extLst>
          </p:cNvPr>
          <p:cNvSpPr>
            <a:spLocks noGrp="1" noChangeArrowheads="1"/>
          </p:cNvSpPr>
          <p:nvPr>
            <p:ph sz="quarter" idx="1"/>
          </p:nvPr>
        </p:nvSpPr>
        <p:spPr>
          <a:xfrm>
            <a:off x="1066800" y="570360"/>
            <a:ext cx="7620000" cy="5867400"/>
          </a:xfrm>
        </p:spPr>
        <p:txBody>
          <a:bodyPr>
            <a:normAutofit/>
          </a:bodyPr>
          <a:lstStyle/>
          <a:p>
            <a:pPr algn="just" eaLnBrk="1" hangingPunct="1"/>
            <a:r>
              <a:rPr lang="en-US" altLang="en-US" dirty="0">
                <a:latin typeface="Times New Roman" panose="02020603050405020304" pitchFamily="18" charset="0"/>
                <a:cs typeface="Times New Roman" panose="02020603050405020304" pitchFamily="18" charset="0"/>
              </a:rPr>
              <a:t>An earthquake is the result of a sudden release of energy in the Earth's crust that creates seismic waves. The seismicity or seismic activity of an area refers to the frequency, type and size of earthquakes experienced over a period of time. Earthquakes are measured with a device which also records data is known as a seismograph</a:t>
            </a:r>
            <a:r>
              <a:rPr lang="en-US" altLang="en-US" i="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The time, locations, and magnitude of an earthquake can be determined from the data recorded by seismograph</a:t>
            </a:r>
          </a:p>
          <a:p>
            <a:pPr algn="just" eaLnBrk="1" hangingPunct="1"/>
            <a:r>
              <a:rPr lang="en-US" altLang="en-US" dirty="0">
                <a:latin typeface="Times New Roman" panose="02020603050405020304" pitchFamily="18" charset="0"/>
                <a:cs typeface="Times New Roman" panose="02020603050405020304" pitchFamily="18" charset="0"/>
              </a:rPr>
              <a:t>Usually associated with faulting or breaking of rocks and movement of tectonic plates</a:t>
            </a:r>
          </a:p>
          <a:p>
            <a:pPr algn="just" eaLnBrk="1" hangingPunct="1"/>
            <a:r>
              <a:rPr lang="en-US" altLang="en-US" dirty="0">
                <a:latin typeface="Times New Roman" panose="02020603050405020304" pitchFamily="18" charset="0"/>
                <a:cs typeface="Times New Roman" panose="02020603050405020304" pitchFamily="18" charset="0"/>
              </a:rPr>
              <a:t>Continuing adjustment of position results in aftershocks</a:t>
            </a:r>
          </a:p>
          <a:p>
            <a:pPr algn="just" eaLnBrk="1" hangingPunct="1"/>
            <a:endParaRPr lang="en-US" altLang="en-US" sz="24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fade">
                                      <p:cBhvr>
                                        <p:cTn id="7" dur="1000"/>
                                        <p:tgtEl>
                                          <p:spTgt spid="24578"/>
                                        </p:tgtEl>
                                      </p:cBhvr>
                                    </p:animEffect>
                                    <p:anim calcmode="lin" valueType="num">
                                      <p:cBhvr>
                                        <p:cTn id="8" dur="1000" fill="hold"/>
                                        <p:tgtEl>
                                          <p:spTgt spid="24578"/>
                                        </p:tgtEl>
                                        <p:attrNameLst>
                                          <p:attrName>ppt_x</p:attrName>
                                        </p:attrNameLst>
                                      </p:cBhvr>
                                      <p:tavLst>
                                        <p:tav tm="0">
                                          <p:val>
                                            <p:strVal val="#ppt_x"/>
                                          </p:val>
                                        </p:tav>
                                        <p:tav tm="100000">
                                          <p:val>
                                            <p:strVal val="#ppt_x"/>
                                          </p:val>
                                        </p:tav>
                                      </p:tavLst>
                                    </p:anim>
                                    <p:anim calcmode="lin" valueType="num">
                                      <p:cBhvr>
                                        <p:cTn id="9" dur="1000" fill="hold"/>
                                        <p:tgtEl>
                                          <p:spTgt spid="2457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9939">
                                            <p:txEl>
                                              <p:pRg st="0" end="0"/>
                                            </p:txEl>
                                          </p:spTgt>
                                        </p:tgtEl>
                                        <p:attrNameLst>
                                          <p:attrName>style.visibility</p:attrName>
                                        </p:attrNameLst>
                                      </p:cBhvr>
                                      <p:to>
                                        <p:strVal val="visible"/>
                                      </p:to>
                                    </p:set>
                                    <p:animEffect transition="in" filter="fade">
                                      <p:cBhvr>
                                        <p:cTn id="14" dur="1000"/>
                                        <p:tgtEl>
                                          <p:spTgt spid="39939">
                                            <p:txEl>
                                              <p:pRg st="0" end="0"/>
                                            </p:txEl>
                                          </p:spTgt>
                                        </p:tgtEl>
                                      </p:cBhvr>
                                    </p:animEffect>
                                    <p:anim calcmode="lin" valueType="num">
                                      <p:cBhvr>
                                        <p:cTn id="15" dur="10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99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9939">
                                            <p:txEl>
                                              <p:pRg st="1" end="1"/>
                                            </p:txEl>
                                          </p:spTgt>
                                        </p:tgtEl>
                                        <p:attrNameLst>
                                          <p:attrName>style.visibility</p:attrName>
                                        </p:attrNameLst>
                                      </p:cBhvr>
                                      <p:to>
                                        <p:strVal val="visible"/>
                                      </p:to>
                                    </p:set>
                                    <p:animEffect transition="in" filter="fade">
                                      <p:cBhvr>
                                        <p:cTn id="21" dur="1000"/>
                                        <p:tgtEl>
                                          <p:spTgt spid="39939">
                                            <p:txEl>
                                              <p:pRg st="1" end="1"/>
                                            </p:txEl>
                                          </p:spTgt>
                                        </p:tgtEl>
                                      </p:cBhvr>
                                    </p:animEffect>
                                    <p:anim calcmode="lin" valueType="num">
                                      <p:cBhvr>
                                        <p:cTn id="22" dur="10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99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9939">
                                            <p:txEl>
                                              <p:pRg st="2" end="2"/>
                                            </p:txEl>
                                          </p:spTgt>
                                        </p:tgtEl>
                                        <p:attrNameLst>
                                          <p:attrName>style.visibility</p:attrName>
                                        </p:attrNameLst>
                                      </p:cBhvr>
                                      <p:to>
                                        <p:strVal val="visible"/>
                                      </p:to>
                                    </p:set>
                                    <p:animEffect transition="in" filter="fade">
                                      <p:cBhvr>
                                        <p:cTn id="28" dur="1000"/>
                                        <p:tgtEl>
                                          <p:spTgt spid="39939">
                                            <p:txEl>
                                              <p:pRg st="2" end="2"/>
                                            </p:txEl>
                                          </p:spTgt>
                                        </p:tgtEl>
                                      </p:cBhvr>
                                    </p:animEffect>
                                    <p:anim calcmode="lin" valueType="num">
                                      <p:cBhvr>
                                        <p:cTn id="29" dur="10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993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3993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9AECA-AB77-4F8A-BA56-0C64ECBD7015}"/>
              </a:ext>
            </a:extLst>
          </p:cNvPr>
          <p:cNvSpPr>
            <a:spLocks noGrp="1"/>
          </p:cNvSpPr>
          <p:nvPr>
            <p:ph type="title"/>
          </p:nvPr>
        </p:nvSpPr>
        <p:spPr>
          <a:xfrm>
            <a:off x="381000" y="152400"/>
            <a:ext cx="8229600" cy="484188"/>
          </a:xfrm>
        </p:spPr>
        <p:txBody>
          <a:bodyPr vert="horz" wrap="square" lIns="91440" tIns="45720" rIns="91440" bIns="45720" numCol="1" anchorCtr="0" compatLnSpc="1">
            <a:prstTxWarp prst="textNoShape">
              <a:avLst/>
            </a:prstTxWarp>
            <a:normAutofit fontScale="90000"/>
          </a:bodyPr>
          <a:lstStyle/>
          <a:p>
            <a:pPr eaLnBrk="1" hangingPunct="1">
              <a:defRPr/>
            </a:pPr>
            <a:r>
              <a:rPr lang="en-US" sz="3200" b="1" dirty="0">
                <a:solidFill>
                  <a:schemeClr val="tx1"/>
                </a:solidFill>
                <a:effectLst>
                  <a:outerShdw blurRad="38100" dist="38100" dir="2700000" algn="tl">
                    <a:srgbClr val="C0C0C0"/>
                  </a:outerShdw>
                </a:effectLst>
                <a:latin typeface="Garamond" pitchFamily="18" charset="0"/>
              </a:rPr>
              <a:t>Some basic terminology</a:t>
            </a:r>
          </a:p>
        </p:txBody>
      </p:sp>
      <p:sp>
        <p:nvSpPr>
          <p:cNvPr id="40963" name="Content Placeholder 2">
            <a:extLst>
              <a:ext uri="{FF2B5EF4-FFF2-40B4-BE49-F238E27FC236}">
                <a16:creationId xmlns:a16="http://schemas.microsoft.com/office/drawing/2014/main" id="{2950B527-397B-43E3-B06D-0EE5410BE4F9}"/>
              </a:ext>
            </a:extLst>
          </p:cNvPr>
          <p:cNvSpPr>
            <a:spLocks noGrp="1"/>
          </p:cNvSpPr>
          <p:nvPr>
            <p:ph sz="quarter" idx="1"/>
          </p:nvPr>
        </p:nvSpPr>
        <p:spPr>
          <a:xfrm>
            <a:off x="1066800" y="1676400"/>
            <a:ext cx="7848600" cy="5029200"/>
          </a:xfrm>
        </p:spPr>
        <p:txBody>
          <a:bodyPr>
            <a:normAutofit fontScale="92500" lnSpcReduction="20000"/>
          </a:bodyPr>
          <a:lstStyle/>
          <a:p>
            <a:pPr algn="just" eaLnBrk="1" hangingPunct="1">
              <a:lnSpc>
                <a:spcPct val="80000"/>
              </a:lnSpc>
            </a:pPr>
            <a:r>
              <a:rPr lang="en-US" altLang="en-US" sz="2400" b="1" dirty="0">
                <a:latin typeface="Garamond" panose="02020404030301010803" pitchFamily="18" charset="0"/>
              </a:rPr>
              <a:t>Magnitude</a:t>
            </a:r>
            <a:r>
              <a:rPr lang="en-US" altLang="en-US" sz="2400" dirty="0">
                <a:latin typeface="Garamond" panose="02020404030301010803" pitchFamily="18" charset="0"/>
              </a:rPr>
              <a:t>  : measure of the strength or energy of an earthquake as determined from seismographic information.</a:t>
            </a:r>
          </a:p>
          <a:p>
            <a:pPr lvl="1" algn="just" eaLnBrk="1" hangingPunct="1">
              <a:lnSpc>
                <a:spcPct val="80000"/>
              </a:lnSpc>
            </a:pPr>
            <a:r>
              <a:rPr lang="en-US" altLang="en-US" sz="2400" dirty="0">
                <a:latin typeface="Garamond" panose="02020404030301010803" pitchFamily="18" charset="0"/>
              </a:rPr>
              <a:t>Different scales are used ; most common is </a:t>
            </a:r>
            <a:r>
              <a:rPr lang="en-US" altLang="en-US" sz="2400" b="1" dirty="0">
                <a:latin typeface="Garamond" panose="02020404030301010803" pitchFamily="18" charset="0"/>
              </a:rPr>
              <a:t>Richter scale</a:t>
            </a:r>
            <a:endParaRPr lang="en-US" altLang="en-US" sz="2400" dirty="0">
              <a:latin typeface="Garamond" panose="02020404030301010803" pitchFamily="18" charset="0"/>
            </a:endParaRPr>
          </a:p>
          <a:p>
            <a:pPr lvl="1" algn="just" eaLnBrk="1" hangingPunct="1">
              <a:lnSpc>
                <a:spcPct val="80000"/>
              </a:lnSpc>
            </a:pPr>
            <a:r>
              <a:rPr lang="en-US" altLang="en-US" sz="2400" dirty="0">
                <a:latin typeface="Garamond" panose="02020404030301010803" pitchFamily="18" charset="0"/>
              </a:rPr>
              <a:t>Introduced in 1935, the Richter scale is a numerical scale for quantifying earthquake magnitude; </a:t>
            </a:r>
          </a:p>
          <a:p>
            <a:pPr lvl="1" algn="just" eaLnBrk="1" hangingPunct="1">
              <a:lnSpc>
                <a:spcPct val="80000"/>
              </a:lnSpc>
            </a:pPr>
            <a:r>
              <a:rPr lang="en-US" altLang="en-US" sz="2400" dirty="0">
                <a:latin typeface="Garamond" panose="02020404030301010803" pitchFamily="18" charset="0"/>
              </a:rPr>
              <a:t>Arabic (decimal) numbers are used  e.g. 6.5; </a:t>
            </a:r>
          </a:p>
          <a:p>
            <a:pPr lvl="1" algn="just" eaLnBrk="1" hangingPunct="1">
              <a:lnSpc>
                <a:spcPct val="80000"/>
              </a:lnSpc>
            </a:pPr>
            <a:r>
              <a:rPr lang="en-US" altLang="en-US" sz="2400" dirty="0">
                <a:latin typeface="Garamond" panose="02020404030301010803" pitchFamily="18" charset="0"/>
              </a:rPr>
              <a:t>open ended logarithmic scale; meaning that the numbers on the scale measure factors of 10. So, for example, an earthquake that measures 4.0 on the Richter scale is 10 times larger than one that measures 3.0.  </a:t>
            </a:r>
          </a:p>
          <a:p>
            <a:pPr lvl="1" algn="just" eaLnBrk="1" hangingPunct="1">
              <a:lnSpc>
                <a:spcPct val="80000"/>
              </a:lnSpc>
            </a:pPr>
            <a:r>
              <a:rPr lang="en-US" altLang="en-US" sz="2400" dirty="0">
                <a:latin typeface="Garamond" panose="02020404030301010803" pitchFamily="18" charset="0"/>
              </a:rPr>
              <a:t>maximum recorded  9.5 (Chile, 1960)</a:t>
            </a:r>
          </a:p>
          <a:p>
            <a:pPr algn="just" eaLnBrk="1" hangingPunct="1">
              <a:lnSpc>
                <a:spcPct val="80000"/>
              </a:lnSpc>
            </a:pPr>
            <a:r>
              <a:rPr lang="en-US" altLang="en-US" sz="2400" b="1" dirty="0">
                <a:latin typeface="Garamond" panose="02020404030301010803" pitchFamily="18" charset="0"/>
              </a:rPr>
              <a:t>Intensity</a:t>
            </a:r>
            <a:r>
              <a:rPr lang="en-US" altLang="en-US" sz="2400" dirty="0">
                <a:latin typeface="Garamond" panose="02020404030301010803" pitchFamily="18" charset="0"/>
              </a:rPr>
              <a:t>:  a  measure of the effects at a particular place produced by shaking during an earthquake. </a:t>
            </a:r>
          </a:p>
          <a:p>
            <a:pPr lvl="1" algn="just" eaLnBrk="1" hangingPunct="1">
              <a:lnSpc>
                <a:spcPct val="80000"/>
              </a:lnSpc>
            </a:pPr>
            <a:r>
              <a:rPr lang="en-US" altLang="en-US" sz="2400" dirty="0">
                <a:latin typeface="Garamond" panose="02020404030301010803" pitchFamily="18" charset="0"/>
              </a:rPr>
              <a:t> intensity scale adopted in 1931 that divides the </a:t>
            </a:r>
            <a:r>
              <a:rPr lang="en-US" altLang="en-US" sz="2400" i="1" u="sng" dirty="0">
                <a:latin typeface="Garamond" panose="02020404030301010803" pitchFamily="18" charset="0"/>
              </a:rPr>
              <a:t>effects of an earthquake</a:t>
            </a:r>
            <a:r>
              <a:rPr lang="en-US" altLang="en-US" sz="2400" dirty="0">
                <a:latin typeface="Garamond" panose="02020404030301010803" pitchFamily="18" charset="0"/>
              </a:rPr>
              <a:t> into twelve categories, from I (not felt by people) to XII (damage total).</a:t>
            </a:r>
          </a:p>
          <a:p>
            <a:pPr lvl="1" algn="just" eaLnBrk="1" hangingPunct="1">
              <a:lnSpc>
                <a:spcPct val="80000"/>
              </a:lnSpc>
            </a:pPr>
            <a:r>
              <a:rPr lang="en-US" altLang="en-US" sz="2400" dirty="0">
                <a:latin typeface="Garamond" panose="02020404030301010803" pitchFamily="18" charset="0"/>
              </a:rPr>
              <a:t>Based on post-earthquake surveys</a:t>
            </a:r>
          </a:p>
          <a:p>
            <a:pPr eaLnBrk="1" hangingPunct="1">
              <a:lnSpc>
                <a:spcPct val="80000"/>
              </a:lnSpc>
            </a:pPr>
            <a:endParaRPr lang="en-US" altLang="en-US" sz="2400" dirty="0">
              <a:latin typeface="Garamond" panose="02020404030301010803" pitchFamily="18" charset="0"/>
            </a:endParaRPr>
          </a:p>
          <a:p>
            <a:pPr eaLnBrk="1" hangingPunct="1">
              <a:lnSpc>
                <a:spcPct val="80000"/>
              </a:lnSpc>
            </a:pPr>
            <a:endParaRPr lang="en-US" altLang="en-US" sz="2400" dirty="0">
              <a:latin typeface="Century Schoolbook" panose="020406040505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0963">
                                            <p:txEl>
                                              <p:pRg st="0" end="0"/>
                                            </p:txEl>
                                          </p:spTgt>
                                        </p:tgtEl>
                                        <p:attrNameLst>
                                          <p:attrName>style.visibility</p:attrName>
                                        </p:attrNameLst>
                                      </p:cBhvr>
                                      <p:to>
                                        <p:strVal val="visible"/>
                                      </p:to>
                                    </p:set>
                                    <p:animEffect transition="in" filter="fade">
                                      <p:cBhvr>
                                        <p:cTn id="14" dur="1000"/>
                                        <p:tgtEl>
                                          <p:spTgt spid="40963">
                                            <p:txEl>
                                              <p:pRg st="0" end="0"/>
                                            </p:txEl>
                                          </p:spTgt>
                                        </p:tgtEl>
                                      </p:cBhvr>
                                    </p:animEffect>
                                    <p:anim calcmode="lin" valueType="num">
                                      <p:cBhvr>
                                        <p:cTn id="15" dur="10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096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0963">
                                            <p:txEl>
                                              <p:pRg st="1" end="1"/>
                                            </p:txEl>
                                          </p:spTgt>
                                        </p:tgtEl>
                                        <p:attrNameLst>
                                          <p:attrName>style.visibility</p:attrName>
                                        </p:attrNameLst>
                                      </p:cBhvr>
                                      <p:to>
                                        <p:strVal val="visible"/>
                                      </p:to>
                                    </p:set>
                                    <p:animEffect transition="in" filter="fade">
                                      <p:cBhvr>
                                        <p:cTn id="19" dur="1000"/>
                                        <p:tgtEl>
                                          <p:spTgt spid="40963">
                                            <p:txEl>
                                              <p:pRg st="1" end="1"/>
                                            </p:txEl>
                                          </p:spTgt>
                                        </p:tgtEl>
                                      </p:cBhvr>
                                    </p:animEffect>
                                    <p:anim calcmode="lin" valueType="num">
                                      <p:cBhvr>
                                        <p:cTn id="20" dur="10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096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0963">
                                            <p:txEl>
                                              <p:pRg st="2" end="2"/>
                                            </p:txEl>
                                          </p:spTgt>
                                        </p:tgtEl>
                                        <p:attrNameLst>
                                          <p:attrName>style.visibility</p:attrName>
                                        </p:attrNameLst>
                                      </p:cBhvr>
                                      <p:to>
                                        <p:strVal val="visible"/>
                                      </p:to>
                                    </p:set>
                                    <p:animEffect transition="in" filter="fade">
                                      <p:cBhvr>
                                        <p:cTn id="24" dur="1000"/>
                                        <p:tgtEl>
                                          <p:spTgt spid="40963">
                                            <p:txEl>
                                              <p:pRg st="2" end="2"/>
                                            </p:txEl>
                                          </p:spTgt>
                                        </p:tgtEl>
                                      </p:cBhvr>
                                    </p:animEffect>
                                    <p:anim calcmode="lin" valueType="num">
                                      <p:cBhvr>
                                        <p:cTn id="25" dur="10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4096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0963">
                                            <p:txEl>
                                              <p:pRg st="3" end="3"/>
                                            </p:txEl>
                                          </p:spTgt>
                                        </p:tgtEl>
                                        <p:attrNameLst>
                                          <p:attrName>style.visibility</p:attrName>
                                        </p:attrNameLst>
                                      </p:cBhvr>
                                      <p:to>
                                        <p:strVal val="visible"/>
                                      </p:to>
                                    </p:set>
                                    <p:animEffect transition="in" filter="fade">
                                      <p:cBhvr>
                                        <p:cTn id="29" dur="1000"/>
                                        <p:tgtEl>
                                          <p:spTgt spid="40963">
                                            <p:txEl>
                                              <p:pRg st="3" end="3"/>
                                            </p:txEl>
                                          </p:spTgt>
                                        </p:tgtEl>
                                      </p:cBhvr>
                                    </p:animEffect>
                                    <p:anim calcmode="lin" valueType="num">
                                      <p:cBhvr>
                                        <p:cTn id="30" dur="10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4096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0963">
                                            <p:txEl>
                                              <p:pRg st="4" end="4"/>
                                            </p:txEl>
                                          </p:spTgt>
                                        </p:tgtEl>
                                        <p:attrNameLst>
                                          <p:attrName>style.visibility</p:attrName>
                                        </p:attrNameLst>
                                      </p:cBhvr>
                                      <p:to>
                                        <p:strVal val="visible"/>
                                      </p:to>
                                    </p:set>
                                    <p:animEffect transition="in" filter="fade">
                                      <p:cBhvr>
                                        <p:cTn id="34" dur="1000"/>
                                        <p:tgtEl>
                                          <p:spTgt spid="40963">
                                            <p:txEl>
                                              <p:pRg st="4" end="4"/>
                                            </p:txEl>
                                          </p:spTgt>
                                        </p:tgtEl>
                                      </p:cBhvr>
                                    </p:animEffect>
                                    <p:anim calcmode="lin" valueType="num">
                                      <p:cBhvr>
                                        <p:cTn id="35" dur="10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40963">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0963">
                                            <p:txEl>
                                              <p:pRg st="5" end="5"/>
                                            </p:txEl>
                                          </p:spTgt>
                                        </p:tgtEl>
                                        <p:attrNameLst>
                                          <p:attrName>style.visibility</p:attrName>
                                        </p:attrNameLst>
                                      </p:cBhvr>
                                      <p:to>
                                        <p:strVal val="visible"/>
                                      </p:to>
                                    </p:set>
                                    <p:animEffect transition="in" filter="fade">
                                      <p:cBhvr>
                                        <p:cTn id="39" dur="1000"/>
                                        <p:tgtEl>
                                          <p:spTgt spid="40963">
                                            <p:txEl>
                                              <p:pRg st="5" end="5"/>
                                            </p:txEl>
                                          </p:spTgt>
                                        </p:tgtEl>
                                      </p:cBhvr>
                                    </p:animEffect>
                                    <p:anim calcmode="lin" valueType="num">
                                      <p:cBhvr>
                                        <p:cTn id="40" dur="1000" fill="hold"/>
                                        <p:tgtEl>
                                          <p:spTgt spid="4096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4096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40963">
                                            <p:txEl>
                                              <p:pRg st="6" end="6"/>
                                            </p:txEl>
                                          </p:spTgt>
                                        </p:tgtEl>
                                        <p:attrNameLst>
                                          <p:attrName>style.visibility</p:attrName>
                                        </p:attrNameLst>
                                      </p:cBhvr>
                                      <p:to>
                                        <p:strVal val="visible"/>
                                      </p:to>
                                    </p:set>
                                    <p:animEffect transition="in" filter="fade">
                                      <p:cBhvr>
                                        <p:cTn id="46" dur="1000"/>
                                        <p:tgtEl>
                                          <p:spTgt spid="40963">
                                            <p:txEl>
                                              <p:pRg st="6" end="6"/>
                                            </p:txEl>
                                          </p:spTgt>
                                        </p:tgtEl>
                                      </p:cBhvr>
                                    </p:animEffect>
                                    <p:anim calcmode="lin" valueType="num">
                                      <p:cBhvr>
                                        <p:cTn id="47" dur="1000" fill="hold"/>
                                        <p:tgtEl>
                                          <p:spTgt spid="40963">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40963">
                                            <p:txEl>
                                              <p:pRg st="6" end="6"/>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0963">
                                            <p:txEl>
                                              <p:pRg st="7" end="7"/>
                                            </p:txEl>
                                          </p:spTgt>
                                        </p:tgtEl>
                                        <p:attrNameLst>
                                          <p:attrName>style.visibility</p:attrName>
                                        </p:attrNameLst>
                                      </p:cBhvr>
                                      <p:to>
                                        <p:strVal val="visible"/>
                                      </p:to>
                                    </p:set>
                                    <p:animEffect transition="in" filter="fade">
                                      <p:cBhvr>
                                        <p:cTn id="51" dur="1000"/>
                                        <p:tgtEl>
                                          <p:spTgt spid="40963">
                                            <p:txEl>
                                              <p:pRg st="7" end="7"/>
                                            </p:txEl>
                                          </p:spTgt>
                                        </p:tgtEl>
                                      </p:cBhvr>
                                    </p:animEffect>
                                    <p:anim calcmode="lin" valueType="num">
                                      <p:cBhvr>
                                        <p:cTn id="52" dur="1000" fill="hold"/>
                                        <p:tgtEl>
                                          <p:spTgt spid="40963">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40963">
                                            <p:txEl>
                                              <p:pRg st="7" end="7"/>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0963">
                                            <p:txEl>
                                              <p:pRg st="8" end="8"/>
                                            </p:txEl>
                                          </p:spTgt>
                                        </p:tgtEl>
                                        <p:attrNameLst>
                                          <p:attrName>style.visibility</p:attrName>
                                        </p:attrNameLst>
                                      </p:cBhvr>
                                      <p:to>
                                        <p:strVal val="visible"/>
                                      </p:to>
                                    </p:set>
                                    <p:animEffect transition="in" filter="fade">
                                      <p:cBhvr>
                                        <p:cTn id="56" dur="1000"/>
                                        <p:tgtEl>
                                          <p:spTgt spid="40963">
                                            <p:txEl>
                                              <p:pRg st="8" end="8"/>
                                            </p:txEl>
                                          </p:spTgt>
                                        </p:tgtEl>
                                      </p:cBhvr>
                                    </p:animEffect>
                                    <p:anim calcmode="lin" valueType="num">
                                      <p:cBhvr>
                                        <p:cTn id="57" dur="1000" fill="hold"/>
                                        <p:tgtEl>
                                          <p:spTgt spid="4096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4096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96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C68C4-8E5D-44B3-98BC-52E10E211755}"/>
              </a:ext>
            </a:extLst>
          </p:cNvPr>
          <p:cNvSpPr>
            <a:spLocks noGrp="1"/>
          </p:cNvSpPr>
          <p:nvPr>
            <p:ph type="title"/>
          </p:nvPr>
        </p:nvSpPr>
        <p:spPr>
          <a:xfrm>
            <a:off x="457200" y="277813"/>
            <a:ext cx="8229600" cy="560387"/>
          </a:xfrm>
        </p:spPr>
        <p:txBody>
          <a:bodyPr>
            <a:normAutofit fontScale="90000"/>
          </a:bodyPr>
          <a:lstStyle/>
          <a:p>
            <a:pPr eaLnBrk="1" fontAlgn="auto" hangingPunct="1">
              <a:spcAft>
                <a:spcPts val="0"/>
              </a:spcAft>
              <a:defRPr/>
            </a:pPr>
            <a:r>
              <a:rPr lang="en-US" sz="3600" dirty="0">
                <a:solidFill>
                  <a:schemeClr val="tx1"/>
                </a:solidFill>
                <a:latin typeface="Garamond" pitchFamily="18" charset="0"/>
                <a:ea typeface="+mj-ea"/>
              </a:rPr>
              <a:t>Some basic terminology</a:t>
            </a:r>
            <a:endParaRPr lang="en-US" sz="3600" dirty="0">
              <a:ea typeface="+mj-ea"/>
            </a:endParaRPr>
          </a:p>
        </p:txBody>
      </p:sp>
      <p:sp>
        <p:nvSpPr>
          <p:cNvPr id="41987" name="Content Placeholder 2">
            <a:extLst>
              <a:ext uri="{FF2B5EF4-FFF2-40B4-BE49-F238E27FC236}">
                <a16:creationId xmlns:a16="http://schemas.microsoft.com/office/drawing/2014/main" id="{A0830E14-0C73-48D8-9B86-E2BFDA5ECBD1}"/>
              </a:ext>
            </a:extLst>
          </p:cNvPr>
          <p:cNvSpPr>
            <a:spLocks noGrp="1"/>
          </p:cNvSpPr>
          <p:nvPr>
            <p:ph sz="quarter" idx="1"/>
          </p:nvPr>
        </p:nvSpPr>
        <p:spPr>
          <a:xfrm>
            <a:off x="457200" y="1600200"/>
            <a:ext cx="8153400" cy="4873625"/>
          </a:xfrm>
        </p:spPr>
        <p:txBody>
          <a:bodyPr/>
          <a:lstStyle/>
          <a:p>
            <a:pPr>
              <a:lnSpc>
                <a:spcPct val="80000"/>
              </a:lnSpc>
            </a:pPr>
            <a:r>
              <a:rPr lang="en-US" altLang="en-US" b="1" dirty="0" err="1">
                <a:latin typeface="Garamond" panose="02020404030301010803" pitchFamily="18" charset="0"/>
              </a:rPr>
              <a:t>Hypocentre</a:t>
            </a:r>
            <a:r>
              <a:rPr lang="en-US" altLang="en-US" b="1" dirty="0">
                <a:latin typeface="Garamond" panose="02020404030301010803" pitchFamily="18" charset="0"/>
              </a:rPr>
              <a:t>: </a:t>
            </a:r>
            <a:r>
              <a:rPr lang="en-US" altLang="en-US" dirty="0">
                <a:latin typeface="Garamond" panose="02020404030301010803" pitchFamily="18" charset="0"/>
              </a:rPr>
              <a:t>This is the point of origin of earthquake. </a:t>
            </a:r>
          </a:p>
          <a:p>
            <a:pPr eaLnBrk="1" hangingPunct="1">
              <a:lnSpc>
                <a:spcPct val="80000"/>
              </a:lnSpc>
            </a:pPr>
            <a:r>
              <a:rPr lang="en-US" altLang="en-US" b="1" dirty="0" err="1">
                <a:latin typeface="Garamond" panose="02020404030301010803" pitchFamily="18" charset="0"/>
              </a:rPr>
              <a:t>Epicentre</a:t>
            </a:r>
            <a:r>
              <a:rPr lang="en-US" altLang="en-US" dirty="0">
                <a:latin typeface="Garamond" panose="02020404030301010803" pitchFamily="18" charset="0"/>
              </a:rPr>
              <a:t>: The point on the Earth's surface directly above the point of origin (</a:t>
            </a:r>
            <a:r>
              <a:rPr lang="en-US" altLang="en-US" b="1" i="1" u="sng" dirty="0" err="1">
                <a:latin typeface="Garamond" panose="02020404030301010803" pitchFamily="18" charset="0"/>
              </a:rPr>
              <a:t>hypocentre</a:t>
            </a:r>
            <a:r>
              <a:rPr lang="en-US" altLang="en-US" b="1" i="1" u="sng" dirty="0">
                <a:latin typeface="Garamond" panose="02020404030301010803" pitchFamily="18" charset="0"/>
              </a:rPr>
              <a:t> or focus</a:t>
            </a:r>
            <a:r>
              <a:rPr lang="en-US" altLang="en-US" dirty="0">
                <a:latin typeface="Garamond" panose="02020404030301010803" pitchFamily="18" charset="0"/>
              </a:rPr>
              <a:t>) of an earthquake</a:t>
            </a:r>
          </a:p>
          <a:p>
            <a:pPr eaLnBrk="1" hangingPunct="1">
              <a:lnSpc>
                <a:spcPct val="80000"/>
              </a:lnSpc>
            </a:pPr>
            <a:r>
              <a:rPr lang="en-US" altLang="en-US" dirty="0">
                <a:latin typeface="Garamond" panose="02020404030301010803" pitchFamily="18" charset="0"/>
              </a:rPr>
              <a:t>Point of maximum impact</a:t>
            </a:r>
          </a:p>
          <a:p>
            <a:pPr eaLnBrk="1" hangingPunct="1">
              <a:lnSpc>
                <a:spcPct val="80000"/>
              </a:lnSpc>
            </a:pPr>
            <a:r>
              <a:rPr lang="en-US" altLang="en-US" dirty="0">
                <a:latin typeface="Garamond" panose="02020404030301010803" pitchFamily="18" charset="0"/>
              </a:rPr>
              <a:t> only two measurements, latitude and longitude, are needed to locate it.</a:t>
            </a:r>
            <a:br>
              <a:rPr lang="en-US" altLang="en-US" dirty="0">
                <a:latin typeface="Century Schoolbook" panose="02040604050505020304" pitchFamily="18" charset="0"/>
              </a:rPr>
            </a:br>
            <a:endParaRPr lang="en-US" altLang="en-US" dirty="0">
              <a:latin typeface="Century Schoolbook" panose="02040604050505020304" pitchFamily="18" charset="0"/>
            </a:endParaRPr>
          </a:p>
          <a:p>
            <a:pPr eaLnBrk="1" hangingPunct="1"/>
            <a:endParaRPr lang="en-US" altLang="en-US" dirty="0">
              <a:latin typeface="Century Schoolbook" panose="020406040505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1987">
                                            <p:txEl>
                                              <p:pRg st="0" end="0"/>
                                            </p:txEl>
                                          </p:spTgt>
                                        </p:tgtEl>
                                        <p:attrNameLst>
                                          <p:attrName>style.visibility</p:attrName>
                                        </p:attrNameLst>
                                      </p:cBhvr>
                                      <p:to>
                                        <p:strVal val="visible"/>
                                      </p:to>
                                    </p:set>
                                    <p:anim calcmode="lin" valueType="num">
                                      <p:cBhvr additive="base">
                                        <p:cTn id="14" dur="5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1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1987">
                                            <p:txEl>
                                              <p:pRg st="1" end="1"/>
                                            </p:txEl>
                                          </p:spTgt>
                                        </p:tgtEl>
                                        <p:attrNameLst>
                                          <p:attrName>style.visibility</p:attrName>
                                        </p:attrNameLst>
                                      </p:cBhvr>
                                      <p:to>
                                        <p:strVal val="visible"/>
                                      </p:to>
                                    </p:set>
                                    <p:anim calcmode="lin" valueType="num">
                                      <p:cBhvr additive="base">
                                        <p:cTn id="20"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1987">
                                            <p:txEl>
                                              <p:pRg st="2" end="2"/>
                                            </p:txEl>
                                          </p:spTgt>
                                        </p:tgtEl>
                                        <p:attrNameLst>
                                          <p:attrName>style.visibility</p:attrName>
                                        </p:attrNameLst>
                                      </p:cBhvr>
                                      <p:to>
                                        <p:strVal val="visible"/>
                                      </p:to>
                                    </p:set>
                                    <p:anim calcmode="lin" valueType="num">
                                      <p:cBhvr additive="base">
                                        <p:cTn id="26" dur="500" fill="hold"/>
                                        <p:tgtEl>
                                          <p:spTgt spid="41987">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19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41987">
                                            <p:txEl>
                                              <p:pRg st="3" end="3"/>
                                            </p:txEl>
                                          </p:spTgt>
                                        </p:tgtEl>
                                        <p:attrNameLst>
                                          <p:attrName>style.visibility</p:attrName>
                                        </p:attrNameLst>
                                      </p:cBhvr>
                                      <p:to>
                                        <p:strVal val="visible"/>
                                      </p:to>
                                    </p:set>
                                    <p:anim calcmode="lin" valueType="num">
                                      <p:cBhvr additive="base">
                                        <p:cTn id="32" dur="500" fill="hold"/>
                                        <p:tgtEl>
                                          <p:spTgt spid="41987">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19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198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D12E24B-C859-468D-AE57-A9D6C0A007DB}"/>
              </a:ext>
            </a:extLst>
          </p:cNvPr>
          <p:cNvSpPr>
            <a:spLocks noGrp="1" noChangeArrowheads="1"/>
          </p:cNvSpPr>
          <p:nvPr>
            <p:ph type="title"/>
          </p:nvPr>
        </p:nvSpPr>
        <p:spPr>
          <a:xfrm>
            <a:off x="152400" y="76200"/>
            <a:ext cx="8686800" cy="914400"/>
          </a:xfrm>
        </p:spPr>
        <p:txBody>
          <a:bodyPr vert="horz" wrap="square" lIns="91440" tIns="45720" rIns="91440" bIns="45720" numCol="1" anchorCtr="0" compatLnSpc="1">
            <a:prstTxWarp prst="textNoShape">
              <a:avLst/>
            </a:prstTxWarp>
          </a:bodyPr>
          <a:lstStyle/>
          <a:p>
            <a:pPr eaLnBrk="1" hangingPunct="1">
              <a:defRPr/>
            </a:pPr>
            <a:r>
              <a:rPr lang="en-US" sz="3200" dirty="0">
                <a:solidFill>
                  <a:schemeClr val="tx1"/>
                </a:solidFill>
                <a:effectLst>
                  <a:outerShdw blurRad="38100" dist="38100" dir="2700000" algn="tl">
                    <a:srgbClr val="C0C0C0"/>
                  </a:outerShdw>
                </a:effectLst>
                <a:latin typeface="Garamond" pitchFamily="18" charset="0"/>
              </a:rPr>
              <a:t>Where Do Earthquakes Occur and How Often?</a:t>
            </a:r>
          </a:p>
        </p:txBody>
      </p:sp>
      <p:pic>
        <p:nvPicPr>
          <p:cNvPr id="43011" name="Picture 4">
            <a:extLst>
              <a:ext uri="{FF2B5EF4-FFF2-40B4-BE49-F238E27FC236}">
                <a16:creationId xmlns:a16="http://schemas.microsoft.com/office/drawing/2014/main" id="{D9CD5603-06D4-477C-ABE9-70ACD75F0F42}"/>
              </a:ext>
            </a:extLst>
          </p:cNvPr>
          <p:cNvPicPr>
            <a:picLocks noGrp="1" noChangeAspect="1" noChangeArrowheads="1"/>
          </p:cNvPicPr>
          <p:nvPr>
            <p:ph type="clipArt" sz="half" idx="1"/>
          </p:nvPr>
        </p:nvPicPr>
        <p:blipFill>
          <a:blip r:embed="rId3">
            <a:extLst>
              <a:ext uri="{28A0092B-C50C-407E-A947-70E740481C1C}">
                <a14:useLocalDpi xmlns:a14="http://schemas.microsoft.com/office/drawing/2010/main" val="0"/>
              </a:ext>
            </a:extLst>
          </a:blip>
          <a:srcRect/>
          <a:stretch>
            <a:fillRect/>
          </a:stretch>
        </p:blipFill>
        <p:spPr>
          <a:xfrm>
            <a:off x="1371600" y="2819400"/>
            <a:ext cx="6629400" cy="3349963"/>
          </a:xfrm>
        </p:spPr>
      </p:pic>
      <p:sp>
        <p:nvSpPr>
          <p:cNvPr id="43012" name="Rectangle 3">
            <a:extLst>
              <a:ext uri="{FF2B5EF4-FFF2-40B4-BE49-F238E27FC236}">
                <a16:creationId xmlns:a16="http://schemas.microsoft.com/office/drawing/2014/main" id="{DD8BAD0B-CC4A-4A69-8B78-304B4C7D5A8C}"/>
              </a:ext>
            </a:extLst>
          </p:cNvPr>
          <p:cNvSpPr>
            <a:spLocks noGrp="1" noChangeArrowheads="1"/>
          </p:cNvSpPr>
          <p:nvPr>
            <p:ph type="body" sz="half" idx="2"/>
          </p:nvPr>
        </p:nvSpPr>
        <p:spPr>
          <a:xfrm>
            <a:off x="457200" y="762000"/>
            <a:ext cx="8458200" cy="2057400"/>
          </a:xfrm>
        </p:spPr>
        <p:txBody>
          <a:bodyPr>
            <a:normAutofit lnSpcReduction="10000"/>
          </a:bodyPr>
          <a:lstStyle/>
          <a:p>
            <a:pPr eaLnBrk="1" hangingPunct="1">
              <a:buFont typeface="Times New Roman" panose="02020603050405020304" pitchFamily="18" charset="0"/>
              <a:buChar char="•"/>
            </a:pPr>
            <a:r>
              <a:rPr lang="en-US" altLang="en-US" sz="1800" b="1" dirty="0">
                <a:latin typeface="Century Schoolbook" panose="02040604050505020304" pitchFamily="18" charset="0"/>
              </a:rPr>
              <a:t>~80% of all earthquakes occur in the circum-Pacific belt - most of these result from convergent margin activity</a:t>
            </a:r>
          </a:p>
          <a:p>
            <a:pPr lvl="1" eaLnBrk="1" hangingPunct="1"/>
            <a:r>
              <a:rPr lang="en-US" altLang="en-US" sz="1800" b="1" dirty="0">
                <a:latin typeface="Century Schoolbook" panose="02040604050505020304" pitchFamily="18" charset="0"/>
              </a:rPr>
              <a:t>~15% occur in the Mediterranean-Asiatic belt</a:t>
            </a:r>
          </a:p>
          <a:p>
            <a:pPr lvl="1" eaLnBrk="1" hangingPunct="1"/>
            <a:r>
              <a:rPr lang="en-US" altLang="en-US" sz="1800" b="1" dirty="0">
                <a:latin typeface="Century Schoolbook" panose="02040604050505020304" pitchFamily="18" charset="0"/>
              </a:rPr>
              <a:t>remaining 5% occur in the interiors of plates</a:t>
            </a:r>
          </a:p>
          <a:p>
            <a:pPr lvl="1" eaLnBrk="1" hangingPunct="1"/>
            <a:r>
              <a:rPr lang="en-US" altLang="en-US" sz="1800" b="1" dirty="0">
                <a:latin typeface="Century Schoolbook" panose="02040604050505020304" pitchFamily="18" charset="0"/>
              </a:rPr>
              <a:t>more than 150,000 quakes strong enough to be felt are recorded each year</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arn(inVertical)">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3012">
                                            <p:txEl>
                                              <p:pRg st="0" end="0"/>
                                            </p:txEl>
                                          </p:spTgt>
                                        </p:tgtEl>
                                        <p:attrNameLst>
                                          <p:attrName>style.visibility</p:attrName>
                                        </p:attrNameLst>
                                      </p:cBhvr>
                                      <p:to>
                                        <p:strVal val="visible"/>
                                      </p:to>
                                    </p:set>
                                    <p:animEffect transition="in" filter="barn(inVertical)">
                                      <p:cBhvr>
                                        <p:cTn id="12" dur="500"/>
                                        <p:tgtEl>
                                          <p:spTgt spid="43012">
                                            <p:txEl>
                                              <p:pRg st="0" end="0"/>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43012">
                                            <p:txEl>
                                              <p:pRg st="1" end="1"/>
                                            </p:txEl>
                                          </p:spTgt>
                                        </p:tgtEl>
                                        <p:attrNameLst>
                                          <p:attrName>style.visibility</p:attrName>
                                        </p:attrNameLst>
                                      </p:cBhvr>
                                      <p:to>
                                        <p:strVal val="visible"/>
                                      </p:to>
                                    </p:set>
                                    <p:animEffect transition="in" filter="barn(inVertical)">
                                      <p:cBhvr>
                                        <p:cTn id="15" dur="500"/>
                                        <p:tgtEl>
                                          <p:spTgt spid="43012">
                                            <p:txEl>
                                              <p:pRg st="1" end="1"/>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43012">
                                            <p:txEl>
                                              <p:pRg st="2" end="2"/>
                                            </p:txEl>
                                          </p:spTgt>
                                        </p:tgtEl>
                                        <p:attrNameLst>
                                          <p:attrName>style.visibility</p:attrName>
                                        </p:attrNameLst>
                                      </p:cBhvr>
                                      <p:to>
                                        <p:strVal val="visible"/>
                                      </p:to>
                                    </p:set>
                                    <p:animEffect transition="in" filter="barn(inVertical)">
                                      <p:cBhvr>
                                        <p:cTn id="18" dur="500"/>
                                        <p:tgtEl>
                                          <p:spTgt spid="43012">
                                            <p:txEl>
                                              <p:pRg st="2" end="2"/>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43012">
                                            <p:txEl>
                                              <p:pRg st="3" end="3"/>
                                            </p:txEl>
                                          </p:spTgt>
                                        </p:tgtEl>
                                        <p:attrNameLst>
                                          <p:attrName>style.visibility</p:attrName>
                                        </p:attrNameLst>
                                      </p:cBhvr>
                                      <p:to>
                                        <p:strVal val="visible"/>
                                      </p:to>
                                    </p:set>
                                    <p:animEffect transition="in" filter="barn(inVertical)">
                                      <p:cBhvr>
                                        <p:cTn id="21" dur="500"/>
                                        <p:tgtEl>
                                          <p:spTgt spid="4301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43011"/>
                                        </p:tgtEl>
                                        <p:attrNameLst>
                                          <p:attrName>style.visibility</p:attrName>
                                        </p:attrNameLst>
                                      </p:cBhvr>
                                      <p:to>
                                        <p:strVal val="visible"/>
                                      </p:to>
                                    </p:set>
                                    <p:animEffect transition="in" filter="barn(inVertical)">
                                      <p:cBhvr>
                                        <p:cTn id="26" dur="500"/>
                                        <p:tgtEl>
                                          <p:spTgt spid="43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4301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9691FEF-7E59-4199-8F74-2AA22891A925}"/>
              </a:ext>
            </a:extLst>
          </p:cNvPr>
          <p:cNvSpPr>
            <a:spLocks noGrp="1" noChangeArrowheads="1"/>
          </p:cNvSpPr>
          <p:nvPr>
            <p:ph type="title"/>
          </p:nvPr>
        </p:nvSpPr>
        <p:spPr>
          <a:xfrm>
            <a:off x="914400" y="152400"/>
            <a:ext cx="7543800" cy="560388"/>
          </a:xfrm>
        </p:spPr>
        <p:txBody>
          <a:bodyPr vert="horz" wrap="square" lIns="91440" tIns="45720" rIns="91440" bIns="45720" numCol="1" anchorCtr="0" compatLnSpc="1">
            <a:prstTxWarp prst="textNoShape">
              <a:avLst/>
            </a:prstTxWarp>
            <a:normAutofit fontScale="90000"/>
          </a:bodyPr>
          <a:lstStyle/>
          <a:p>
            <a:pPr eaLnBrk="1" hangingPunct="1">
              <a:defRPr/>
            </a:pPr>
            <a:r>
              <a:rPr lang="en-US" sz="3200" dirty="0">
                <a:solidFill>
                  <a:schemeClr val="tx1"/>
                </a:solidFill>
                <a:effectLst>
                  <a:outerShdw blurRad="38100" dist="38100" dir="2700000" algn="tl">
                    <a:srgbClr val="C0C0C0"/>
                  </a:outerShdw>
                </a:effectLst>
                <a:latin typeface="Garamond" pitchFamily="18" charset="0"/>
              </a:rPr>
              <a:t>Effects of earthquakes</a:t>
            </a:r>
          </a:p>
        </p:txBody>
      </p:sp>
      <p:sp>
        <p:nvSpPr>
          <p:cNvPr id="44035" name="Rectangle 3">
            <a:extLst>
              <a:ext uri="{FF2B5EF4-FFF2-40B4-BE49-F238E27FC236}">
                <a16:creationId xmlns:a16="http://schemas.microsoft.com/office/drawing/2014/main" id="{B963A98C-0F26-49A9-896B-373B352D4FCB}"/>
              </a:ext>
            </a:extLst>
          </p:cNvPr>
          <p:cNvSpPr>
            <a:spLocks noGrp="1" noChangeArrowheads="1"/>
          </p:cNvSpPr>
          <p:nvPr>
            <p:ph sz="quarter" idx="1"/>
          </p:nvPr>
        </p:nvSpPr>
        <p:spPr>
          <a:xfrm>
            <a:off x="762000" y="914400"/>
            <a:ext cx="8077200" cy="5715000"/>
          </a:xfrm>
        </p:spPr>
        <p:txBody>
          <a:bodyPr/>
          <a:lstStyle/>
          <a:p>
            <a:pPr eaLnBrk="1" hangingPunct="1"/>
            <a:r>
              <a:rPr lang="en-US" altLang="en-US" sz="2800" b="1" dirty="0">
                <a:latin typeface="Garamond" panose="02020404030301010803" pitchFamily="18" charset="0"/>
              </a:rPr>
              <a:t>Shaking and ground rupture</a:t>
            </a:r>
          </a:p>
          <a:p>
            <a:pPr lvl="1" eaLnBrk="1" hangingPunct="1"/>
            <a:r>
              <a:rPr lang="en-US" altLang="en-US" sz="2400" dirty="0">
                <a:latin typeface="Garamond" panose="02020404030301010803" pitchFamily="18" charset="0"/>
              </a:rPr>
              <a:t>Shaking and ground rupture are the main effects created by earthquakes, principally resulting in more or less severe damage to buildings and other rigid structures. </a:t>
            </a:r>
          </a:p>
          <a:p>
            <a:pPr eaLnBrk="1" hangingPunct="1"/>
            <a:r>
              <a:rPr lang="en-US" altLang="en-US" sz="2800" b="1" dirty="0">
                <a:latin typeface="Garamond" panose="02020404030301010803" pitchFamily="18" charset="0"/>
              </a:rPr>
              <a:t>Landslides</a:t>
            </a:r>
          </a:p>
          <a:p>
            <a:pPr lvl="1" eaLnBrk="1" hangingPunct="1"/>
            <a:r>
              <a:rPr lang="en-US" altLang="en-US" sz="2400" dirty="0">
                <a:latin typeface="Garamond" panose="02020404030301010803" pitchFamily="18" charset="0"/>
              </a:rPr>
              <a:t>Earthquakes, along with severe storms, volcanic activity, coastal wave attack, and wildfires, can produce slope instability leading to landslides, a major geological hazard.</a:t>
            </a:r>
          </a:p>
          <a:p>
            <a:pPr eaLnBrk="1" hangingPunct="1"/>
            <a:r>
              <a:rPr lang="en-US" altLang="en-US" b="1" dirty="0">
                <a:latin typeface="Garamond" panose="02020404030301010803" pitchFamily="18" charset="0"/>
              </a:rPr>
              <a:t>Fires</a:t>
            </a:r>
            <a:r>
              <a:rPr lang="en-US" altLang="en-US" dirty="0">
                <a:latin typeface="Garamond" panose="02020404030301010803" pitchFamily="18" charset="0"/>
              </a:rPr>
              <a:t> </a:t>
            </a:r>
          </a:p>
          <a:p>
            <a:pPr lvl="1" eaLnBrk="1" hangingPunct="1"/>
            <a:r>
              <a:rPr lang="en-US" altLang="en-US" sz="2400" dirty="0">
                <a:latin typeface="Century Schoolbook" panose="02040604050505020304" pitchFamily="18" charset="0"/>
              </a:rPr>
              <a:t>Earthquakes can cause fires by damaging electric power or gas lines.</a:t>
            </a:r>
            <a:endParaRPr lang="en-US" altLang="en-US" sz="2400" dirty="0">
              <a:latin typeface="Garamond" panose="02020404030301010803" pitchFamily="18" charset="0"/>
            </a:endParaRPr>
          </a:p>
          <a:p>
            <a:pPr eaLnBrk="1" hangingPunct="1">
              <a:buFont typeface="Wingdings" panose="05000000000000000000" pitchFamily="2" charset="2"/>
              <a:buNone/>
            </a:pPr>
            <a:endParaRPr lang="en-US" altLang="en-US" sz="28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4035">
                                            <p:txEl>
                                              <p:pRg st="0" end="0"/>
                                            </p:txEl>
                                          </p:spTgt>
                                        </p:tgtEl>
                                        <p:attrNameLst>
                                          <p:attrName>style.visibility</p:attrName>
                                        </p:attrNameLst>
                                      </p:cBhvr>
                                      <p:to>
                                        <p:strVal val="visible"/>
                                      </p:to>
                                    </p:set>
                                    <p:anim calcmode="lin" valueType="num">
                                      <p:cBhvr additive="base">
                                        <p:cTn id="12"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4035">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44035">
                                            <p:txEl>
                                              <p:pRg st="1" end="1"/>
                                            </p:txEl>
                                          </p:spTgt>
                                        </p:tgtEl>
                                        <p:attrNameLst>
                                          <p:attrName>style.visibility</p:attrName>
                                        </p:attrNameLst>
                                      </p:cBhvr>
                                      <p:to>
                                        <p:strVal val="visible"/>
                                      </p:to>
                                    </p:set>
                                    <p:anim calcmode="lin" valueType="num">
                                      <p:cBhvr additive="base">
                                        <p:cTn id="16"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4035">
                                            <p:txEl>
                                              <p:pRg st="2" end="2"/>
                                            </p:txEl>
                                          </p:spTgt>
                                        </p:tgtEl>
                                        <p:attrNameLst>
                                          <p:attrName>style.visibility</p:attrName>
                                        </p:attrNameLst>
                                      </p:cBhvr>
                                      <p:to>
                                        <p:strVal val="visible"/>
                                      </p:to>
                                    </p:set>
                                    <p:anim calcmode="lin" valueType="num">
                                      <p:cBhvr additive="base">
                                        <p:cTn id="22"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4035">
                                            <p:txEl>
                                              <p:pRg st="2" end="2"/>
                                            </p:txEl>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44035">
                                            <p:txEl>
                                              <p:pRg st="3" end="3"/>
                                            </p:txEl>
                                          </p:spTgt>
                                        </p:tgtEl>
                                        <p:attrNameLst>
                                          <p:attrName>style.visibility</p:attrName>
                                        </p:attrNameLst>
                                      </p:cBhvr>
                                      <p:to>
                                        <p:strVal val="visible"/>
                                      </p:to>
                                    </p:set>
                                    <p:anim calcmode="lin" valueType="num">
                                      <p:cBhvr additive="base">
                                        <p:cTn id="26" dur="5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40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44035">
                                            <p:txEl>
                                              <p:pRg st="4" end="4"/>
                                            </p:txEl>
                                          </p:spTgt>
                                        </p:tgtEl>
                                        <p:attrNameLst>
                                          <p:attrName>style.visibility</p:attrName>
                                        </p:attrNameLst>
                                      </p:cBhvr>
                                      <p:to>
                                        <p:strVal val="visible"/>
                                      </p:to>
                                    </p:set>
                                    <p:anim calcmode="lin" valueType="num">
                                      <p:cBhvr additive="base">
                                        <p:cTn id="32" dur="500" fill="hold"/>
                                        <p:tgtEl>
                                          <p:spTgt spid="44035">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4035">
                                            <p:txEl>
                                              <p:pRg st="4" end="4"/>
                                            </p:txEl>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44035">
                                            <p:txEl>
                                              <p:pRg st="5" end="5"/>
                                            </p:txEl>
                                          </p:spTgt>
                                        </p:tgtEl>
                                        <p:attrNameLst>
                                          <p:attrName>style.visibility</p:attrName>
                                        </p:attrNameLst>
                                      </p:cBhvr>
                                      <p:to>
                                        <p:strVal val="visible"/>
                                      </p:to>
                                    </p:set>
                                    <p:anim calcmode="lin" valueType="num">
                                      <p:cBhvr additive="base">
                                        <p:cTn id="36" dur="500" fill="hold"/>
                                        <p:tgtEl>
                                          <p:spTgt spid="44035">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40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4403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1371095-EB36-4797-AD5D-D9C8ECE4B7DB}"/>
              </a:ext>
            </a:extLst>
          </p:cNvPr>
          <p:cNvSpPr>
            <a:spLocks noGrp="1" noChangeArrowheads="1"/>
          </p:cNvSpPr>
          <p:nvPr>
            <p:ph type="title"/>
          </p:nvPr>
        </p:nvSpPr>
        <p:spPr>
          <a:xfrm>
            <a:off x="457200" y="277813"/>
            <a:ext cx="8229600" cy="788987"/>
          </a:xfrm>
        </p:spPr>
        <p:txBody>
          <a:bodyPr vert="horz" wrap="square" lIns="91440" tIns="45720" rIns="91440" bIns="45720" numCol="1" anchorCtr="0" compatLnSpc="1">
            <a:prstTxWarp prst="textNoShape">
              <a:avLst/>
            </a:prstTxWarp>
          </a:bodyPr>
          <a:lstStyle/>
          <a:p>
            <a:pPr eaLnBrk="1" hangingPunct="1">
              <a:defRPr/>
            </a:pPr>
            <a:r>
              <a:rPr lang="en-US" sz="3600">
                <a:solidFill>
                  <a:schemeClr val="tx1"/>
                </a:solidFill>
                <a:effectLst>
                  <a:outerShdw blurRad="38100" dist="38100" dir="2700000" algn="tl">
                    <a:srgbClr val="C0C0C0"/>
                  </a:outerShdw>
                </a:effectLst>
                <a:latin typeface="Garamond" pitchFamily="18" charset="0"/>
              </a:rPr>
              <a:t>Continued..</a:t>
            </a:r>
          </a:p>
        </p:txBody>
      </p:sp>
      <p:sp>
        <p:nvSpPr>
          <p:cNvPr id="45059" name="Rectangle 3">
            <a:extLst>
              <a:ext uri="{FF2B5EF4-FFF2-40B4-BE49-F238E27FC236}">
                <a16:creationId xmlns:a16="http://schemas.microsoft.com/office/drawing/2014/main" id="{7B75896E-7967-4369-8856-FDE29F22BAED}"/>
              </a:ext>
            </a:extLst>
          </p:cNvPr>
          <p:cNvSpPr>
            <a:spLocks noGrp="1" noChangeArrowheads="1"/>
          </p:cNvSpPr>
          <p:nvPr>
            <p:ph sz="quarter" idx="1"/>
          </p:nvPr>
        </p:nvSpPr>
        <p:spPr>
          <a:xfrm>
            <a:off x="1409700" y="1371600"/>
            <a:ext cx="6324600" cy="4568825"/>
          </a:xfrm>
        </p:spPr>
        <p:txBody>
          <a:bodyPr/>
          <a:lstStyle/>
          <a:p>
            <a:pPr eaLnBrk="1" hangingPunct="1"/>
            <a:r>
              <a:rPr lang="en-US" altLang="en-US" sz="2800" b="1" dirty="0">
                <a:latin typeface="Garamond" panose="02020404030301010803" pitchFamily="18" charset="0"/>
              </a:rPr>
              <a:t>Soil liquefaction</a:t>
            </a:r>
          </a:p>
          <a:p>
            <a:pPr lvl="1" eaLnBrk="1" hangingPunct="1"/>
            <a:r>
              <a:rPr lang="en-US" altLang="en-US" sz="2400" dirty="0">
                <a:latin typeface="Garamond" panose="02020404030301010803" pitchFamily="18" charset="0"/>
              </a:rPr>
              <a:t>Soil liquefaction occurs when, because of the shaking, water-saturated granular material (such as sand) temporarily loses its strength and transforms from a solid to a liquid.</a:t>
            </a:r>
          </a:p>
          <a:p>
            <a:pPr eaLnBrk="1" hangingPunct="1"/>
            <a:r>
              <a:rPr lang="en-US" altLang="en-US" sz="2800" b="1" dirty="0">
                <a:latin typeface="Garamond" panose="02020404030301010803" pitchFamily="18" charset="0"/>
              </a:rPr>
              <a:t>Tsunami</a:t>
            </a:r>
          </a:p>
          <a:p>
            <a:pPr lvl="1" eaLnBrk="1" hangingPunct="1"/>
            <a:r>
              <a:rPr lang="en-US" altLang="en-US" sz="2400" dirty="0">
                <a:latin typeface="Garamond" panose="02020404030301010803" pitchFamily="18" charset="0"/>
              </a:rPr>
              <a:t>long sea waves produced by the sudden or abrupt movement of large volumes of water.</a:t>
            </a:r>
            <a:r>
              <a:rPr lang="en-US" altLang="en-US" sz="2400" dirty="0">
                <a:latin typeface="Century Schoolbook" panose="02040604050505020304" pitchFamily="18" charset="0"/>
              </a:rPr>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anim calcmode="lin" valueType="num">
                                      <p:cBhvr additive="base">
                                        <p:cTn id="11"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 calcmode="lin" valueType="num">
                                      <p:cBhvr additive="base">
                                        <p:cTn id="17" dur="500" fill="hold"/>
                                        <p:tgtEl>
                                          <p:spTgt spid="450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505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5059">
                                            <p:txEl>
                                              <p:pRg st="3" end="3"/>
                                            </p:txEl>
                                          </p:spTgt>
                                        </p:tgtEl>
                                        <p:attrNameLst>
                                          <p:attrName>style.visibility</p:attrName>
                                        </p:attrNameLst>
                                      </p:cBhvr>
                                      <p:to>
                                        <p:strVal val="visible"/>
                                      </p:to>
                                    </p:set>
                                    <p:anim calcmode="lin" valueType="num">
                                      <p:cBhvr additive="base">
                                        <p:cTn id="21" dur="500" fill="hold"/>
                                        <p:tgtEl>
                                          <p:spTgt spid="4505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50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17D1ED8-A037-4FE3-AEF8-3527334E0487}"/>
              </a:ext>
            </a:extLst>
          </p:cNvPr>
          <p:cNvSpPr>
            <a:spLocks noGrp="1" noChangeArrowheads="1"/>
          </p:cNvSpPr>
          <p:nvPr>
            <p:ph type="title"/>
          </p:nvPr>
        </p:nvSpPr>
        <p:spPr>
          <a:xfrm>
            <a:off x="304800" y="277813"/>
            <a:ext cx="8382000" cy="1143000"/>
          </a:xfrm>
        </p:spPr>
        <p:txBody>
          <a:bodyPr vert="horz" wrap="square" lIns="91440" tIns="45720" rIns="91440" bIns="45720" numCol="1" anchorCtr="0" compatLnSpc="1">
            <a:prstTxWarp prst="textNoShape">
              <a:avLst/>
            </a:prstTxWarp>
          </a:bodyPr>
          <a:lstStyle/>
          <a:p>
            <a:pPr eaLnBrk="1" hangingPunct="1">
              <a:defRPr/>
            </a:pPr>
            <a:r>
              <a:rPr lang="en-US" sz="3600" dirty="0">
                <a:solidFill>
                  <a:schemeClr val="tx1"/>
                </a:solidFill>
                <a:effectLst>
                  <a:outerShdw blurRad="38100" dist="38100" dir="2700000" algn="tl">
                    <a:srgbClr val="C0C0C0"/>
                  </a:outerShdw>
                </a:effectLst>
                <a:latin typeface="Garamond" pitchFamily="18" charset="0"/>
              </a:rPr>
              <a:t>Strength of earthquake and possible effects</a:t>
            </a:r>
          </a:p>
        </p:txBody>
      </p:sp>
      <p:sp>
        <p:nvSpPr>
          <p:cNvPr id="46083" name="Rectangle 3">
            <a:extLst>
              <a:ext uri="{FF2B5EF4-FFF2-40B4-BE49-F238E27FC236}">
                <a16:creationId xmlns:a16="http://schemas.microsoft.com/office/drawing/2014/main" id="{1F9398F4-896E-49EE-BB67-880B81C17290}"/>
              </a:ext>
            </a:extLst>
          </p:cNvPr>
          <p:cNvSpPr>
            <a:spLocks noGrp="1" noChangeArrowheads="1"/>
          </p:cNvSpPr>
          <p:nvPr>
            <p:ph sz="quarter" idx="1"/>
          </p:nvPr>
        </p:nvSpPr>
        <p:spPr>
          <a:xfrm>
            <a:off x="1524000" y="1828800"/>
            <a:ext cx="6400800" cy="4645025"/>
          </a:xfrm>
        </p:spPr>
        <p:txBody>
          <a:bodyPr>
            <a:normAutofit fontScale="92500"/>
          </a:bodyPr>
          <a:lstStyle/>
          <a:p>
            <a:pPr eaLnBrk="1" hangingPunct="1"/>
            <a:r>
              <a:rPr lang="en-US" altLang="en-US" sz="3000" dirty="0">
                <a:latin typeface="Garamond" panose="02020404030301010803" pitchFamily="18" charset="0"/>
              </a:rPr>
              <a:t>&lt; 3.5: rarely felt by the people</a:t>
            </a:r>
          </a:p>
          <a:p>
            <a:pPr eaLnBrk="1" hangingPunct="1"/>
            <a:r>
              <a:rPr lang="en-US" altLang="en-US" sz="3000" dirty="0">
                <a:latin typeface="Garamond" panose="02020404030301010803" pitchFamily="18" charset="0"/>
              </a:rPr>
              <a:t>3.6-4.9:often felt but rarely causes damages</a:t>
            </a:r>
          </a:p>
          <a:p>
            <a:pPr eaLnBrk="1" hangingPunct="1"/>
            <a:r>
              <a:rPr lang="en-US" altLang="en-US" sz="3000" dirty="0">
                <a:latin typeface="Garamond" panose="02020404030301010803" pitchFamily="18" charset="0"/>
              </a:rPr>
              <a:t>5.0-5.9:damage and loss of life become possible</a:t>
            </a:r>
          </a:p>
          <a:p>
            <a:pPr eaLnBrk="1" hangingPunct="1"/>
            <a:r>
              <a:rPr lang="en-US" altLang="en-US" sz="3000" dirty="0">
                <a:latin typeface="Garamond" panose="02020404030301010803" pitchFamily="18" charset="0"/>
              </a:rPr>
              <a:t>6.0-6.9:strong earthquakes, much damages and considerable loss of life are possible</a:t>
            </a:r>
          </a:p>
          <a:p>
            <a:pPr eaLnBrk="1" hangingPunct="1"/>
            <a:r>
              <a:rPr lang="en-US" altLang="en-US" sz="3000" dirty="0">
                <a:latin typeface="Garamond" panose="02020404030301010803" pitchFamily="18" charset="0"/>
              </a:rPr>
              <a:t>7.0 &amp; above: major earthquakes which can cause serious damage.</a:t>
            </a:r>
          </a:p>
          <a:p>
            <a:pPr eaLnBrk="1" hangingPunct="1"/>
            <a:endParaRPr lang="en-US" altLang="en-US" sz="30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fade">
                                      <p:cBhvr>
                                        <p:cTn id="7" dur="1000"/>
                                        <p:tgtEl>
                                          <p:spTgt spid="27650"/>
                                        </p:tgtEl>
                                      </p:cBhvr>
                                    </p:animEffect>
                                    <p:anim calcmode="lin" valueType="num">
                                      <p:cBhvr>
                                        <p:cTn id="8" dur="1000" fill="hold"/>
                                        <p:tgtEl>
                                          <p:spTgt spid="27650"/>
                                        </p:tgtEl>
                                        <p:attrNameLst>
                                          <p:attrName>ppt_x</p:attrName>
                                        </p:attrNameLst>
                                      </p:cBhvr>
                                      <p:tavLst>
                                        <p:tav tm="0">
                                          <p:val>
                                            <p:strVal val="#ppt_x"/>
                                          </p:val>
                                        </p:tav>
                                        <p:tav tm="100000">
                                          <p:val>
                                            <p:strVal val="#ppt_x"/>
                                          </p:val>
                                        </p:tav>
                                      </p:tavLst>
                                    </p:anim>
                                    <p:anim calcmode="lin" valueType="num">
                                      <p:cBhvr>
                                        <p:cTn id="9" dur="1000" fill="hold"/>
                                        <p:tgtEl>
                                          <p:spTgt spid="276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6083">
                                            <p:txEl>
                                              <p:pRg st="0" end="0"/>
                                            </p:txEl>
                                          </p:spTgt>
                                        </p:tgtEl>
                                        <p:attrNameLst>
                                          <p:attrName>style.visibility</p:attrName>
                                        </p:attrNameLst>
                                      </p:cBhvr>
                                      <p:to>
                                        <p:strVal val="visible"/>
                                      </p:to>
                                    </p:set>
                                    <p:animEffect transition="in" filter="fade">
                                      <p:cBhvr>
                                        <p:cTn id="14" dur="1000"/>
                                        <p:tgtEl>
                                          <p:spTgt spid="46083">
                                            <p:txEl>
                                              <p:pRg st="0" end="0"/>
                                            </p:txEl>
                                          </p:spTgt>
                                        </p:tgtEl>
                                      </p:cBhvr>
                                    </p:animEffect>
                                    <p:anim calcmode="lin" valueType="num">
                                      <p:cBhvr>
                                        <p:cTn id="15" dur="10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60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6083">
                                            <p:txEl>
                                              <p:pRg st="1" end="1"/>
                                            </p:txEl>
                                          </p:spTgt>
                                        </p:tgtEl>
                                        <p:attrNameLst>
                                          <p:attrName>style.visibility</p:attrName>
                                        </p:attrNameLst>
                                      </p:cBhvr>
                                      <p:to>
                                        <p:strVal val="visible"/>
                                      </p:to>
                                    </p:set>
                                    <p:animEffect transition="in" filter="fade">
                                      <p:cBhvr>
                                        <p:cTn id="21" dur="1000"/>
                                        <p:tgtEl>
                                          <p:spTgt spid="46083">
                                            <p:txEl>
                                              <p:pRg st="1" end="1"/>
                                            </p:txEl>
                                          </p:spTgt>
                                        </p:tgtEl>
                                      </p:cBhvr>
                                    </p:animEffect>
                                    <p:anim calcmode="lin" valueType="num">
                                      <p:cBhvr>
                                        <p:cTn id="22" dur="10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460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083">
                                            <p:txEl>
                                              <p:pRg st="2" end="2"/>
                                            </p:txEl>
                                          </p:spTgt>
                                        </p:tgtEl>
                                        <p:attrNameLst>
                                          <p:attrName>style.visibility</p:attrName>
                                        </p:attrNameLst>
                                      </p:cBhvr>
                                      <p:to>
                                        <p:strVal val="visible"/>
                                      </p:to>
                                    </p:set>
                                    <p:animEffect transition="in" filter="fade">
                                      <p:cBhvr>
                                        <p:cTn id="28" dur="1000"/>
                                        <p:tgtEl>
                                          <p:spTgt spid="46083">
                                            <p:txEl>
                                              <p:pRg st="2" end="2"/>
                                            </p:txEl>
                                          </p:spTgt>
                                        </p:tgtEl>
                                      </p:cBhvr>
                                    </p:animEffect>
                                    <p:anim calcmode="lin" valueType="num">
                                      <p:cBhvr>
                                        <p:cTn id="29" dur="10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460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6083">
                                            <p:txEl>
                                              <p:pRg st="3" end="3"/>
                                            </p:txEl>
                                          </p:spTgt>
                                        </p:tgtEl>
                                        <p:attrNameLst>
                                          <p:attrName>style.visibility</p:attrName>
                                        </p:attrNameLst>
                                      </p:cBhvr>
                                      <p:to>
                                        <p:strVal val="visible"/>
                                      </p:to>
                                    </p:set>
                                    <p:animEffect transition="in" filter="fade">
                                      <p:cBhvr>
                                        <p:cTn id="35" dur="1000"/>
                                        <p:tgtEl>
                                          <p:spTgt spid="46083">
                                            <p:txEl>
                                              <p:pRg st="3" end="3"/>
                                            </p:txEl>
                                          </p:spTgt>
                                        </p:tgtEl>
                                      </p:cBhvr>
                                    </p:animEffect>
                                    <p:anim calcmode="lin" valueType="num">
                                      <p:cBhvr>
                                        <p:cTn id="36" dur="10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460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6083">
                                            <p:txEl>
                                              <p:pRg st="4" end="4"/>
                                            </p:txEl>
                                          </p:spTgt>
                                        </p:tgtEl>
                                        <p:attrNameLst>
                                          <p:attrName>style.visibility</p:attrName>
                                        </p:attrNameLst>
                                      </p:cBhvr>
                                      <p:to>
                                        <p:strVal val="visible"/>
                                      </p:to>
                                    </p:set>
                                    <p:animEffect transition="in" filter="fade">
                                      <p:cBhvr>
                                        <p:cTn id="42" dur="1000"/>
                                        <p:tgtEl>
                                          <p:spTgt spid="46083">
                                            <p:txEl>
                                              <p:pRg st="4" end="4"/>
                                            </p:txEl>
                                          </p:spTgt>
                                        </p:tgtEl>
                                      </p:cBhvr>
                                    </p:animEffect>
                                    <p:anim calcmode="lin" valueType="num">
                                      <p:cBhvr>
                                        <p:cTn id="43" dur="10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4608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4608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5ABAF74-4D1B-4869-A994-39BD86FA73EE}"/>
              </a:ext>
            </a:extLst>
          </p:cNvPr>
          <p:cNvSpPr txBox="1"/>
          <p:nvPr/>
        </p:nvSpPr>
        <p:spPr>
          <a:xfrm>
            <a:off x="3238500" y="2971800"/>
            <a:ext cx="2667000" cy="707886"/>
          </a:xfrm>
          <a:prstGeom prst="rect">
            <a:avLst/>
          </a:prstGeom>
          <a:noFill/>
        </p:spPr>
        <p:txBody>
          <a:bodyPr wrap="square" rtlCol="0">
            <a:spAutoFit/>
          </a:bodyPr>
          <a:lstStyle/>
          <a:p>
            <a:r>
              <a:rPr lang="en-US" sz="4000" dirty="0"/>
              <a:t>THANK YOU</a:t>
            </a:r>
          </a:p>
        </p:txBody>
      </p:sp>
    </p:spTree>
    <p:custDataLst>
      <p:tags r:id="rId1"/>
    </p:custDataLst>
    <p:extLst>
      <p:ext uri="{BB962C8B-B14F-4D97-AF65-F5344CB8AC3E}">
        <p14:creationId xmlns:p14="http://schemas.microsoft.com/office/powerpoint/2010/main" val="424102214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5.1"/>
</p:tagLst>
</file>

<file path=ppt/tags/tag2.xml><?xml version="1.0" encoding="utf-8"?>
<p:tagLst xmlns:a="http://schemas.openxmlformats.org/drawingml/2006/main" xmlns:r="http://schemas.openxmlformats.org/officeDocument/2006/relationships" xmlns:p="http://schemas.openxmlformats.org/presentationml/2006/main">
  <p:tag name="TIMING" val="|0.6|4.1|17.9|58.7"/>
</p:tagLst>
</file>

<file path=ppt/tags/tag3.xml><?xml version="1.0" encoding="utf-8"?>
<p:tagLst xmlns:a="http://schemas.openxmlformats.org/drawingml/2006/main" xmlns:r="http://schemas.openxmlformats.org/officeDocument/2006/relationships" xmlns:p="http://schemas.openxmlformats.org/presentationml/2006/main">
  <p:tag name="TIMING" val="|1.1|2.1|23.8|12.5|3.9"/>
</p:tagLst>
</file>

<file path=ppt/tags/tag4.xml><?xml version="1.0" encoding="utf-8"?>
<p:tagLst xmlns:a="http://schemas.openxmlformats.org/drawingml/2006/main" xmlns:r="http://schemas.openxmlformats.org/officeDocument/2006/relationships" xmlns:p="http://schemas.openxmlformats.org/presentationml/2006/main">
  <p:tag name="TIMING" val="|0.6|2.6|6.7|1.6|1.5|1.7|1.6|7.4|1.4|1.5|2.9|1.9|15|4.4"/>
</p:tagLst>
</file>

<file path=ppt/tags/tag5.xml><?xml version="1.0" encoding="utf-8"?>
<p:tagLst xmlns:a="http://schemas.openxmlformats.org/drawingml/2006/main" xmlns:r="http://schemas.openxmlformats.org/officeDocument/2006/relationships" xmlns:p="http://schemas.openxmlformats.org/presentationml/2006/main">
  <p:tag name="TIMING" val="|0.7|2.4|2.2|1.6|1.6|1.4|32.5|1.4|4.3|1.9|4.9|2.3"/>
</p:tagLst>
</file>

<file path=ppt/tags/tag6.xml><?xml version="1.0" encoding="utf-8"?>
<p:tagLst xmlns:a="http://schemas.openxmlformats.org/drawingml/2006/main" xmlns:r="http://schemas.openxmlformats.org/officeDocument/2006/relationships" xmlns:p="http://schemas.openxmlformats.org/presentationml/2006/main">
  <p:tag name="TIMING" val="|0.9|1.1|6.1|1.1|1.2|1|4.7|32.8"/>
</p:tagLst>
</file>

<file path=ppt/tags/tag7.xml><?xml version="1.0" encoding="utf-8"?>
<p:tagLst xmlns:a="http://schemas.openxmlformats.org/drawingml/2006/main" xmlns:r="http://schemas.openxmlformats.org/officeDocument/2006/relationships" xmlns:p="http://schemas.openxmlformats.org/presentationml/2006/main">
  <p:tag name="TIMING" val="|0.7|10.6|9.6|6.1|2.6|1.2|1.6|1.5|7.8|2|3.2|2.2|2.2"/>
</p:tagLst>
</file>

<file path=ppt/tags/tag8.xml><?xml version="1.0" encoding="utf-8"?>
<p:tagLst xmlns:a="http://schemas.openxmlformats.org/drawingml/2006/main" xmlns:r="http://schemas.openxmlformats.org/officeDocument/2006/relationships" xmlns:p="http://schemas.openxmlformats.org/presentationml/2006/main">
  <p:tag name="TIMING" val="|1.5|0.8|38.1"/>
</p:tagLst>
</file>

<file path=ppt/tags/tag9.xml><?xml version="1.0" encoding="utf-8"?>
<p:tagLst xmlns:a="http://schemas.openxmlformats.org/drawingml/2006/main" xmlns:r="http://schemas.openxmlformats.org/officeDocument/2006/relationships" xmlns:p="http://schemas.openxmlformats.org/presentationml/2006/main">
  <p:tag name="TIMING" val="|0.5|8.4|21.4|10.3|9.5|6.3"/>
</p:tagLst>
</file>

<file path=ppt/tags/tag10.xml><?xml version="1.0" encoding="utf-8"?>
<p:tagLst xmlns:a="http://schemas.openxmlformats.org/drawingml/2006/main" xmlns:r="http://schemas.openxmlformats.org/officeDocument/2006/relationships" xmlns:p="http://schemas.openxmlformats.org/presentationml/2006/main">
  <p:tag name="TIMING" val="|0.7"/>
</p:tagLst>
</file>

<file path=ppt/tags/tag11.xml><?xml version="1.0" encoding="utf-8"?>
<p:tagLst xmlns:a="http://schemas.openxmlformats.org/drawingml/2006/main" xmlns:r="http://schemas.openxmlformats.org/officeDocument/2006/relationships" xmlns:p="http://schemas.openxmlformats.org/presentationml/2006/main">
  <p:tag name="TIMING" val="|0.7|2.6|4.9|5.9|7.6|4.2|7.6|12.6"/>
</p:tagLst>
</file>

<file path=ppt/tags/tag12.xml><?xml version="1.0" encoding="utf-8"?>
<p:tagLst xmlns:a="http://schemas.openxmlformats.org/drawingml/2006/main" xmlns:r="http://schemas.openxmlformats.org/officeDocument/2006/relationships" xmlns:p="http://schemas.openxmlformats.org/presentationml/2006/main">
  <p:tag name="TIMING" val="|0.5|2.2"/>
</p:tagLst>
</file>

<file path=ppt/tags/tag13.xml><?xml version="1.0" encoding="utf-8"?>
<p:tagLst xmlns:a="http://schemas.openxmlformats.org/drawingml/2006/main" xmlns:r="http://schemas.openxmlformats.org/officeDocument/2006/relationships" xmlns:p="http://schemas.openxmlformats.org/presentationml/2006/main">
  <p:tag name="TIMING" val="|0.7|3.3|8.5|3.3|6.2|7.2"/>
</p:tagLst>
</file>

<file path=ppt/tags/tag14.xml><?xml version="1.0" encoding="utf-8"?>
<p:tagLst xmlns:a="http://schemas.openxmlformats.org/drawingml/2006/main" xmlns:r="http://schemas.openxmlformats.org/officeDocument/2006/relationships" xmlns:p="http://schemas.openxmlformats.org/presentationml/2006/main">
  <p:tag name="TIMING" val="|1.3"/>
</p:tagLst>
</file>

<file path=ppt/tags/tag15.xml><?xml version="1.0" encoding="utf-8"?>
<p:tagLst xmlns:a="http://schemas.openxmlformats.org/drawingml/2006/main" xmlns:r="http://schemas.openxmlformats.org/officeDocument/2006/relationships" xmlns:p="http://schemas.openxmlformats.org/presentationml/2006/main">
  <p:tag name="TIMING" val="|0.6|6.1|11.5|10.1"/>
</p:tagLst>
</file>

<file path=ppt/tags/tag16.xml><?xml version="1.0" encoding="utf-8"?>
<p:tagLst xmlns:a="http://schemas.openxmlformats.org/drawingml/2006/main" xmlns:r="http://schemas.openxmlformats.org/officeDocument/2006/relationships" xmlns:p="http://schemas.openxmlformats.org/presentationml/2006/main">
  <p:tag name="TIMING" val="|0.6|3.2|3.3"/>
</p:tagLst>
</file>

<file path=ppt/tags/tag17.xml><?xml version="1.0" encoding="utf-8"?>
<p:tagLst xmlns:a="http://schemas.openxmlformats.org/drawingml/2006/main" xmlns:r="http://schemas.openxmlformats.org/officeDocument/2006/relationships" xmlns:p="http://schemas.openxmlformats.org/presentationml/2006/main">
  <p:tag name="TIMING" val="|0.5|2.6|37.2|16.3"/>
</p:tagLst>
</file>

<file path=ppt/tags/tag18.xml><?xml version="1.0" encoding="utf-8"?>
<p:tagLst xmlns:a="http://schemas.openxmlformats.org/drawingml/2006/main" xmlns:r="http://schemas.openxmlformats.org/officeDocument/2006/relationships" xmlns:p="http://schemas.openxmlformats.org/presentationml/2006/main">
  <p:tag name="TIMING" val="|2|0.8"/>
</p:tagLst>
</file>

<file path=ppt/tags/tag19.xml><?xml version="1.0" encoding="utf-8"?>
<p:tagLst xmlns:a="http://schemas.openxmlformats.org/drawingml/2006/main" xmlns:r="http://schemas.openxmlformats.org/officeDocument/2006/relationships" xmlns:p="http://schemas.openxmlformats.org/presentationml/2006/main">
  <p:tag name="TIMING" val="|0.6|0.6"/>
</p:tagLst>
</file>

<file path=ppt/tags/tag20.xml><?xml version="1.0" encoding="utf-8"?>
<p:tagLst xmlns:a="http://schemas.openxmlformats.org/drawingml/2006/main" xmlns:r="http://schemas.openxmlformats.org/officeDocument/2006/relationships" xmlns:p="http://schemas.openxmlformats.org/presentationml/2006/main">
  <p:tag name="TIMING" val="|0.5|4|6.8|7.4|23.2"/>
</p:tagLst>
</file>

<file path=ppt/tags/tag21.xml><?xml version="1.0" encoding="utf-8"?>
<p:tagLst xmlns:a="http://schemas.openxmlformats.org/drawingml/2006/main" xmlns:r="http://schemas.openxmlformats.org/officeDocument/2006/relationships" xmlns:p="http://schemas.openxmlformats.org/presentationml/2006/main">
  <p:tag name="TIMING" val="|0.7|2.8|24.9|3"/>
</p:tagLst>
</file>

<file path=ppt/tags/tag22.xml><?xml version="1.0" encoding="utf-8"?>
<p:tagLst xmlns:a="http://schemas.openxmlformats.org/drawingml/2006/main" xmlns:r="http://schemas.openxmlformats.org/officeDocument/2006/relationships" xmlns:p="http://schemas.openxmlformats.org/presentationml/2006/main">
  <p:tag name="TIMING" val="|0.6|8.3|1.9|20.6|1.3"/>
</p:tagLst>
</file>

<file path=ppt/tags/tag23.xml><?xml version="1.0" encoding="utf-8"?>
<p:tagLst xmlns:a="http://schemas.openxmlformats.org/drawingml/2006/main" xmlns:r="http://schemas.openxmlformats.org/officeDocument/2006/relationships" xmlns:p="http://schemas.openxmlformats.org/presentationml/2006/main">
  <p:tag name="TIMING" val="|0.5"/>
</p:tagLst>
</file>

<file path=ppt/tags/tag24.xml><?xml version="1.0" encoding="utf-8"?>
<p:tagLst xmlns:a="http://schemas.openxmlformats.org/drawingml/2006/main" xmlns:r="http://schemas.openxmlformats.org/officeDocument/2006/relationships" xmlns:p="http://schemas.openxmlformats.org/presentationml/2006/main">
  <p:tag name="TIMING" val="|0.5|2|22.7"/>
</p:tagLst>
</file>

<file path=ppt/tags/tag25.xml><?xml version="1.0" encoding="utf-8"?>
<p:tagLst xmlns:a="http://schemas.openxmlformats.org/drawingml/2006/main" xmlns:r="http://schemas.openxmlformats.org/officeDocument/2006/relationships" xmlns:p="http://schemas.openxmlformats.org/presentationml/2006/main">
  <p:tag name="TIMING" val="|0.7|14.1|12.7|14.5|9.8|23.7|7.1|9|32.9"/>
</p:tagLst>
</file>

<file path=ppt/tags/tag26.xml><?xml version="1.0" encoding="utf-8"?>
<p:tagLst xmlns:a="http://schemas.openxmlformats.org/drawingml/2006/main" xmlns:r="http://schemas.openxmlformats.org/officeDocument/2006/relationships" xmlns:p="http://schemas.openxmlformats.org/presentationml/2006/main">
  <p:tag name="TIMING" val="|1|1"/>
</p:tagLst>
</file>

<file path=ppt/tags/tag27.xml><?xml version="1.0" encoding="utf-8"?>
<p:tagLst xmlns:a="http://schemas.openxmlformats.org/drawingml/2006/main" xmlns:r="http://schemas.openxmlformats.org/officeDocument/2006/relationships" xmlns:p="http://schemas.openxmlformats.org/presentationml/2006/main">
  <p:tag name="TIMING" val="|1.3|12|3.5|18.4|2.6|3.7|30.9"/>
</p:tagLst>
</file>

<file path=ppt/tags/tag28.xml><?xml version="1.0" encoding="utf-8"?>
<p:tagLst xmlns:a="http://schemas.openxmlformats.org/drawingml/2006/main" xmlns:r="http://schemas.openxmlformats.org/officeDocument/2006/relationships" xmlns:p="http://schemas.openxmlformats.org/presentationml/2006/main">
  <p:tag name="TIMING" val="|1.1|1.2|6.8|11.9"/>
</p:tagLst>
</file>

<file path=ppt/tags/tag29.xml><?xml version="1.0" encoding="utf-8"?>
<p:tagLst xmlns:a="http://schemas.openxmlformats.org/drawingml/2006/main" xmlns:r="http://schemas.openxmlformats.org/officeDocument/2006/relationships" xmlns:p="http://schemas.openxmlformats.org/presentationml/2006/main">
  <p:tag name="TIMING" val="|0.5|1.8"/>
</p:tagLst>
</file>

<file path=ppt/tags/tag30.xml><?xml version="1.0" encoding="utf-8"?>
<p:tagLst xmlns:a="http://schemas.openxmlformats.org/drawingml/2006/main" xmlns:r="http://schemas.openxmlformats.org/officeDocument/2006/relationships" xmlns:p="http://schemas.openxmlformats.org/presentationml/2006/main">
  <p:tag name="TIMING" val="|0.4|2.1|43.6|20.1"/>
</p:tagLst>
</file>

<file path=ppt/tags/tag31.xml><?xml version="1.0" encoding="utf-8"?>
<p:tagLst xmlns:a="http://schemas.openxmlformats.org/drawingml/2006/main" xmlns:r="http://schemas.openxmlformats.org/officeDocument/2006/relationships" xmlns:p="http://schemas.openxmlformats.org/presentationml/2006/main">
  <p:tag name="TIMING" val="|0.3|5.2|64"/>
</p:tagLst>
</file>

<file path=ppt/tags/tag32.xml><?xml version="1.0" encoding="utf-8"?>
<p:tagLst xmlns:a="http://schemas.openxmlformats.org/drawingml/2006/main" xmlns:r="http://schemas.openxmlformats.org/officeDocument/2006/relationships" xmlns:p="http://schemas.openxmlformats.org/presentationml/2006/main">
  <p:tag name="TIMING" val="|0.8|0.5|6|7.8|3.7"/>
</p:tagLst>
</file>

<file path=ppt/tags/tag33.xml><?xml version="1.0" encoding="utf-8"?>
<p:tagLst xmlns:a="http://schemas.openxmlformats.org/drawingml/2006/main" xmlns:r="http://schemas.openxmlformats.org/officeDocument/2006/relationships" xmlns:p="http://schemas.openxmlformats.org/presentationml/2006/main">
  <p:tag name="TIMING" val="|1.4|3.9|26"/>
</p:tagLst>
</file>

<file path=ppt/tags/tag34.xml><?xml version="1.0" encoding="utf-8"?>
<p:tagLst xmlns:a="http://schemas.openxmlformats.org/drawingml/2006/main" xmlns:r="http://schemas.openxmlformats.org/officeDocument/2006/relationships" xmlns:p="http://schemas.openxmlformats.org/presentationml/2006/main">
  <p:tag name="TIMING" val="|0.7|1.5|13.5|15.7"/>
</p:tagLst>
</file>

<file path=ppt/tags/tag35.xml><?xml version="1.0" encoding="utf-8"?>
<p:tagLst xmlns:a="http://schemas.openxmlformats.org/drawingml/2006/main" xmlns:r="http://schemas.openxmlformats.org/officeDocument/2006/relationships" xmlns:p="http://schemas.openxmlformats.org/presentationml/2006/main">
  <p:tag name="TIMING" val="|0.8|32.7"/>
</p:tagLst>
</file>

<file path=ppt/tags/tag36.xml><?xml version="1.0" encoding="utf-8"?>
<p:tagLst xmlns:a="http://schemas.openxmlformats.org/drawingml/2006/main" xmlns:r="http://schemas.openxmlformats.org/officeDocument/2006/relationships" xmlns:p="http://schemas.openxmlformats.org/presentationml/2006/main">
  <p:tag name="TIMING" val="|0.6|3.8|7.4|9|7.3|11.7"/>
</p:tagLst>
</file>

<file path=ppt/tags/tag37.xml><?xml version="1.0" encoding="utf-8"?>
<p:tagLst xmlns:a="http://schemas.openxmlformats.org/drawingml/2006/main" xmlns:r="http://schemas.openxmlformats.org/officeDocument/2006/relationships" xmlns:p="http://schemas.openxmlformats.org/presentationml/2006/main">
  <p:tag name="TIMING" val="|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2204</TotalTime>
  <Words>2072</Words>
  <Application>Microsoft Office PowerPoint</Application>
  <PresentationFormat>On-screen Show (4:3)</PresentationFormat>
  <Paragraphs>225</Paragraphs>
  <Slides>38</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Calibri</vt:lpstr>
      <vt:lpstr>Century Gothic</vt:lpstr>
      <vt:lpstr>Century Schoolbook</vt:lpstr>
      <vt:lpstr>Garamond</vt:lpstr>
      <vt:lpstr>Tahoma</vt:lpstr>
      <vt:lpstr>Times New Roman</vt:lpstr>
      <vt:lpstr>Wingdings</vt:lpstr>
      <vt:lpstr>Wingdings 2</vt:lpstr>
      <vt:lpstr>Parallax</vt:lpstr>
      <vt:lpstr>Environmental hazards</vt:lpstr>
      <vt:lpstr>What are Hazards and Disasters ?</vt:lpstr>
      <vt:lpstr>Types of  Hazards </vt:lpstr>
      <vt:lpstr>Climatological / Atmospheric Hazards: </vt:lpstr>
      <vt:lpstr>PowerPoint Presentation</vt:lpstr>
      <vt:lpstr>Industrial Hazards </vt:lpstr>
      <vt:lpstr>Natural Hazards Affecting  Bangladesh</vt:lpstr>
      <vt:lpstr>Cyclone</vt:lpstr>
      <vt:lpstr>Different names of cyclone over the world</vt:lpstr>
      <vt:lpstr>PowerPoint Presentation</vt:lpstr>
      <vt:lpstr>Formation of cyclone </vt:lpstr>
      <vt:lpstr>                                                  Cyclone </vt:lpstr>
      <vt:lpstr>Tornado</vt:lpstr>
      <vt:lpstr>PowerPoint Presentation</vt:lpstr>
      <vt:lpstr>Cyclone Vs Tornado</vt:lpstr>
      <vt:lpstr>Impact of cyclone and tornado </vt:lpstr>
      <vt:lpstr>PowerPoint Presentation</vt:lpstr>
      <vt:lpstr>PowerPoint Presentation</vt:lpstr>
      <vt:lpstr>Flood</vt:lpstr>
      <vt:lpstr>Principal types of flood</vt:lpstr>
      <vt:lpstr>PowerPoint Presentation</vt:lpstr>
      <vt:lpstr>PowerPoint Presentation</vt:lpstr>
      <vt:lpstr>     3.  Urban Floods  In most of the urban area, roads are usually paved. With heavy rain, the large amount of rain water cannot be absorbed into the ground and leads to urban floods. </vt:lpstr>
      <vt:lpstr>Effects of flood</vt:lpstr>
      <vt:lpstr>Causes of flood in Bangladesh</vt:lpstr>
      <vt:lpstr>PowerPoint Presentation</vt:lpstr>
      <vt:lpstr>Drought</vt:lpstr>
      <vt:lpstr>Types of Drought </vt:lpstr>
      <vt:lpstr>PowerPoint Presentation</vt:lpstr>
      <vt:lpstr>Effects of Drought</vt:lpstr>
      <vt:lpstr>Earthquake</vt:lpstr>
      <vt:lpstr>Some basic terminology</vt:lpstr>
      <vt:lpstr>Some basic terminology</vt:lpstr>
      <vt:lpstr>Where Do Earthquakes Occur and How Often?</vt:lpstr>
      <vt:lpstr>Effects of earthquakes</vt:lpstr>
      <vt:lpstr>Continued..</vt:lpstr>
      <vt:lpstr>Strength of earthquake and possible effects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Moushumi Zahur</cp:lastModifiedBy>
  <cp:revision>120</cp:revision>
  <dcterms:created xsi:type="dcterms:W3CDTF">2020-07-14T14:58:22Z</dcterms:created>
  <dcterms:modified xsi:type="dcterms:W3CDTF">2022-03-07T04:56:45Z</dcterms:modified>
</cp:coreProperties>
</file>