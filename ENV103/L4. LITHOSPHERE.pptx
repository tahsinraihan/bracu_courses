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notesMasterIdLst>
    <p:notesMasterId r:id="rId18"/>
  </p:notesMasterIdLst>
  <p:sldIdLst>
    <p:sldId id="276" r:id="rId2"/>
    <p:sldId id="308" r:id="rId3"/>
    <p:sldId id="309" r:id="rId4"/>
    <p:sldId id="292" r:id="rId5"/>
    <p:sldId id="281" r:id="rId6"/>
    <p:sldId id="301" r:id="rId7"/>
    <p:sldId id="295" r:id="rId8"/>
    <p:sldId id="310" r:id="rId9"/>
    <p:sldId id="297" r:id="rId10"/>
    <p:sldId id="282" r:id="rId11"/>
    <p:sldId id="305" r:id="rId12"/>
    <p:sldId id="307" r:id="rId13"/>
    <p:sldId id="279" r:id="rId14"/>
    <p:sldId id="258" r:id="rId15"/>
    <p:sldId id="311" r:id="rId16"/>
    <p:sldId id="274" r:id="rId1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800000"/>
    <a:srgbClr val="FF9900"/>
    <a:srgbClr val="003300"/>
    <a:srgbClr val="333300"/>
    <a:srgbClr val="000066"/>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9D7E1B-E340-44D7-BF23-52818A0A58B6}"/>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7AF2D495-3345-49AD-A279-06612F5E6E6D}"/>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C2201DF2-766C-4EFB-A8D1-661B664F7B40}" type="datetimeFigureOut">
              <a:rPr lang="en-US"/>
              <a:pPr>
                <a:defRPr/>
              </a:pPr>
              <a:t>7/11/2020</a:t>
            </a:fld>
            <a:endParaRPr lang="en-US"/>
          </a:p>
        </p:txBody>
      </p:sp>
      <p:sp>
        <p:nvSpPr>
          <p:cNvPr id="4" name="Slide Image Placeholder 3">
            <a:extLst>
              <a:ext uri="{FF2B5EF4-FFF2-40B4-BE49-F238E27FC236}">
                <a16:creationId xmlns:a16="http://schemas.microsoft.com/office/drawing/2014/main" id="{D49B5DCE-2F70-43E2-9E23-679069582EFB}"/>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3AF47123-55EA-44E1-AA5E-0E24BD6A22DD}"/>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B825A681-9DEF-46F2-9660-103297E5945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5C1470E4-3983-4264-8388-3015E78B141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1E67D3D8-4A59-4B05-9448-70676CC6990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1B4608C7-7611-4F0C-AC3E-5E1F2CE5EF42}"/>
              </a:ext>
            </a:extLst>
          </p:cNvPr>
          <p:cNvSpPr>
            <a:spLocks noGrp="1" noRot="1" noChangeAspect="1" noTextEdit="1"/>
          </p:cNvSpPr>
          <p:nvPr>
            <p:ph type="sldImg"/>
          </p:nvPr>
        </p:nvSpPr>
        <p:spPr bwMode="auto">
          <a:xfrm>
            <a:off x="1152525" y="692150"/>
            <a:ext cx="4552950" cy="3416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FBEA4EE7-E64C-4009-89F4-CA4CA977EE7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82DFB3A-68FB-453A-8301-B71EE64FB63C}"/>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1F292DE6-0834-4B84-8883-8CC2A5CCD30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E7E64F5-1A43-4CEB-AFD8-B350E13A4222}"/>
              </a:ext>
            </a:extLst>
          </p:cNvPr>
          <p:cNvSpPr>
            <a:spLocks noGrp="1"/>
          </p:cNvSpPr>
          <p:nvPr>
            <p:ph type="sldNum" sz="quarter" idx="12"/>
          </p:nvPr>
        </p:nvSpPr>
        <p:spPr/>
        <p:txBody>
          <a:bodyPr/>
          <a:lstStyle>
            <a:lvl1pPr>
              <a:defRPr/>
            </a:lvl1pPr>
          </a:lstStyle>
          <a:p>
            <a:pPr>
              <a:defRPr/>
            </a:pPr>
            <a:fld id="{CD0E723E-344B-431D-892D-3640B14BBD87}" type="slidenum">
              <a:rPr lang="en-US" altLang="en-US"/>
              <a:pPr>
                <a:defRPr/>
              </a:pPr>
              <a:t>‹#›</a:t>
            </a:fld>
            <a:endParaRPr lang="en-US" altLang="en-US"/>
          </a:p>
        </p:txBody>
      </p:sp>
    </p:spTree>
    <p:extLst>
      <p:ext uri="{BB962C8B-B14F-4D97-AF65-F5344CB8AC3E}">
        <p14:creationId xmlns:p14="http://schemas.microsoft.com/office/powerpoint/2010/main" val="4188831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0AC02D-EFCA-40C8-99BE-A226D5D2B8D4}"/>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D008EBC-674C-4A28-BF8E-FE35C6BB7F4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352D13D-1119-4988-83EC-36118DDC0488}"/>
              </a:ext>
            </a:extLst>
          </p:cNvPr>
          <p:cNvSpPr>
            <a:spLocks noGrp="1"/>
          </p:cNvSpPr>
          <p:nvPr>
            <p:ph type="sldNum" sz="quarter" idx="12"/>
          </p:nvPr>
        </p:nvSpPr>
        <p:spPr/>
        <p:txBody>
          <a:bodyPr/>
          <a:lstStyle>
            <a:lvl1pPr>
              <a:defRPr/>
            </a:lvl1pPr>
          </a:lstStyle>
          <a:p>
            <a:pPr>
              <a:defRPr/>
            </a:pPr>
            <a:fld id="{887B2A74-F833-440D-95B6-0CCDB3DDF621}" type="slidenum">
              <a:rPr lang="en-US" altLang="en-US"/>
              <a:pPr>
                <a:defRPr/>
              </a:pPr>
              <a:t>‹#›</a:t>
            </a:fld>
            <a:endParaRPr lang="en-US" altLang="en-US"/>
          </a:p>
        </p:txBody>
      </p:sp>
    </p:spTree>
    <p:extLst>
      <p:ext uri="{BB962C8B-B14F-4D97-AF65-F5344CB8AC3E}">
        <p14:creationId xmlns:p14="http://schemas.microsoft.com/office/powerpoint/2010/main" val="2638196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C57217-B7E0-465F-AD67-E1718D3B3C2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FC7B7D6B-C286-4888-897E-028A7015709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56EE165-9432-4C72-9BC0-562D2FAE1EC0}"/>
              </a:ext>
            </a:extLst>
          </p:cNvPr>
          <p:cNvSpPr>
            <a:spLocks noGrp="1"/>
          </p:cNvSpPr>
          <p:nvPr>
            <p:ph type="sldNum" sz="quarter" idx="12"/>
          </p:nvPr>
        </p:nvSpPr>
        <p:spPr/>
        <p:txBody>
          <a:bodyPr/>
          <a:lstStyle>
            <a:lvl1pPr>
              <a:defRPr/>
            </a:lvl1pPr>
          </a:lstStyle>
          <a:p>
            <a:pPr>
              <a:defRPr/>
            </a:pPr>
            <a:fld id="{373FFAD5-4CAB-458A-B3E6-D89822BE300D}" type="slidenum">
              <a:rPr lang="en-US" altLang="en-US"/>
              <a:pPr>
                <a:defRPr/>
              </a:pPr>
              <a:t>‹#›</a:t>
            </a:fld>
            <a:endParaRPr lang="en-US" altLang="en-US"/>
          </a:p>
        </p:txBody>
      </p:sp>
    </p:spTree>
    <p:extLst>
      <p:ext uri="{BB962C8B-B14F-4D97-AF65-F5344CB8AC3E}">
        <p14:creationId xmlns:p14="http://schemas.microsoft.com/office/powerpoint/2010/main" val="3088095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A930D9EB-89CB-4BBF-94AC-C2AA6695652B}"/>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44883378-8F80-424B-B121-BA088FBE459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86D4487-72C5-40EC-A012-24326EA8174C}"/>
              </a:ext>
            </a:extLst>
          </p:cNvPr>
          <p:cNvSpPr>
            <a:spLocks noGrp="1"/>
          </p:cNvSpPr>
          <p:nvPr>
            <p:ph type="sldNum" sz="quarter" idx="12"/>
          </p:nvPr>
        </p:nvSpPr>
        <p:spPr/>
        <p:txBody>
          <a:bodyPr/>
          <a:lstStyle>
            <a:lvl1pPr>
              <a:defRPr/>
            </a:lvl1pPr>
          </a:lstStyle>
          <a:p>
            <a:pPr>
              <a:defRPr/>
            </a:pPr>
            <a:fld id="{41A0FC20-D1B7-4410-90AA-5CCB35450C3B}" type="slidenum">
              <a:rPr lang="en-US" altLang="en-US"/>
              <a:pPr>
                <a:defRPr/>
              </a:pPr>
              <a:t>‹#›</a:t>
            </a:fld>
            <a:endParaRPr lang="en-US" altLang="en-US"/>
          </a:p>
        </p:txBody>
      </p:sp>
    </p:spTree>
    <p:extLst>
      <p:ext uri="{BB962C8B-B14F-4D97-AF65-F5344CB8AC3E}">
        <p14:creationId xmlns:p14="http://schemas.microsoft.com/office/powerpoint/2010/main" val="1569408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E5FA7A95-202E-4A13-8F8A-E030E0B656BD}"/>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CF6D0396-0CE8-4CDE-A265-31230258EE51}"/>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A32E5760-AFDD-4BE0-A1C9-B08C2094F0A8}"/>
              </a:ext>
            </a:extLst>
          </p:cNvPr>
          <p:cNvSpPr>
            <a:spLocks noGrp="1"/>
          </p:cNvSpPr>
          <p:nvPr>
            <p:ph type="sldNum" sz="quarter" idx="12"/>
          </p:nvPr>
        </p:nvSpPr>
        <p:spPr/>
        <p:txBody>
          <a:bodyPr/>
          <a:lstStyle>
            <a:lvl1pPr>
              <a:defRPr/>
            </a:lvl1pPr>
          </a:lstStyle>
          <a:p>
            <a:pPr>
              <a:defRPr/>
            </a:pPr>
            <a:fld id="{2A253EB9-67DA-4A19-85F1-03E49C371BD5}" type="slidenum">
              <a:rPr lang="en-US" altLang="en-US"/>
              <a:pPr>
                <a:defRPr/>
              </a:pPr>
              <a:t>‹#›</a:t>
            </a:fld>
            <a:endParaRPr lang="en-US" altLang="en-US"/>
          </a:p>
        </p:txBody>
      </p:sp>
    </p:spTree>
    <p:extLst>
      <p:ext uri="{BB962C8B-B14F-4D97-AF65-F5344CB8AC3E}">
        <p14:creationId xmlns:p14="http://schemas.microsoft.com/office/powerpoint/2010/main" val="1563274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13DB5936-D762-4B83-BA89-CA002737745F}"/>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8E305D14-F113-4AA4-ACB7-8E72BFB0ACA9}"/>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95590AEA-21F6-466A-A940-35AE88316FF7}"/>
              </a:ext>
            </a:extLst>
          </p:cNvPr>
          <p:cNvSpPr>
            <a:spLocks noGrp="1"/>
          </p:cNvSpPr>
          <p:nvPr>
            <p:ph type="sldNum" sz="quarter" idx="12"/>
          </p:nvPr>
        </p:nvSpPr>
        <p:spPr/>
        <p:txBody>
          <a:bodyPr/>
          <a:lstStyle>
            <a:lvl1pPr>
              <a:defRPr/>
            </a:lvl1pPr>
          </a:lstStyle>
          <a:p>
            <a:pPr>
              <a:defRPr/>
            </a:pPr>
            <a:fld id="{BF547041-DD88-4832-BD7F-EFC664AD0783}" type="slidenum">
              <a:rPr lang="en-US" altLang="en-US"/>
              <a:pPr>
                <a:defRPr/>
              </a:pPr>
              <a:t>‹#›</a:t>
            </a:fld>
            <a:endParaRPr lang="en-US" altLang="en-US"/>
          </a:p>
        </p:txBody>
      </p:sp>
    </p:spTree>
    <p:extLst>
      <p:ext uri="{BB962C8B-B14F-4D97-AF65-F5344CB8AC3E}">
        <p14:creationId xmlns:p14="http://schemas.microsoft.com/office/powerpoint/2010/main" val="800000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85C9411-0E3F-4A90-B92F-3C1E75022EE1}"/>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A8FED630-9320-4267-8A4A-1279E2987116}"/>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5346A0A3-1FEC-45AA-995D-0193BFA49088}"/>
              </a:ext>
            </a:extLst>
          </p:cNvPr>
          <p:cNvSpPr>
            <a:spLocks noGrp="1"/>
          </p:cNvSpPr>
          <p:nvPr>
            <p:ph type="sldNum" sz="quarter" idx="12"/>
          </p:nvPr>
        </p:nvSpPr>
        <p:spPr/>
        <p:txBody>
          <a:bodyPr/>
          <a:lstStyle>
            <a:lvl1pPr>
              <a:defRPr/>
            </a:lvl1pPr>
          </a:lstStyle>
          <a:p>
            <a:pPr>
              <a:defRPr/>
            </a:pPr>
            <a:fld id="{7F8E5DF5-A9B9-44A0-975B-997D92019BF2}" type="slidenum">
              <a:rPr lang="en-US" altLang="en-US"/>
              <a:pPr>
                <a:defRPr/>
              </a:pPr>
              <a:t>‹#›</a:t>
            </a:fld>
            <a:endParaRPr lang="en-US" altLang="en-US"/>
          </a:p>
        </p:txBody>
      </p:sp>
    </p:spTree>
    <p:extLst>
      <p:ext uri="{BB962C8B-B14F-4D97-AF65-F5344CB8AC3E}">
        <p14:creationId xmlns:p14="http://schemas.microsoft.com/office/powerpoint/2010/main" val="4160366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7EA1A05-6941-42F2-B042-189C24E58984}"/>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BB86DC36-A7C8-4196-BC5D-B454056AA11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AC8F868-B2AF-4DCC-991F-400D2A7A315E}"/>
              </a:ext>
            </a:extLst>
          </p:cNvPr>
          <p:cNvSpPr>
            <a:spLocks noGrp="1"/>
          </p:cNvSpPr>
          <p:nvPr>
            <p:ph type="sldNum" sz="quarter" idx="12"/>
          </p:nvPr>
        </p:nvSpPr>
        <p:spPr/>
        <p:txBody>
          <a:bodyPr/>
          <a:lstStyle>
            <a:lvl1pPr>
              <a:defRPr/>
            </a:lvl1pPr>
          </a:lstStyle>
          <a:p>
            <a:pPr>
              <a:defRPr/>
            </a:pPr>
            <a:fld id="{E7336221-8045-4B95-9824-2417D921392B}" type="slidenum">
              <a:rPr lang="en-US" altLang="en-US"/>
              <a:pPr>
                <a:defRPr/>
              </a:pPr>
              <a:t>‹#›</a:t>
            </a:fld>
            <a:endParaRPr lang="en-US" altLang="en-US"/>
          </a:p>
        </p:txBody>
      </p:sp>
    </p:spTree>
    <p:extLst>
      <p:ext uri="{BB962C8B-B14F-4D97-AF65-F5344CB8AC3E}">
        <p14:creationId xmlns:p14="http://schemas.microsoft.com/office/powerpoint/2010/main" val="1418358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AE22D4CC-5F43-4C22-ABA9-5103B5DF945C}"/>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95BB134E-739F-4D60-9A25-70C086C9163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D2F571E-A6F8-40BD-970C-49F1AC848A23}"/>
              </a:ext>
            </a:extLst>
          </p:cNvPr>
          <p:cNvSpPr>
            <a:spLocks noGrp="1"/>
          </p:cNvSpPr>
          <p:nvPr>
            <p:ph type="sldNum" sz="quarter" idx="12"/>
          </p:nvPr>
        </p:nvSpPr>
        <p:spPr/>
        <p:txBody>
          <a:bodyPr/>
          <a:lstStyle>
            <a:lvl1pPr>
              <a:defRPr/>
            </a:lvl1pPr>
          </a:lstStyle>
          <a:p>
            <a:pPr>
              <a:defRPr/>
            </a:pPr>
            <a:fld id="{805F4EE3-80D4-402A-9D11-30892F391131}" type="slidenum">
              <a:rPr lang="en-US" altLang="en-US"/>
              <a:pPr>
                <a:defRPr/>
              </a:pPr>
              <a:t>‹#›</a:t>
            </a:fld>
            <a:endParaRPr lang="en-US" altLang="en-US"/>
          </a:p>
        </p:txBody>
      </p:sp>
    </p:spTree>
    <p:extLst>
      <p:ext uri="{BB962C8B-B14F-4D97-AF65-F5344CB8AC3E}">
        <p14:creationId xmlns:p14="http://schemas.microsoft.com/office/powerpoint/2010/main" val="1960352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D7B0B-7084-4AEA-98C4-B84473CF0C62}"/>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937686DF-8AF7-4942-9C06-D3D4BEA8E73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95AB863-3935-4575-B46A-3A9A67C1BCDF}"/>
              </a:ext>
            </a:extLst>
          </p:cNvPr>
          <p:cNvSpPr>
            <a:spLocks noGrp="1"/>
          </p:cNvSpPr>
          <p:nvPr>
            <p:ph type="sldNum" sz="quarter" idx="12"/>
          </p:nvPr>
        </p:nvSpPr>
        <p:spPr/>
        <p:txBody>
          <a:bodyPr/>
          <a:lstStyle>
            <a:lvl1pPr>
              <a:defRPr/>
            </a:lvl1pPr>
          </a:lstStyle>
          <a:p>
            <a:pPr>
              <a:defRPr/>
            </a:pPr>
            <a:fld id="{CE6F9A8D-3208-4F3B-B4AD-58A6BFD323BA}" type="slidenum">
              <a:rPr lang="en-US" altLang="en-US"/>
              <a:pPr>
                <a:defRPr/>
              </a:pPr>
              <a:t>‹#›</a:t>
            </a:fld>
            <a:endParaRPr lang="en-US" altLang="en-US"/>
          </a:p>
        </p:txBody>
      </p:sp>
    </p:spTree>
    <p:extLst>
      <p:ext uri="{BB962C8B-B14F-4D97-AF65-F5344CB8AC3E}">
        <p14:creationId xmlns:p14="http://schemas.microsoft.com/office/powerpoint/2010/main" val="510536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DBD5A7-5FDE-4861-ACCB-1A0F6962F1EB}"/>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0B6D4F9F-6307-4FFE-BE54-0E8466039AB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75D171E-DEB2-40B3-BDD5-A7BA0C67D618}"/>
              </a:ext>
            </a:extLst>
          </p:cNvPr>
          <p:cNvSpPr>
            <a:spLocks noGrp="1"/>
          </p:cNvSpPr>
          <p:nvPr>
            <p:ph type="sldNum" sz="quarter" idx="12"/>
          </p:nvPr>
        </p:nvSpPr>
        <p:spPr/>
        <p:txBody>
          <a:bodyPr/>
          <a:lstStyle>
            <a:lvl1pPr>
              <a:defRPr/>
            </a:lvl1pPr>
          </a:lstStyle>
          <a:p>
            <a:pPr>
              <a:defRPr/>
            </a:pPr>
            <a:fld id="{B6602DE1-4812-462D-B859-132984892679}" type="slidenum">
              <a:rPr lang="en-US" altLang="en-US"/>
              <a:pPr>
                <a:defRPr/>
              </a:pPr>
              <a:t>‹#›</a:t>
            </a:fld>
            <a:endParaRPr lang="en-US" altLang="en-US"/>
          </a:p>
        </p:txBody>
      </p:sp>
    </p:spTree>
    <p:extLst>
      <p:ext uri="{BB962C8B-B14F-4D97-AF65-F5344CB8AC3E}">
        <p14:creationId xmlns:p14="http://schemas.microsoft.com/office/powerpoint/2010/main" val="3995400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CCD8E7"/>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5176E9B-6A8F-479B-8BD6-A21B09BCFE4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649F26B-2F10-49F4-972D-4038954DF694}"/>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97FBAAB-BDEA-4E7C-8F10-03325D0E470E}"/>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4AD26951-E5C8-4186-8EDA-794AC52FCBE5}"/>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4A2A47F2-8A0A-4AFC-8621-F7C6851DFE72}"/>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smtClean="0">
                <a:solidFill>
                  <a:srgbClr val="898989"/>
                </a:solidFill>
              </a:defRPr>
            </a:lvl1pPr>
          </a:lstStyle>
          <a:p>
            <a:pPr>
              <a:defRPr/>
            </a:pPr>
            <a:fld id="{75D611B0-1F9E-4D76-9EBF-C50495A8308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a:extLst>
              <a:ext uri="{FF2B5EF4-FFF2-40B4-BE49-F238E27FC236}">
                <a16:creationId xmlns:a16="http://schemas.microsoft.com/office/drawing/2014/main" id="{A2B020D5-BD71-4602-B4BF-31C47F459F3B}"/>
              </a:ext>
            </a:extLst>
          </p:cNvPr>
          <p:cNvSpPr>
            <a:spLocks noGrp="1"/>
          </p:cNvSpPr>
          <p:nvPr>
            <p:ph idx="1"/>
          </p:nvPr>
        </p:nvSpPr>
        <p:spPr>
          <a:xfrm>
            <a:off x="609600" y="685800"/>
            <a:ext cx="8229600" cy="5257800"/>
          </a:xfrm>
        </p:spPr>
        <p:txBody>
          <a:bodyPr/>
          <a:lstStyle/>
          <a:p>
            <a:pPr algn="ctr" eaLnBrk="1" hangingPunct="1"/>
            <a:endParaRPr lang="en-US" altLang="en-US"/>
          </a:p>
          <a:p>
            <a:pPr algn="ctr" eaLnBrk="1" hangingPunct="1"/>
            <a:endParaRPr lang="en-US" altLang="en-US"/>
          </a:p>
          <a:p>
            <a:pPr algn="ctr" eaLnBrk="1" hangingPunct="1"/>
            <a:endParaRPr lang="en-US" altLang="en-US"/>
          </a:p>
          <a:p>
            <a:pPr algn="ctr" eaLnBrk="1" hangingPunct="1">
              <a:buFont typeface="Wingdings" panose="05000000000000000000" pitchFamily="2" charset="2"/>
              <a:buNone/>
            </a:pPr>
            <a:r>
              <a:rPr lang="en-US" altLang="en-US" sz="6000" b="1">
                <a:solidFill>
                  <a:srgbClr val="800000"/>
                </a:solidFill>
                <a:latin typeface="Garamond" panose="02020404030301010803" pitchFamily="18" charset="0"/>
              </a:rPr>
              <a:t>Lithosphere</a:t>
            </a:r>
          </a:p>
        </p:txBody>
      </p:sp>
    </p:spTree>
  </p:cSld>
  <p:clrMapOvr>
    <a:masterClrMapping/>
  </p:clrMapOvr>
  <p:transition spd="slow" advTm="14404"/>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1D8C-4E37-4A54-8013-8DD6F82A3696}"/>
              </a:ext>
            </a:extLst>
          </p:cNvPr>
          <p:cNvSpPr>
            <a:spLocks noGrp="1"/>
          </p:cNvSpPr>
          <p:nvPr>
            <p:ph type="title"/>
          </p:nvPr>
        </p:nvSpPr>
        <p:spPr>
          <a:xfrm>
            <a:off x="457200" y="38100"/>
            <a:ext cx="8229600" cy="1143000"/>
          </a:xfrm>
        </p:spPr>
        <p:txBody>
          <a:bodyPr/>
          <a:lstStyle/>
          <a:p>
            <a:r>
              <a:rPr lang="en-US" altLang="en-US"/>
              <a:t>Overview of the Lecture</a:t>
            </a:r>
          </a:p>
        </p:txBody>
      </p:sp>
      <p:sp>
        <p:nvSpPr>
          <p:cNvPr id="3" name="Content Placeholder 2">
            <a:extLst>
              <a:ext uri="{FF2B5EF4-FFF2-40B4-BE49-F238E27FC236}">
                <a16:creationId xmlns:a16="http://schemas.microsoft.com/office/drawing/2014/main" id="{D531D5DE-DF10-4ADB-83BE-79A06D2971E7}"/>
              </a:ext>
            </a:extLst>
          </p:cNvPr>
          <p:cNvSpPr>
            <a:spLocks noGrp="1"/>
          </p:cNvSpPr>
          <p:nvPr>
            <p:ph idx="1"/>
          </p:nvPr>
        </p:nvSpPr>
        <p:spPr>
          <a:xfrm>
            <a:off x="457200" y="1165225"/>
            <a:ext cx="8229600" cy="5083175"/>
          </a:xfrm>
        </p:spPr>
        <p:txBody>
          <a:bodyPr/>
          <a:lstStyle/>
          <a:p>
            <a:pPr>
              <a:defRPr/>
            </a:pPr>
            <a:r>
              <a:rPr lang="en-US" dirty="0"/>
              <a:t>Size and shape of the Earth</a:t>
            </a:r>
          </a:p>
          <a:p>
            <a:pPr>
              <a:defRPr/>
            </a:pPr>
            <a:r>
              <a:rPr lang="en-US" dirty="0"/>
              <a:t>Earths structure</a:t>
            </a:r>
          </a:p>
          <a:p>
            <a:pPr lvl="1">
              <a:defRPr/>
            </a:pPr>
            <a:r>
              <a:rPr lang="en-US" dirty="0"/>
              <a:t>Core</a:t>
            </a:r>
          </a:p>
          <a:p>
            <a:pPr lvl="1">
              <a:defRPr/>
            </a:pPr>
            <a:r>
              <a:rPr lang="en-US" dirty="0"/>
              <a:t>Mantle</a:t>
            </a:r>
          </a:p>
          <a:p>
            <a:pPr lvl="1">
              <a:defRPr/>
            </a:pPr>
            <a:r>
              <a:rPr lang="en-US" dirty="0"/>
              <a:t>Crust</a:t>
            </a:r>
          </a:p>
          <a:p>
            <a:pPr marL="285750" lvl="1">
              <a:buFont typeface="Arial" panose="020B0604020202020204" pitchFamily="34" charset="0"/>
              <a:buChar char="•"/>
              <a:defRPr/>
            </a:pPr>
            <a:r>
              <a:rPr lang="en-US" dirty="0"/>
              <a:t>Composition of Earths Crust</a:t>
            </a:r>
          </a:p>
          <a:p>
            <a:pPr>
              <a:defRPr/>
            </a:pPr>
            <a:r>
              <a:rPr lang="en-US" dirty="0"/>
              <a:t>Plates</a:t>
            </a:r>
          </a:p>
          <a:p>
            <a:pPr>
              <a:defRPr/>
            </a:pPr>
            <a:r>
              <a:rPr lang="en-US" dirty="0"/>
              <a:t>Plate Boundaries</a:t>
            </a:r>
          </a:p>
          <a:p>
            <a:pPr>
              <a:defRPr/>
            </a:pPr>
            <a:r>
              <a:rPr lang="en-US" dirty="0"/>
              <a:t>Biosphere</a:t>
            </a:r>
          </a:p>
          <a:p>
            <a:pPr>
              <a:defRPr/>
            </a:pPr>
            <a:endParaRPr lang="en-US" dirty="0"/>
          </a:p>
        </p:txBody>
      </p:sp>
    </p:spTree>
    <p:custDataLst>
      <p:tags r:id="rId1"/>
    </p:custDataLst>
  </p:cSld>
  <p:clrMapOvr>
    <a:masterClrMapping/>
  </p:clrMapOvr>
  <p:transition spd="slow" advTm="32813"/>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additive="base">
                                        <p:cTn id="2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3" end="3"/>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 calcmode="lin" valueType="num">
                                      <p:cBhvr additive="base">
                                        <p:cTn id="3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 calcmode="lin" valueType="num">
                                      <p:cBhvr additive="base">
                                        <p:cTn id="3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 calcmode="lin" valueType="num">
                                      <p:cBhvr additive="base">
                                        <p:cTn id="4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nodeType="click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 calcmode="lin" valueType="num">
                                      <p:cBhvr additive="base">
                                        <p:cTn id="5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2" presetClass="entr" presetSubtype="4"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 calcmode="lin" valueType="num">
                                      <p:cBhvr additive="base">
                                        <p:cTn id="56"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BB4D9B1D-E799-48FF-81A9-150AC1B42B92}"/>
              </a:ext>
            </a:extLst>
          </p:cNvPr>
          <p:cNvSpPr>
            <a:spLocks noGrp="1"/>
          </p:cNvSpPr>
          <p:nvPr>
            <p:ph type="title"/>
          </p:nvPr>
        </p:nvSpPr>
        <p:spPr/>
        <p:txBody>
          <a:bodyPr/>
          <a:lstStyle/>
          <a:p>
            <a:r>
              <a:rPr lang="en-US" altLang="en-US" dirty="0"/>
              <a:t>Size and Shape of the Earth</a:t>
            </a:r>
          </a:p>
        </p:txBody>
      </p:sp>
      <p:pic>
        <p:nvPicPr>
          <p:cNvPr id="30722" name="Picture 2">
            <a:extLst>
              <a:ext uri="{FF2B5EF4-FFF2-40B4-BE49-F238E27FC236}">
                <a16:creationId xmlns:a16="http://schemas.microsoft.com/office/drawing/2014/main" id="{F5017D40-C108-45E9-8707-1C866453A421}"/>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646113" y="1597025"/>
            <a:ext cx="3117850" cy="2259013"/>
          </a:xfrm>
          <a:noFill/>
        </p:spPr>
      </p:pic>
      <p:sp>
        <p:nvSpPr>
          <p:cNvPr id="5" name="Content Placeholder 4">
            <a:extLst>
              <a:ext uri="{FF2B5EF4-FFF2-40B4-BE49-F238E27FC236}">
                <a16:creationId xmlns:a16="http://schemas.microsoft.com/office/drawing/2014/main" id="{F2531DAB-0B29-47E3-9B8D-39B40898AA5C}"/>
              </a:ext>
            </a:extLst>
          </p:cNvPr>
          <p:cNvSpPr>
            <a:spLocks noGrp="1"/>
          </p:cNvSpPr>
          <p:nvPr>
            <p:ph sz="half" idx="2"/>
          </p:nvPr>
        </p:nvSpPr>
        <p:spPr>
          <a:xfrm>
            <a:off x="3886200" y="1625600"/>
            <a:ext cx="4419600" cy="4525963"/>
          </a:xfrm>
        </p:spPr>
        <p:txBody>
          <a:bodyPr/>
          <a:lstStyle/>
          <a:p>
            <a:r>
              <a:rPr lang="en-US" altLang="en-US"/>
              <a:t>The Earth has a surface area of  510 million km</a:t>
            </a:r>
            <a:r>
              <a:rPr lang="en-US" altLang="en-US" baseline="30000"/>
              <a:t>2</a:t>
            </a:r>
          </a:p>
          <a:p>
            <a:r>
              <a:rPr lang="en-US" altLang="en-US"/>
              <a:t>It is an oblate spheroid</a:t>
            </a:r>
          </a:p>
          <a:p>
            <a:r>
              <a:rPr lang="en-US" altLang="en-US"/>
              <a:t>The study of the shape of the earth is called Geodesy</a:t>
            </a:r>
          </a:p>
          <a:p>
            <a:r>
              <a:rPr lang="en-US" altLang="en-US"/>
              <a:t>Modern geodesic survey is greatly assisted by developments in remote sensing</a:t>
            </a:r>
          </a:p>
        </p:txBody>
      </p:sp>
      <p:pic>
        <p:nvPicPr>
          <p:cNvPr id="30724" name="Picture 4">
            <a:extLst>
              <a:ext uri="{FF2B5EF4-FFF2-40B4-BE49-F238E27FC236}">
                <a16:creationId xmlns:a16="http://schemas.microsoft.com/office/drawing/2014/main" id="{1DE8EF4C-0648-41AA-9CCB-EAA2FF2A64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338" y="4035425"/>
            <a:ext cx="2925762"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slow" advTm="81976"/>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circle(in)">
                                      <p:cBhvr>
                                        <p:cTn id="7" dur="2000"/>
                                        <p:tgtEl>
                                          <p:spTgt spid="30722"/>
                                        </p:tgtEl>
                                      </p:cBhvr>
                                    </p:animEffect>
                                  </p:childTnLst>
                                </p:cTn>
                              </p:par>
                              <p:par>
                                <p:cTn id="8" presetID="6" presetClass="entr" presetSubtype="16" fill="hold" nodeType="withEffect">
                                  <p:stCondLst>
                                    <p:cond delay="0"/>
                                  </p:stCondLst>
                                  <p:childTnLst>
                                    <p:set>
                                      <p:cBhvr>
                                        <p:cTn id="9" dur="1" fill="hold">
                                          <p:stCondLst>
                                            <p:cond delay="0"/>
                                          </p:stCondLst>
                                        </p:cTn>
                                        <p:tgtEl>
                                          <p:spTgt spid="30724"/>
                                        </p:tgtEl>
                                        <p:attrNameLst>
                                          <p:attrName>style.visibility</p:attrName>
                                        </p:attrNameLst>
                                      </p:cBhvr>
                                      <p:to>
                                        <p:strVal val="visible"/>
                                      </p:to>
                                    </p:set>
                                    <p:animEffect transition="in" filter="circle(in)">
                                      <p:cBhvr>
                                        <p:cTn id="10" dur="2000"/>
                                        <p:tgtEl>
                                          <p:spTgt spid="3072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6" presetClass="emph" presetSubtype="0" fill="hold" nodeType="clickEffect">
                                  <p:stCondLst>
                                    <p:cond delay="0"/>
                                  </p:stCondLst>
                                  <p:childTnLst>
                                    <p:animEffect transition="out" filter="fade">
                                      <p:cBhvr>
                                        <p:cTn id="14" dur="500" tmFilter="0, 0; .2, .5; .8, .5; 1, 0"/>
                                        <p:tgtEl>
                                          <p:spTgt spid="5">
                                            <p:txEl>
                                              <p:pRg st="0" end="0"/>
                                            </p:txEl>
                                          </p:spTgt>
                                        </p:tgtEl>
                                      </p:cBhvr>
                                    </p:animEffect>
                                    <p:animScale>
                                      <p:cBhvr>
                                        <p:cTn id="15" dur="250" autoRev="1" fill="hold"/>
                                        <p:tgtEl>
                                          <p:spTgt spid="5">
                                            <p:txEl>
                                              <p:pRg st="0" end="0"/>
                                            </p:txEl>
                                          </p:spTgt>
                                        </p:tgtEl>
                                      </p:cBhvr>
                                      <p:by x="105000" y="105000"/>
                                    </p:animScale>
                                  </p:childTnLst>
                                </p:cTn>
                              </p:par>
                              <p:par>
                                <p:cTn id="16" presetID="26" presetClass="emph" presetSubtype="0" fill="hold" nodeType="withEffect">
                                  <p:stCondLst>
                                    <p:cond delay="0"/>
                                  </p:stCondLst>
                                  <p:childTnLst>
                                    <p:animEffect transition="out" filter="fade">
                                      <p:cBhvr>
                                        <p:cTn id="17" dur="500" tmFilter="0, 0; .2, .5; .8, .5; 1, 0"/>
                                        <p:tgtEl>
                                          <p:spTgt spid="5">
                                            <p:txEl>
                                              <p:pRg st="1" end="1"/>
                                            </p:txEl>
                                          </p:spTgt>
                                        </p:tgtEl>
                                      </p:cBhvr>
                                    </p:animEffect>
                                    <p:animScale>
                                      <p:cBhvr>
                                        <p:cTn id="18" dur="250" autoRev="1" fill="hold"/>
                                        <p:tgtEl>
                                          <p:spTgt spid="5">
                                            <p:txEl>
                                              <p:pRg st="1" end="1"/>
                                            </p:txEl>
                                          </p:spTgt>
                                        </p:tgtEl>
                                      </p:cBhvr>
                                      <p:by x="105000" y="105000"/>
                                    </p:animScale>
                                  </p:childTnLst>
                                </p:cTn>
                              </p:par>
                              <p:par>
                                <p:cTn id="19" presetID="26" presetClass="emph" presetSubtype="0" fill="hold" nodeType="withEffect">
                                  <p:stCondLst>
                                    <p:cond delay="0"/>
                                  </p:stCondLst>
                                  <p:childTnLst>
                                    <p:animEffect transition="out" filter="fade">
                                      <p:cBhvr>
                                        <p:cTn id="20" dur="500" tmFilter="0, 0; .2, .5; .8, .5; 1, 0"/>
                                        <p:tgtEl>
                                          <p:spTgt spid="5">
                                            <p:txEl>
                                              <p:pRg st="2" end="2"/>
                                            </p:txEl>
                                          </p:spTgt>
                                        </p:tgtEl>
                                      </p:cBhvr>
                                    </p:animEffect>
                                    <p:animScale>
                                      <p:cBhvr>
                                        <p:cTn id="21" dur="250" autoRev="1" fill="hold"/>
                                        <p:tgtEl>
                                          <p:spTgt spid="5">
                                            <p:txEl>
                                              <p:pRg st="2" end="2"/>
                                            </p:txEl>
                                          </p:spTgt>
                                        </p:tgtEl>
                                      </p:cBhvr>
                                      <p:by x="105000" y="105000"/>
                                    </p:animScale>
                                  </p:childTnLst>
                                </p:cTn>
                              </p:par>
                              <p:par>
                                <p:cTn id="22" presetID="26" presetClass="emph" presetSubtype="0" fill="hold" nodeType="withEffect">
                                  <p:stCondLst>
                                    <p:cond delay="0"/>
                                  </p:stCondLst>
                                  <p:childTnLst>
                                    <p:animEffect transition="out" filter="fade">
                                      <p:cBhvr>
                                        <p:cTn id="23" dur="500" tmFilter="0, 0; .2, .5; .8, .5; 1, 0"/>
                                        <p:tgtEl>
                                          <p:spTgt spid="5">
                                            <p:txEl>
                                              <p:pRg st="3" end="3"/>
                                            </p:txEl>
                                          </p:spTgt>
                                        </p:tgtEl>
                                      </p:cBhvr>
                                    </p:animEffect>
                                    <p:animScale>
                                      <p:cBhvr>
                                        <p:cTn id="24" dur="250" autoRev="1" fill="hold"/>
                                        <p:tgtEl>
                                          <p:spTgt spid="5">
                                            <p:txEl>
                                              <p:pRg st="3" end="3"/>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4">
            <a:extLst>
              <a:ext uri="{FF2B5EF4-FFF2-40B4-BE49-F238E27FC236}">
                <a16:creationId xmlns:a16="http://schemas.microsoft.com/office/drawing/2014/main" id="{DF9620E0-C167-4869-8A73-2C7A7914E6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431800"/>
            <a:ext cx="5257800" cy="626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127403"/>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3D3A9667-7A11-4B0A-938B-EBC8A94AB459}"/>
              </a:ext>
            </a:extLst>
          </p:cNvPr>
          <p:cNvSpPr>
            <a:spLocks noChangeArrowheads="1"/>
          </p:cNvSpPr>
          <p:nvPr/>
        </p:nvSpPr>
        <p:spPr bwMode="auto">
          <a:xfrm>
            <a:off x="0" y="1447800"/>
            <a:ext cx="4495800" cy="4832350"/>
          </a:xfrm>
          <a:prstGeom prst="rect">
            <a:avLst/>
          </a:prstGeom>
          <a:noFill/>
          <a:ln w="9525">
            <a:noFill/>
            <a:miter lim="800000"/>
            <a:headEnd/>
            <a:tailEnd/>
          </a:ln>
        </p:spPr>
        <p:txBody>
          <a:bodyPr>
            <a:spAutoFit/>
          </a:bodyPr>
          <a:lstStyle/>
          <a:p>
            <a:pPr marL="344488" indent="-344488">
              <a:buFont typeface="Wingdings" pitchFamily="2" charset="2"/>
              <a:buChar char="§"/>
              <a:defRPr/>
            </a:pPr>
            <a:r>
              <a:rPr lang="en-US" sz="2800" b="1" dirty="0">
                <a:latin typeface="Garamond" pitchFamily="18" charset="0"/>
              </a:rPr>
              <a:t>Earth’s internal zones:</a:t>
            </a:r>
          </a:p>
          <a:p>
            <a:pPr marL="1139825" lvl="2" indent="-225425">
              <a:defRPr/>
            </a:pPr>
            <a:r>
              <a:rPr lang="en-US" sz="2800" b="1" dirty="0">
                <a:latin typeface="Garamond" pitchFamily="18" charset="0"/>
              </a:rPr>
              <a:t>		</a:t>
            </a:r>
          </a:p>
          <a:p>
            <a:pPr lvl="2" indent="-449263">
              <a:buFont typeface="Arial" pitchFamily="34" charset="0"/>
              <a:buChar char="•"/>
              <a:defRPr/>
            </a:pPr>
            <a:r>
              <a:rPr lang="en-US" sz="2800" b="1" dirty="0">
                <a:latin typeface="Garamond" pitchFamily="18" charset="0"/>
              </a:rPr>
              <a:t>Core </a:t>
            </a:r>
          </a:p>
          <a:p>
            <a:pPr lvl="2" indent="-449263">
              <a:defRPr/>
            </a:pPr>
            <a:r>
              <a:rPr lang="en-US" sz="2800" b="1" dirty="0">
                <a:latin typeface="Garamond" pitchFamily="18" charset="0"/>
              </a:rPr>
              <a:t>	- Inner core </a:t>
            </a:r>
          </a:p>
          <a:p>
            <a:pPr lvl="2" indent="-449263">
              <a:defRPr/>
            </a:pPr>
            <a:r>
              <a:rPr lang="en-US" sz="2800" b="1" dirty="0">
                <a:latin typeface="Garamond" pitchFamily="18" charset="0"/>
              </a:rPr>
              <a:t>	- Outer core</a:t>
            </a:r>
          </a:p>
          <a:p>
            <a:pPr lvl="2" indent="-449263">
              <a:defRPr/>
            </a:pPr>
            <a:endParaRPr lang="en-US" sz="2800" b="1" dirty="0">
              <a:latin typeface="Garamond" pitchFamily="18" charset="0"/>
            </a:endParaRPr>
          </a:p>
          <a:p>
            <a:pPr lvl="2" indent="-449263">
              <a:buFont typeface="Arial" pitchFamily="34" charset="0"/>
              <a:buChar char="•"/>
              <a:defRPr/>
            </a:pPr>
            <a:r>
              <a:rPr lang="en-US" sz="2800" b="1" dirty="0">
                <a:latin typeface="Garamond" pitchFamily="18" charset="0"/>
              </a:rPr>
              <a:t>Mantle</a:t>
            </a:r>
          </a:p>
          <a:p>
            <a:pPr lvl="2" indent="-449263">
              <a:defRPr/>
            </a:pPr>
            <a:endParaRPr lang="en-US" sz="2800" b="1" dirty="0">
              <a:latin typeface="Garamond" pitchFamily="18" charset="0"/>
            </a:endParaRPr>
          </a:p>
          <a:p>
            <a:pPr lvl="2" indent="-449263">
              <a:buFont typeface="Arial" pitchFamily="34" charset="0"/>
              <a:buChar char="•"/>
              <a:defRPr/>
            </a:pPr>
            <a:r>
              <a:rPr lang="en-US" sz="2800" b="1" dirty="0">
                <a:latin typeface="Garamond" pitchFamily="18" charset="0"/>
              </a:rPr>
              <a:t>Crust</a:t>
            </a:r>
          </a:p>
          <a:p>
            <a:pPr lvl="2" indent="-449263">
              <a:defRPr/>
            </a:pPr>
            <a:r>
              <a:rPr lang="en-US" sz="2800" b="1" dirty="0">
                <a:latin typeface="Garamond" pitchFamily="18" charset="0"/>
              </a:rPr>
              <a:t>	- Oceanic crust</a:t>
            </a:r>
          </a:p>
          <a:p>
            <a:pPr lvl="2" indent="-449263">
              <a:defRPr/>
            </a:pPr>
            <a:r>
              <a:rPr lang="en-US" sz="2800" b="1" dirty="0">
                <a:latin typeface="Garamond" pitchFamily="18" charset="0"/>
              </a:rPr>
              <a:t>	- Continental crust</a:t>
            </a:r>
            <a:endParaRPr lang="en-US" sz="2800" dirty="0"/>
          </a:p>
        </p:txBody>
      </p:sp>
      <p:sp>
        <p:nvSpPr>
          <p:cNvPr id="7171" name="Rectangle 2">
            <a:extLst>
              <a:ext uri="{FF2B5EF4-FFF2-40B4-BE49-F238E27FC236}">
                <a16:creationId xmlns:a16="http://schemas.microsoft.com/office/drawing/2014/main" id="{EE329CFF-7358-4B0B-99CE-ACE9B0869EC4}"/>
              </a:ext>
            </a:extLst>
          </p:cNvPr>
          <p:cNvSpPr>
            <a:spLocks noChangeArrowheads="1"/>
          </p:cNvSpPr>
          <p:nvPr/>
        </p:nvSpPr>
        <p:spPr bwMode="auto">
          <a:xfrm>
            <a:off x="304800" y="228600"/>
            <a:ext cx="8839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5425" indent="-2254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3600" b="1">
                <a:solidFill>
                  <a:srgbClr val="800000"/>
                </a:solidFill>
                <a:latin typeface="Garamond" panose="02020404030301010803" pitchFamily="18" charset="0"/>
              </a:rPr>
              <a:t>Earth’s Structure</a:t>
            </a:r>
          </a:p>
        </p:txBody>
      </p:sp>
      <p:pic>
        <p:nvPicPr>
          <p:cNvPr id="7172" name="Picture 6">
            <a:extLst>
              <a:ext uri="{FF2B5EF4-FFF2-40B4-BE49-F238E27FC236}">
                <a16:creationId xmlns:a16="http://schemas.microsoft.com/office/drawing/2014/main" id="{542F9DAB-C86F-47A8-8ED8-B1EC80F82261}"/>
              </a:ext>
            </a:extLst>
          </p:cNvPr>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4267200" y="1600200"/>
            <a:ext cx="4876800" cy="4267200"/>
          </a:xfrm>
        </p:spPr>
      </p:pic>
    </p:spTree>
  </p:cSld>
  <p:clrMapOvr>
    <a:masterClrMapping/>
  </p:clrMapOvr>
  <p:transition spd="slow" advTm="19263"/>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4" descr="C:\Users\tanvirahmed\Desktop\OGL98016.jpg">
            <a:extLst>
              <a:ext uri="{FF2B5EF4-FFF2-40B4-BE49-F238E27FC236}">
                <a16:creationId xmlns:a16="http://schemas.microsoft.com/office/drawing/2014/main" id="{9709453E-3EB0-4F02-BA1A-0BB3B057F7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200" y="46038"/>
            <a:ext cx="6604000" cy="650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Rectangle 6">
            <a:extLst>
              <a:ext uri="{FF2B5EF4-FFF2-40B4-BE49-F238E27FC236}">
                <a16:creationId xmlns:a16="http://schemas.microsoft.com/office/drawing/2014/main" id="{7381D61B-409A-4B6B-85A2-EED9A202D6AB}"/>
              </a:ext>
            </a:extLst>
          </p:cNvPr>
          <p:cNvSpPr>
            <a:spLocks noChangeArrowheads="1"/>
          </p:cNvSpPr>
          <p:nvPr/>
        </p:nvSpPr>
        <p:spPr bwMode="auto">
          <a:xfrm>
            <a:off x="1066800" y="6457950"/>
            <a:ext cx="6477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indent="-449263">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2" algn="ctr">
              <a:spcBef>
                <a:spcPct val="0"/>
              </a:spcBef>
              <a:buFontTx/>
              <a:buNone/>
            </a:pPr>
            <a:r>
              <a:rPr lang="en-US" altLang="en-US" sz="2000" b="1">
                <a:latin typeface="Garamond" panose="02020404030301010803" pitchFamily="18" charset="0"/>
              </a:rPr>
              <a:t>Figure: Structure of the Earth</a:t>
            </a:r>
          </a:p>
        </p:txBody>
      </p:sp>
    </p:spTree>
  </p:cSld>
  <p:clrMapOvr>
    <a:masterClrMapping/>
  </p:clrMapOvr>
  <p:transition spd="slow" advTm="3794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a:extLst>
              <a:ext uri="{FF2B5EF4-FFF2-40B4-BE49-F238E27FC236}">
                <a16:creationId xmlns:a16="http://schemas.microsoft.com/office/drawing/2014/main" id="{70CE2FFD-E7FB-43DC-AD57-CDE49EF27822}"/>
              </a:ext>
            </a:extLst>
          </p:cNvPr>
          <p:cNvSpPr>
            <a:spLocks noGrp="1"/>
          </p:cNvSpPr>
          <p:nvPr>
            <p:ph idx="1"/>
          </p:nvPr>
        </p:nvSpPr>
        <p:spPr>
          <a:xfrm>
            <a:off x="152400" y="228600"/>
            <a:ext cx="8839200" cy="6324600"/>
          </a:xfrm>
        </p:spPr>
        <p:txBody>
          <a:bodyPr/>
          <a:lstStyle/>
          <a:p>
            <a:r>
              <a:rPr lang="en-US" altLang="en-US" sz="3000" b="1"/>
              <a:t>Core</a:t>
            </a:r>
          </a:p>
          <a:p>
            <a:pPr>
              <a:buFontTx/>
              <a:buChar char="-"/>
            </a:pPr>
            <a:r>
              <a:rPr lang="en-US" altLang="en-US" sz="3000"/>
              <a:t>The inner most part of the earth</a:t>
            </a:r>
          </a:p>
          <a:p>
            <a:pPr>
              <a:buFontTx/>
              <a:buChar char="-"/>
            </a:pPr>
            <a:r>
              <a:rPr lang="en-US" altLang="en-US" sz="3000"/>
              <a:t>Temperature of the centre of the core is between 4000</a:t>
            </a:r>
            <a:r>
              <a:rPr lang="en-US" altLang="en-US" sz="3000" baseline="30000"/>
              <a:t>0</a:t>
            </a:r>
            <a:r>
              <a:rPr lang="en-US" altLang="en-US" sz="3000"/>
              <a:t>C &amp; 5000</a:t>
            </a:r>
            <a:r>
              <a:rPr lang="en-US" altLang="en-US" sz="3000" baseline="30000"/>
              <a:t>0</a:t>
            </a:r>
            <a:r>
              <a:rPr lang="en-US" altLang="en-US" sz="3000"/>
              <a:t>C.</a:t>
            </a:r>
          </a:p>
          <a:p>
            <a:pPr>
              <a:buFontTx/>
              <a:buChar char="-"/>
            </a:pPr>
            <a:r>
              <a:rPr lang="en-US" altLang="en-US" sz="3000"/>
              <a:t>This part is composed of iron, nickel &amp; cobalt &amp; known as Nife. </a:t>
            </a:r>
          </a:p>
          <a:p>
            <a:pPr>
              <a:buFontTx/>
              <a:buChar char="-"/>
            </a:pPr>
            <a:r>
              <a:rPr lang="en-US" altLang="en-US" sz="3000"/>
              <a:t>Density is very high </a:t>
            </a:r>
          </a:p>
          <a:p>
            <a:pPr>
              <a:buFontTx/>
              <a:buChar char="-"/>
            </a:pPr>
            <a:r>
              <a:rPr lang="en-US" altLang="en-US" sz="3000"/>
              <a:t>It has two layers </a:t>
            </a:r>
          </a:p>
          <a:p>
            <a:pPr lvl="1">
              <a:buFont typeface="Wingdings" panose="05000000000000000000" pitchFamily="2" charset="2"/>
              <a:buChar char="Ø"/>
            </a:pPr>
            <a:r>
              <a:rPr lang="en-US" altLang="en-US" sz="3000"/>
              <a:t>    a liquid exterior-outer core- 2250 km (thickness)-made of liquid Fe, Ni</a:t>
            </a:r>
          </a:p>
          <a:p>
            <a:pPr lvl="1">
              <a:buFont typeface="Wingdings" panose="05000000000000000000" pitchFamily="2" charset="2"/>
              <a:buChar char="Ø"/>
            </a:pPr>
            <a:r>
              <a:rPr lang="en-US" altLang="en-US" sz="3000"/>
              <a:t>    a solid interior-inner core-1200 km (thickness)-made of solid Fe, Ni</a:t>
            </a:r>
          </a:p>
          <a:p>
            <a:pPr lvl="1">
              <a:buFont typeface="Arial" panose="020B0604020202020204" pitchFamily="34" charset="0"/>
              <a:buNone/>
            </a:pPr>
            <a:r>
              <a:rPr lang="en-US" altLang="en-US" sz="3000"/>
              <a:t>       </a:t>
            </a:r>
          </a:p>
          <a:p>
            <a:endParaRPr lang="en-US" altLang="en-US" sz="2000"/>
          </a:p>
        </p:txBody>
      </p:sp>
    </p:spTree>
    <p:custDataLst>
      <p:tags r:id="rId1"/>
    </p:custDataLst>
  </p:cSld>
  <p:clrMapOvr>
    <a:masterClrMapping/>
  </p:clrMapOvr>
  <p:transition spd="slow" advTm="81545"/>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p:tgtEl>
                                          <p:spTgt spid="8194">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8194">
                                            <p:txEl>
                                              <p:pRg st="0" end="0"/>
                                            </p:txEl>
                                          </p:spTgt>
                                        </p:tgtEl>
                                      </p:cBhvr>
                                    </p:animEffect>
                                  </p:childTnLst>
                                </p:cTn>
                              </p:par>
                            </p:childTnLst>
                          </p:cTn>
                        </p:par>
                      </p:childTnLst>
                    </p:cTn>
                  </p:par>
                  <p:par>
                    <p:cTn id="9" fill="hold" nodeType="clickPar">
                      <p:stCondLst>
                        <p:cond delay="indefinite"/>
                      </p:stCondLst>
                      <p:childTnLst>
                        <p:par>
                          <p:cTn id="10" fill="hold" nodeType="withGroup">
                            <p:stCondLst>
                              <p:cond delay="0"/>
                            </p:stCondLst>
                            <p:childTnLst>
                              <p:par>
                                <p:cTn id="11" presetID="26" presetClass="entr" presetSubtype="0" fill="hold" nodeType="clickEffect">
                                  <p:stCondLst>
                                    <p:cond delay="0"/>
                                  </p:stCondLst>
                                  <p:childTnLst>
                                    <p:set>
                                      <p:cBhvr>
                                        <p:cTn id="12" dur="1" fill="hold">
                                          <p:stCondLst>
                                            <p:cond delay="0"/>
                                          </p:stCondLst>
                                        </p:cTn>
                                        <p:tgtEl>
                                          <p:spTgt spid="8194">
                                            <p:txEl>
                                              <p:pRg st="1" end="1"/>
                                            </p:txEl>
                                          </p:spTgt>
                                        </p:tgtEl>
                                        <p:attrNameLst>
                                          <p:attrName>style.visibility</p:attrName>
                                        </p:attrNameLst>
                                      </p:cBhvr>
                                      <p:to>
                                        <p:strVal val="visible"/>
                                      </p:to>
                                    </p:set>
                                    <p:animEffect transition="in" filter="wipe(down)">
                                      <p:cBhvr>
                                        <p:cTn id="13" dur="580">
                                          <p:stCondLst>
                                            <p:cond delay="0"/>
                                          </p:stCondLst>
                                        </p:cTn>
                                        <p:tgtEl>
                                          <p:spTgt spid="8194">
                                            <p:txEl>
                                              <p:pRg st="1" end="1"/>
                                            </p:txEl>
                                          </p:spTgt>
                                        </p:tgtEl>
                                      </p:cBhvr>
                                    </p:animEffect>
                                    <p:anim calcmode="lin" valueType="num">
                                      <p:cBhvr>
                                        <p:cTn id="14" dur="1822" tmFilter="0,0; 0.14,0.36; 0.43,0.73; 0.71,0.91; 1.0,1.0">
                                          <p:stCondLst>
                                            <p:cond delay="0"/>
                                          </p:stCondLst>
                                        </p:cTn>
                                        <p:tgtEl>
                                          <p:spTgt spid="8194">
                                            <p:txEl>
                                              <p:pRg st="1" end="1"/>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8194">
                                            <p:txEl>
                                              <p:pRg st="1" end="1"/>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8194">
                                            <p:txEl>
                                              <p:pRg st="1" end="1"/>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8194">
                                            <p:txEl>
                                              <p:pRg st="1" end="1"/>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8194">
                                            <p:txEl>
                                              <p:pRg st="1" end="1"/>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8194">
                                            <p:txEl>
                                              <p:pRg st="1" end="1"/>
                                            </p:txEl>
                                          </p:spTgt>
                                        </p:tgtEl>
                                      </p:cBhvr>
                                      <p:to x="100000" y="60000"/>
                                    </p:animScale>
                                    <p:animScale>
                                      <p:cBhvr>
                                        <p:cTn id="20" dur="166" decel="50000">
                                          <p:stCondLst>
                                            <p:cond delay="676"/>
                                          </p:stCondLst>
                                        </p:cTn>
                                        <p:tgtEl>
                                          <p:spTgt spid="8194">
                                            <p:txEl>
                                              <p:pRg st="1" end="1"/>
                                            </p:txEl>
                                          </p:spTgt>
                                        </p:tgtEl>
                                      </p:cBhvr>
                                      <p:to x="100000" y="100000"/>
                                    </p:animScale>
                                    <p:animScale>
                                      <p:cBhvr>
                                        <p:cTn id="21" dur="26">
                                          <p:stCondLst>
                                            <p:cond delay="1312"/>
                                          </p:stCondLst>
                                        </p:cTn>
                                        <p:tgtEl>
                                          <p:spTgt spid="8194">
                                            <p:txEl>
                                              <p:pRg st="1" end="1"/>
                                            </p:txEl>
                                          </p:spTgt>
                                        </p:tgtEl>
                                      </p:cBhvr>
                                      <p:to x="100000" y="80000"/>
                                    </p:animScale>
                                    <p:animScale>
                                      <p:cBhvr>
                                        <p:cTn id="22" dur="166" decel="50000">
                                          <p:stCondLst>
                                            <p:cond delay="1338"/>
                                          </p:stCondLst>
                                        </p:cTn>
                                        <p:tgtEl>
                                          <p:spTgt spid="8194">
                                            <p:txEl>
                                              <p:pRg st="1" end="1"/>
                                            </p:txEl>
                                          </p:spTgt>
                                        </p:tgtEl>
                                      </p:cBhvr>
                                      <p:to x="100000" y="100000"/>
                                    </p:animScale>
                                    <p:animScale>
                                      <p:cBhvr>
                                        <p:cTn id="23" dur="26">
                                          <p:stCondLst>
                                            <p:cond delay="1642"/>
                                          </p:stCondLst>
                                        </p:cTn>
                                        <p:tgtEl>
                                          <p:spTgt spid="8194">
                                            <p:txEl>
                                              <p:pRg st="1" end="1"/>
                                            </p:txEl>
                                          </p:spTgt>
                                        </p:tgtEl>
                                      </p:cBhvr>
                                      <p:to x="100000" y="90000"/>
                                    </p:animScale>
                                    <p:animScale>
                                      <p:cBhvr>
                                        <p:cTn id="24" dur="166" decel="50000">
                                          <p:stCondLst>
                                            <p:cond delay="1668"/>
                                          </p:stCondLst>
                                        </p:cTn>
                                        <p:tgtEl>
                                          <p:spTgt spid="8194">
                                            <p:txEl>
                                              <p:pRg st="1" end="1"/>
                                            </p:txEl>
                                          </p:spTgt>
                                        </p:tgtEl>
                                      </p:cBhvr>
                                      <p:to x="100000" y="100000"/>
                                    </p:animScale>
                                    <p:animScale>
                                      <p:cBhvr>
                                        <p:cTn id="25" dur="26">
                                          <p:stCondLst>
                                            <p:cond delay="1808"/>
                                          </p:stCondLst>
                                        </p:cTn>
                                        <p:tgtEl>
                                          <p:spTgt spid="8194">
                                            <p:txEl>
                                              <p:pRg st="1" end="1"/>
                                            </p:txEl>
                                          </p:spTgt>
                                        </p:tgtEl>
                                      </p:cBhvr>
                                      <p:to x="100000" y="95000"/>
                                    </p:animScale>
                                    <p:animScale>
                                      <p:cBhvr>
                                        <p:cTn id="26" dur="166" decel="50000">
                                          <p:stCondLst>
                                            <p:cond delay="1834"/>
                                          </p:stCondLst>
                                        </p:cTn>
                                        <p:tgtEl>
                                          <p:spTgt spid="8194">
                                            <p:txEl>
                                              <p:pRg st="1" end="1"/>
                                            </p:txEl>
                                          </p:spTgt>
                                        </p:tgtEl>
                                      </p:cBhvr>
                                      <p:to x="100000" y="100000"/>
                                    </p:animScale>
                                  </p:childTnLst>
                                </p:cTn>
                              </p:par>
                              <p:par>
                                <p:cTn id="27" presetID="26" presetClass="entr" presetSubtype="0" fill="hold" nodeType="withEffect">
                                  <p:stCondLst>
                                    <p:cond delay="0"/>
                                  </p:stCondLst>
                                  <p:childTnLst>
                                    <p:set>
                                      <p:cBhvr>
                                        <p:cTn id="28" dur="1" fill="hold">
                                          <p:stCondLst>
                                            <p:cond delay="0"/>
                                          </p:stCondLst>
                                        </p:cTn>
                                        <p:tgtEl>
                                          <p:spTgt spid="8194">
                                            <p:txEl>
                                              <p:pRg st="2" end="2"/>
                                            </p:txEl>
                                          </p:spTgt>
                                        </p:tgtEl>
                                        <p:attrNameLst>
                                          <p:attrName>style.visibility</p:attrName>
                                        </p:attrNameLst>
                                      </p:cBhvr>
                                      <p:to>
                                        <p:strVal val="visible"/>
                                      </p:to>
                                    </p:set>
                                    <p:animEffect transition="in" filter="wipe(down)">
                                      <p:cBhvr>
                                        <p:cTn id="29" dur="580">
                                          <p:stCondLst>
                                            <p:cond delay="0"/>
                                          </p:stCondLst>
                                        </p:cTn>
                                        <p:tgtEl>
                                          <p:spTgt spid="8194">
                                            <p:txEl>
                                              <p:pRg st="2" end="2"/>
                                            </p:txEl>
                                          </p:spTgt>
                                        </p:tgtEl>
                                      </p:cBhvr>
                                    </p:animEffect>
                                    <p:anim calcmode="lin" valueType="num">
                                      <p:cBhvr>
                                        <p:cTn id="30" dur="1822" tmFilter="0,0; 0.14,0.36; 0.43,0.73; 0.71,0.91; 1.0,1.0">
                                          <p:stCondLst>
                                            <p:cond delay="0"/>
                                          </p:stCondLst>
                                        </p:cTn>
                                        <p:tgtEl>
                                          <p:spTgt spid="8194">
                                            <p:txEl>
                                              <p:pRg st="2" end="2"/>
                                            </p:txEl>
                                          </p:spTgt>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8194">
                                            <p:txEl>
                                              <p:pRg st="2" end="2"/>
                                            </p:txEl>
                                          </p:spTgt>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8194">
                                            <p:txEl>
                                              <p:pRg st="2" end="2"/>
                                            </p:txEl>
                                          </p:spTgt>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8194">
                                            <p:txEl>
                                              <p:pRg st="2" end="2"/>
                                            </p:txEl>
                                          </p:spTgt>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8194">
                                            <p:txEl>
                                              <p:pRg st="2" end="2"/>
                                            </p:txEl>
                                          </p:spTgt>
                                        </p:tgtEl>
                                        <p:attrNameLst>
                                          <p:attrName>ppt_y</p:attrName>
                                        </p:attrNameLst>
                                      </p:cBhvr>
                                      <p:tavLst>
                                        <p:tav tm="0" fmla="#ppt_y-sin(pi*$)/81">
                                          <p:val>
                                            <p:fltVal val="0"/>
                                          </p:val>
                                        </p:tav>
                                        <p:tav tm="100000">
                                          <p:val>
                                            <p:fltVal val="1"/>
                                          </p:val>
                                        </p:tav>
                                      </p:tavLst>
                                    </p:anim>
                                    <p:animScale>
                                      <p:cBhvr>
                                        <p:cTn id="35" dur="26">
                                          <p:stCondLst>
                                            <p:cond delay="650"/>
                                          </p:stCondLst>
                                        </p:cTn>
                                        <p:tgtEl>
                                          <p:spTgt spid="8194">
                                            <p:txEl>
                                              <p:pRg st="2" end="2"/>
                                            </p:txEl>
                                          </p:spTgt>
                                        </p:tgtEl>
                                      </p:cBhvr>
                                      <p:to x="100000" y="60000"/>
                                    </p:animScale>
                                    <p:animScale>
                                      <p:cBhvr>
                                        <p:cTn id="36" dur="166" decel="50000">
                                          <p:stCondLst>
                                            <p:cond delay="676"/>
                                          </p:stCondLst>
                                        </p:cTn>
                                        <p:tgtEl>
                                          <p:spTgt spid="8194">
                                            <p:txEl>
                                              <p:pRg st="2" end="2"/>
                                            </p:txEl>
                                          </p:spTgt>
                                        </p:tgtEl>
                                      </p:cBhvr>
                                      <p:to x="100000" y="100000"/>
                                    </p:animScale>
                                    <p:animScale>
                                      <p:cBhvr>
                                        <p:cTn id="37" dur="26">
                                          <p:stCondLst>
                                            <p:cond delay="1312"/>
                                          </p:stCondLst>
                                        </p:cTn>
                                        <p:tgtEl>
                                          <p:spTgt spid="8194">
                                            <p:txEl>
                                              <p:pRg st="2" end="2"/>
                                            </p:txEl>
                                          </p:spTgt>
                                        </p:tgtEl>
                                      </p:cBhvr>
                                      <p:to x="100000" y="80000"/>
                                    </p:animScale>
                                    <p:animScale>
                                      <p:cBhvr>
                                        <p:cTn id="38" dur="166" decel="50000">
                                          <p:stCondLst>
                                            <p:cond delay="1338"/>
                                          </p:stCondLst>
                                        </p:cTn>
                                        <p:tgtEl>
                                          <p:spTgt spid="8194">
                                            <p:txEl>
                                              <p:pRg st="2" end="2"/>
                                            </p:txEl>
                                          </p:spTgt>
                                        </p:tgtEl>
                                      </p:cBhvr>
                                      <p:to x="100000" y="100000"/>
                                    </p:animScale>
                                    <p:animScale>
                                      <p:cBhvr>
                                        <p:cTn id="39" dur="26">
                                          <p:stCondLst>
                                            <p:cond delay="1642"/>
                                          </p:stCondLst>
                                        </p:cTn>
                                        <p:tgtEl>
                                          <p:spTgt spid="8194">
                                            <p:txEl>
                                              <p:pRg st="2" end="2"/>
                                            </p:txEl>
                                          </p:spTgt>
                                        </p:tgtEl>
                                      </p:cBhvr>
                                      <p:to x="100000" y="90000"/>
                                    </p:animScale>
                                    <p:animScale>
                                      <p:cBhvr>
                                        <p:cTn id="40" dur="166" decel="50000">
                                          <p:stCondLst>
                                            <p:cond delay="1668"/>
                                          </p:stCondLst>
                                        </p:cTn>
                                        <p:tgtEl>
                                          <p:spTgt spid="8194">
                                            <p:txEl>
                                              <p:pRg st="2" end="2"/>
                                            </p:txEl>
                                          </p:spTgt>
                                        </p:tgtEl>
                                      </p:cBhvr>
                                      <p:to x="100000" y="100000"/>
                                    </p:animScale>
                                    <p:animScale>
                                      <p:cBhvr>
                                        <p:cTn id="41" dur="26">
                                          <p:stCondLst>
                                            <p:cond delay="1808"/>
                                          </p:stCondLst>
                                        </p:cTn>
                                        <p:tgtEl>
                                          <p:spTgt spid="8194">
                                            <p:txEl>
                                              <p:pRg st="2" end="2"/>
                                            </p:txEl>
                                          </p:spTgt>
                                        </p:tgtEl>
                                      </p:cBhvr>
                                      <p:to x="100000" y="95000"/>
                                    </p:animScale>
                                    <p:animScale>
                                      <p:cBhvr>
                                        <p:cTn id="42" dur="166" decel="50000">
                                          <p:stCondLst>
                                            <p:cond delay="1834"/>
                                          </p:stCondLst>
                                        </p:cTn>
                                        <p:tgtEl>
                                          <p:spTgt spid="8194">
                                            <p:txEl>
                                              <p:pRg st="2" end="2"/>
                                            </p:txEl>
                                          </p:spTgt>
                                        </p:tgtEl>
                                      </p:cBhvr>
                                      <p:to x="100000" y="100000"/>
                                    </p:animScale>
                                  </p:childTnLst>
                                </p:cTn>
                              </p:par>
                              <p:par>
                                <p:cTn id="43" presetID="26" presetClass="entr" presetSubtype="0" fill="hold" nodeType="withEffect">
                                  <p:stCondLst>
                                    <p:cond delay="0"/>
                                  </p:stCondLst>
                                  <p:childTnLst>
                                    <p:set>
                                      <p:cBhvr>
                                        <p:cTn id="44" dur="1" fill="hold">
                                          <p:stCondLst>
                                            <p:cond delay="0"/>
                                          </p:stCondLst>
                                        </p:cTn>
                                        <p:tgtEl>
                                          <p:spTgt spid="8194">
                                            <p:txEl>
                                              <p:pRg st="3" end="3"/>
                                            </p:txEl>
                                          </p:spTgt>
                                        </p:tgtEl>
                                        <p:attrNameLst>
                                          <p:attrName>style.visibility</p:attrName>
                                        </p:attrNameLst>
                                      </p:cBhvr>
                                      <p:to>
                                        <p:strVal val="visible"/>
                                      </p:to>
                                    </p:set>
                                    <p:animEffect transition="in" filter="wipe(down)">
                                      <p:cBhvr>
                                        <p:cTn id="45" dur="580">
                                          <p:stCondLst>
                                            <p:cond delay="0"/>
                                          </p:stCondLst>
                                        </p:cTn>
                                        <p:tgtEl>
                                          <p:spTgt spid="8194">
                                            <p:txEl>
                                              <p:pRg st="3" end="3"/>
                                            </p:txEl>
                                          </p:spTgt>
                                        </p:tgtEl>
                                      </p:cBhvr>
                                    </p:animEffect>
                                    <p:anim calcmode="lin" valueType="num">
                                      <p:cBhvr>
                                        <p:cTn id="46" dur="1822" tmFilter="0,0; 0.14,0.36; 0.43,0.73; 0.71,0.91; 1.0,1.0">
                                          <p:stCondLst>
                                            <p:cond delay="0"/>
                                          </p:stCondLst>
                                        </p:cTn>
                                        <p:tgtEl>
                                          <p:spTgt spid="8194">
                                            <p:txEl>
                                              <p:pRg st="3" end="3"/>
                                            </p:txEl>
                                          </p:spTgt>
                                        </p:tgtEl>
                                        <p:attrNameLst>
                                          <p:attrName>ppt_x</p:attrName>
                                        </p:attrNameLst>
                                      </p:cBhvr>
                                      <p:tavLst>
                                        <p:tav tm="0">
                                          <p:val>
                                            <p:strVal val="#ppt_x-0.25"/>
                                          </p:val>
                                        </p:tav>
                                        <p:tav tm="100000">
                                          <p:val>
                                            <p:strVal val="#ppt_x"/>
                                          </p:val>
                                        </p:tav>
                                      </p:tavLst>
                                    </p:anim>
                                    <p:anim calcmode="lin" valueType="num">
                                      <p:cBhvr>
                                        <p:cTn id="47" dur="664" tmFilter="0.0,0.0; 0.25,0.07; 0.50,0.2; 0.75,0.467; 1.0,1.0">
                                          <p:stCondLst>
                                            <p:cond delay="0"/>
                                          </p:stCondLst>
                                        </p:cTn>
                                        <p:tgtEl>
                                          <p:spTgt spid="8194">
                                            <p:txEl>
                                              <p:pRg st="3" end="3"/>
                                            </p:txEl>
                                          </p:spTgt>
                                        </p:tgtEl>
                                        <p:attrNameLst>
                                          <p:attrName>ppt_y</p:attrName>
                                        </p:attrNameLst>
                                      </p:cBhvr>
                                      <p:tavLst>
                                        <p:tav tm="0" fmla="#ppt_y-sin(pi*$)/3">
                                          <p:val>
                                            <p:fltVal val="0.5"/>
                                          </p:val>
                                        </p:tav>
                                        <p:tav tm="100000">
                                          <p:val>
                                            <p:fltVal val="1"/>
                                          </p:val>
                                        </p:tav>
                                      </p:tavLst>
                                    </p:anim>
                                    <p:anim calcmode="lin" valueType="num">
                                      <p:cBhvr>
                                        <p:cTn id="48" dur="664" tmFilter="0, 0; 0.125,0.2665; 0.25,0.4; 0.375,0.465; 0.5,0.5;  0.625,0.535; 0.75,0.6; 0.875,0.7335; 1,1">
                                          <p:stCondLst>
                                            <p:cond delay="664"/>
                                          </p:stCondLst>
                                        </p:cTn>
                                        <p:tgtEl>
                                          <p:spTgt spid="8194">
                                            <p:txEl>
                                              <p:pRg st="3" end="3"/>
                                            </p:txEl>
                                          </p:spTgt>
                                        </p:tgtEl>
                                        <p:attrNameLst>
                                          <p:attrName>ppt_y</p:attrName>
                                        </p:attrNameLst>
                                      </p:cBhvr>
                                      <p:tavLst>
                                        <p:tav tm="0" fmla="#ppt_y-sin(pi*$)/9">
                                          <p:val>
                                            <p:fltVal val="0"/>
                                          </p:val>
                                        </p:tav>
                                        <p:tav tm="100000">
                                          <p:val>
                                            <p:fltVal val="1"/>
                                          </p:val>
                                        </p:tav>
                                      </p:tavLst>
                                    </p:anim>
                                    <p:anim calcmode="lin" valueType="num">
                                      <p:cBhvr>
                                        <p:cTn id="49" dur="332" tmFilter="0, 0; 0.125,0.2665; 0.25,0.4; 0.375,0.465; 0.5,0.5;  0.625,0.535; 0.75,0.6; 0.875,0.7335; 1,1">
                                          <p:stCondLst>
                                            <p:cond delay="1324"/>
                                          </p:stCondLst>
                                        </p:cTn>
                                        <p:tgtEl>
                                          <p:spTgt spid="8194">
                                            <p:txEl>
                                              <p:pRg st="3" end="3"/>
                                            </p:txEl>
                                          </p:spTgt>
                                        </p:tgtEl>
                                        <p:attrNameLst>
                                          <p:attrName>ppt_y</p:attrName>
                                        </p:attrNameLst>
                                      </p:cBhvr>
                                      <p:tavLst>
                                        <p:tav tm="0" fmla="#ppt_y-sin(pi*$)/27">
                                          <p:val>
                                            <p:fltVal val="0"/>
                                          </p:val>
                                        </p:tav>
                                        <p:tav tm="100000">
                                          <p:val>
                                            <p:fltVal val="1"/>
                                          </p:val>
                                        </p:tav>
                                      </p:tavLst>
                                    </p:anim>
                                    <p:anim calcmode="lin" valueType="num">
                                      <p:cBhvr>
                                        <p:cTn id="50" dur="164" tmFilter="0, 0; 0.125,0.2665; 0.25,0.4; 0.375,0.465; 0.5,0.5;  0.625,0.535; 0.75,0.6; 0.875,0.7335; 1,1">
                                          <p:stCondLst>
                                            <p:cond delay="1656"/>
                                          </p:stCondLst>
                                        </p:cTn>
                                        <p:tgtEl>
                                          <p:spTgt spid="8194">
                                            <p:txEl>
                                              <p:pRg st="3" end="3"/>
                                            </p:txEl>
                                          </p:spTgt>
                                        </p:tgtEl>
                                        <p:attrNameLst>
                                          <p:attrName>ppt_y</p:attrName>
                                        </p:attrNameLst>
                                      </p:cBhvr>
                                      <p:tavLst>
                                        <p:tav tm="0" fmla="#ppt_y-sin(pi*$)/81">
                                          <p:val>
                                            <p:fltVal val="0"/>
                                          </p:val>
                                        </p:tav>
                                        <p:tav tm="100000">
                                          <p:val>
                                            <p:fltVal val="1"/>
                                          </p:val>
                                        </p:tav>
                                      </p:tavLst>
                                    </p:anim>
                                    <p:animScale>
                                      <p:cBhvr>
                                        <p:cTn id="51" dur="26">
                                          <p:stCondLst>
                                            <p:cond delay="650"/>
                                          </p:stCondLst>
                                        </p:cTn>
                                        <p:tgtEl>
                                          <p:spTgt spid="8194">
                                            <p:txEl>
                                              <p:pRg st="3" end="3"/>
                                            </p:txEl>
                                          </p:spTgt>
                                        </p:tgtEl>
                                      </p:cBhvr>
                                      <p:to x="100000" y="60000"/>
                                    </p:animScale>
                                    <p:animScale>
                                      <p:cBhvr>
                                        <p:cTn id="52" dur="166" decel="50000">
                                          <p:stCondLst>
                                            <p:cond delay="676"/>
                                          </p:stCondLst>
                                        </p:cTn>
                                        <p:tgtEl>
                                          <p:spTgt spid="8194">
                                            <p:txEl>
                                              <p:pRg st="3" end="3"/>
                                            </p:txEl>
                                          </p:spTgt>
                                        </p:tgtEl>
                                      </p:cBhvr>
                                      <p:to x="100000" y="100000"/>
                                    </p:animScale>
                                    <p:animScale>
                                      <p:cBhvr>
                                        <p:cTn id="53" dur="26">
                                          <p:stCondLst>
                                            <p:cond delay="1312"/>
                                          </p:stCondLst>
                                        </p:cTn>
                                        <p:tgtEl>
                                          <p:spTgt spid="8194">
                                            <p:txEl>
                                              <p:pRg st="3" end="3"/>
                                            </p:txEl>
                                          </p:spTgt>
                                        </p:tgtEl>
                                      </p:cBhvr>
                                      <p:to x="100000" y="80000"/>
                                    </p:animScale>
                                    <p:animScale>
                                      <p:cBhvr>
                                        <p:cTn id="54" dur="166" decel="50000">
                                          <p:stCondLst>
                                            <p:cond delay="1338"/>
                                          </p:stCondLst>
                                        </p:cTn>
                                        <p:tgtEl>
                                          <p:spTgt spid="8194">
                                            <p:txEl>
                                              <p:pRg st="3" end="3"/>
                                            </p:txEl>
                                          </p:spTgt>
                                        </p:tgtEl>
                                      </p:cBhvr>
                                      <p:to x="100000" y="100000"/>
                                    </p:animScale>
                                    <p:animScale>
                                      <p:cBhvr>
                                        <p:cTn id="55" dur="26">
                                          <p:stCondLst>
                                            <p:cond delay="1642"/>
                                          </p:stCondLst>
                                        </p:cTn>
                                        <p:tgtEl>
                                          <p:spTgt spid="8194">
                                            <p:txEl>
                                              <p:pRg st="3" end="3"/>
                                            </p:txEl>
                                          </p:spTgt>
                                        </p:tgtEl>
                                      </p:cBhvr>
                                      <p:to x="100000" y="90000"/>
                                    </p:animScale>
                                    <p:animScale>
                                      <p:cBhvr>
                                        <p:cTn id="56" dur="166" decel="50000">
                                          <p:stCondLst>
                                            <p:cond delay="1668"/>
                                          </p:stCondLst>
                                        </p:cTn>
                                        <p:tgtEl>
                                          <p:spTgt spid="8194">
                                            <p:txEl>
                                              <p:pRg st="3" end="3"/>
                                            </p:txEl>
                                          </p:spTgt>
                                        </p:tgtEl>
                                      </p:cBhvr>
                                      <p:to x="100000" y="100000"/>
                                    </p:animScale>
                                    <p:animScale>
                                      <p:cBhvr>
                                        <p:cTn id="57" dur="26">
                                          <p:stCondLst>
                                            <p:cond delay="1808"/>
                                          </p:stCondLst>
                                        </p:cTn>
                                        <p:tgtEl>
                                          <p:spTgt spid="8194">
                                            <p:txEl>
                                              <p:pRg st="3" end="3"/>
                                            </p:txEl>
                                          </p:spTgt>
                                        </p:tgtEl>
                                      </p:cBhvr>
                                      <p:to x="100000" y="95000"/>
                                    </p:animScale>
                                    <p:animScale>
                                      <p:cBhvr>
                                        <p:cTn id="58" dur="166" decel="50000">
                                          <p:stCondLst>
                                            <p:cond delay="1834"/>
                                          </p:stCondLst>
                                        </p:cTn>
                                        <p:tgtEl>
                                          <p:spTgt spid="8194">
                                            <p:txEl>
                                              <p:pRg st="3" end="3"/>
                                            </p:txEl>
                                          </p:spTgt>
                                        </p:tgtEl>
                                      </p:cBhvr>
                                      <p:to x="100000" y="100000"/>
                                    </p:animScale>
                                  </p:childTnLst>
                                </p:cTn>
                              </p:par>
                              <p:par>
                                <p:cTn id="59" presetID="26" presetClass="entr" presetSubtype="0" fill="hold" nodeType="withEffect">
                                  <p:stCondLst>
                                    <p:cond delay="0"/>
                                  </p:stCondLst>
                                  <p:childTnLst>
                                    <p:set>
                                      <p:cBhvr>
                                        <p:cTn id="60" dur="1" fill="hold">
                                          <p:stCondLst>
                                            <p:cond delay="0"/>
                                          </p:stCondLst>
                                        </p:cTn>
                                        <p:tgtEl>
                                          <p:spTgt spid="8194">
                                            <p:txEl>
                                              <p:pRg st="4" end="4"/>
                                            </p:txEl>
                                          </p:spTgt>
                                        </p:tgtEl>
                                        <p:attrNameLst>
                                          <p:attrName>style.visibility</p:attrName>
                                        </p:attrNameLst>
                                      </p:cBhvr>
                                      <p:to>
                                        <p:strVal val="visible"/>
                                      </p:to>
                                    </p:set>
                                    <p:animEffect transition="in" filter="wipe(down)">
                                      <p:cBhvr>
                                        <p:cTn id="61" dur="580">
                                          <p:stCondLst>
                                            <p:cond delay="0"/>
                                          </p:stCondLst>
                                        </p:cTn>
                                        <p:tgtEl>
                                          <p:spTgt spid="8194">
                                            <p:txEl>
                                              <p:pRg st="4" end="4"/>
                                            </p:txEl>
                                          </p:spTgt>
                                        </p:tgtEl>
                                      </p:cBhvr>
                                    </p:animEffect>
                                    <p:anim calcmode="lin" valueType="num">
                                      <p:cBhvr>
                                        <p:cTn id="62" dur="1822" tmFilter="0,0; 0.14,0.36; 0.43,0.73; 0.71,0.91; 1.0,1.0">
                                          <p:stCondLst>
                                            <p:cond delay="0"/>
                                          </p:stCondLst>
                                        </p:cTn>
                                        <p:tgtEl>
                                          <p:spTgt spid="8194">
                                            <p:txEl>
                                              <p:pRg st="4" end="4"/>
                                            </p:txEl>
                                          </p:spTgt>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8194">
                                            <p:txEl>
                                              <p:pRg st="4" end="4"/>
                                            </p:txEl>
                                          </p:spTgt>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8194">
                                            <p:txEl>
                                              <p:pRg st="4" end="4"/>
                                            </p:txEl>
                                          </p:spTgt>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8194">
                                            <p:txEl>
                                              <p:pRg st="4" end="4"/>
                                            </p:txEl>
                                          </p:spTgt>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8194">
                                            <p:txEl>
                                              <p:pRg st="4" end="4"/>
                                            </p:txEl>
                                          </p:spTgt>
                                        </p:tgtEl>
                                        <p:attrNameLst>
                                          <p:attrName>ppt_y</p:attrName>
                                        </p:attrNameLst>
                                      </p:cBhvr>
                                      <p:tavLst>
                                        <p:tav tm="0" fmla="#ppt_y-sin(pi*$)/81">
                                          <p:val>
                                            <p:fltVal val="0"/>
                                          </p:val>
                                        </p:tav>
                                        <p:tav tm="100000">
                                          <p:val>
                                            <p:fltVal val="1"/>
                                          </p:val>
                                        </p:tav>
                                      </p:tavLst>
                                    </p:anim>
                                    <p:animScale>
                                      <p:cBhvr>
                                        <p:cTn id="67" dur="26">
                                          <p:stCondLst>
                                            <p:cond delay="650"/>
                                          </p:stCondLst>
                                        </p:cTn>
                                        <p:tgtEl>
                                          <p:spTgt spid="8194">
                                            <p:txEl>
                                              <p:pRg st="4" end="4"/>
                                            </p:txEl>
                                          </p:spTgt>
                                        </p:tgtEl>
                                      </p:cBhvr>
                                      <p:to x="100000" y="60000"/>
                                    </p:animScale>
                                    <p:animScale>
                                      <p:cBhvr>
                                        <p:cTn id="68" dur="166" decel="50000">
                                          <p:stCondLst>
                                            <p:cond delay="676"/>
                                          </p:stCondLst>
                                        </p:cTn>
                                        <p:tgtEl>
                                          <p:spTgt spid="8194">
                                            <p:txEl>
                                              <p:pRg st="4" end="4"/>
                                            </p:txEl>
                                          </p:spTgt>
                                        </p:tgtEl>
                                      </p:cBhvr>
                                      <p:to x="100000" y="100000"/>
                                    </p:animScale>
                                    <p:animScale>
                                      <p:cBhvr>
                                        <p:cTn id="69" dur="26">
                                          <p:stCondLst>
                                            <p:cond delay="1312"/>
                                          </p:stCondLst>
                                        </p:cTn>
                                        <p:tgtEl>
                                          <p:spTgt spid="8194">
                                            <p:txEl>
                                              <p:pRg st="4" end="4"/>
                                            </p:txEl>
                                          </p:spTgt>
                                        </p:tgtEl>
                                      </p:cBhvr>
                                      <p:to x="100000" y="80000"/>
                                    </p:animScale>
                                    <p:animScale>
                                      <p:cBhvr>
                                        <p:cTn id="70" dur="166" decel="50000">
                                          <p:stCondLst>
                                            <p:cond delay="1338"/>
                                          </p:stCondLst>
                                        </p:cTn>
                                        <p:tgtEl>
                                          <p:spTgt spid="8194">
                                            <p:txEl>
                                              <p:pRg st="4" end="4"/>
                                            </p:txEl>
                                          </p:spTgt>
                                        </p:tgtEl>
                                      </p:cBhvr>
                                      <p:to x="100000" y="100000"/>
                                    </p:animScale>
                                    <p:animScale>
                                      <p:cBhvr>
                                        <p:cTn id="71" dur="26">
                                          <p:stCondLst>
                                            <p:cond delay="1642"/>
                                          </p:stCondLst>
                                        </p:cTn>
                                        <p:tgtEl>
                                          <p:spTgt spid="8194">
                                            <p:txEl>
                                              <p:pRg st="4" end="4"/>
                                            </p:txEl>
                                          </p:spTgt>
                                        </p:tgtEl>
                                      </p:cBhvr>
                                      <p:to x="100000" y="90000"/>
                                    </p:animScale>
                                    <p:animScale>
                                      <p:cBhvr>
                                        <p:cTn id="72" dur="166" decel="50000">
                                          <p:stCondLst>
                                            <p:cond delay="1668"/>
                                          </p:stCondLst>
                                        </p:cTn>
                                        <p:tgtEl>
                                          <p:spTgt spid="8194">
                                            <p:txEl>
                                              <p:pRg st="4" end="4"/>
                                            </p:txEl>
                                          </p:spTgt>
                                        </p:tgtEl>
                                      </p:cBhvr>
                                      <p:to x="100000" y="100000"/>
                                    </p:animScale>
                                    <p:animScale>
                                      <p:cBhvr>
                                        <p:cTn id="73" dur="26">
                                          <p:stCondLst>
                                            <p:cond delay="1808"/>
                                          </p:stCondLst>
                                        </p:cTn>
                                        <p:tgtEl>
                                          <p:spTgt spid="8194">
                                            <p:txEl>
                                              <p:pRg st="4" end="4"/>
                                            </p:txEl>
                                          </p:spTgt>
                                        </p:tgtEl>
                                      </p:cBhvr>
                                      <p:to x="100000" y="95000"/>
                                    </p:animScale>
                                    <p:animScale>
                                      <p:cBhvr>
                                        <p:cTn id="74" dur="166" decel="50000">
                                          <p:stCondLst>
                                            <p:cond delay="1834"/>
                                          </p:stCondLst>
                                        </p:cTn>
                                        <p:tgtEl>
                                          <p:spTgt spid="8194">
                                            <p:txEl>
                                              <p:pRg st="4" end="4"/>
                                            </p:txEl>
                                          </p:spTgt>
                                        </p:tgtEl>
                                      </p:cBhvr>
                                      <p:to x="100000" y="100000"/>
                                    </p:animScale>
                                  </p:childTnLst>
                                </p:cTn>
                              </p:par>
                              <p:par>
                                <p:cTn id="75" presetID="26" presetClass="entr" presetSubtype="0" fill="hold" nodeType="withEffect">
                                  <p:stCondLst>
                                    <p:cond delay="0"/>
                                  </p:stCondLst>
                                  <p:childTnLst>
                                    <p:set>
                                      <p:cBhvr>
                                        <p:cTn id="76" dur="1" fill="hold">
                                          <p:stCondLst>
                                            <p:cond delay="0"/>
                                          </p:stCondLst>
                                        </p:cTn>
                                        <p:tgtEl>
                                          <p:spTgt spid="8194">
                                            <p:txEl>
                                              <p:pRg st="5" end="5"/>
                                            </p:txEl>
                                          </p:spTgt>
                                        </p:tgtEl>
                                        <p:attrNameLst>
                                          <p:attrName>style.visibility</p:attrName>
                                        </p:attrNameLst>
                                      </p:cBhvr>
                                      <p:to>
                                        <p:strVal val="visible"/>
                                      </p:to>
                                    </p:set>
                                    <p:animEffect transition="in" filter="wipe(down)">
                                      <p:cBhvr>
                                        <p:cTn id="77" dur="580">
                                          <p:stCondLst>
                                            <p:cond delay="0"/>
                                          </p:stCondLst>
                                        </p:cTn>
                                        <p:tgtEl>
                                          <p:spTgt spid="8194">
                                            <p:txEl>
                                              <p:pRg st="5" end="5"/>
                                            </p:txEl>
                                          </p:spTgt>
                                        </p:tgtEl>
                                      </p:cBhvr>
                                    </p:animEffect>
                                    <p:anim calcmode="lin" valueType="num">
                                      <p:cBhvr>
                                        <p:cTn id="78" dur="1822" tmFilter="0,0; 0.14,0.36; 0.43,0.73; 0.71,0.91; 1.0,1.0">
                                          <p:stCondLst>
                                            <p:cond delay="0"/>
                                          </p:stCondLst>
                                        </p:cTn>
                                        <p:tgtEl>
                                          <p:spTgt spid="8194">
                                            <p:txEl>
                                              <p:pRg st="5" end="5"/>
                                            </p:txEl>
                                          </p:spTgt>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8194">
                                            <p:txEl>
                                              <p:pRg st="5" end="5"/>
                                            </p:txEl>
                                          </p:spTgt>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8194">
                                            <p:txEl>
                                              <p:pRg st="5" end="5"/>
                                            </p:txEl>
                                          </p:spTgt>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8194">
                                            <p:txEl>
                                              <p:pRg st="5" end="5"/>
                                            </p:txEl>
                                          </p:spTgt>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8194">
                                            <p:txEl>
                                              <p:pRg st="5" end="5"/>
                                            </p:txEl>
                                          </p:spTgt>
                                        </p:tgtEl>
                                        <p:attrNameLst>
                                          <p:attrName>ppt_y</p:attrName>
                                        </p:attrNameLst>
                                      </p:cBhvr>
                                      <p:tavLst>
                                        <p:tav tm="0" fmla="#ppt_y-sin(pi*$)/81">
                                          <p:val>
                                            <p:fltVal val="0"/>
                                          </p:val>
                                        </p:tav>
                                        <p:tav tm="100000">
                                          <p:val>
                                            <p:fltVal val="1"/>
                                          </p:val>
                                        </p:tav>
                                      </p:tavLst>
                                    </p:anim>
                                    <p:animScale>
                                      <p:cBhvr>
                                        <p:cTn id="83" dur="26">
                                          <p:stCondLst>
                                            <p:cond delay="650"/>
                                          </p:stCondLst>
                                        </p:cTn>
                                        <p:tgtEl>
                                          <p:spTgt spid="8194">
                                            <p:txEl>
                                              <p:pRg st="5" end="5"/>
                                            </p:txEl>
                                          </p:spTgt>
                                        </p:tgtEl>
                                      </p:cBhvr>
                                      <p:to x="100000" y="60000"/>
                                    </p:animScale>
                                    <p:animScale>
                                      <p:cBhvr>
                                        <p:cTn id="84" dur="166" decel="50000">
                                          <p:stCondLst>
                                            <p:cond delay="676"/>
                                          </p:stCondLst>
                                        </p:cTn>
                                        <p:tgtEl>
                                          <p:spTgt spid="8194">
                                            <p:txEl>
                                              <p:pRg st="5" end="5"/>
                                            </p:txEl>
                                          </p:spTgt>
                                        </p:tgtEl>
                                      </p:cBhvr>
                                      <p:to x="100000" y="100000"/>
                                    </p:animScale>
                                    <p:animScale>
                                      <p:cBhvr>
                                        <p:cTn id="85" dur="26">
                                          <p:stCondLst>
                                            <p:cond delay="1312"/>
                                          </p:stCondLst>
                                        </p:cTn>
                                        <p:tgtEl>
                                          <p:spTgt spid="8194">
                                            <p:txEl>
                                              <p:pRg st="5" end="5"/>
                                            </p:txEl>
                                          </p:spTgt>
                                        </p:tgtEl>
                                      </p:cBhvr>
                                      <p:to x="100000" y="80000"/>
                                    </p:animScale>
                                    <p:animScale>
                                      <p:cBhvr>
                                        <p:cTn id="86" dur="166" decel="50000">
                                          <p:stCondLst>
                                            <p:cond delay="1338"/>
                                          </p:stCondLst>
                                        </p:cTn>
                                        <p:tgtEl>
                                          <p:spTgt spid="8194">
                                            <p:txEl>
                                              <p:pRg st="5" end="5"/>
                                            </p:txEl>
                                          </p:spTgt>
                                        </p:tgtEl>
                                      </p:cBhvr>
                                      <p:to x="100000" y="100000"/>
                                    </p:animScale>
                                    <p:animScale>
                                      <p:cBhvr>
                                        <p:cTn id="87" dur="26">
                                          <p:stCondLst>
                                            <p:cond delay="1642"/>
                                          </p:stCondLst>
                                        </p:cTn>
                                        <p:tgtEl>
                                          <p:spTgt spid="8194">
                                            <p:txEl>
                                              <p:pRg st="5" end="5"/>
                                            </p:txEl>
                                          </p:spTgt>
                                        </p:tgtEl>
                                      </p:cBhvr>
                                      <p:to x="100000" y="90000"/>
                                    </p:animScale>
                                    <p:animScale>
                                      <p:cBhvr>
                                        <p:cTn id="88" dur="166" decel="50000">
                                          <p:stCondLst>
                                            <p:cond delay="1668"/>
                                          </p:stCondLst>
                                        </p:cTn>
                                        <p:tgtEl>
                                          <p:spTgt spid="8194">
                                            <p:txEl>
                                              <p:pRg st="5" end="5"/>
                                            </p:txEl>
                                          </p:spTgt>
                                        </p:tgtEl>
                                      </p:cBhvr>
                                      <p:to x="100000" y="100000"/>
                                    </p:animScale>
                                    <p:animScale>
                                      <p:cBhvr>
                                        <p:cTn id="89" dur="26">
                                          <p:stCondLst>
                                            <p:cond delay="1808"/>
                                          </p:stCondLst>
                                        </p:cTn>
                                        <p:tgtEl>
                                          <p:spTgt spid="8194">
                                            <p:txEl>
                                              <p:pRg st="5" end="5"/>
                                            </p:txEl>
                                          </p:spTgt>
                                        </p:tgtEl>
                                      </p:cBhvr>
                                      <p:to x="100000" y="95000"/>
                                    </p:animScale>
                                    <p:animScale>
                                      <p:cBhvr>
                                        <p:cTn id="90" dur="166" decel="50000">
                                          <p:stCondLst>
                                            <p:cond delay="1834"/>
                                          </p:stCondLst>
                                        </p:cTn>
                                        <p:tgtEl>
                                          <p:spTgt spid="8194">
                                            <p:txEl>
                                              <p:pRg st="5" end="5"/>
                                            </p:txEl>
                                          </p:spTgt>
                                        </p:tgtEl>
                                      </p:cBhvr>
                                      <p:to x="100000" y="100000"/>
                                    </p:animScale>
                                  </p:childTnLst>
                                </p:cTn>
                              </p:par>
                              <p:par>
                                <p:cTn id="91" presetID="26" presetClass="entr" presetSubtype="0" fill="hold" nodeType="withEffect">
                                  <p:stCondLst>
                                    <p:cond delay="0"/>
                                  </p:stCondLst>
                                  <p:childTnLst>
                                    <p:set>
                                      <p:cBhvr>
                                        <p:cTn id="92" dur="1" fill="hold">
                                          <p:stCondLst>
                                            <p:cond delay="0"/>
                                          </p:stCondLst>
                                        </p:cTn>
                                        <p:tgtEl>
                                          <p:spTgt spid="8194">
                                            <p:txEl>
                                              <p:pRg st="6" end="6"/>
                                            </p:txEl>
                                          </p:spTgt>
                                        </p:tgtEl>
                                        <p:attrNameLst>
                                          <p:attrName>style.visibility</p:attrName>
                                        </p:attrNameLst>
                                      </p:cBhvr>
                                      <p:to>
                                        <p:strVal val="visible"/>
                                      </p:to>
                                    </p:set>
                                    <p:animEffect transition="in" filter="wipe(down)">
                                      <p:cBhvr>
                                        <p:cTn id="93" dur="580">
                                          <p:stCondLst>
                                            <p:cond delay="0"/>
                                          </p:stCondLst>
                                        </p:cTn>
                                        <p:tgtEl>
                                          <p:spTgt spid="8194">
                                            <p:txEl>
                                              <p:pRg st="6" end="6"/>
                                            </p:txEl>
                                          </p:spTgt>
                                        </p:tgtEl>
                                      </p:cBhvr>
                                    </p:animEffect>
                                    <p:anim calcmode="lin" valueType="num">
                                      <p:cBhvr>
                                        <p:cTn id="94" dur="1822" tmFilter="0,0; 0.14,0.36; 0.43,0.73; 0.71,0.91; 1.0,1.0">
                                          <p:stCondLst>
                                            <p:cond delay="0"/>
                                          </p:stCondLst>
                                        </p:cTn>
                                        <p:tgtEl>
                                          <p:spTgt spid="8194">
                                            <p:txEl>
                                              <p:pRg st="6" end="6"/>
                                            </p:txEl>
                                          </p:spTgt>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8194">
                                            <p:txEl>
                                              <p:pRg st="6" end="6"/>
                                            </p:txEl>
                                          </p:spTgt>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8194">
                                            <p:txEl>
                                              <p:pRg st="6" end="6"/>
                                            </p:txEl>
                                          </p:spTgt>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8194">
                                            <p:txEl>
                                              <p:pRg st="6" end="6"/>
                                            </p:txEl>
                                          </p:spTgt>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8194">
                                            <p:txEl>
                                              <p:pRg st="6" end="6"/>
                                            </p:txEl>
                                          </p:spTgt>
                                        </p:tgtEl>
                                        <p:attrNameLst>
                                          <p:attrName>ppt_y</p:attrName>
                                        </p:attrNameLst>
                                      </p:cBhvr>
                                      <p:tavLst>
                                        <p:tav tm="0" fmla="#ppt_y-sin(pi*$)/81">
                                          <p:val>
                                            <p:fltVal val="0"/>
                                          </p:val>
                                        </p:tav>
                                        <p:tav tm="100000">
                                          <p:val>
                                            <p:fltVal val="1"/>
                                          </p:val>
                                        </p:tav>
                                      </p:tavLst>
                                    </p:anim>
                                    <p:animScale>
                                      <p:cBhvr>
                                        <p:cTn id="99" dur="26">
                                          <p:stCondLst>
                                            <p:cond delay="650"/>
                                          </p:stCondLst>
                                        </p:cTn>
                                        <p:tgtEl>
                                          <p:spTgt spid="8194">
                                            <p:txEl>
                                              <p:pRg st="6" end="6"/>
                                            </p:txEl>
                                          </p:spTgt>
                                        </p:tgtEl>
                                      </p:cBhvr>
                                      <p:to x="100000" y="60000"/>
                                    </p:animScale>
                                    <p:animScale>
                                      <p:cBhvr>
                                        <p:cTn id="100" dur="166" decel="50000">
                                          <p:stCondLst>
                                            <p:cond delay="676"/>
                                          </p:stCondLst>
                                        </p:cTn>
                                        <p:tgtEl>
                                          <p:spTgt spid="8194">
                                            <p:txEl>
                                              <p:pRg st="6" end="6"/>
                                            </p:txEl>
                                          </p:spTgt>
                                        </p:tgtEl>
                                      </p:cBhvr>
                                      <p:to x="100000" y="100000"/>
                                    </p:animScale>
                                    <p:animScale>
                                      <p:cBhvr>
                                        <p:cTn id="101" dur="26">
                                          <p:stCondLst>
                                            <p:cond delay="1312"/>
                                          </p:stCondLst>
                                        </p:cTn>
                                        <p:tgtEl>
                                          <p:spTgt spid="8194">
                                            <p:txEl>
                                              <p:pRg st="6" end="6"/>
                                            </p:txEl>
                                          </p:spTgt>
                                        </p:tgtEl>
                                      </p:cBhvr>
                                      <p:to x="100000" y="80000"/>
                                    </p:animScale>
                                    <p:animScale>
                                      <p:cBhvr>
                                        <p:cTn id="102" dur="166" decel="50000">
                                          <p:stCondLst>
                                            <p:cond delay="1338"/>
                                          </p:stCondLst>
                                        </p:cTn>
                                        <p:tgtEl>
                                          <p:spTgt spid="8194">
                                            <p:txEl>
                                              <p:pRg st="6" end="6"/>
                                            </p:txEl>
                                          </p:spTgt>
                                        </p:tgtEl>
                                      </p:cBhvr>
                                      <p:to x="100000" y="100000"/>
                                    </p:animScale>
                                    <p:animScale>
                                      <p:cBhvr>
                                        <p:cTn id="103" dur="26">
                                          <p:stCondLst>
                                            <p:cond delay="1642"/>
                                          </p:stCondLst>
                                        </p:cTn>
                                        <p:tgtEl>
                                          <p:spTgt spid="8194">
                                            <p:txEl>
                                              <p:pRg st="6" end="6"/>
                                            </p:txEl>
                                          </p:spTgt>
                                        </p:tgtEl>
                                      </p:cBhvr>
                                      <p:to x="100000" y="90000"/>
                                    </p:animScale>
                                    <p:animScale>
                                      <p:cBhvr>
                                        <p:cTn id="104" dur="166" decel="50000">
                                          <p:stCondLst>
                                            <p:cond delay="1668"/>
                                          </p:stCondLst>
                                        </p:cTn>
                                        <p:tgtEl>
                                          <p:spTgt spid="8194">
                                            <p:txEl>
                                              <p:pRg st="6" end="6"/>
                                            </p:txEl>
                                          </p:spTgt>
                                        </p:tgtEl>
                                      </p:cBhvr>
                                      <p:to x="100000" y="100000"/>
                                    </p:animScale>
                                    <p:animScale>
                                      <p:cBhvr>
                                        <p:cTn id="105" dur="26">
                                          <p:stCondLst>
                                            <p:cond delay="1808"/>
                                          </p:stCondLst>
                                        </p:cTn>
                                        <p:tgtEl>
                                          <p:spTgt spid="8194">
                                            <p:txEl>
                                              <p:pRg st="6" end="6"/>
                                            </p:txEl>
                                          </p:spTgt>
                                        </p:tgtEl>
                                      </p:cBhvr>
                                      <p:to x="100000" y="95000"/>
                                    </p:animScale>
                                    <p:animScale>
                                      <p:cBhvr>
                                        <p:cTn id="106" dur="166" decel="50000">
                                          <p:stCondLst>
                                            <p:cond delay="1834"/>
                                          </p:stCondLst>
                                        </p:cTn>
                                        <p:tgtEl>
                                          <p:spTgt spid="8194">
                                            <p:txEl>
                                              <p:pRg st="6" end="6"/>
                                            </p:txEl>
                                          </p:spTgt>
                                        </p:tgtEl>
                                      </p:cBhvr>
                                      <p:to x="100000" y="100000"/>
                                    </p:animScale>
                                  </p:childTnLst>
                                </p:cTn>
                              </p:par>
                              <p:par>
                                <p:cTn id="107" presetID="26" presetClass="entr" presetSubtype="0" fill="hold" nodeType="withEffect">
                                  <p:stCondLst>
                                    <p:cond delay="0"/>
                                  </p:stCondLst>
                                  <p:childTnLst>
                                    <p:set>
                                      <p:cBhvr>
                                        <p:cTn id="108" dur="1" fill="hold">
                                          <p:stCondLst>
                                            <p:cond delay="0"/>
                                          </p:stCondLst>
                                        </p:cTn>
                                        <p:tgtEl>
                                          <p:spTgt spid="8194">
                                            <p:txEl>
                                              <p:pRg st="7" end="7"/>
                                            </p:txEl>
                                          </p:spTgt>
                                        </p:tgtEl>
                                        <p:attrNameLst>
                                          <p:attrName>style.visibility</p:attrName>
                                        </p:attrNameLst>
                                      </p:cBhvr>
                                      <p:to>
                                        <p:strVal val="visible"/>
                                      </p:to>
                                    </p:set>
                                    <p:animEffect transition="in" filter="wipe(down)">
                                      <p:cBhvr>
                                        <p:cTn id="109" dur="580">
                                          <p:stCondLst>
                                            <p:cond delay="0"/>
                                          </p:stCondLst>
                                        </p:cTn>
                                        <p:tgtEl>
                                          <p:spTgt spid="8194">
                                            <p:txEl>
                                              <p:pRg st="7" end="7"/>
                                            </p:txEl>
                                          </p:spTgt>
                                        </p:tgtEl>
                                      </p:cBhvr>
                                    </p:animEffect>
                                    <p:anim calcmode="lin" valueType="num">
                                      <p:cBhvr>
                                        <p:cTn id="110" dur="1822" tmFilter="0,0; 0.14,0.36; 0.43,0.73; 0.71,0.91; 1.0,1.0">
                                          <p:stCondLst>
                                            <p:cond delay="0"/>
                                          </p:stCondLst>
                                        </p:cTn>
                                        <p:tgtEl>
                                          <p:spTgt spid="8194">
                                            <p:txEl>
                                              <p:pRg st="7" end="7"/>
                                            </p:txEl>
                                          </p:spTgt>
                                        </p:tgtEl>
                                        <p:attrNameLst>
                                          <p:attrName>ppt_x</p:attrName>
                                        </p:attrNameLst>
                                      </p:cBhvr>
                                      <p:tavLst>
                                        <p:tav tm="0">
                                          <p:val>
                                            <p:strVal val="#ppt_x-0.25"/>
                                          </p:val>
                                        </p:tav>
                                        <p:tav tm="100000">
                                          <p:val>
                                            <p:strVal val="#ppt_x"/>
                                          </p:val>
                                        </p:tav>
                                      </p:tavLst>
                                    </p:anim>
                                    <p:anim calcmode="lin" valueType="num">
                                      <p:cBhvr>
                                        <p:cTn id="111" dur="664" tmFilter="0.0,0.0; 0.25,0.07; 0.50,0.2; 0.75,0.467; 1.0,1.0">
                                          <p:stCondLst>
                                            <p:cond delay="0"/>
                                          </p:stCondLst>
                                        </p:cTn>
                                        <p:tgtEl>
                                          <p:spTgt spid="8194">
                                            <p:txEl>
                                              <p:pRg st="7" end="7"/>
                                            </p:txEl>
                                          </p:spTgt>
                                        </p:tgtEl>
                                        <p:attrNameLst>
                                          <p:attrName>ppt_y</p:attrName>
                                        </p:attrNameLst>
                                      </p:cBhvr>
                                      <p:tavLst>
                                        <p:tav tm="0" fmla="#ppt_y-sin(pi*$)/3">
                                          <p:val>
                                            <p:fltVal val="0.5"/>
                                          </p:val>
                                        </p:tav>
                                        <p:tav tm="100000">
                                          <p:val>
                                            <p:fltVal val="1"/>
                                          </p:val>
                                        </p:tav>
                                      </p:tavLst>
                                    </p:anim>
                                    <p:anim calcmode="lin" valueType="num">
                                      <p:cBhvr>
                                        <p:cTn id="112" dur="664" tmFilter="0, 0; 0.125,0.2665; 0.25,0.4; 0.375,0.465; 0.5,0.5;  0.625,0.535; 0.75,0.6; 0.875,0.7335; 1,1">
                                          <p:stCondLst>
                                            <p:cond delay="664"/>
                                          </p:stCondLst>
                                        </p:cTn>
                                        <p:tgtEl>
                                          <p:spTgt spid="8194">
                                            <p:txEl>
                                              <p:pRg st="7" end="7"/>
                                            </p:txEl>
                                          </p:spTgt>
                                        </p:tgtEl>
                                        <p:attrNameLst>
                                          <p:attrName>ppt_y</p:attrName>
                                        </p:attrNameLst>
                                      </p:cBhvr>
                                      <p:tavLst>
                                        <p:tav tm="0" fmla="#ppt_y-sin(pi*$)/9">
                                          <p:val>
                                            <p:fltVal val="0"/>
                                          </p:val>
                                        </p:tav>
                                        <p:tav tm="100000">
                                          <p:val>
                                            <p:fltVal val="1"/>
                                          </p:val>
                                        </p:tav>
                                      </p:tavLst>
                                    </p:anim>
                                    <p:anim calcmode="lin" valueType="num">
                                      <p:cBhvr>
                                        <p:cTn id="113" dur="332" tmFilter="0, 0; 0.125,0.2665; 0.25,0.4; 0.375,0.465; 0.5,0.5;  0.625,0.535; 0.75,0.6; 0.875,0.7335; 1,1">
                                          <p:stCondLst>
                                            <p:cond delay="1324"/>
                                          </p:stCondLst>
                                        </p:cTn>
                                        <p:tgtEl>
                                          <p:spTgt spid="8194">
                                            <p:txEl>
                                              <p:pRg st="7" end="7"/>
                                            </p:txEl>
                                          </p:spTgt>
                                        </p:tgtEl>
                                        <p:attrNameLst>
                                          <p:attrName>ppt_y</p:attrName>
                                        </p:attrNameLst>
                                      </p:cBhvr>
                                      <p:tavLst>
                                        <p:tav tm="0" fmla="#ppt_y-sin(pi*$)/27">
                                          <p:val>
                                            <p:fltVal val="0"/>
                                          </p:val>
                                        </p:tav>
                                        <p:tav tm="100000">
                                          <p:val>
                                            <p:fltVal val="1"/>
                                          </p:val>
                                        </p:tav>
                                      </p:tavLst>
                                    </p:anim>
                                    <p:anim calcmode="lin" valueType="num">
                                      <p:cBhvr>
                                        <p:cTn id="114" dur="164" tmFilter="0, 0; 0.125,0.2665; 0.25,0.4; 0.375,0.465; 0.5,0.5;  0.625,0.535; 0.75,0.6; 0.875,0.7335; 1,1">
                                          <p:stCondLst>
                                            <p:cond delay="1656"/>
                                          </p:stCondLst>
                                        </p:cTn>
                                        <p:tgtEl>
                                          <p:spTgt spid="8194">
                                            <p:txEl>
                                              <p:pRg st="7" end="7"/>
                                            </p:txEl>
                                          </p:spTgt>
                                        </p:tgtEl>
                                        <p:attrNameLst>
                                          <p:attrName>ppt_y</p:attrName>
                                        </p:attrNameLst>
                                      </p:cBhvr>
                                      <p:tavLst>
                                        <p:tav tm="0" fmla="#ppt_y-sin(pi*$)/81">
                                          <p:val>
                                            <p:fltVal val="0"/>
                                          </p:val>
                                        </p:tav>
                                        <p:tav tm="100000">
                                          <p:val>
                                            <p:fltVal val="1"/>
                                          </p:val>
                                        </p:tav>
                                      </p:tavLst>
                                    </p:anim>
                                    <p:animScale>
                                      <p:cBhvr>
                                        <p:cTn id="115" dur="26">
                                          <p:stCondLst>
                                            <p:cond delay="650"/>
                                          </p:stCondLst>
                                        </p:cTn>
                                        <p:tgtEl>
                                          <p:spTgt spid="8194">
                                            <p:txEl>
                                              <p:pRg st="7" end="7"/>
                                            </p:txEl>
                                          </p:spTgt>
                                        </p:tgtEl>
                                      </p:cBhvr>
                                      <p:to x="100000" y="60000"/>
                                    </p:animScale>
                                    <p:animScale>
                                      <p:cBhvr>
                                        <p:cTn id="116" dur="166" decel="50000">
                                          <p:stCondLst>
                                            <p:cond delay="676"/>
                                          </p:stCondLst>
                                        </p:cTn>
                                        <p:tgtEl>
                                          <p:spTgt spid="8194">
                                            <p:txEl>
                                              <p:pRg st="7" end="7"/>
                                            </p:txEl>
                                          </p:spTgt>
                                        </p:tgtEl>
                                      </p:cBhvr>
                                      <p:to x="100000" y="100000"/>
                                    </p:animScale>
                                    <p:animScale>
                                      <p:cBhvr>
                                        <p:cTn id="117" dur="26">
                                          <p:stCondLst>
                                            <p:cond delay="1312"/>
                                          </p:stCondLst>
                                        </p:cTn>
                                        <p:tgtEl>
                                          <p:spTgt spid="8194">
                                            <p:txEl>
                                              <p:pRg st="7" end="7"/>
                                            </p:txEl>
                                          </p:spTgt>
                                        </p:tgtEl>
                                      </p:cBhvr>
                                      <p:to x="100000" y="80000"/>
                                    </p:animScale>
                                    <p:animScale>
                                      <p:cBhvr>
                                        <p:cTn id="118" dur="166" decel="50000">
                                          <p:stCondLst>
                                            <p:cond delay="1338"/>
                                          </p:stCondLst>
                                        </p:cTn>
                                        <p:tgtEl>
                                          <p:spTgt spid="8194">
                                            <p:txEl>
                                              <p:pRg st="7" end="7"/>
                                            </p:txEl>
                                          </p:spTgt>
                                        </p:tgtEl>
                                      </p:cBhvr>
                                      <p:to x="100000" y="100000"/>
                                    </p:animScale>
                                    <p:animScale>
                                      <p:cBhvr>
                                        <p:cTn id="119" dur="26">
                                          <p:stCondLst>
                                            <p:cond delay="1642"/>
                                          </p:stCondLst>
                                        </p:cTn>
                                        <p:tgtEl>
                                          <p:spTgt spid="8194">
                                            <p:txEl>
                                              <p:pRg st="7" end="7"/>
                                            </p:txEl>
                                          </p:spTgt>
                                        </p:tgtEl>
                                      </p:cBhvr>
                                      <p:to x="100000" y="90000"/>
                                    </p:animScale>
                                    <p:animScale>
                                      <p:cBhvr>
                                        <p:cTn id="120" dur="166" decel="50000">
                                          <p:stCondLst>
                                            <p:cond delay="1668"/>
                                          </p:stCondLst>
                                        </p:cTn>
                                        <p:tgtEl>
                                          <p:spTgt spid="8194">
                                            <p:txEl>
                                              <p:pRg st="7" end="7"/>
                                            </p:txEl>
                                          </p:spTgt>
                                        </p:tgtEl>
                                      </p:cBhvr>
                                      <p:to x="100000" y="100000"/>
                                    </p:animScale>
                                    <p:animScale>
                                      <p:cBhvr>
                                        <p:cTn id="121" dur="26">
                                          <p:stCondLst>
                                            <p:cond delay="1808"/>
                                          </p:stCondLst>
                                        </p:cTn>
                                        <p:tgtEl>
                                          <p:spTgt spid="8194">
                                            <p:txEl>
                                              <p:pRg st="7" end="7"/>
                                            </p:txEl>
                                          </p:spTgt>
                                        </p:tgtEl>
                                      </p:cBhvr>
                                      <p:to x="100000" y="95000"/>
                                    </p:animScale>
                                    <p:animScale>
                                      <p:cBhvr>
                                        <p:cTn id="122" dur="166" decel="50000">
                                          <p:stCondLst>
                                            <p:cond delay="1834"/>
                                          </p:stCondLst>
                                        </p:cTn>
                                        <p:tgtEl>
                                          <p:spTgt spid="8194">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D992CB-593B-42E0-B839-92A6BA67BF47}"/>
              </a:ext>
            </a:extLst>
          </p:cNvPr>
          <p:cNvSpPr>
            <a:spLocks noGrp="1"/>
          </p:cNvSpPr>
          <p:nvPr>
            <p:ph idx="1"/>
          </p:nvPr>
        </p:nvSpPr>
        <p:spPr>
          <a:xfrm>
            <a:off x="304800" y="228600"/>
            <a:ext cx="8839200" cy="6629400"/>
          </a:xfrm>
        </p:spPr>
        <p:txBody>
          <a:bodyPr/>
          <a:lstStyle/>
          <a:p>
            <a:r>
              <a:rPr lang="en-US" altLang="en-US" sz="2400" b="1" dirty="0"/>
              <a:t>Mantle</a:t>
            </a:r>
          </a:p>
          <a:p>
            <a:pPr algn="just">
              <a:buFont typeface="Arial" panose="020B0604020202020204" pitchFamily="34" charset="0"/>
              <a:buNone/>
            </a:pPr>
            <a:r>
              <a:rPr lang="en-US" altLang="en-US" sz="2400" dirty="0"/>
              <a:t>- 	layer between the core &amp; the crust</a:t>
            </a:r>
          </a:p>
          <a:p>
            <a:pPr algn="just">
              <a:buFontTx/>
              <a:buChar char="-"/>
            </a:pPr>
            <a:r>
              <a:rPr lang="en-US" altLang="en-US" sz="2400" dirty="0"/>
              <a:t>a thick layer (2900 km) of mostly molten rock</a:t>
            </a:r>
          </a:p>
          <a:p>
            <a:pPr marL="457200" lvl="1" indent="0" algn="just">
              <a:buNone/>
            </a:pPr>
            <a:r>
              <a:rPr lang="en-US" altLang="en-US" sz="2400" b="1" dirty="0"/>
              <a:t>Lithosphere: </a:t>
            </a:r>
            <a:r>
              <a:rPr lang="en-US" altLang="en-US" sz="2400" dirty="0"/>
              <a:t>The outer part of the mantle is rigid and behaves as a solid and this layer mostly merges with the crust. Lithosphere consist of the crust and part of upper mantle, which is about 100 km thick. The lithosphere is the earth’s solid crust and upper mantle. Lithosphere contains non-renewable fossil fuels and minerals we use as well as renewable soil chemicals that organisms need to live, grow and reproduce. </a:t>
            </a:r>
          </a:p>
          <a:p>
            <a:pPr algn="just">
              <a:buNone/>
            </a:pPr>
            <a:r>
              <a:rPr lang="en-US" altLang="en-US" sz="2400" dirty="0"/>
              <a:t>	</a:t>
            </a:r>
            <a:r>
              <a:rPr lang="en-US" altLang="en-US" sz="2400" b="1" dirty="0"/>
              <a:t>Asthenosphere</a:t>
            </a:r>
            <a:r>
              <a:rPr lang="en-US" altLang="en-US" sz="2400" dirty="0"/>
              <a:t>: The layer just beneath the lithosphere is known as asthenosphere. Its materials behave more like flowing plastic than solid rock and is about 200 km thick.</a:t>
            </a:r>
          </a:p>
          <a:p>
            <a:pPr algn="just">
              <a:buNone/>
            </a:pPr>
            <a:endParaRPr lang="en-US" altLang="en-US" sz="3000" dirty="0"/>
          </a:p>
        </p:txBody>
      </p:sp>
    </p:spTree>
    <p:custDataLst>
      <p:tags r:id="rId1"/>
    </p:custDataLst>
  </p:cSld>
  <p:clrMapOvr>
    <a:masterClrMapping/>
  </p:clrMapOvr>
  <p:transition spd="slow" advTm="106689"/>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4" presetClass="entr" presetSubtype="1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4" dur="500"/>
                                        <p:tgtEl>
                                          <p:spTgt spid="3">
                                            <p:txEl>
                                              <p:pRg st="1" end="1"/>
                                            </p:txEl>
                                          </p:spTgt>
                                        </p:tgtEl>
                                      </p:cBhvr>
                                    </p:animEffect>
                                  </p:childTnLst>
                                </p:cTn>
                              </p:par>
                              <p:par>
                                <p:cTn id="15" presetID="14" presetClass="entr" presetSubtype="1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par>
                                <p:cTn id="18" presetID="26" presetClass="entr" presetSubtype="0"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down)">
                                      <p:cBhvr>
                                        <p:cTn id="20" dur="580">
                                          <p:stCondLst>
                                            <p:cond delay="0"/>
                                          </p:stCondLst>
                                        </p:cTn>
                                        <p:tgtEl>
                                          <p:spTgt spid="3">
                                            <p:txEl>
                                              <p:pRg st="3" end="3"/>
                                            </p:txEl>
                                          </p:spTgt>
                                        </p:tgtEl>
                                      </p:cBhvr>
                                    </p:animEffect>
                                    <p:anim calcmode="lin" valueType="num">
                                      <p:cBhvr>
                                        <p:cTn id="21"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26" dur="26">
                                          <p:stCondLst>
                                            <p:cond delay="650"/>
                                          </p:stCondLst>
                                        </p:cTn>
                                        <p:tgtEl>
                                          <p:spTgt spid="3">
                                            <p:txEl>
                                              <p:pRg st="3" end="3"/>
                                            </p:txEl>
                                          </p:spTgt>
                                        </p:tgtEl>
                                      </p:cBhvr>
                                      <p:to x="100000" y="60000"/>
                                    </p:animScale>
                                    <p:animScale>
                                      <p:cBhvr>
                                        <p:cTn id="27" dur="166" decel="50000">
                                          <p:stCondLst>
                                            <p:cond delay="676"/>
                                          </p:stCondLst>
                                        </p:cTn>
                                        <p:tgtEl>
                                          <p:spTgt spid="3">
                                            <p:txEl>
                                              <p:pRg st="3" end="3"/>
                                            </p:txEl>
                                          </p:spTgt>
                                        </p:tgtEl>
                                      </p:cBhvr>
                                      <p:to x="100000" y="100000"/>
                                    </p:animScale>
                                    <p:animScale>
                                      <p:cBhvr>
                                        <p:cTn id="28" dur="26">
                                          <p:stCondLst>
                                            <p:cond delay="1312"/>
                                          </p:stCondLst>
                                        </p:cTn>
                                        <p:tgtEl>
                                          <p:spTgt spid="3">
                                            <p:txEl>
                                              <p:pRg st="3" end="3"/>
                                            </p:txEl>
                                          </p:spTgt>
                                        </p:tgtEl>
                                      </p:cBhvr>
                                      <p:to x="100000" y="80000"/>
                                    </p:animScale>
                                    <p:animScale>
                                      <p:cBhvr>
                                        <p:cTn id="29" dur="166" decel="50000">
                                          <p:stCondLst>
                                            <p:cond delay="1338"/>
                                          </p:stCondLst>
                                        </p:cTn>
                                        <p:tgtEl>
                                          <p:spTgt spid="3">
                                            <p:txEl>
                                              <p:pRg st="3" end="3"/>
                                            </p:txEl>
                                          </p:spTgt>
                                        </p:tgtEl>
                                      </p:cBhvr>
                                      <p:to x="100000" y="100000"/>
                                    </p:animScale>
                                    <p:animScale>
                                      <p:cBhvr>
                                        <p:cTn id="30" dur="26">
                                          <p:stCondLst>
                                            <p:cond delay="1642"/>
                                          </p:stCondLst>
                                        </p:cTn>
                                        <p:tgtEl>
                                          <p:spTgt spid="3">
                                            <p:txEl>
                                              <p:pRg st="3" end="3"/>
                                            </p:txEl>
                                          </p:spTgt>
                                        </p:tgtEl>
                                      </p:cBhvr>
                                      <p:to x="100000" y="90000"/>
                                    </p:animScale>
                                    <p:animScale>
                                      <p:cBhvr>
                                        <p:cTn id="31" dur="166" decel="50000">
                                          <p:stCondLst>
                                            <p:cond delay="1668"/>
                                          </p:stCondLst>
                                        </p:cTn>
                                        <p:tgtEl>
                                          <p:spTgt spid="3">
                                            <p:txEl>
                                              <p:pRg st="3" end="3"/>
                                            </p:txEl>
                                          </p:spTgt>
                                        </p:tgtEl>
                                      </p:cBhvr>
                                      <p:to x="100000" y="100000"/>
                                    </p:animScale>
                                    <p:animScale>
                                      <p:cBhvr>
                                        <p:cTn id="32" dur="26">
                                          <p:stCondLst>
                                            <p:cond delay="1808"/>
                                          </p:stCondLst>
                                        </p:cTn>
                                        <p:tgtEl>
                                          <p:spTgt spid="3">
                                            <p:txEl>
                                              <p:pRg st="3" end="3"/>
                                            </p:txEl>
                                          </p:spTgt>
                                        </p:tgtEl>
                                      </p:cBhvr>
                                      <p:to x="100000" y="95000"/>
                                    </p:animScale>
                                    <p:animScale>
                                      <p:cBhvr>
                                        <p:cTn id="33" dur="166" decel="50000">
                                          <p:stCondLst>
                                            <p:cond delay="1834"/>
                                          </p:stCondLst>
                                        </p:cTn>
                                        <p:tgtEl>
                                          <p:spTgt spid="3">
                                            <p:txEl>
                                              <p:pRg st="3" end="3"/>
                                            </p:txEl>
                                          </p:spTgt>
                                        </p:tgtEl>
                                      </p:cBhvr>
                                      <p:to x="100000" y="100000"/>
                                    </p:animScale>
                                  </p:childTnLst>
                                </p:cTn>
                              </p:par>
                              <p:par>
                                <p:cTn id="34" presetID="26" presetClass="entr" presetSubtype="0" fill="hold" nodeType="with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wipe(down)">
                                      <p:cBhvr>
                                        <p:cTn id="36" dur="580">
                                          <p:stCondLst>
                                            <p:cond delay="0"/>
                                          </p:stCondLst>
                                        </p:cTn>
                                        <p:tgtEl>
                                          <p:spTgt spid="3">
                                            <p:txEl>
                                              <p:pRg st="4" end="4"/>
                                            </p:txEl>
                                          </p:spTgt>
                                        </p:tgtEl>
                                      </p:cBhvr>
                                    </p:animEffect>
                                    <p:anim calcmode="lin" valueType="num">
                                      <p:cBhvr>
                                        <p:cTn id="37"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38"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39"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40"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41"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42" dur="26">
                                          <p:stCondLst>
                                            <p:cond delay="650"/>
                                          </p:stCondLst>
                                        </p:cTn>
                                        <p:tgtEl>
                                          <p:spTgt spid="3">
                                            <p:txEl>
                                              <p:pRg st="4" end="4"/>
                                            </p:txEl>
                                          </p:spTgt>
                                        </p:tgtEl>
                                      </p:cBhvr>
                                      <p:to x="100000" y="60000"/>
                                    </p:animScale>
                                    <p:animScale>
                                      <p:cBhvr>
                                        <p:cTn id="43" dur="166" decel="50000">
                                          <p:stCondLst>
                                            <p:cond delay="676"/>
                                          </p:stCondLst>
                                        </p:cTn>
                                        <p:tgtEl>
                                          <p:spTgt spid="3">
                                            <p:txEl>
                                              <p:pRg st="4" end="4"/>
                                            </p:txEl>
                                          </p:spTgt>
                                        </p:tgtEl>
                                      </p:cBhvr>
                                      <p:to x="100000" y="100000"/>
                                    </p:animScale>
                                    <p:animScale>
                                      <p:cBhvr>
                                        <p:cTn id="44" dur="26">
                                          <p:stCondLst>
                                            <p:cond delay="1312"/>
                                          </p:stCondLst>
                                        </p:cTn>
                                        <p:tgtEl>
                                          <p:spTgt spid="3">
                                            <p:txEl>
                                              <p:pRg st="4" end="4"/>
                                            </p:txEl>
                                          </p:spTgt>
                                        </p:tgtEl>
                                      </p:cBhvr>
                                      <p:to x="100000" y="80000"/>
                                    </p:animScale>
                                    <p:animScale>
                                      <p:cBhvr>
                                        <p:cTn id="45" dur="166" decel="50000">
                                          <p:stCondLst>
                                            <p:cond delay="1338"/>
                                          </p:stCondLst>
                                        </p:cTn>
                                        <p:tgtEl>
                                          <p:spTgt spid="3">
                                            <p:txEl>
                                              <p:pRg st="4" end="4"/>
                                            </p:txEl>
                                          </p:spTgt>
                                        </p:tgtEl>
                                      </p:cBhvr>
                                      <p:to x="100000" y="100000"/>
                                    </p:animScale>
                                    <p:animScale>
                                      <p:cBhvr>
                                        <p:cTn id="46" dur="26">
                                          <p:stCondLst>
                                            <p:cond delay="1642"/>
                                          </p:stCondLst>
                                        </p:cTn>
                                        <p:tgtEl>
                                          <p:spTgt spid="3">
                                            <p:txEl>
                                              <p:pRg st="4" end="4"/>
                                            </p:txEl>
                                          </p:spTgt>
                                        </p:tgtEl>
                                      </p:cBhvr>
                                      <p:to x="100000" y="90000"/>
                                    </p:animScale>
                                    <p:animScale>
                                      <p:cBhvr>
                                        <p:cTn id="47" dur="166" decel="50000">
                                          <p:stCondLst>
                                            <p:cond delay="1668"/>
                                          </p:stCondLst>
                                        </p:cTn>
                                        <p:tgtEl>
                                          <p:spTgt spid="3">
                                            <p:txEl>
                                              <p:pRg st="4" end="4"/>
                                            </p:txEl>
                                          </p:spTgt>
                                        </p:tgtEl>
                                      </p:cBhvr>
                                      <p:to x="100000" y="100000"/>
                                    </p:animScale>
                                    <p:animScale>
                                      <p:cBhvr>
                                        <p:cTn id="48" dur="26">
                                          <p:stCondLst>
                                            <p:cond delay="1808"/>
                                          </p:stCondLst>
                                        </p:cTn>
                                        <p:tgtEl>
                                          <p:spTgt spid="3">
                                            <p:txEl>
                                              <p:pRg st="4" end="4"/>
                                            </p:txEl>
                                          </p:spTgt>
                                        </p:tgtEl>
                                      </p:cBhvr>
                                      <p:to x="100000" y="95000"/>
                                    </p:animScale>
                                    <p:animScale>
                                      <p:cBhvr>
                                        <p:cTn id="49" dur="166" decel="50000">
                                          <p:stCondLst>
                                            <p:cond delay="1834"/>
                                          </p:stCondLst>
                                        </p:cTn>
                                        <p:tgtEl>
                                          <p:spTgt spid="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a:extLst>
              <a:ext uri="{FF2B5EF4-FFF2-40B4-BE49-F238E27FC236}">
                <a16:creationId xmlns:a16="http://schemas.microsoft.com/office/drawing/2014/main" id="{291D37EF-F3FB-4220-A6BE-D3842BE3196A}"/>
              </a:ext>
            </a:extLst>
          </p:cNvPr>
          <p:cNvSpPr>
            <a:spLocks noGrp="1"/>
          </p:cNvSpPr>
          <p:nvPr>
            <p:ph idx="1"/>
          </p:nvPr>
        </p:nvSpPr>
        <p:spPr>
          <a:xfrm>
            <a:off x="228600" y="152400"/>
            <a:ext cx="8686800" cy="6553200"/>
          </a:xfrm>
        </p:spPr>
        <p:txBody>
          <a:bodyPr/>
          <a:lstStyle/>
          <a:p>
            <a:pPr algn="just"/>
            <a:r>
              <a:rPr lang="en-US" altLang="en-US" sz="2800"/>
              <a:t>Crust </a:t>
            </a:r>
          </a:p>
          <a:p>
            <a:pPr algn="just">
              <a:buFontTx/>
              <a:buChar char="-"/>
            </a:pPr>
            <a:r>
              <a:rPr lang="en-US" altLang="en-US" sz="2800"/>
              <a:t>the outer shell of the earth which varies in thickness from 5-50 km. </a:t>
            </a:r>
          </a:p>
          <a:p>
            <a:pPr algn="just">
              <a:buFontTx/>
              <a:buChar char="-"/>
            </a:pPr>
            <a:r>
              <a:rPr lang="en-US" altLang="en-US" sz="2800"/>
              <a:t>It is solid &amp; generally consists of low density materials</a:t>
            </a:r>
          </a:p>
          <a:p>
            <a:pPr algn="just">
              <a:buFontTx/>
              <a:buChar char="-"/>
            </a:pPr>
            <a:r>
              <a:rPr lang="en-US" altLang="en-US" sz="2800"/>
              <a:t>May be divided into two parts </a:t>
            </a:r>
          </a:p>
          <a:p>
            <a:pPr lvl="1" algn="just">
              <a:buFont typeface="Wingdings" panose="05000000000000000000" pitchFamily="2" charset="2"/>
              <a:buChar char="Ø"/>
            </a:pPr>
            <a:r>
              <a:rPr lang="en-US" altLang="en-US"/>
              <a:t>   upper crust/continental crust- up to 100 km thick under the mountains </a:t>
            </a:r>
          </a:p>
          <a:p>
            <a:pPr lvl="1" algn="just">
              <a:buFont typeface="Wingdings" panose="05000000000000000000" pitchFamily="2" charset="2"/>
              <a:buChar char="Ø"/>
            </a:pPr>
            <a:r>
              <a:rPr lang="en-US" altLang="en-US"/>
              <a:t>   lower crust/oceanic crust- only 5 km thick under the oceans</a:t>
            </a:r>
          </a:p>
          <a:p>
            <a:pPr algn="just">
              <a:buFontTx/>
              <a:buChar char="-"/>
            </a:pPr>
            <a:r>
              <a:rPr lang="en-US" altLang="en-US" sz="2800"/>
              <a:t>The upper crust is also known as ‘sial’ as rocks of this part is composed mainly of silica &amp; aluminium. </a:t>
            </a:r>
          </a:p>
          <a:p>
            <a:pPr algn="just">
              <a:buFontTx/>
              <a:buChar char="-"/>
            </a:pPr>
            <a:r>
              <a:rPr lang="en-US" altLang="en-US" sz="2800"/>
              <a:t>The lower crust is called ‘sima’ as silica &amp; magnesium are the most common minerals here.</a:t>
            </a:r>
          </a:p>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2000" advTm="47238"/>
    </mc:Choice>
    <mc:Fallback xmlns="">
      <p:transition spd="slow" advTm="4723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CD840FD-3C17-440A-8DE1-FBA32D01529E}"/>
              </a:ext>
            </a:extLst>
          </p:cNvPr>
          <p:cNvSpPr>
            <a:spLocks noGrp="1"/>
          </p:cNvSpPr>
          <p:nvPr>
            <p:ph type="title" idx="4294967295"/>
          </p:nvPr>
        </p:nvSpPr>
        <p:spPr>
          <a:xfrm>
            <a:off x="152400" y="76200"/>
            <a:ext cx="8763000" cy="762000"/>
          </a:xfrm>
        </p:spPr>
        <p:txBody>
          <a:bodyPr/>
          <a:lstStyle/>
          <a:p>
            <a:pPr eaLnBrk="1" hangingPunct="1"/>
            <a:r>
              <a:rPr lang="en-US" altLang="en-US" sz="4000" b="1">
                <a:solidFill>
                  <a:srgbClr val="800000"/>
                </a:solidFill>
                <a:latin typeface="Garamond" panose="02020404030301010803" pitchFamily="18" charset="0"/>
              </a:rPr>
              <a:t>Composition of Earth’s Crust</a:t>
            </a:r>
          </a:p>
        </p:txBody>
      </p:sp>
      <p:sp>
        <p:nvSpPr>
          <p:cNvPr id="12292" name="Rectangle 5">
            <a:extLst>
              <a:ext uri="{FF2B5EF4-FFF2-40B4-BE49-F238E27FC236}">
                <a16:creationId xmlns:a16="http://schemas.microsoft.com/office/drawing/2014/main" id="{D1957254-AB0C-45C4-A9A7-24187C3F2C05}"/>
              </a:ext>
            </a:extLst>
          </p:cNvPr>
          <p:cNvSpPr>
            <a:spLocks noChangeArrowheads="1"/>
          </p:cNvSpPr>
          <p:nvPr/>
        </p:nvSpPr>
        <p:spPr bwMode="auto">
          <a:xfrm>
            <a:off x="228600" y="914400"/>
            <a:ext cx="8763000" cy="5638800"/>
          </a:xfrm>
          <a:prstGeom prst="rect">
            <a:avLst/>
          </a:prstGeom>
          <a:noFill/>
          <a:ln w="9525">
            <a:noFill/>
            <a:miter lim="800000"/>
            <a:headEnd/>
            <a:tailEnd/>
          </a:ln>
        </p:spPr>
        <p:txBody>
          <a:bodyPr>
            <a:spAutoFit/>
          </a:bodyPr>
          <a:lstStyle/>
          <a:p>
            <a:pPr marL="225425" indent="-225425">
              <a:lnSpc>
                <a:spcPct val="90000"/>
              </a:lnSpc>
              <a:buFont typeface="Wingdings" pitchFamily="2" charset="2"/>
              <a:buChar char="§"/>
              <a:defRPr/>
            </a:pPr>
            <a:r>
              <a:rPr lang="en-US" sz="2800" b="1" dirty="0">
                <a:latin typeface="Garamond" pitchFamily="18" charset="0"/>
                <a:cs typeface="Times New Roman" pitchFamily="18" charset="0"/>
              </a:rPr>
              <a:t>Only 8 elements make up 99% of the weight of Earth’s crust. These are, in order of abundance,</a:t>
            </a:r>
          </a:p>
          <a:p>
            <a:pPr marL="1379538" indent="-225425">
              <a:lnSpc>
                <a:spcPct val="90000"/>
              </a:lnSpc>
              <a:defRPr/>
            </a:pPr>
            <a:endParaRPr lang="en-US" sz="2800" b="1" dirty="0">
              <a:latin typeface="Garamond" pitchFamily="18" charset="0"/>
              <a:cs typeface="Times New Roman" pitchFamily="18" charset="0"/>
            </a:endParaRPr>
          </a:p>
          <a:p>
            <a:pPr marL="1379538" indent="-225425">
              <a:lnSpc>
                <a:spcPct val="90000"/>
              </a:lnSpc>
              <a:buFont typeface="Arial" pitchFamily="34" charset="0"/>
              <a:buChar char="•"/>
              <a:defRPr/>
            </a:pPr>
            <a:r>
              <a:rPr lang="en-US" sz="2800" b="1" dirty="0">
                <a:latin typeface="Garamond" pitchFamily="18" charset="0"/>
                <a:cs typeface="Times New Roman" pitchFamily="18" charset="0"/>
              </a:rPr>
              <a:t>Oxygen		47%</a:t>
            </a:r>
          </a:p>
          <a:p>
            <a:pPr marL="1379538" indent="-225425">
              <a:lnSpc>
                <a:spcPct val="90000"/>
              </a:lnSpc>
              <a:buFont typeface="Arial" pitchFamily="34" charset="0"/>
              <a:buChar char="•"/>
              <a:defRPr/>
            </a:pPr>
            <a:r>
              <a:rPr lang="en-US" sz="2800" b="1" dirty="0">
                <a:latin typeface="Garamond" pitchFamily="18" charset="0"/>
                <a:cs typeface="Times New Roman" pitchFamily="18" charset="0"/>
              </a:rPr>
              <a:t>Silicon		28%</a:t>
            </a:r>
          </a:p>
          <a:p>
            <a:pPr marL="1379538" indent="-225425">
              <a:lnSpc>
                <a:spcPct val="90000"/>
              </a:lnSpc>
              <a:buFont typeface="Arial" pitchFamily="34" charset="0"/>
              <a:buChar char="•"/>
              <a:defRPr/>
            </a:pPr>
            <a:r>
              <a:rPr lang="en-US" sz="2800" b="1" dirty="0">
                <a:latin typeface="Garamond" pitchFamily="18" charset="0"/>
                <a:cs typeface="Times New Roman" pitchFamily="18" charset="0"/>
              </a:rPr>
              <a:t>Aluminum	8%	</a:t>
            </a:r>
          </a:p>
          <a:p>
            <a:pPr marL="1379538" indent="-225425">
              <a:lnSpc>
                <a:spcPct val="90000"/>
              </a:lnSpc>
              <a:buFont typeface="Arial" pitchFamily="34" charset="0"/>
              <a:buChar char="•"/>
              <a:defRPr/>
            </a:pPr>
            <a:r>
              <a:rPr lang="en-US" sz="2800" b="1" dirty="0">
                <a:latin typeface="Garamond" pitchFamily="18" charset="0"/>
                <a:cs typeface="Times New Roman" pitchFamily="18" charset="0"/>
              </a:rPr>
              <a:t>Iron		5%</a:t>
            </a:r>
          </a:p>
          <a:p>
            <a:pPr marL="1379538" indent="-225425">
              <a:lnSpc>
                <a:spcPct val="90000"/>
              </a:lnSpc>
              <a:buFont typeface="Arial" pitchFamily="34" charset="0"/>
              <a:buChar char="•"/>
              <a:defRPr/>
            </a:pPr>
            <a:r>
              <a:rPr lang="en-US" sz="2800" b="1" dirty="0">
                <a:latin typeface="Garamond" pitchFamily="18" charset="0"/>
                <a:cs typeface="Times New Roman" pitchFamily="18" charset="0"/>
              </a:rPr>
              <a:t>Calcium		4%</a:t>
            </a:r>
          </a:p>
          <a:p>
            <a:pPr marL="1379538" indent="-225425">
              <a:lnSpc>
                <a:spcPct val="90000"/>
              </a:lnSpc>
              <a:buFont typeface="Arial" pitchFamily="34" charset="0"/>
              <a:buChar char="•"/>
              <a:defRPr/>
            </a:pPr>
            <a:r>
              <a:rPr lang="en-US" sz="2800" b="1" dirty="0">
                <a:latin typeface="Garamond" pitchFamily="18" charset="0"/>
                <a:cs typeface="Times New Roman" pitchFamily="18" charset="0"/>
              </a:rPr>
              <a:t>Sodium		3%</a:t>
            </a:r>
          </a:p>
          <a:p>
            <a:pPr marL="1379538" indent="-225425">
              <a:lnSpc>
                <a:spcPct val="90000"/>
              </a:lnSpc>
              <a:buFont typeface="Arial" pitchFamily="34" charset="0"/>
              <a:buChar char="•"/>
              <a:defRPr/>
            </a:pPr>
            <a:r>
              <a:rPr lang="en-US" sz="2800" b="1" dirty="0">
                <a:latin typeface="Garamond" pitchFamily="18" charset="0"/>
                <a:cs typeface="Times New Roman" pitchFamily="18" charset="0"/>
              </a:rPr>
              <a:t>Potassium	2%</a:t>
            </a:r>
          </a:p>
          <a:p>
            <a:pPr marL="1379538" indent="-225425">
              <a:lnSpc>
                <a:spcPct val="90000"/>
              </a:lnSpc>
              <a:buFont typeface="Arial" pitchFamily="34" charset="0"/>
              <a:buChar char="•"/>
              <a:defRPr/>
            </a:pPr>
            <a:r>
              <a:rPr lang="en-US" sz="2800" b="1" dirty="0">
                <a:latin typeface="Garamond" pitchFamily="18" charset="0"/>
                <a:cs typeface="Times New Roman" pitchFamily="18" charset="0"/>
              </a:rPr>
              <a:t>Magnesium	2%</a:t>
            </a:r>
          </a:p>
          <a:p>
            <a:pPr marL="225425" indent="-225425">
              <a:lnSpc>
                <a:spcPct val="90000"/>
              </a:lnSpc>
              <a:defRPr/>
            </a:pPr>
            <a:r>
              <a:rPr lang="en-US" sz="2800" b="1" dirty="0">
                <a:latin typeface="Garamond" pitchFamily="18" charset="0"/>
                <a:cs typeface="Times New Roman" pitchFamily="18" charset="0"/>
              </a:rPr>
              <a:t> </a:t>
            </a:r>
          </a:p>
          <a:p>
            <a:pPr marL="225425" indent="-225425">
              <a:lnSpc>
                <a:spcPct val="90000"/>
              </a:lnSpc>
              <a:buFont typeface="Wingdings" pitchFamily="2" charset="2"/>
              <a:buChar char="§"/>
              <a:tabLst>
                <a:tab pos="225425" algn="l"/>
              </a:tabLst>
              <a:defRPr/>
            </a:pPr>
            <a:r>
              <a:rPr lang="en-US" sz="2800" b="1" dirty="0">
                <a:latin typeface="Garamond" pitchFamily="18" charset="0"/>
                <a:cs typeface="Times New Roman" pitchFamily="18" charset="0"/>
              </a:rPr>
              <a:t>All other elements make up only 1% of the weight of Earth’s crust.</a:t>
            </a:r>
          </a:p>
        </p:txBody>
      </p:sp>
    </p:spTree>
  </p:cSld>
  <p:clrMapOvr>
    <a:masterClrMapping/>
  </p:clrMapOvr>
  <p:transition advTm="66714"/>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a:extLst>
              <a:ext uri="{FF2B5EF4-FFF2-40B4-BE49-F238E27FC236}">
                <a16:creationId xmlns:a16="http://schemas.microsoft.com/office/drawing/2014/main" id="{08159FD6-9D34-492C-8816-7486884E6D73}"/>
              </a:ext>
            </a:extLst>
          </p:cNvPr>
          <p:cNvSpPr>
            <a:spLocks noChangeArrowheads="1"/>
          </p:cNvSpPr>
          <p:nvPr/>
        </p:nvSpPr>
        <p:spPr bwMode="auto">
          <a:xfrm>
            <a:off x="0" y="0"/>
            <a:ext cx="9144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000" b="1" dirty="0">
                <a:solidFill>
                  <a:srgbClr val="800000"/>
                </a:solidFill>
                <a:latin typeface="Garamond" panose="02020404030301010803" pitchFamily="18" charset="0"/>
                <a:cs typeface="Times New Roman" panose="02020603050405020304" pitchFamily="18" charset="0"/>
              </a:rPr>
              <a:t>Plates &amp; Plate Tectonics</a:t>
            </a:r>
            <a:endParaRPr lang="en-US" altLang="en-US" sz="4000" dirty="0">
              <a:solidFill>
                <a:srgbClr val="800000"/>
              </a:solidFill>
              <a:latin typeface="Tahoma" panose="020B0604030504040204" pitchFamily="34" charset="0"/>
            </a:endParaRPr>
          </a:p>
        </p:txBody>
      </p:sp>
      <p:sp>
        <p:nvSpPr>
          <p:cNvPr id="3" name="Rectangle 2">
            <a:extLst>
              <a:ext uri="{FF2B5EF4-FFF2-40B4-BE49-F238E27FC236}">
                <a16:creationId xmlns:a16="http://schemas.microsoft.com/office/drawing/2014/main" id="{A83DD8B0-5C93-4E2F-A0C4-31A11BC042B8}"/>
              </a:ext>
            </a:extLst>
          </p:cNvPr>
          <p:cNvSpPr/>
          <p:nvPr/>
        </p:nvSpPr>
        <p:spPr>
          <a:xfrm>
            <a:off x="152400" y="685800"/>
            <a:ext cx="8915400" cy="4524315"/>
          </a:xfrm>
          <a:prstGeom prst="rect">
            <a:avLst/>
          </a:prstGeom>
        </p:spPr>
        <p:txBody>
          <a:bodyPr>
            <a:spAutoFit/>
          </a:bodyPr>
          <a:lstStyle/>
          <a:p>
            <a:pPr marL="225425" indent="-225425">
              <a:buClr>
                <a:schemeClr val="tx1"/>
              </a:buClr>
              <a:buFont typeface="Wingdings" pitchFamily="2" charset="2"/>
              <a:buChar char="§"/>
              <a:defRPr/>
            </a:pPr>
            <a:r>
              <a:rPr lang="en-US" sz="3200" b="1" dirty="0">
                <a:solidFill>
                  <a:srgbClr val="FF6600"/>
                </a:solidFill>
                <a:latin typeface="Garamond" pitchFamily="18" charset="0"/>
                <a:cs typeface="Times New Roman" pitchFamily="18" charset="0"/>
              </a:rPr>
              <a:t>Plates: </a:t>
            </a:r>
            <a:r>
              <a:rPr lang="en-US" sz="3200" b="1" dirty="0">
                <a:latin typeface="Garamond" pitchFamily="18" charset="0"/>
                <a:cs typeface="Times New Roman" pitchFamily="18" charset="0"/>
              </a:rPr>
              <a:t>Various-sized areas of Earth’s lithosphere that moves slowly around on the mantle’s flowing asthenosphere</a:t>
            </a:r>
          </a:p>
          <a:p>
            <a:pPr marL="225425" indent="-225425">
              <a:buFont typeface="Wingdings" pitchFamily="2" charset="2"/>
              <a:buChar char="§"/>
              <a:defRPr/>
            </a:pPr>
            <a:r>
              <a:rPr lang="en-US" sz="3200" b="1" dirty="0">
                <a:latin typeface="Garamond" pitchFamily="18" charset="0"/>
                <a:cs typeface="Times New Roman" pitchFamily="18" charset="0"/>
              </a:rPr>
              <a:t>Earthquakes and volcanoes occur around the boundaries of these plates</a:t>
            </a:r>
          </a:p>
          <a:p>
            <a:pPr>
              <a:defRPr/>
            </a:pPr>
            <a:endParaRPr lang="en-US" sz="3200" b="1" dirty="0">
              <a:latin typeface="Garamond" pitchFamily="18" charset="0"/>
              <a:cs typeface="Times New Roman" pitchFamily="18" charset="0"/>
            </a:endParaRPr>
          </a:p>
          <a:p>
            <a:pPr marL="225425" indent="-225425">
              <a:buClr>
                <a:schemeClr val="tx1"/>
              </a:buClr>
              <a:buFont typeface="Wingdings" pitchFamily="2" charset="2"/>
              <a:buChar char="§"/>
              <a:defRPr/>
            </a:pPr>
            <a:r>
              <a:rPr lang="en-US" sz="3200" b="1" dirty="0">
                <a:solidFill>
                  <a:srgbClr val="FF6600"/>
                </a:solidFill>
                <a:latin typeface="Garamond" pitchFamily="18" charset="0"/>
              </a:rPr>
              <a:t>Plate tectonics: </a:t>
            </a:r>
            <a:r>
              <a:rPr lang="en-US" sz="3200" b="1" dirty="0">
                <a:latin typeface="Garamond" pitchFamily="18" charset="0"/>
              </a:rPr>
              <a:t>Theory of geophysical processes that explains the movements of Earth’s plates and the processes that occur at their boundaries</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41940"/>
    </mc:Choice>
    <mc:Fallback xmlns="">
      <p:transition spd="slow" advTm="1419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animEffect transition="in" filter="fade">
                                      <p:cBhvr>
                                        <p:cTn id="7" dur="1000"/>
                                        <p:tgtEl>
                                          <p:spTgt spid="15362">
                                            <p:txEl>
                                              <p:pRg st="0" end="0"/>
                                            </p:txEl>
                                          </p:spTgt>
                                        </p:tgtEl>
                                      </p:cBhvr>
                                    </p:animEffect>
                                    <p:anim calcmode="lin" valueType="num">
                                      <p:cBhvr>
                                        <p:cTn id="8" dur="1000" fill="hold"/>
                                        <p:tgtEl>
                                          <p:spTgt spid="1536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36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C:\Users\tanvirahmed\Desktop\Extra\imagea.jpg">
            <a:extLst>
              <a:ext uri="{FF2B5EF4-FFF2-40B4-BE49-F238E27FC236}">
                <a16:creationId xmlns:a16="http://schemas.microsoft.com/office/drawing/2014/main" id="{5E880F42-34DA-4BDF-BA2D-4524420BF4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5" y="0"/>
            <a:ext cx="6248400"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6">
            <a:extLst>
              <a:ext uri="{FF2B5EF4-FFF2-40B4-BE49-F238E27FC236}">
                <a16:creationId xmlns:a16="http://schemas.microsoft.com/office/drawing/2014/main" id="{5984DC46-E362-4425-A15A-B56BA45F481B}"/>
              </a:ext>
            </a:extLst>
          </p:cNvPr>
          <p:cNvSpPr>
            <a:spLocks noChangeArrowheads="1"/>
          </p:cNvSpPr>
          <p:nvPr/>
        </p:nvSpPr>
        <p:spPr bwMode="auto">
          <a:xfrm>
            <a:off x="6400800" y="5029200"/>
            <a:ext cx="25908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lvl="2">
              <a:spcBef>
                <a:spcPct val="0"/>
              </a:spcBef>
              <a:buFontTx/>
              <a:buNone/>
            </a:pPr>
            <a:r>
              <a:rPr lang="en-US" altLang="en-US" sz="2000" b="1" u="sng" dirty="0">
                <a:latin typeface="Garamond" panose="02020404030301010803" pitchFamily="18" charset="0"/>
              </a:rPr>
              <a:t>Figure: </a:t>
            </a:r>
          </a:p>
          <a:p>
            <a:pPr marL="0" lvl="2">
              <a:spcBef>
                <a:spcPct val="0"/>
              </a:spcBef>
              <a:buFontTx/>
              <a:buNone/>
            </a:pPr>
            <a:endParaRPr lang="en-US" altLang="en-US" sz="1000" b="1" u="sng" dirty="0">
              <a:latin typeface="Garamond" panose="02020404030301010803" pitchFamily="18" charset="0"/>
            </a:endParaRPr>
          </a:p>
          <a:p>
            <a:pPr marL="0" lvl="2">
              <a:spcBef>
                <a:spcPct val="0"/>
              </a:spcBef>
              <a:buFontTx/>
              <a:buNone/>
            </a:pPr>
            <a:r>
              <a:rPr lang="en-US" altLang="en-US" sz="2000" b="1" dirty="0">
                <a:latin typeface="Garamond" panose="02020404030301010803" pitchFamily="18" charset="0"/>
              </a:rPr>
              <a:t>Types of boundaries between Earth’s lithospheric plates.</a:t>
            </a:r>
          </a:p>
        </p:txBody>
      </p:sp>
      <p:sp>
        <p:nvSpPr>
          <p:cNvPr id="2" name="Rectangle 1">
            <a:extLst>
              <a:ext uri="{FF2B5EF4-FFF2-40B4-BE49-F238E27FC236}">
                <a16:creationId xmlns:a16="http://schemas.microsoft.com/office/drawing/2014/main" id="{2AB2B0D0-DB60-4BD2-BA18-688A28ED4C1F}"/>
              </a:ext>
            </a:extLst>
          </p:cNvPr>
          <p:cNvSpPr/>
          <p:nvPr/>
        </p:nvSpPr>
        <p:spPr>
          <a:xfrm>
            <a:off x="6268065" y="4916"/>
            <a:ext cx="2856270" cy="1477328"/>
          </a:xfrm>
          <a:prstGeom prst="rect">
            <a:avLst/>
          </a:prstGeom>
        </p:spPr>
        <p:txBody>
          <a:bodyPr wrap="square">
            <a:spAutoFit/>
          </a:bodyPr>
          <a:lstStyle/>
          <a:p>
            <a:pPr marL="225425" indent="-225425">
              <a:buClr>
                <a:schemeClr val="tx1"/>
              </a:buClr>
              <a:buFont typeface="Wingdings" pitchFamily="2" charset="2"/>
              <a:buChar char="§"/>
              <a:defRPr/>
            </a:pPr>
            <a:r>
              <a:rPr lang="en-US" b="1" dirty="0">
                <a:latin typeface="Garamond" pitchFamily="18" charset="0"/>
              </a:rPr>
              <a:t>Lithospheric plates have 3 types of boundaries:</a:t>
            </a:r>
          </a:p>
          <a:p>
            <a:pPr marL="914400" indent="465138">
              <a:buClr>
                <a:schemeClr val="tx1"/>
              </a:buClr>
              <a:buFont typeface="Arial" pitchFamily="34" charset="0"/>
              <a:buChar char="•"/>
              <a:defRPr/>
            </a:pPr>
            <a:r>
              <a:rPr lang="en-US" b="1" dirty="0">
                <a:latin typeface="Garamond" pitchFamily="18" charset="0"/>
              </a:rPr>
              <a:t>Divergent</a:t>
            </a:r>
          </a:p>
          <a:p>
            <a:pPr marL="914400" indent="465138">
              <a:buClr>
                <a:schemeClr val="tx1"/>
              </a:buClr>
              <a:buFont typeface="Arial" pitchFamily="34" charset="0"/>
              <a:buChar char="•"/>
              <a:defRPr/>
            </a:pPr>
            <a:r>
              <a:rPr lang="en-US" b="1" dirty="0">
                <a:latin typeface="Garamond" pitchFamily="18" charset="0"/>
              </a:rPr>
              <a:t>Convergent</a:t>
            </a:r>
          </a:p>
          <a:p>
            <a:pPr marL="914400" indent="465138">
              <a:buClr>
                <a:schemeClr val="tx1"/>
              </a:buClr>
              <a:buFont typeface="Arial" pitchFamily="34" charset="0"/>
              <a:buChar char="•"/>
              <a:defRPr/>
            </a:pPr>
            <a:r>
              <a:rPr lang="en-US" b="1" dirty="0">
                <a:latin typeface="Garamond" pitchFamily="18" charset="0"/>
              </a:rPr>
              <a:t>Transform</a:t>
            </a:r>
          </a:p>
        </p:txBody>
      </p:sp>
    </p:spTree>
  </p:cSld>
  <p:clrMapOvr>
    <a:masterClrMapping/>
  </p:clrMapOvr>
  <mc:AlternateContent xmlns:mc="http://schemas.openxmlformats.org/markup-compatibility/2006" xmlns:p14="http://schemas.microsoft.com/office/powerpoint/2010/main">
    <mc:Choice Requires="p14">
      <p:transition spd="slow" p14:dur="2000" advTm="108591"/>
    </mc:Choice>
    <mc:Fallback xmlns="">
      <p:transition spd="slow" advTm="10859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F143102E-1BEC-406C-BC96-DFCC794EEB51}"/>
              </a:ext>
            </a:extLst>
          </p:cNvPr>
          <p:cNvSpPr>
            <a:spLocks noChangeArrowheads="1"/>
          </p:cNvSpPr>
          <p:nvPr/>
        </p:nvSpPr>
        <p:spPr bwMode="auto">
          <a:xfrm>
            <a:off x="1752600" y="2133600"/>
            <a:ext cx="54943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Wingdings" panose="05000000000000000000" pitchFamily="2" charset="2"/>
              <a:buNone/>
            </a:pPr>
            <a:r>
              <a:rPr lang="en-US" altLang="en-US" sz="6000" b="1">
                <a:solidFill>
                  <a:srgbClr val="003300"/>
                </a:solidFill>
                <a:latin typeface="Garamond" panose="02020404030301010803" pitchFamily="18" charset="0"/>
              </a:rPr>
              <a:t>Biosphere</a:t>
            </a:r>
          </a:p>
        </p:txBody>
      </p:sp>
    </p:spTree>
  </p:cSld>
  <p:clrMapOvr>
    <a:masterClrMapping/>
  </p:clrMapOvr>
  <mc:AlternateContent xmlns:mc="http://schemas.openxmlformats.org/markup-compatibility/2006" xmlns:p14="http://schemas.microsoft.com/office/powerpoint/2010/main">
    <mc:Choice Requires="p14">
      <p:transition spd="slow" p14:dur="2000" advTm="2064"/>
    </mc:Choice>
    <mc:Fallback xmlns="">
      <p:transition spd="slow" advTm="206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0812D309-4590-45FA-941D-CABCE6370087}"/>
              </a:ext>
            </a:extLst>
          </p:cNvPr>
          <p:cNvSpPr>
            <a:spLocks noGrp="1"/>
          </p:cNvSpPr>
          <p:nvPr>
            <p:ph idx="1"/>
          </p:nvPr>
        </p:nvSpPr>
        <p:spPr>
          <a:xfrm>
            <a:off x="228600" y="228600"/>
            <a:ext cx="8915400" cy="6248400"/>
          </a:xfrm>
        </p:spPr>
        <p:txBody>
          <a:bodyPr/>
          <a:lstStyle/>
          <a:p>
            <a:pPr algn="just" eaLnBrk="1" hangingPunct="1">
              <a:buFont typeface="Wingdings" panose="05000000000000000000" pitchFamily="2" charset="2"/>
              <a:buChar char="§"/>
            </a:pPr>
            <a:endParaRPr lang="en-US" altLang="en-US" sz="2800" b="1" dirty="0">
              <a:latin typeface="Garamond" panose="02020404030301010803" pitchFamily="18" charset="0"/>
            </a:endParaRPr>
          </a:p>
          <a:p>
            <a:pPr algn="just" eaLnBrk="1" hangingPunct="1">
              <a:buFont typeface="Wingdings" panose="05000000000000000000" pitchFamily="2" charset="2"/>
              <a:buChar char="§"/>
            </a:pPr>
            <a:r>
              <a:rPr lang="en-US" altLang="en-US" sz="2800" b="1" dirty="0">
                <a:latin typeface="Garamond" panose="02020404030301010803" pitchFamily="18" charset="0"/>
              </a:rPr>
              <a:t>Zone of the Earth where life is found</a:t>
            </a:r>
          </a:p>
          <a:p>
            <a:pPr algn="just" eaLnBrk="1" hangingPunct="1">
              <a:buFont typeface="Wingdings" panose="05000000000000000000" pitchFamily="2" charset="2"/>
              <a:buChar char="§"/>
            </a:pPr>
            <a:r>
              <a:rPr lang="en-US" altLang="en-US" sz="2800" b="1" dirty="0">
                <a:latin typeface="Garamond" panose="02020404030301010803" pitchFamily="18" charset="0"/>
              </a:rPr>
              <a:t>The biosphere consists of all living things, plant and animal</a:t>
            </a:r>
          </a:p>
          <a:p>
            <a:pPr algn="just" eaLnBrk="1" hangingPunct="1">
              <a:buFont typeface="Wingdings" panose="05000000000000000000" pitchFamily="2" charset="2"/>
              <a:buChar char="§"/>
            </a:pPr>
            <a:r>
              <a:rPr lang="en-US" altLang="en-US" sz="2800" b="1" dirty="0">
                <a:latin typeface="Garamond" panose="02020404030301010803" pitchFamily="18" charset="0"/>
              </a:rPr>
              <a:t>Cycling of matter in this sphere involves not only metabolic reactions in organisms, but also many abiotic chemical reactions</a:t>
            </a:r>
          </a:p>
          <a:p>
            <a:pPr algn="just" eaLnBrk="1" hangingPunct="1">
              <a:buFont typeface="Wingdings" panose="05000000000000000000" pitchFamily="2" charset="2"/>
              <a:buChar char="§"/>
            </a:pPr>
            <a:r>
              <a:rPr lang="en-US" altLang="en-US" sz="2800" b="1" dirty="0">
                <a:latin typeface="Garamond" panose="02020404030301010803" pitchFamily="18" charset="0"/>
              </a:rPr>
              <a:t>Also called Ecosphere</a:t>
            </a:r>
          </a:p>
          <a:p>
            <a:pPr marL="0" indent="0" algn="just" eaLnBrk="1" hangingPunct="1">
              <a:buNone/>
            </a:pPr>
            <a:r>
              <a:rPr lang="en-US" altLang="en-US" sz="2800" b="1" dirty="0">
                <a:latin typeface="Garamond" panose="02020404030301010803" pitchFamily="18" charset="0"/>
              </a:rPr>
              <a:t>Biosphere extends from less than 11 km below sea level to the tropopause, which is less than 17km above sea level. </a:t>
            </a:r>
          </a:p>
          <a:p>
            <a:pPr algn="ctr" eaLnBrk="1" hangingPunct="1">
              <a:buFont typeface="Wingdings" panose="05000000000000000000" pitchFamily="2" charset="2"/>
              <a:buNone/>
            </a:pPr>
            <a:endParaRPr lang="en-US" alt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5154"/>
    </mc:Choice>
    <mc:Fallback xmlns="">
      <p:transition spd="slow" advTm="451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434">
                                            <p:txEl>
                                              <p:pRg st="1" end="1"/>
                                            </p:txEl>
                                          </p:spTgt>
                                        </p:tgtEl>
                                        <p:attrNameLst>
                                          <p:attrName>style.visibility</p:attrName>
                                        </p:attrNameLst>
                                      </p:cBhvr>
                                      <p:to>
                                        <p:strVal val="visible"/>
                                      </p:to>
                                    </p:set>
                                    <p:animEffect transition="in" filter="fade">
                                      <p:cBhvr>
                                        <p:cTn id="7" dur="1000"/>
                                        <p:tgtEl>
                                          <p:spTgt spid="18434">
                                            <p:txEl>
                                              <p:pRg st="1" end="1"/>
                                            </p:txEl>
                                          </p:spTgt>
                                        </p:tgtEl>
                                      </p:cBhvr>
                                    </p:animEffect>
                                    <p:anim calcmode="lin" valueType="num">
                                      <p:cBhvr>
                                        <p:cTn id="8" dur="1000" fill="hold"/>
                                        <p:tgtEl>
                                          <p:spTgt spid="1843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843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434">
                                            <p:txEl>
                                              <p:pRg st="2" end="2"/>
                                            </p:txEl>
                                          </p:spTgt>
                                        </p:tgtEl>
                                        <p:attrNameLst>
                                          <p:attrName>style.visibility</p:attrName>
                                        </p:attrNameLst>
                                      </p:cBhvr>
                                      <p:to>
                                        <p:strVal val="visible"/>
                                      </p:to>
                                    </p:set>
                                    <p:animEffect transition="in" filter="fade">
                                      <p:cBhvr>
                                        <p:cTn id="14" dur="1000"/>
                                        <p:tgtEl>
                                          <p:spTgt spid="18434">
                                            <p:txEl>
                                              <p:pRg st="2" end="2"/>
                                            </p:txEl>
                                          </p:spTgt>
                                        </p:tgtEl>
                                      </p:cBhvr>
                                    </p:animEffect>
                                    <p:anim calcmode="lin" valueType="num">
                                      <p:cBhvr>
                                        <p:cTn id="15" dur="1000" fill="hold"/>
                                        <p:tgtEl>
                                          <p:spTgt spid="1843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843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434">
                                            <p:txEl>
                                              <p:pRg st="3" end="3"/>
                                            </p:txEl>
                                          </p:spTgt>
                                        </p:tgtEl>
                                        <p:attrNameLst>
                                          <p:attrName>style.visibility</p:attrName>
                                        </p:attrNameLst>
                                      </p:cBhvr>
                                      <p:to>
                                        <p:strVal val="visible"/>
                                      </p:to>
                                    </p:set>
                                    <p:animEffect transition="in" filter="fade">
                                      <p:cBhvr>
                                        <p:cTn id="21" dur="1000"/>
                                        <p:tgtEl>
                                          <p:spTgt spid="18434">
                                            <p:txEl>
                                              <p:pRg st="3" end="3"/>
                                            </p:txEl>
                                          </p:spTgt>
                                        </p:tgtEl>
                                      </p:cBhvr>
                                    </p:animEffect>
                                    <p:anim calcmode="lin" valueType="num">
                                      <p:cBhvr>
                                        <p:cTn id="22" dur="1000" fill="hold"/>
                                        <p:tgtEl>
                                          <p:spTgt spid="1843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843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8434">
                                            <p:txEl>
                                              <p:pRg st="4" end="4"/>
                                            </p:txEl>
                                          </p:spTgt>
                                        </p:tgtEl>
                                        <p:attrNameLst>
                                          <p:attrName>style.visibility</p:attrName>
                                        </p:attrNameLst>
                                      </p:cBhvr>
                                      <p:to>
                                        <p:strVal val="visible"/>
                                      </p:to>
                                    </p:set>
                                    <p:animEffect transition="in" filter="fade">
                                      <p:cBhvr>
                                        <p:cTn id="28" dur="1000"/>
                                        <p:tgtEl>
                                          <p:spTgt spid="18434">
                                            <p:txEl>
                                              <p:pRg st="4" end="4"/>
                                            </p:txEl>
                                          </p:spTgt>
                                        </p:tgtEl>
                                      </p:cBhvr>
                                    </p:animEffect>
                                    <p:anim calcmode="lin" valueType="num">
                                      <p:cBhvr>
                                        <p:cTn id="29" dur="1000" fill="hold"/>
                                        <p:tgtEl>
                                          <p:spTgt spid="1843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843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8434">
                                            <p:txEl>
                                              <p:pRg st="5" end="5"/>
                                            </p:txEl>
                                          </p:spTgt>
                                        </p:tgtEl>
                                        <p:attrNameLst>
                                          <p:attrName>style.visibility</p:attrName>
                                        </p:attrNameLst>
                                      </p:cBhvr>
                                      <p:to>
                                        <p:strVal val="visible"/>
                                      </p:to>
                                    </p:set>
                                    <p:animEffect transition="in" filter="fade">
                                      <p:cBhvr>
                                        <p:cTn id="35" dur="1000"/>
                                        <p:tgtEl>
                                          <p:spTgt spid="18434">
                                            <p:txEl>
                                              <p:pRg st="5" end="5"/>
                                            </p:txEl>
                                          </p:spTgt>
                                        </p:tgtEl>
                                      </p:cBhvr>
                                    </p:animEffect>
                                    <p:anim calcmode="lin" valueType="num">
                                      <p:cBhvr>
                                        <p:cTn id="36" dur="1000" fill="hold"/>
                                        <p:tgtEl>
                                          <p:spTgt spid="1843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843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D1E75-D33C-47A3-A01D-B575106821C8}"/>
              </a:ext>
            </a:extLst>
          </p:cNvPr>
          <p:cNvSpPr>
            <a:spLocks noGrp="1"/>
          </p:cNvSpPr>
          <p:nvPr>
            <p:ph type="title"/>
          </p:nvPr>
        </p:nvSpPr>
        <p:spPr>
          <a:xfrm>
            <a:off x="425245" y="76200"/>
            <a:ext cx="8229600" cy="1143000"/>
          </a:xfrm>
        </p:spPr>
        <p:txBody>
          <a:bodyPr/>
          <a:lstStyle/>
          <a:p>
            <a:r>
              <a:rPr lang="en-US" dirty="0"/>
              <a:t>Human Impacts on Biosphere</a:t>
            </a:r>
          </a:p>
        </p:txBody>
      </p:sp>
      <p:sp>
        <p:nvSpPr>
          <p:cNvPr id="3" name="Content Placeholder 2">
            <a:extLst>
              <a:ext uri="{FF2B5EF4-FFF2-40B4-BE49-F238E27FC236}">
                <a16:creationId xmlns:a16="http://schemas.microsoft.com/office/drawing/2014/main" id="{873CDF8B-F40A-4315-8262-F25E9282154F}"/>
              </a:ext>
            </a:extLst>
          </p:cNvPr>
          <p:cNvSpPr>
            <a:spLocks noGrp="1"/>
          </p:cNvSpPr>
          <p:nvPr>
            <p:ph idx="1"/>
          </p:nvPr>
        </p:nvSpPr>
        <p:spPr>
          <a:xfrm>
            <a:off x="457200" y="1600200"/>
            <a:ext cx="8229600" cy="4983162"/>
          </a:xfrm>
        </p:spPr>
        <p:txBody>
          <a:bodyPr/>
          <a:lstStyle/>
          <a:p>
            <a:r>
              <a:rPr lang="en-US" dirty="0"/>
              <a:t>Environmental pollution</a:t>
            </a:r>
          </a:p>
          <a:p>
            <a:r>
              <a:rPr lang="en-US" dirty="0"/>
              <a:t>Habitat removal or damage</a:t>
            </a:r>
          </a:p>
          <a:p>
            <a:r>
              <a:rPr lang="en-US" dirty="0"/>
              <a:t>Changing the structure and distribution of vegetation and soils</a:t>
            </a:r>
          </a:p>
          <a:p>
            <a:r>
              <a:rPr lang="en-US" dirty="0"/>
              <a:t>Over exploitation of renewable resources</a:t>
            </a:r>
          </a:p>
          <a:p>
            <a:r>
              <a:rPr lang="en-US" dirty="0"/>
              <a:t>Introducing exotic organism</a:t>
            </a:r>
          </a:p>
          <a:p>
            <a:r>
              <a:rPr lang="en-US" dirty="0"/>
              <a:t>Inappropriate disposal of waste</a:t>
            </a:r>
          </a:p>
          <a:p>
            <a:r>
              <a:rPr lang="en-US" dirty="0"/>
              <a:t>Disturbing the equilibrium of important environmental system</a:t>
            </a:r>
          </a:p>
          <a:p>
            <a:endParaRPr lang="en-US" dirty="0"/>
          </a:p>
        </p:txBody>
      </p:sp>
    </p:spTree>
    <p:custDataLst>
      <p:tags r:id="rId1"/>
    </p:custDataLst>
    <p:extLst>
      <p:ext uri="{BB962C8B-B14F-4D97-AF65-F5344CB8AC3E}">
        <p14:creationId xmlns:p14="http://schemas.microsoft.com/office/powerpoint/2010/main" val="1563862408"/>
      </p:ext>
    </p:extLst>
  </p:cSld>
  <p:clrMapOvr>
    <a:masterClrMapping/>
  </p:clrMapOvr>
  <mc:AlternateContent xmlns:mc="http://schemas.openxmlformats.org/markup-compatibility/2006" xmlns:p14="http://schemas.microsoft.com/office/powerpoint/2010/main">
    <mc:Choice Requires="p14">
      <p:transition spd="slow" p14:dur="2000" advTm="50752"/>
    </mc:Choice>
    <mc:Fallback xmlns="">
      <p:transition spd="slow" advTm="5075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6" end="6"/>
                                            </p:txEl>
                                          </p:spTgt>
                                        </p:tgtEl>
                                        <p:attrNameLst>
                                          <p:attrName>style.visibility</p:attrName>
                                        </p:attrNameLst>
                                      </p:cBhvr>
                                      <p:to>
                                        <p:strVal val="visible"/>
                                      </p:to>
                                    </p:set>
                                    <p:animEffect transition="in" filter="fade">
                                      <p:cBhvr>
                                        <p:cTn id="56" dur="1000"/>
                                        <p:tgtEl>
                                          <p:spTgt spid="3">
                                            <p:txEl>
                                              <p:pRg st="6" end="6"/>
                                            </p:txEl>
                                          </p:spTgt>
                                        </p:tgtEl>
                                      </p:cBhvr>
                                    </p:animEffect>
                                    <p:anim calcmode="lin" valueType="num">
                                      <p:cBhvr>
                                        <p:cTn id="57"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1" descr="0306">
            <a:extLst>
              <a:ext uri="{FF2B5EF4-FFF2-40B4-BE49-F238E27FC236}">
                <a16:creationId xmlns:a16="http://schemas.microsoft.com/office/drawing/2014/main" id="{6E4DF6AC-2C9B-429B-B12F-B207455516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533400"/>
            <a:ext cx="8077200" cy="617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9755"/>
    </mc:Choice>
    <mc:Fallback xmlns="">
      <p:transition spd="slow" advTm="7975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wheel(1)">
                                      <p:cBhvr>
                                        <p:cTn id="7" dur="2000"/>
                                        <p:tgtEl>
                                          <p:spTgt spid="19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0.7|5.7|4.5|4|4.3|3.7|2|2"/>
</p:tagLst>
</file>

<file path=ppt/tags/tag2.xml><?xml version="1.0" encoding="utf-8"?>
<p:tagLst xmlns:a="http://schemas.openxmlformats.org/drawingml/2006/main" xmlns:r="http://schemas.openxmlformats.org/officeDocument/2006/relationships" xmlns:p="http://schemas.openxmlformats.org/presentationml/2006/main">
  <p:tag name="TIMING" val="|1.2|79.5"/>
</p:tagLst>
</file>

<file path=ppt/tags/tag3.xml><?xml version="1.0" encoding="utf-8"?>
<p:tagLst xmlns:a="http://schemas.openxmlformats.org/drawingml/2006/main" xmlns:r="http://schemas.openxmlformats.org/officeDocument/2006/relationships" xmlns:p="http://schemas.openxmlformats.org/presentationml/2006/main">
  <p:tag name="TIMING" val="|0.6|1.2"/>
</p:tagLst>
</file>

<file path=ppt/tags/tag4.xml><?xml version="1.0" encoding="utf-8"?>
<p:tagLst xmlns:a="http://schemas.openxmlformats.org/drawingml/2006/main" xmlns:r="http://schemas.openxmlformats.org/officeDocument/2006/relationships" xmlns:p="http://schemas.openxmlformats.org/presentationml/2006/main">
  <p:tag name="TIMING" val="|0.4|1.5"/>
</p:tagLst>
</file>

<file path=ppt/tags/tag5.xml><?xml version="1.0" encoding="utf-8"?>
<p:tagLst xmlns:a="http://schemas.openxmlformats.org/drawingml/2006/main" xmlns:r="http://schemas.openxmlformats.org/officeDocument/2006/relationships" xmlns:p="http://schemas.openxmlformats.org/presentationml/2006/main">
  <p:tag name="TIMING" val="|0.5|13.9|112.2"/>
</p:tagLst>
</file>

<file path=ppt/tags/tag6.xml><?xml version="1.0" encoding="utf-8"?>
<p:tagLst xmlns:a="http://schemas.openxmlformats.org/drawingml/2006/main" xmlns:r="http://schemas.openxmlformats.org/officeDocument/2006/relationships" xmlns:p="http://schemas.openxmlformats.org/presentationml/2006/main">
  <p:tag name="TIMING" val="|0.9|4|7.5|17.7|4.2"/>
</p:tagLst>
</file>

<file path=ppt/tags/tag7.xml><?xml version="1.0" encoding="utf-8"?>
<p:tagLst xmlns:a="http://schemas.openxmlformats.org/drawingml/2006/main" xmlns:r="http://schemas.openxmlformats.org/officeDocument/2006/relationships" xmlns:p="http://schemas.openxmlformats.org/presentationml/2006/main">
  <p:tag name="TIMING" val="|0.8|8.5|9.1|3.5|4.7|5.5|3.6|3.1"/>
</p:tagLst>
</file>

<file path=ppt/tags/tag8.xml><?xml version="1.0" encoding="utf-8"?>
<p:tagLst xmlns:a="http://schemas.openxmlformats.org/drawingml/2006/main" xmlns:r="http://schemas.openxmlformats.org/officeDocument/2006/relationships" xmlns:p="http://schemas.openxmlformats.org/presentationml/2006/main">
  <p:tag name="TIMING" val="|2.5"/>
</p:tagLst>
</file>

<file path=ppt/theme/theme1.xml><?xml version="1.0" encoding="utf-8"?>
<a:theme xmlns:a="http://schemas.openxmlformats.org/drawingml/2006/main" name="Office Theme">
  <a:themeElements>
    <a:clrScheme name="Custom 1">
      <a:dk1>
        <a:srgbClr val="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3204</TotalTime>
  <Words>663</Words>
  <Application>Microsoft Office PowerPoint</Application>
  <PresentationFormat>On-screen Show (4:3)</PresentationFormat>
  <Paragraphs>94</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Garamond</vt:lpstr>
      <vt:lpstr>Tahoma</vt:lpstr>
      <vt:lpstr>Times New Roman</vt:lpstr>
      <vt:lpstr>Wingdings</vt:lpstr>
      <vt:lpstr>Office Theme</vt:lpstr>
      <vt:lpstr>PowerPoint Presentation</vt:lpstr>
      <vt:lpstr>Overview of the Lecture</vt:lpstr>
      <vt:lpstr>Size and Shape of the Earth</vt:lpstr>
      <vt:lpstr>PowerPoint Presentation</vt:lpstr>
      <vt:lpstr>PowerPoint Presentation</vt:lpstr>
      <vt:lpstr>PowerPoint Presentation</vt:lpstr>
      <vt:lpstr>PowerPoint Presentation</vt:lpstr>
      <vt:lpstr>PowerPoint Presentation</vt:lpstr>
      <vt:lpstr>PowerPoint Presentation</vt:lpstr>
      <vt:lpstr>Composition of Earth’s Crust</vt:lpstr>
      <vt:lpstr>PowerPoint Presentation</vt:lpstr>
      <vt:lpstr>PowerPoint Presentation</vt:lpstr>
      <vt:lpstr>PowerPoint Presentation</vt:lpstr>
      <vt:lpstr>PowerPoint Presentation</vt:lpstr>
      <vt:lpstr>Human Impacts on Biosphere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Sabrina Shahrin Sharna</dc:creator>
  <cp:lastModifiedBy>user</cp:lastModifiedBy>
  <cp:revision>228</cp:revision>
  <cp:lastPrinted>1601-01-01T00:00:00Z</cp:lastPrinted>
  <dcterms:created xsi:type="dcterms:W3CDTF">1601-01-01T00:00:00Z</dcterms:created>
  <dcterms:modified xsi:type="dcterms:W3CDTF">2020-07-11T07:12:43Z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