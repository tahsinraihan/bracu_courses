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8"/>
  </p:notesMasterIdLst>
  <p:handoutMasterIdLst>
    <p:handoutMasterId r:id="rId9"/>
  </p:handoutMasterIdLst>
  <p:sldIdLst>
    <p:sldId id="264" r:id="rId2"/>
    <p:sldId id="257" r:id="rId3"/>
    <p:sldId id="258" r:id="rId4"/>
    <p:sldId id="259" r:id="rId5"/>
    <p:sldId id="260" r:id="rId6"/>
    <p:sldId id="270" r:id="rId7"/>
  </p:sldIdLst>
  <p:sldSz cx="9144000" cy="6858000" type="screen4x3"/>
  <p:notesSz cx="6881813"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60"/>
  </p:normalViewPr>
  <p:slideViewPr>
    <p:cSldViewPr>
      <p:cViewPr varScale="1">
        <p:scale>
          <a:sx n="86" d="100"/>
          <a:sy n="86" d="100"/>
        </p:scale>
        <p:origin x="129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C8ECF0FB-799B-46EA-A835-C9D7C2C4F312}" type="datetimeFigureOut">
              <a:rPr lang="en-US" smtClean="0"/>
              <a:pPr/>
              <a:t>8/24/2020</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A7BA0443-C80F-4595-B112-8B8C0A3F7E0B}" type="slidenum">
              <a:rPr lang="en-US" smtClean="0"/>
              <a:pPr/>
              <a:t>‹#›</a:t>
            </a:fld>
            <a:endParaRPr lang="en-US"/>
          </a:p>
        </p:txBody>
      </p:sp>
    </p:spTree>
    <p:extLst>
      <p:ext uri="{BB962C8B-B14F-4D97-AF65-F5344CB8AC3E}">
        <p14:creationId xmlns:p14="http://schemas.microsoft.com/office/powerpoint/2010/main" val="67661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97313" y="0"/>
            <a:ext cx="2982912" cy="465138"/>
          </a:xfrm>
          <a:prstGeom prst="rect">
            <a:avLst/>
          </a:prstGeom>
        </p:spPr>
        <p:txBody>
          <a:bodyPr vert="horz" lIns="91440" tIns="45720" rIns="91440" bIns="45720" rtlCol="0"/>
          <a:lstStyle>
            <a:lvl1pPr algn="r">
              <a:defRPr sz="1200"/>
            </a:lvl1pPr>
          </a:lstStyle>
          <a:p>
            <a:fld id="{43A56063-5998-4D81-8820-D47268AFD437}" type="datetimeFigureOut">
              <a:rPr lang="en-US" smtClean="0"/>
              <a:pPr/>
              <a:t>8/24/2020</a:t>
            </a:fld>
            <a:endParaRPr lang="en-US"/>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8975" y="4416425"/>
            <a:ext cx="5505450" cy="41830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97313" y="8829675"/>
            <a:ext cx="2982912" cy="465138"/>
          </a:xfrm>
          <a:prstGeom prst="rect">
            <a:avLst/>
          </a:prstGeom>
        </p:spPr>
        <p:txBody>
          <a:bodyPr vert="horz" lIns="91440" tIns="45720" rIns="91440" bIns="45720" rtlCol="0" anchor="b"/>
          <a:lstStyle>
            <a:lvl1pPr algn="r">
              <a:defRPr sz="1200"/>
            </a:lvl1pPr>
          </a:lstStyle>
          <a:p>
            <a:fld id="{AC87D4BA-5DC1-4F07-B729-34A8B475F75B}" type="slidenum">
              <a:rPr lang="en-US" smtClean="0"/>
              <a:pPr/>
              <a:t>‹#›</a:t>
            </a:fld>
            <a:endParaRPr lang="en-US"/>
          </a:p>
        </p:txBody>
      </p:sp>
    </p:spTree>
    <p:extLst>
      <p:ext uri="{BB962C8B-B14F-4D97-AF65-F5344CB8AC3E}">
        <p14:creationId xmlns:p14="http://schemas.microsoft.com/office/powerpoint/2010/main" val="2448748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87D4BA-5DC1-4F07-B729-34A8B475F75B}" type="slidenum">
              <a:rPr lang="en-US" smtClean="0"/>
              <a:pPr/>
              <a:t>1</a:t>
            </a:fld>
            <a:endParaRPr lang="en-US"/>
          </a:p>
        </p:txBody>
      </p:sp>
    </p:spTree>
    <p:extLst>
      <p:ext uri="{BB962C8B-B14F-4D97-AF65-F5344CB8AC3E}">
        <p14:creationId xmlns:p14="http://schemas.microsoft.com/office/powerpoint/2010/main" val="2522614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1D8BD707-D9CF-40AE-B4C6-C98DA3205C09}" type="datetimeFigureOut">
              <a:rPr lang="en-US" smtClean="0"/>
              <a:pPr/>
              <a:t>8/24/2020</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B6F15528-21DE-4FAA-801E-634DDDAF4B2B}" type="slidenum">
              <a:rPr lang="en-US" smtClean="0"/>
              <a:pPr/>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3558786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1D8BD707-D9CF-40AE-B4C6-C98DA3205C09}" type="datetimeFigureOut">
              <a:rPr lang="en-US" smtClean="0"/>
              <a:pPr/>
              <a:t>8/24/2020</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B6F15528-21DE-4FAA-801E-634DDDAF4B2B}" type="slidenum">
              <a:rPr lang="en-US" smtClean="0"/>
              <a:pPr/>
              <a:t>‹#›</a:t>
            </a:fld>
            <a:endParaRPr lang="en-US"/>
          </a:p>
        </p:txBody>
      </p:sp>
      <p:pic>
        <p:nvPicPr>
          <p:cNvPr id="8" name="Picture 7" descr="A picture containing drawing, shirt&#10;&#10;Description automatically generated">
            <a:extLst>
              <a:ext uri="{FF2B5EF4-FFF2-40B4-BE49-F238E27FC236}">
                <a16:creationId xmlns:a16="http://schemas.microsoft.com/office/drawing/2014/main" id="{0F306AE3-F028-4200-B8D2-2C8359AA75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050" y="5981700"/>
            <a:ext cx="876300" cy="876300"/>
          </a:xfrm>
          <a:prstGeom prst="rect">
            <a:avLst/>
          </a:prstGeom>
        </p:spPr>
      </p:pic>
      <p:sp>
        <p:nvSpPr>
          <p:cNvPr id="9" name="TextBox 8">
            <a:extLst>
              <a:ext uri="{FF2B5EF4-FFF2-40B4-BE49-F238E27FC236}">
                <a16:creationId xmlns:a16="http://schemas.microsoft.com/office/drawing/2014/main" id="{7A9FCBA1-3AA0-420E-91C7-1BFEE49F484A}"/>
              </a:ext>
            </a:extLst>
          </p:cNvPr>
          <p:cNvSpPr txBox="1"/>
          <p:nvPr userDrawn="1"/>
        </p:nvSpPr>
        <p:spPr>
          <a:xfrm>
            <a:off x="8001000" y="76200"/>
            <a:ext cx="1066800" cy="381000"/>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t>ENV-103</a:t>
            </a:r>
          </a:p>
        </p:txBody>
      </p:sp>
    </p:spTree>
    <p:extLst>
      <p:ext uri="{BB962C8B-B14F-4D97-AF65-F5344CB8AC3E}">
        <p14:creationId xmlns:p14="http://schemas.microsoft.com/office/powerpoint/2010/main" val="1844462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91579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1606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8/24/2020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3261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8/24/2020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5310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75598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720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8/24/2020</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5952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2941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37845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0996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7437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983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28133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3406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5062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8BD707-D9CF-40AE-B4C6-C98DA3205C09}" type="datetimeFigureOut">
              <a:rPr lang="en-US" smtClean="0"/>
              <a:pPr/>
              <a:t>8/24/2020</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2048077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68DBE504-36DD-4DF3-BFA6-D020600871BA}"/>
              </a:ext>
            </a:extLst>
          </p:cNvPr>
          <p:cNvSpPr/>
          <p:nvPr/>
        </p:nvSpPr>
        <p:spPr>
          <a:xfrm>
            <a:off x="7287718" y="0"/>
            <a:ext cx="1875132" cy="762000"/>
          </a:xfrm>
          <a:prstGeom prst="roundRect">
            <a:avLst>
              <a:gd name="adj" fmla="val 50000"/>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ENV 103</a:t>
            </a:r>
          </a:p>
        </p:txBody>
      </p:sp>
      <p:sp>
        <p:nvSpPr>
          <p:cNvPr id="2" name="Title 1">
            <a:extLst>
              <a:ext uri="{FF2B5EF4-FFF2-40B4-BE49-F238E27FC236}">
                <a16:creationId xmlns:a16="http://schemas.microsoft.com/office/drawing/2014/main" id="{74BD733A-2F6D-498B-B9D2-0E81136082C4}"/>
              </a:ext>
            </a:extLst>
          </p:cNvPr>
          <p:cNvSpPr txBox="1">
            <a:spLocks/>
          </p:cNvSpPr>
          <p:nvPr/>
        </p:nvSpPr>
        <p:spPr>
          <a:xfrm>
            <a:off x="762000" y="2362200"/>
            <a:ext cx="7467600" cy="914400"/>
          </a:xfrm>
          <a:prstGeom prst="rect">
            <a:avLst/>
          </a:prstGeom>
        </p:spPr>
        <p:txBody>
          <a:bodyPr anchor="ctr">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3200" b="1" dirty="0">
                <a:latin typeface="Garamond" pitchFamily="18" charset="0"/>
              </a:rPr>
              <a:t>Urbanization and Urban Planning</a:t>
            </a:r>
            <a:endParaRPr lang="en-US" sz="3200" b="1" dirty="0">
              <a:latin typeface="+mj-lt"/>
              <a:ea typeface="+mj-ea"/>
              <a:cs typeface="+mj-cs"/>
            </a:endParaRPr>
          </a:p>
          <a:p>
            <a:pPr fontAlgn="auto">
              <a:spcAft>
                <a:spcPts val="0"/>
              </a:spcAft>
              <a:defRPr/>
            </a:pPr>
            <a:endParaRPr lang="en-US" sz="3200" b="1" dirty="0">
              <a:latin typeface="+mj-lt"/>
              <a:ea typeface="+mj-ea"/>
              <a:cs typeface="+mj-cs"/>
            </a:endParaRPr>
          </a:p>
        </p:txBody>
      </p:sp>
    </p:spTree>
    <p:custDataLst>
      <p:tags r:id="rId1"/>
    </p:custDataLst>
    <p:extLst>
      <p:ext uri="{BB962C8B-B14F-4D97-AF65-F5344CB8AC3E}">
        <p14:creationId xmlns:p14="http://schemas.microsoft.com/office/powerpoint/2010/main" val="314636486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D40AD1C-89CB-4FAD-856A-A8247F2FBAF8}"/>
              </a:ext>
            </a:extLst>
          </p:cNvPr>
          <p:cNvSpPr>
            <a:spLocks noGrp="1" noChangeArrowheads="1"/>
          </p:cNvSpPr>
          <p:nvPr>
            <p:ph type="title"/>
          </p:nvPr>
        </p:nvSpPr>
        <p:spPr>
          <a:xfrm>
            <a:off x="457200" y="152400"/>
            <a:ext cx="8229600" cy="636588"/>
          </a:xfrm>
        </p:spPr>
        <p:txBody>
          <a:bodyPr rtlCol="0">
            <a:normAutofit fontScale="90000"/>
          </a:bodyPr>
          <a:lstStyle/>
          <a:p>
            <a:pPr eaLnBrk="1" fontAlgn="auto" hangingPunct="1">
              <a:spcAft>
                <a:spcPts val="0"/>
              </a:spcAft>
              <a:defRPr/>
            </a:pPr>
            <a:r>
              <a:rPr lang="en-US" sz="3600" b="1" dirty="0">
                <a:latin typeface="Garamond" pitchFamily="18" charset="0"/>
              </a:rPr>
              <a:t>Urbanization</a:t>
            </a:r>
          </a:p>
        </p:txBody>
      </p:sp>
      <p:sp>
        <p:nvSpPr>
          <p:cNvPr id="3075" name="Rectangle 3">
            <a:extLst>
              <a:ext uri="{FF2B5EF4-FFF2-40B4-BE49-F238E27FC236}">
                <a16:creationId xmlns:a16="http://schemas.microsoft.com/office/drawing/2014/main" id="{4FFE1B90-7FAC-49B5-ABAE-BCD88F7DF82F}"/>
              </a:ext>
            </a:extLst>
          </p:cNvPr>
          <p:cNvSpPr>
            <a:spLocks noGrp="1"/>
          </p:cNvSpPr>
          <p:nvPr>
            <p:ph idx="1"/>
          </p:nvPr>
        </p:nvSpPr>
        <p:spPr>
          <a:xfrm>
            <a:off x="381000" y="533400"/>
            <a:ext cx="8610600" cy="5791200"/>
          </a:xfrm>
        </p:spPr>
        <p:txBody>
          <a:bodyPr>
            <a:normAutofit/>
          </a:bodyPr>
          <a:lstStyle/>
          <a:p>
            <a:pPr algn="just" eaLnBrk="1" hangingPunct="1">
              <a:lnSpc>
                <a:spcPct val="90000"/>
              </a:lnSpc>
              <a:buFont typeface="Wingdings" panose="05000000000000000000" pitchFamily="2" charset="2"/>
              <a:buNone/>
            </a:pPr>
            <a:r>
              <a:rPr lang="en-US" altLang="en-US" b="1" dirty="0">
                <a:latin typeface="Garamond" panose="02020404030301010803" pitchFamily="18" charset="0"/>
              </a:rPr>
              <a:t>   </a:t>
            </a:r>
            <a:r>
              <a:rPr lang="en-US" altLang="en-US" sz="2800" b="1" dirty="0">
                <a:latin typeface="Garamond" panose="02020404030301010803" pitchFamily="18" charset="0"/>
              </a:rPr>
              <a:t>Urbanization</a:t>
            </a:r>
            <a:r>
              <a:rPr lang="en-US" altLang="en-US" sz="2800" dirty="0">
                <a:latin typeface="Garamond" panose="02020404030301010803" pitchFamily="18" charset="0"/>
              </a:rPr>
              <a:t> refers to a process in which an increasing proportion of an entire population lives in cities and the suburbs of cities.  Historically, it has been closely connected with industrialization.  When more and more inanimate sources of energy were used to enhance human productivity (industrialization), surpluses increased in both agriculture and industry.  Larger and larger proportions of a population could live in cities.   Economic forces were such that cities became the ideal places to locate factories and their workers. The highest rate of urbanization are occurring today in developing countries. This is due to</a:t>
            </a:r>
          </a:p>
          <a:p>
            <a:pPr lvl="2" algn="just" eaLnBrk="1" hangingPunct="1">
              <a:lnSpc>
                <a:spcPct val="90000"/>
              </a:lnSpc>
            </a:pPr>
            <a:r>
              <a:rPr lang="en-US" altLang="en-US" sz="2800" dirty="0">
                <a:latin typeface="Garamond" panose="02020404030301010803" pitchFamily="18" charset="0"/>
              </a:rPr>
              <a:t>Rural to urban migration</a:t>
            </a:r>
          </a:p>
          <a:p>
            <a:pPr lvl="2" algn="just" eaLnBrk="1" hangingPunct="1">
              <a:lnSpc>
                <a:spcPct val="90000"/>
              </a:lnSpc>
            </a:pPr>
            <a:r>
              <a:rPr lang="en-US" altLang="en-US" sz="2800" dirty="0">
                <a:latin typeface="Garamond" panose="02020404030301010803" pitchFamily="18" charset="0"/>
              </a:rPr>
              <a:t>High rates of natural increase of population</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70"/>
                                        </p:tgtEl>
                                        <p:attrNameLst>
                                          <p:attrName>style.visibility</p:attrName>
                                        </p:attrNameLst>
                                      </p:cBhvr>
                                      <p:to>
                                        <p:strVal val="visible"/>
                                      </p:to>
                                    </p:set>
                                    <p:anim calcmode="lin" valueType="num">
                                      <p:cBhvr additive="base">
                                        <p:cTn id="7" dur="500" fill="hold"/>
                                        <p:tgtEl>
                                          <p:spTgt spid="32770"/>
                                        </p:tgtEl>
                                        <p:attrNameLst>
                                          <p:attrName>ppt_x</p:attrName>
                                        </p:attrNameLst>
                                      </p:cBhvr>
                                      <p:tavLst>
                                        <p:tav tm="0">
                                          <p:val>
                                            <p:strVal val="#ppt_x"/>
                                          </p:val>
                                        </p:tav>
                                        <p:tav tm="100000">
                                          <p:val>
                                            <p:strVal val="#ppt_x"/>
                                          </p:val>
                                        </p:tav>
                                      </p:tavLst>
                                    </p:anim>
                                    <p:anim calcmode="lin" valueType="num">
                                      <p:cBhvr additive="base">
                                        <p:cTn id="8" dur="500" fill="hold"/>
                                        <p:tgtEl>
                                          <p:spTgt spid="3277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075">
                                            <p:txEl>
                                              <p:pRg st="0" end="0"/>
                                            </p:txEl>
                                          </p:spTgt>
                                        </p:tgtEl>
                                        <p:attrNameLst>
                                          <p:attrName>style.visibility</p:attrName>
                                        </p:attrNameLst>
                                      </p:cBhvr>
                                      <p:to>
                                        <p:strVal val="visible"/>
                                      </p:to>
                                    </p:set>
                                    <p:animEffect transition="in" filter="fade">
                                      <p:cBhvr>
                                        <p:cTn id="13" dur="1000"/>
                                        <p:tgtEl>
                                          <p:spTgt spid="3075">
                                            <p:txEl>
                                              <p:pRg st="0" end="0"/>
                                            </p:txEl>
                                          </p:spTgt>
                                        </p:tgtEl>
                                      </p:cBhvr>
                                    </p:animEffect>
                                    <p:anim calcmode="lin" valueType="num">
                                      <p:cBhvr>
                                        <p:cTn id="14" dur="1000" fill="hold"/>
                                        <p:tgtEl>
                                          <p:spTgt spid="3075">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075">
                                            <p:txEl>
                                              <p:pRg st="0" end="0"/>
                                            </p:txEl>
                                          </p:spTgt>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3075">
                                            <p:txEl>
                                              <p:pRg st="1" end="1"/>
                                            </p:txEl>
                                          </p:spTgt>
                                        </p:tgtEl>
                                        <p:attrNameLst>
                                          <p:attrName>style.visibility</p:attrName>
                                        </p:attrNameLst>
                                      </p:cBhvr>
                                      <p:to>
                                        <p:strVal val="visible"/>
                                      </p:to>
                                    </p:set>
                                    <p:animEffect transition="in" filter="fade">
                                      <p:cBhvr>
                                        <p:cTn id="18" dur="1000"/>
                                        <p:tgtEl>
                                          <p:spTgt spid="3075">
                                            <p:txEl>
                                              <p:pRg st="1" end="1"/>
                                            </p:txEl>
                                          </p:spTgt>
                                        </p:tgtEl>
                                      </p:cBhvr>
                                    </p:animEffect>
                                    <p:anim calcmode="lin" valueType="num">
                                      <p:cBhvr>
                                        <p:cTn id="19" dur="1000" fill="hold"/>
                                        <p:tgtEl>
                                          <p:spTgt spid="3075">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075">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3075">
                                            <p:txEl>
                                              <p:pRg st="2" end="2"/>
                                            </p:txEl>
                                          </p:spTgt>
                                        </p:tgtEl>
                                        <p:attrNameLst>
                                          <p:attrName>style.visibility</p:attrName>
                                        </p:attrNameLst>
                                      </p:cBhvr>
                                      <p:to>
                                        <p:strVal val="visible"/>
                                      </p:to>
                                    </p:set>
                                    <p:animEffect transition="in" filter="fade">
                                      <p:cBhvr>
                                        <p:cTn id="23" dur="1000"/>
                                        <p:tgtEl>
                                          <p:spTgt spid="3075">
                                            <p:txEl>
                                              <p:pRg st="2" end="2"/>
                                            </p:txEl>
                                          </p:spTgt>
                                        </p:tgtEl>
                                      </p:cBhvr>
                                    </p:animEffect>
                                    <p:anim calcmode="lin" valueType="num">
                                      <p:cBhvr>
                                        <p:cTn id="24" dur="1000" fill="hold"/>
                                        <p:tgtEl>
                                          <p:spTgt spid="3075">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307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07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4402AC6-9176-441E-98F1-279FCC80ABF2}"/>
              </a:ext>
            </a:extLst>
          </p:cNvPr>
          <p:cNvSpPr>
            <a:spLocks noGrp="1" noChangeArrowheads="1"/>
          </p:cNvSpPr>
          <p:nvPr>
            <p:ph type="title"/>
          </p:nvPr>
        </p:nvSpPr>
        <p:spPr>
          <a:xfrm>
            <a:off x="457200" y="152400"/>
            <a:ext cx="8229600" cy="636588"/>
          </a:xfrm>
        </p:spPr>
        <p:txBody>
          <a:bodyPr rtlCol="0">
            <a:normAutofit fontScale="90000"/>
          </a:bodyPr>
          <a:lstStyle/>
          <a:p>
            <a:pPr eaLnBrk="1" fontAlgn="auto" hangingPunct="1">
              <a:spcAft>
                <a:spcPts val="0"/>
              </a:spcAft>
              <a:defRPr/>
            </a:pPr>
            <a:r>
              <a:rPr lang="en-US" sz="3600" b="1" dirty="0">
                <a:latin typeface="Garamond" pitchFamily="18" charset="0"/>
              </a:rPr>
              <a:t>Factors of rural to Urban Migration</a:t>
            </a:r>
          </a:p>
        </p:txBody>
      </p:sp>
      <p:sp>
        <p:nvSpPr>
          <p:cNvPr id="4099" name="Rectangle 3">
            <a:extLst>
              <a:ext uri="{FF2B5EF4-FFF2-40B4-BE49-F238E27FC236}">
                <a16:creationId xmlns:a16="http://schemas.microsoft.com/office/drawing/2014/main" id="{ADDC6F85-62F0-4A37-9079-4AC5613FC5FB}"/>
              </a:ext>
            </a:extLst>
          </p:cNvPr>
          <p:cNvSpPr>
            <a:spLocks noGrp="1"/>
          </p:cNvSpPr>
          <p:nvPr>
            <p:ph idx="1"/>
          </p:nvPr>
        </p:nvSpPr>
        <p:spPr>
          <a:xfrm>
            <a:off x="381000" y="990600"/>
            <a:ext cx="8382000" cy="5638800"/>
          </a:xfrm>
        </p:spPr>
        <p:txBody>
          <a:bodyPr>
            <a:normAutofit fontScale="92500" lnSpcReduction="10000"/>
          </a:bodyPr>
          <a:lstStyle/>
          <a:p>
            <a:pPr algn="just" eaLnBrk="1" hangingPunct="1"/>
            <a:r>
              <a:rPr lang="en-US" altLang="en-US" sz="2800" dirty="0">
                <a:latin typeface="Garamond" panose="02020404030301010803" pitchFamily="18" charset="0"/>
              </a:rPr>
              <a:t>Rural areas push factors</a:t>
            </a:r>
          </a:p>
          <a:p>
            <a:pPr lvl="1" algn="just" eaLnBrk="1" hangingPunct="1"/>
            <a:r>
              <a:rPr lang="en-US" altLang="en-US" sz="2400" dirty="0">
                <a:latin typeface="Garamond" panose="02020404030301010803" pitchFamily="18" charset="0"/>
              </a:rPr>
              <a:t>Poverty</a:t>
            </a:r>
          </a:p>
          <a:p>
            <a:pPr lvl="1" algn="just" eaLnBrk="1" hangingPunct="1"/>
            <a:r>
              <a:rPr lang="en-US" altLang="en-US" sz="2400" dirty="0">
                <a:latin typeface="Garamond" panose="02020404030301010803" pitchFamily="18" charset="0"/>
              </a:rPr>
              <a:t>Pressure on land</a:t>
            </a:r>
          </a:p>
          <a:p>
            <a:pPr lvl="1" algn="just" eaLnBrk="1" hangingPunct="1"/>
            <a:r>
              <a:rPr lang="en-US" altLang="en-US" sz="2400" dirty="0">
                <a:latin typeface="Garamond" panose="02020404030301010803" pitchFamily="18" charset="0"/>
              </a:rPr>
              <a:t>Lack of job opportunity</a:t>
            </a:r>
          </a:p>
          <a:p>
            <a:pPr lvl="1" algn="just" eaLnBrk="1" hangingPunct="1"/>
            <a:r>
              <a:rPr lang="en-US" altLang="en-US" sz="2400" dirty="0">
                <a:latin typeface="Garamond" panose="02020404030301010803" pitchFamily="18" charset="0"/>
              </a:rPr>
              <a:t>River erosion</a:t>
            </a:r>
          </a:p>
          <a:p>
            <a:pPr lvl="1" algn="just" eaLnBrk="1" hangingPunct="1"/>
            <a:r>
              <a:rPr lang="en-US" altLang="en-US" sz="2400" dirty="0">
                <a:latin typeface="Garamond" panose="02020404030301010803" pitchFamily="18" charset="0"/>
              </a:rPr>
              <a:t>Drought and famine</a:t>
            </a:r>
          </a:p>
          <a:p>
            <a:pPr lvl="1" algn="just" eaLnBrk="1" hangingPunct="1"/>
            <a:r>
              <a:rPr lang="en-US" altLang="en-US" sz="2400" dirty="0">
                <a:latin typeface="Garamond" panose="02020404030301010803" pitchFamily="18" charset="0"/>
              </a:rPr>
              <a:t>Less chance to change job and economic development</a:t>
            </a:r>
          </a:p>
          <a:p>
            <a:pPr algn="just" eaLnBrk="1" hangingPunct="1"/>
            <a:r>
              <a:rPr lang="en-US" altLang="en-US" sz="2800" dirty="0">
                <a:latin typeface="Garamond" panose="02020404030301010803" pitchFamily="18" charset="0"/>
              </a:rPr>
              <a:t>Urban areas pull factors</a:t>
            </a:r>
          </a:p>
          <a:p>
            <a:pPr lvl="1" algn="just" eaLnBrk="1" hangingPunct="1"/>
            <a:r>
              <a:rPr lang="en-US" altLang="en-US" sz="2400" dirty="0">
                <a:latin typeface="Garamond" panose="02020404030301010803" pitchFamily="18" charset="0"/>
              </a:rPr>
              <a:t>Better job opportunity in factories, offices and shops</a:t>
            </a:r>
          </a:p>
          <a:p>
            <a:pPr lvl="1" algn="just" eaLnBrk="1" hangingPunct="1"/>
            <a:r>
              <a:rPr lang="en-US" altLang="en-US" sz="2400" dirty="0">
                <a:latin typeface="Garamond" panose="02020404030301010803" pitchFamily="18" charset="0"/>
              </a:rPr>
              <a:t>Reliable food supplies</a:t>
            </a:r>
          </a:p>
          <a:p>
            <a:pPr lvl="1" algn="just" eaLnBrk="1" hangingPunct="1"/>
            <a:r>
              <a:rPr lang="en-US" altLang="en-US" sz="2400" dirty="0">
                <a:latin typeface="Garamond" panose="02020404030301010803" pitchFamily="18" charset="0"/>
              </a:rPr>
              <a:t>Better physical and social infrastructures, utility services</a:t>
            </a:r>
          </a:p>
          <a:p>
            <a:pPr lvl="1" algn="just" eaLnBrk="1" hangingPunct="1"/>
            <a:r>
              <a:rPr lang="en-US" altLang="en-US" sz="2400" dirty="0">
                <a:latin typeface="Garamond" panose="02020404030301010803" pitchFamily="18" charset="0"/>
              </a:rPr>
              <a:t>Modern facilities</a:t>
            </a:r>
          </a:p>
          <a:p>
            <a:pPr lvl="1" eaLnBrk="1" hangingPunct="1"/>
            <a:endParaRPr lang="en-US" altLang="en-US" sz="2400" dirty="0">
              <a:latin typeface="Garamond" panose="02020404030301010803" pitchFamily="18" charset="0"/>
            </a:endParaRPr>
          </a:p>
          <a:p>
            <a:pPr lvl="1" eaLnBrk="1" hangingPunct="1"/>
            <a:endParaRPr lang="en-US" altLang="en-US" sz="24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barn(inVertical)">
                                      <p:cBhvr>
                                        <p:cTn id="7" dur="500"/>
                                        <p:tgtEl>
                                          <p:spTgt spid="3481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099">
                                            <p:txEl>
                                              <p:pRg st="0" end="0"/>
                                            </p:txEl>
                                          </p:spTgt>
                                        </p:tgtEl>
                                        <p:attrNameLst>
                                          <p:attrName>style.visibility</p:attrName>
                                        </p:attrNameLst>
                                      </p:cBhvr>
                                      <p:to>
                                        <p:strVal val="visible"/>
                                      </p:to>
                                    </p:set>
                                    <p:animEffect transition="in" filter="fade">
                                      <p:cBhvr>
                                        <p:cTn id="12" dur="1000"/>
                                        <p:tgtEl>
                                          <p:spTgt spid="4099">
                                            <p:txEl>
                                              <p:pRg st="0" end="0"/>
                                            </p:txEl>
                                          </p:spTgt>
                                        </p:tgtEl>
                                      </p:cBhvr>
                                    </p:animEffect>
                                    <p:anim calcmode="lin" valueType="num">
                                      <p:cBhvr>
                                        <p:cTn id="13" dur="1000" fill="hold"/>
                                        <p:tgtEl>
                                          <p:spTgt spid="4099">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099">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099">
                                            <p:txEl>
                                              <p:pRg st="1" end="1"/>
                                            </p:txEl>
                                          </p:spTgt>
                                        </p:tgtEl>
                                        <p:attrNameLst>
                                          <p:attrName>style.visibility</p:attrName>
                                        </p:attrNameLst>
                                      </p:cBhvr>
                                      <p:to>
                                        <p:strVal val="visible"/>
                                      </p:to>
                                    </p:set>
                                    <p:animEffect transition="in" filter="fade">
                                      <p:cBhvr>
                                        <p:cTn id="17" dur="1000"/>
                                        <p:tgtEl>
                                          <p:spTgt spid="4099">
                                            <p:txEl>
                                              <p:pRg st="1" end="1"/>
                                            </p:txEl>
                                          </p:spTgt>
                                        </p:tgtEl>
                                      </p:cBhvr>
                                    </p:animEffect>
                                    <p:anim calcmode="lin" valueType="num">
                                      <p:cBhvr>
                                        <p:cTn id="18" dur="1000" fill="hold"/>
                                        <p:tgtEl>
                                          <p:spTgt spid="4099">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4099">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099">
                                            <p:txEl>
                                              <p:pRg st="2" end="2"/>
                                            </p:txEl>
                                          </p:spTgt>
                                        </p:tgtEl>
                                        <p:attrNameLst>
                                          <p:attrName>style.visibility</p:attrName>
                                        </p:attrNameLst>
                                      </p:cBhvr>
                                      <p:to>
                                        <p:strVal val="visible"/>
                                      </p:to>
                                    </p:set>
                                    <p:animEffect transition="in" filter="fade">
                                      <p:cBhvr>
                                        <p:cTn id="22" dur="1000"/>
                                        <p:tgtEl>
                                          <p:spTgt spid="4099">
                                            <p:txEl>
                                              <p:pRg st="2" end="2"/>
                                            </p:txEl>
                                          </p:spTgt>
                                        </p:tgtEl>
                                      </p:cBhvr>
                                    </p:animEffect>
                                    <p:anim calcmode="lin" valueType="num">
                                      <p:cBhvr>
                                        <p:cTn id="23" dur="1000" fill="hold"/>
                                        <p:tgtEl>
                                          <p:spTgt spid="4099">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4099">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099">
                                            <p:txEl>
                                              <p:pRg st="3" end="3"/>
                                            </p:txEl>
                                          </p:spTgt>
                                        </p:tgtEl>
                                        <p:attrNameLst>
                                          <p:attrName>style.visibility</p:attrName>
                                        </p:attrNameLst>
                                      </p:cBhvr>
                                      <p:to>
                                        <p:strVal val="visible"/>
                                      </p:to>
                                    </p:set>
                                    <p:animEffect transition="in" filter="fade">
                                      <p:cBhvr>
                                        <p:cTn id="27" dur="1000"/>
                                        <p:tgtEl>
                                          <p:spTgt spid="4099">
                                            <p:txEl>
                                              <p:pRg st="3" end="3"/>
                                            </p:txEl>
                                          </p:spTgt>
                                        </p:tgtEl>
                                      </p:cBhvr>
                                    </p:animEffect>
                                    <p:anim calcmode="lin" valueType="num">
                                      <p:cBhvr>
                                        <p:cTn id="28" dur="1000" fill="hold"/>
                                        <p:tgtEl>
                                          <p:spTgt spid="4099">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4099">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099">
                                            <p:txEl>
                                              <p:pRg st="4" end="4"/>
                                            </p:txEl>
                                          </p:spTgt>
                                        </p:tgtEl>
                                        <p:attrNameLst>
                                          <p:attrName>style.visibility</p:attrName>
                                        </p:attrNameLst>
                                      </p:cBhvr>
                                      <p:to>
                                        <p:strVal val="visible"/>
                                      </p:to>
                                    </p:set>
                                    <p:animEffect transition="in" filter="fade">
                                      <p:cBhvr>
                                        <p:cTn id="32" dur="1000"/>
                                        <p:tgtEl>
                                          <p:spTgt spid="4099">
                                            <p:txEl>
                                              <p:pRg st="4" end="4"/>
                                            </p:txEl>
                                          </p:spTgt>
                                        </p:tgtEl>
                                      </p:cBhvr>
                                    </p:animEffect>
                                    <p:anim calcmode="lin" valueType="num">
                                      <p:cBhvr>
                                        <p:cTn id="33" dur="1000" fill="hold"/>
                                        <p:tgtEl>
                                          <p:spTgt spid="4099">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4099">
                                            <p:txEl>
                                              <p:pRg st="4" end="4"/>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099">
                                            <p:txEl>
                                              <p:pRg st="5" end="5"/>
                                            </p:txEl>
                                          </p:spTgt>
                                        </p:tgtEl>
                                        <p:attrNameLst>
                                          <p:attrName>style.visibility</p:attrName>
                                        </p:attrNameLst>
                                      </p:cBhvr>
                                      <p:to>
                                        <p:strVal val="visible"/>
                                      </p:to>
                                    </p:set>
                                    <p:animEffect transition="in" filter="fade">
                                      <p:cBhvr>
                                        <p:cTn id="37" dur="1000"/>
                                        <p:tgtEl>
                                          <p:spTgt spid="4099">
                                            <p:txEl>
                                              <p:pRg st="5" end="5"/>
                                            </p:txEl>
                                          </p:spTgt>
                                        </p:tgtEl>
                                      </p:cBhvr>
                                    </p:animEffect>
                                    <p:anim calcmode="lin" valueType="num">
                                      <p:cBhvr>
                                        <p:cTn id="38" dur="1000" fill="hold"/>
                                        <p:tgtEl>
                                          <p:spTgt spid="4099">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4099">
                                            <p:txEl>
                                              <p:pRg st="5" end="5"/>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099">
                                            <p:txEl>
                                              <p:pRg st="6" end="6"/>
                                            </p:txEl>
                                          </p:spTgt>
                                        </p:tgtEl>
                                        <p:attrNameLst>
                                          <p:attrName>style.visibility</p:attrName>
                                        </p:attrNameLst>
                                      </p:cBhvr>
                                      <p:to>
                                        <p:strVal val="visible"/>
                                      </p:to>
                                    </p:set>
                                    <p:animEffect transition="in" filter="fade">
                                      <p:cBhvr>
                                        <p:cTn id="42" dur="1000"/>
                                        <p:tgtEl>
                                          <p:spTgt spid="4099">
                                            <p:txEl>
                                              <p:pRg st="6" end="6"/>
                                            </p:txEl>
                                          </p:spTgt>
                                        </p:tgtEl>
                                      </p:cBhvr>
                                    </p:animEffect>
                                    <p:anim calcmode="lin" valueType="num">
                                      <p:cBhvr>
                                        <p:cTn id="43" dur="1000" fill="hold"/>
                                        <p:tgtEl>
                                          <p:spTgt spid="4099">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409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099">
                                            <p:txEl>
                                              <p:pRg st="7" end="7"/>
                                            </p:txEl>
                                          </p:spTgt>
                                        </p:tgtEl>
                                        <p:attrNameLst>
                                          <p:attrName>style.visibility</p:attrName>
                                        </p:attrNameLst>
                                      </p:cBhvr>
                                      <p:to>
                                        <p:strVal val="visible"/>
                                      </p:to>
                                    </p:set>
                                    <p:animEffect transition="in" filter="fade">
                                      <p:cBhvr>
                                        <p:cTn id="49" dur="1000"/>
                                        <p:tgtEl>
                                          <p:spTgt spid="4099">
                                            <p:txEl>
                                              <p:pRg st="7" end="7"/>
                                            </p:txEl>
                                          </p:spTgt>
                                        </p:tgtEl>
                                      </p:cBhvr>
                                    </p:animEffect>
                                    <p:anim calcmode="lin" valueType="num">
                                      <p:cBhvr>
                                        <p:cTn id="50" dur="1000" fill="hold"/>
                                        <p:tgtEl>
                                          <p:spTgt spid="4099">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4099">
                                            <p:txEl>
                                              <p:pRg st="7" end="7"/>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099">
                                            <p:txEl>
                                              <p:pRg st="8" end="8"/>
                                            </p:txEl>
                                          </p:spTgt>
                                        </p:tgtEl>
                                        <p:attrNameLst>
                                          <p:attrName>style.visibility</p:attrName>
                                        </p:attrNameLst>
                                      </p:cBhvr>
                                      <p:to>
                                        <p:strVal val="visible"/>
                                      </p:to>
                                    </p:set>
                                    <p:animEffect transition="in" filter="fade">
                                      <p:cBhvr>
                                        <p:cTn id="54" dur="1000"/>
                                        <p:tgtEl>
                                          <p:spTgt spid="4099">
                                            <p:txEl>
                                              <p:pRg st="8" end="8"/>
                                            </p:txEl>
                                          </p:spTgt>
                                        </p:tgtEl>
                                      </p:cBhvr>
                                    </p:animEffect>
                                    <p:anim calcmode="lin" valueType="num">
                                      <p:cBhvr>
                                        <p:cTn id="55" dur="1000" fill="hold"/>
                                        <p:tgtEl>
                                          <p:spTgt spid="4099">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4099">
                                            <p:txEl>
                                              <p:pRg st="8" end="8"/>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4099">
                                            <p:txEl>
                                              <p:pRg st="9" end="9"/>
                                            </p:txEl>
                                          </p:spTgt>
                                        </p:tgtEl>
                                        <p:attrNameLst>
                                          <p:attrName>style.visibility</p:attrName>
                                        </p:attrNameLst>
                                      </p:cBhvr>
                                      <p:to>
                                        <p:strVal val="visible"/>
                                      </p:to>
                                    </p:set>
                                    <p:animEffect transition="in" filter="fade">
                                      <p:cBhvr>
                                        <p:cTn id="59" dur="1000"/>
                                        <p:tgtEl>
                                          <p:spTgt spid="4099">
                                            <p:txEl>
                                              <p:pRg st="9" end="9"/>
                                            </p:txEl>
                                          </p:spTgt>
                                        </p:tgtEl>
                                      </p:cBhvr>
                                    </p:animEffect>
                                    <p:anim calcmode="lin" valueType="num">
                                      <p:cBhvr>
                                        <p:cTn id="60" dur="1000" fill="hold"/>
                                        <p:tgtEl>
                                          <p:spTgt spid="4099">
                                            <p:txEl>
                                              <p:pRg st="9" end="9"/>
                                            </p:txEl>
                                          </p:spTgt>
                                        </p:tgtEl>
                                        <p:attrNameLst>
                                          <p:attrName>ppt_x</p:attrName>
                                        </p:attrNameLst>
                                      </p:cBhvr>
                                      <p:tavLst>
                                        <p:tav tm="0">
                                          <p:val>
                                            <p:strVal val="#ppt_x"/>
                                          </p:val>
                                        </p:tav>
                                        <p:tav tm="100000">
                                          <p:val>
                                            <p:strVal val="#ppt_x"/>
                                          </p:val>
                                        </p:tav>
                                      </p:tavLst>
                                    </p:anim>
                                    <p:anim calcmode="lin" valueType="num">
                                      <p:cBhvr>
                                        <p:cTn id="61" dur="1000" fill="hold"/>
                                        <p:tgtEl>
                                          <p:spTgt spid="4099">
                                            <p:txEl>
                                              <p:pRg st="9" end="9"/>
                                            </p:txEl>
                                          </p:spTgt>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4099">
                                            <p:txEl>
                                              <p:pRg st="10" end="10"/>
                                            </p:txEl>
                                          </p:spTgt>
                                        </p:tgtEl>
                                        <p:attrNameLst>
                                          <p:attrName>style.visibility</p:attrName>
                                        </p:attrNameLst>
                                      </p:cBhvr>
                                      <p:to>
                                        <p:strVal val="visible"/>
                                      </p:to>
                                    </p:set>
                                    <p:animEffect transition="in" filter="fade">
                                      <p:cBhvr>
                                        <p:cTn id="64" dur="1000"/>
                                        <p:tgtEl>
                                          <p:spTgt spid="4099">
                                            <p:txEl>
                                              <p:pRg st="10" end="10"/>
                                            </p:txEl>
                                          </p:spTgt>
                                        </p:tgtEl>
                                      </p:cBhvr>
                                    </p:animEffect>
                                    <p:anim calcmode="lin" valueType="num">
                                      <p:cBhvr>
                                        <p:cTn id="65" dur="1000" fill="hold"/>
                                        <p:tgtEl>
                                          <p:spTgt spid="4099">
                                            <p:txEl>
                                              <p:pRg st="10" end="10"/>
                                            </p:txEl>
                                          </p:spTgt>
                                        </p:tgtEl>
                                        <p:attrNameLst>
                                          <p:attrName>ppt_x</p:attrName>
                                        </p:attrNameLst>
                                      </p:cBhvr>
                                      <p:tavLst>
                                        <p:tav tm="0">
                                          <p:val>
                                            <p:strVal val="#ppt_x"/>
                                          </p:val>
                                        </p:tav>
                                        <p:tav tm="100000">
                                          <p:val>
                                            <p:strVal val="#ppt_x"/>
                                          </p:val>
                                        </p:tav>
                                      </p:tavLst>
                                    </p:anim>
                                    <p:anim calcmode="lin" valueType="num">
                                      <p:cBhvr>
                                        <p:cTn id="66" dur="1000" fill="hold"/>
                                        <p:tgtEl>
                                          <p:spTgt spid="4099">
                                            <p:txEl>
                                              <p:pRg st="10" end="10"/>
                                            </p:txEl>
                                          </p:spTgt>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4099">
                                            <p:txEl>
                                              <p:pRg st="11" end="11"/>
                                            </p:txEl>
                                          </p:spTgt>
                                        </p:tgtEl>
                                        <p:attrNameLst>
                                          <p:attrName>style.visibility</p:attrName>
                                        </p:attrNameLst>
                                      </p:cBhvr>
                                      <p:to>
                                        <p:strVal val="visible"/>
                                      </p:to>
                                    </p:set>
                                    <p:animEffect transition="in" filter="fade">
                                      <p:cBhvr>
                                        <p:cTn id="69" dur="1000"/>
                                        <p:tgtEl>
                                          <p:spTgt spid="4099">
                                            <p:txEl>
                                              <p:pRg st="11" end="11"/>
                                            </p:txEl>
                                          </p:spTgt>
                                        </p:tgtEl>
                                      </p:cBhvr>
                                    </p:animEffect>
                                    <p:anim calcmode="lin" valueType="num">
                                      <p:cBhvr>
                                        <p:cTn id="70" dur="1000" fill="hold"/>
                                        <p:tgtEl>
                                          <p:spTgt spid="4099">
                                            <p:txEl>
                                              <p:pRg st="11" end="11"/>
                                            </p:txEl>
                                          </p:spTgt>
                                        </p:tgtEl>
                                        <p:attrNameLst>
                                          <p:attrName>ppt_x</p:attrName>
                                        </p:attrNameLst>
                                      </p:cBhvr>
                                      <p:tavLst>
                                        <p:tav tm="0">
                                          <p:val>
                                            <p:strVal val="#ppt_x"/>
                                          </p:val>
                                        </p:tav>
                                        <p:tav tm="100000">
                                          <p:val>
                                            <p:strVal val="#ppt_x"/>
                                          </p:val>
                                        </p:tav>
                                      </p:tavLst>
                                    </p:anim>
                                    <p:anim calcmode="lin" valueType="num">
                                      <p:cBhvr>
                                        <p:cTn id="71" dur="1000" fill="hold"/>
                                        <p:tgtEl>
                                          <p:spTgt spid="4099">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p:bldP spid="409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1408741E-DE4D-44C9-957D-167A43346743}"/>
              </a:ext>
            </a:extLst>
          </p:cNvPr>
          <p:cNvSpPr>
            <a:spLocks noGrp="1" noChangeArrowheads="1"/>
          </p:cNvSpPr>
          <p:nvPr>
            <p:ph type="title"/>
          </p:nvPr>
        </p:nvSpPr>
        <p:spPr>
          <a:xfrm>
            <a:off x="457200" y="152400"/>
            <a:ext cx="8229600" cy="533400"/>
          </a:xfrm>
        </p:spPr>
        <p:txBody>
          <a:bodyPr rtlCol="0">
            <a:normAutofit fontScale="90000"/>
          </a:bodyPr>
          <a:lstStyle/>
          <a:p>
            <a:pPr eaLnBrk="1" fontAlgn="auto" hangingPunct="1">
              <a:spcAft>
                <a:spcPts val="0"/>
              </a:spcAft>
              <a:defRPr/>
            </a:pPr>
            <a:r>
              <a:rPr lang="en-US" sz="3600" b="1" dirty="0">
                <a:latin typeface="Garamond" pitchFamily="18" charset="0"/>
              </a:rPr>
              <a:t>Problems of Urbanization</a:t>
            </a:r>
            <a:endParaRPr lang="en-US" sz="4000" b="1" dirty="0"/>
          </a:p>
        </p:txBody>
      </p:sp>
      <p:sp>
        <p:nvSpPr>
          <p:cNvPr id="5123" name="Rectangle 3">
            <a:extLst>
              <a:ext uri="{FF2B5EF4-FFF2-40B4-BE49-F238E27FC236}">
                <a16:creationId xmlns:a16="http://schemas.microsoft.com/office/drawing/2014/main" id="{72F5DFEC-195F-4CFE-BA5B-F26BE7D2A011}"/>
              </a:ext>
            </a:extLst>
          </p:cNvPr>
          <p:cNvSpPr>
            <a:spLocks noGrp="1"/>
          </p:cNvSpPr>
          <p:nvPr>
            <p:ph idx="1"/>
          </p:nvPr>
        </p:nvSpPr>
        <p:spPr>
          <a:xfrm>
            <a:off x="1143000" y="1752600"/>
            <a:ext cx="8001000" cy="3886200"/>
          </a:xfrm>
        </p:spPr>
        <p:txBody>
          <a:bodyPr>
            <a:normAutofit fontScale="25000" lnSpcReduction="20000"/>
          </a:bodyPr>
          <a:lstStyle/>
          <a:p>
            <a:pPr marL="0" indent="0" algn="just" eaLnBrk="1" hangingPunct="1">
              <a:buNone/>
            </a:pPr>
            <a:endParaRPr lang="en-US" altLang="en-US" sz="2800" dirty="0">
              <a:latin typeface="Garamond" panose="02020404030301010803" pitchFamily="18" charset="0"/>
            </a:endParaRPr>
          </a:p>
          <a:p>
            <a:pPr algn="just"/>
            <a:r>
              <a:rPr lang="en-US" altLang="en-US" sz="8000" dirty="0">
                <a:latin typeface="Garamond" panose="02020404030301010803" pitchFamily="18" charset="0"/>
              </a:rPr>
              <a:t>Over population</a:t>
            </a:r>
          </a:p>
          <a:p>
            <a:pPr algn="just"/>
            <a:r>
              <a:rPr lang="en-US" altLang="en-US" sz="8000" dirty="0">
                <a:latin typeface="Garamond" panose="02020404030301010803" pitchFamily="18" charset="0"/>
              </a:rPr>
              <a:t>Housing problems</a:t>
            </a:r>
          </a:p>
          <a:p>
            <a:pPr algn="just"/>
            <a:r>
              <a:rPr lang="en-US" altLang="en-US" sz="8000" dirty="0">
                <a:latin typeface="Garamond" panose="02020404030301010803" pitchFamily="18" charset="0"/>
              </a:rPr>
              <a:t>Development of slums</a:t>
            </a:r>
          </a:p>
          <a:p>
            <a:pPr algn="just"/>
            <a:r>
              <a:rPr lang="en-US" altLang="en-US" sz="8000" dirty="0">
                <a:latin typeface="Garamond" panose="02020404030301010803" pitchFamily="18" charset="0"/>
              </a:rPr>
              <a:t>Sanitary problem</a:t>
            </a:r>
          </a:p>
          <a:p>
            <a:pPr algn="just"/>
            <a:r>
              <a:rPr lang="en-US" altLang="en-US" sz="8000" dirty="0">
                <a:latin typeface="Garamond" panose="02020404030301010803" pitchFamily="18" charset="0"/>
              </a:rPr>
              <a:t>Environmental quality degradation</a:t>
            </a:r>
          </a:p>
          <a:p>
            <a:pPr algn="just"/>
            <a:r>
              <a:rPr lang="en-US" altLang="en-US" sz="8000" dirty="0">
                <a:latin typeface="Garamond" panose="02020404030301010803" pitchFamily="18" charset="0"/>
              </a:rPr>
              <a:t>Urban crime</a:t>
            </a:r>
          </a:p>
          <a:p>
            <a:pPr algn="just"/>
            <a:r>
              <a:rPr lang="en-US" altLang="en-US" sz="8000" dirty="0">
                <a:latin typeface="Garamond" panose="02020404030301010803" pitchFamily="18" charset="0"/>
              </a:rPr>
              <a:t>Transportation problem</a:t>
            </a:r>
          </a:p>
          <a:p>
            <a:pPr algn="just"/>
            <a:r>
              <a:rPr lang="en-US" altLang="en-US" sz="8000" dirty="0">
                <a:latin typeface="Garamond" panose="02020404030301010803" pitchFamily="18" charset="0"/>
              </a:rPr>
              <a:t>Waste disposal problem</a:t>
            </a:r>
          </a:p>
          <a:p>
            <a:pPr algn="just"/>
            <a:r>
              <a:rPr lang="en-US" altLang="en-US" sz="8000" dirty="0">
                <a:latin typeface="Garamond" panose="02020404030301010803" pitchFamily="18" charset="0"/>
              </a:rPr>
              <a:t>Pressure on water supplies</a:t>
            </a:r>
          </a:p>
          <a:p>
            <a:pPr algn="just" eaLnBrk="1" hangingPunct="1"/>
            <a:r>
              <a:rPr lang="en-US" altLang="en-US" sz="8000" dirty="0">
                <a:latin typeface="Garamond" panose="02020404030301010803" pitchFamily="18" charset="0"/>
              </a:rPr>
              <a:t>Create all types of pollution</a:t>
            </a:r>
          </a:p>
          <a:p>
            <a:pPr lvl="1" algn="just" eaLnBrk="1" hangingPunct="1"/>
            <a:r>
              <a:rPr lang="en-US" altLang="en-US" sz="8000" dirty="0">
                <a:latin typeface="Garamond" panose="02020404030301010803" pitchFamily="18" charset="0"/>
              </a:rPr>
              <a:t>Air pollution from traffic congestion and industries</a:t>
            </a:r>
          </a:p>
          <a:p>
            <a:pPr lvl="1" algn="just" eaLnBrk="1" hangingPunct="1"/>
            <a:r>
              <a:rPr lang="en-US" altLang="en-US" sz="8000" dirty="0">
                <a:latin typeface="Garamond" panose="02020404030301010803" pitchFamily="18" charset="0"/>
              </a:rPr>
              <a:t>Land pollution from litter and rubbish trips</a:t>
            </a:r>
          </a:p>
          <a:p>
            <a:pPr lvl="1" algn="just" eaLnBrk="1" hangingPunct="1"/>
            <a:r>
              <a:rPr lang="en-US" altLang="en-US" sz="8000" dirty="0">
                <a:latin typeface="Garamond" panose="02020404030301010803" pitchFamily="18" charset="0"/>
              </a:rPr>
              <a:t>Water pollution from open drains and untreated sewage</a:t>
            </a:r>
          </a:p>
          <a:p>
            <a:pPr lvl="1" algn="just" eaLnBrk="1" hangingPunct="1"/>
            <a:r>
              <a:rPr lang="en-US" altLang="en-US" sz="8000" dirty="0">
                <a:latin typeface="Garamond" panose="02020404030301010803" pitchFamily="18" charset="0"/>
              </a:rPr>
              <a:t>Noise pollution from different activities</a:t>
            </a:r>
          </a:p>
          <a:p>
            <a:pPr marL="457200" lvl="1" indent="0" algn="just" eaLnBrk="1" hangingPunct="1">
              <a:buNone/>
            </a:pPr>
            <a:endParaRPr lang="en-US" altLang="en-US" sz="2400" dirty="0">
              <a:latin typeface="Garamond" panose="02020404030301010803" pitchFamily="18" charset="0"/>
            </a:endParaRPr>
          </a:p>
          <a:p>
            <a:pPr eaLnBrk="1" hangingPunct="1">
              <a:buFont typeface="Wingdings" panose="05000000000000000000" pitchFamily="2" charset="2"/>
              <a:buNone/>
            </a:pPr>
            <a:endParaRPr lang="en-US" altLang="en-US" sz="2800" dirty="0">
              <a:latin typeface="Garamond" panose="02020404030301010803"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fade">
                                      <p:cBhvr>
                                        <p:cTn id="7" dur="1000"/>
                                        <p:tgtEl>
                                          <p:spTgt spid="35842"/>
                                        </p:tgtEl>
                                      </p:cBhvr>
                                    </p:animEffect>
                                    <p:anim calcmode="lin" valueType="num">
                                      <p:cBhvr>
                                        <p:cTn id="8" dur="1000" fill="hold"/>
                                        <p:tgtEl>
                                          <p:spTgt spid="35842"/>
                                        </p:tgtEl>
                                        <p:attrNameLst>
                                          <p:attrName>ppt_x</p:attrName>
                                        </p:attrNameLst>
                                      </p:cBhvr>
                                      <p:tavLst>
                                        <p:tav tm="0">
                                          <p:val>
                                            <p:strVal val="#ppt_x"/>
                                          </p:val>
                                        </p:tav>
                                        <p:tav tm="100000">
                                          <p:val>
                                            <p:strVal val="#ppt_x"/>
                                          </p:val>
                                        </p:tav>
                                      </p:tavLst>
                                    </p:anim>
                                    <p:anim calcmode="lin" valueType="num">
                                      <p:cBhvr>
                                        <p:cTn id="9" dur="1000" fill="hold"/>
                                        <p:tgtEl>
                                          <p:spTgt spid="3584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123">
                                            <p:txEl>
                                              <p:pRg st="1" end="1"/>
                                            </p:txEl>
                                          </p:spTgt>
                                        </p:tgtEl>
                                        <p:attrNameLst>
                                          <p:attrName>style.visibility</p:attrName>
                                        </p:attrNameLst>
                                      </p:cBhvr>
                                      <p:to>
                                        <p:strVal val="visible"/>
                                      </p:to>
                                    </p:set>
                                    <p:animEffect transition="in" filter="fade">
                                      <p:cBhvr>
                                        <p:cTn id="14" dur="1000"/>
                                        <p:tgtEl>
                                          <p:spTgt spid="5123">
                                            <p:txEl>
                                              <p:pRg st="1" end="1"/>
                                            </p:txEl>
                                          </p:spTgt>
                                        </p:tgtEl>
                                      </p:cBhvr>
                                    </p:animEffect>
                                    <p:anim calcmode="lin" valueType="num">
                                      <p:cBhvr>
                                        <p:cTn id="15" dur="1000" fill="hold"/>
                                        <p:tgtEl>
                                          <p:spTgt spid="512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1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123">
                                            <p:txEl>
                                              <p:pRg st="2" end="2"/>
                                            </p:txEl>
                                          </p:spTgt>
                                        </p:tgtEl>
                                        <p:attrNameLst>
                                          <p:attrName>style.visibility</p:attrName>
                                        </p:attrNameLst>
                                      </p:cBhvr>
                                      <p:to>
                                        <p:strVal val="visible"/>
                                      </p:to>
                                    </p:set>
                                    <p:animEffect transition="in" filter="fade">
                                      <p:cBhvr>
                                        <p:cTn id="21" dur="1000"/>
                                        <p:tgtEl>
                                          <p:spTgt spid="5123">
                                            <p:txEl>
                                              <p:pRg st="2" end="2"/>
                                            </p:txEl>
                                          </p:spTgt>
                                        </p:tgtEl>
                                      </p:cBhvr>
                                    </p:animEffect>
                                    <p:anim calcmode="lin" valueType="num">
                                      <p:cBhvr>
                                        <p:cTn id="22" dur="1000" fill="hold"/>
                                        <p:tgtEl>
                                          <p:spTgt spid="512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1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123">
                                            <p:txEl>
                                              <p:pRg st="3" end="3"/>
                                            </p:txEl>
                                          </p:spTgt>
                                        </p:tgtEl>
                                        <p:attrNameLst>
                                          <p:attrName>style.visibility</p:attrName>
                                        </p:attrNameLst>
                                      </p:cBhvr>
                                      <p:to>
                                        <p:strVal val="visible"/>
                                      </p:to>
                                    </p:set>
                                    <p:animEffect transition="in" filter="fade">
                                      <p:cBhvr>
                                        <p:cTn id="28" dur="1000"/>
                                        <p:tgtEl>
                                          <p:spTgt spid="5123">
                                            <p:txEl>
                                              <p:pRg st="3" end="3"/>
                                            </p:txEl>
                                          </p:spTgt>
                                        </p:tgtEl>
                                      </p:cBhvr>
                                    </p:animEffect>
                                    <p:anim calcmode="lin" valueType="num">
                                      <p:cBhvr>
                                        <p:cTn id="29" dur="1000" fill="hold"/>
                                        <p:tgtEl>
                                          <p:spTgt spid="512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12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123">
                                            <p:txEl>
                                              <p:pRg st="4" end="4"/>
                                            </p:txEl>
                                          </p:spTgt>
                                        </p:tgtEl>
                                        <p:attrNameLst>
                                          <p:attrName>style.visibility</p:attrName>
                                        </p:attrNameLst>
                                      </p:cBhvr>
                                      <p:to>
                                        <p:strVal val="visible"/>
                                      </p:to>
                                    </p:set>
                                    <p:animEffect transition="in" filter="fade">
                                      <p:cBhvr>
                                        <p:cTn id="35" dur="1000"/>
                                        <p:tgtEl>
                                          <p:spTgt spid="5123">
                                            <p:txEl>
                                              <p:pRg st="4" end="4"/>
                                            </p:txEl>
                                          </p:spTgt>
                                        </p:tgtEl>
                                      </p:cBhvr>
                                    </p:animEffect>
                                    <p:anim calcmode="lin" valueType="num">
                                      <p:cBhvr>
                                        <p:cTn id="36" dur="1000" fill="hold"/>
                                        <p:tgtEl>
                                          <p:spTgt spid="512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512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5123">
                                            <p:txEl>
                                              <p:pRg st="5" end="5"/>
                                            </p:txEl>
                                          </p:spTgt>
                                        </p:tgtEl>
                                        <p:attrNameLst>
                                          <p:attrName>style.visibility</p:attrName>
                                        </p:attrNameLst>
                                      </p:cBhvr>
                                      <p:to>
                                        <p:strVal val="visible"/>
                                      </p:to>
                                    </p:set>
                                    <p:animEffect transition="in" filter="fade">
                                      <p:cBhvr>
                                        <p:cTn id="42" dur="1000"/>
                                        <p:tgtEl>
                                          <p:spTgt spid="5123">
                                            <p:txEl>
                                              <p:pRg st="5" end="5"/>
                                            </p:txEl>
                                          </p:spTgt>
                                        </p:tgtEl>
                                      </p:cBhvr>
                                    </p:animEffect>
                                    <p:anim calcmode="lin" valueType="num">
                                      <p:cBhvr>
                                        <p:cTn id="43" dur="1000" fill="hold"/>
                                        <p:tgtEl>
                                          <p:spTgt spid="512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512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5123">
                                            <p:txEl>
                                              <p:pRg st="6" end="6"/>
                                            </p:txEl>
                                          </p:spTgt>
                                        </p:tgtEl>
                                        <p:attrNameLst>
                                          <p:attrName>style.visibility</p:attrName>
                                        </p:attrNameLst>
                                      </p:cBhvr>
                                      <p:to>
                                        <p:strVal val="visible"/>
                                      </p:to>
                                    </p:set>
                                    <p:animEffect transition="in" filter="fade">
                                      <p:cBhvr>
                                        <p:cTn id="49" dur="1000"/>
                                        <p:tgtEl>
                                          <p:spTgt spid="5123">
                                            <p:txEl>
                                              <p:pRg st="6" end="6"/>
                                            </p:txEl>
                                          </p:spTgt>
                                        </p:tgtEl>
                                      </p:cBhvr>
                                    </p:animEffect>
                                    <p:anim calcmode="lin" valueType="num">
                                      <p:cBhvr>
                                        <p:cTn id="50" dur="1000" fill="hold"/>
                                        <p:tgtEl>
                                          <p:spTgt spid="512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512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5123">
                                            <p:txEl>
                                              <p:pRg st="7" end="7"/>
                                            </p:txEl>
                                          </p:spTgt>
                                        </p:tgtEl>
                                        <p:attrNameLst>
                                          <p:attrName>style.visibility</p:attrName>
                                        </p:attrNameLst>
                                      </p:cBhvr>
                                      <p:to>
                                        <p:strVal val="visible"/>
                                      </p:to>
                                    </p:set>
                                    <p:animEffect transition="in" filter="fade">
                                      <p:cBhvr>
                                        <p:cTn id="56" dur="1000"/>
                                        <p:tgtEl>
                                          <p:spTgt spid="5123">
                                            <p:txEl>
                                              <p:pRg st="7" end="7"/>
                                            </p:txEl>
                                          </p:spTgt>
                                        </p:tgtEl>
                                      </p:cBhvr>
                                    </p:animEffect>
                                    <p:anim calcmode="lin" valueType="num">
                                      <p:cBhvr>
                                        <p:cTn id="57" dur="1000" fill="hold"/>
                                        <p:tgtEl>
                                          <p:spTgt spid="512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512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5123">
                                            <p:txEl>
                                              <p:pRg st="8" end="8"/>
                                            </p:txEl>
                                          </p:spTgt>
                                        </p:tgtEl>
                                        <p:attrNameLst>
                                          <p:attrName>style.visibility</p:attrName>
                                        </p:attrNameLst>
                                      </p:cBhvr>
                                      <p:to>
                                        <p:strVal val="visible"/>
                                      </p:to>
                                    </p:set>
                                    <p:animEffect transition="in" filter="fade">
                                      <p:cBhvr>
                                        <p:cTn id="63" dur="1000"/>
                                        <p:tgtEl>
                                          <p:spTgt spid="5123">
                                            <p:txEl>
                                              <p:pRg st="8" end="8"/>
                                            </p:txEl>
                                          </p:spTgt>
                                        </p:tgtEl>
                                      </p:cBhvr>
                                    </p:animEffect>
                                    <p:anim calcmode="lin" valueType="num">
                                      <p:cBhvr>
                                        <p:cTn id="64" dur="1000" fill="hold"/>
                                        <p:tgtEl>
                                          <p:spTgt spid="512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512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5123">
                                            <p:txEl>
                                              <p:pRg st="9" end="9"/>
                                            </p:txEl>
                                          </p:spTgt>
                                        </p:tgtEl>
                                        <p:attrNameLst>
                                          <p:attrName>style.visibility</p:attrName>
                                        </p:attrNameLst>
                                      </p:cBhvr>
                                      <p:to>
                                        <p:strVal val="visible"/>
                                      </p:to>
                                    </p:set>
                                    <p:animEffect transition="in" filter="fade">
                                      <p:cBhvr>
                                        <p:cTn id="70" dur="1000"/>
                                        <p:tgtEl>
                                          <p:spTgt spid="5123">
                                            <p:txEl>
                                              <p:pRg st="9" end="9"/>
                                            </p:txEl>
                                          </p:spTgt>
                                        </p:tgtEl>
                                      </p:cBhvr>
                                    </p:animEffect>
                                    <p:anim calcmode="lin" valueType="num">
                                      <p:cBhvr>
                                        <p:cTn id="71" dur="1000" fill="hold"/>
                                        <p:tgtEl>
                                          <p:spTgt spid="512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512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5123">
                                            <p:txEl>
                                              <p:pRg st="10" end="10"/>
                                            </p:txEl>
                                          </p:spTgt>
                                        </p:tgtEl>
                                        <p:attrNameLst>
                                          <p:attrName>style.visibility</p:attrName>
                                        </p:attrNameLst>
                                      </p:cBhvr>
                                      <p:to>
                                        <p:strVal val="visible"/>
                                      </p:to>
                                    </p:set>
                                    <p:animEffect transition="in" filter="fade">
                                      <p:cBhvr>
                                        <p:cTn id="77" dur="1000"/>
                                        <p:tgtEl>
                                          <p:spTgt spid="5123">
                                            <p:txEl>
                                              <p:pRg st="10" end="10"/>
                                            </p:txEl>
                                          </p:spTgt>
                                        </p:tgtEl>
                                      </p:cBhvr>
                                    </p:animEffect>
                                    <p:anim calcmode="lin" valueType="num">
                                      <p:cBhvr>
                                        <p:cTn id="78" dur="1000" fill="hold"/>
                                        <p:tgtEl>
                                          <p:spTgt spid="512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512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5123">
                                            <p:txEl>
                                              <p:pRg st="11" end="11"/>
                                            </p:txEl>
                                          </p:spTgt>
                                        </p:tgtEl>
                                        <p:attrNameLst>
                                          <p:attrName>style.visibility</p:attrName>
                                        </p:attrNameLst>
                                      </p:cBhvr>
                                      <p:to>
                                        <p:strVal val="visible"/>
                                      </p:to>
                                    </p:set>
                                    <p:animEffect transition="in" filter="fade">
                                      <p:cBhvr>
                                        <p:cTn id="84" dur="1000"/>
                                        <p:tgtEl>
                                          <p:spTgt spid="5123">
                                            <p:txEl>
                                              <p:pRg st="11" end="11"/>
                                            </p:txEl>
                                          </p:spTgt>
                                        </p:tgtEl>
                                      </p:cBhvr>
                                    </p:animEffect>
                                    <p:anim calcmode="lin" valueType="num">
                                      <p:cBhvr>
                                        <p:cTn id="85" dur="1000" fill="hold"/>
                                        <p:tgtEl>
                                          <p:spTgt spid="5123">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512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5123">
                                            <p:txEl>
                                              <p:pRg st="12" end="12"/>
                                            </p:txEl>
                                          </p:spTgt>
                                        </p:tgtEl>
                                        <p:attrNameLst>
                                          <p:attrName>style.visibility</p:attrName>
                                        </p:attrNameLst>
                                      </p:cBhvr>
                                      <p:to>
                                        <p:strVal val="visible"/>
                                      </p:to>
                                    </p:set>
                                    <p:animEffect transition="in" filter="fade">
                                      <p:cBhvr>
                                        <p:cTn id="91" dur="1000"/>
                                        <p:tgtEl>
                                          <p:spTgt spid="5123">
                                            <p:txEl>
                                              <p:pRg st="12" end="12"/>
                                            </p:txEl>
                                          </p:spTgt>
                                        </p:tgtEl>
                                      </p:cBhvr>
                                    </p:animEffect>
                                    <p:anim calcmode="lin" valueType="num">
                                      <p:cBhvr>
                                        <p:cTn id="92" dur="1000" fill="hold"/>
                                        <p:tgtEl>
                                          <p:spTgt spid="5123">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512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5123">
                                            <p:txEl>
                                              <p:pRg st="13" end="13"/>
                                            </p:txEl>
                                          </p:spTgt>
                                        </p:tgtEl>
                                        <p:attrNameLst>
                                          <p:attrName>style.visibility</p:attrName>
                                        </p:attrNameLst>
                                      </p:cBhvr>
                                      <p:to>
                                        <p:strVal val="visible"/>
                                      </p:to>
                                    </p:set>
                                    <p:animEffect transition="in" filter="fade">
                                      <p:cBhvr>
                                        <p:cTn id="98" dur="1000"/>
                                        <p:tgtEl>
                                          <p:spTgt spid="5123">
                                            <p:txEl>
                                              <p:pRg st="13" end="13"/>
                                            </p:txEl>
                                          </p:spTgt>
                                        </p:tgtEl>
                                      </p:cBhvr>
                                    </p:animEffect>
                                    <p:anim calcmode="lin" valueType="num">
                                      <p:cBhvr>
                                        <p:cTn id="99" dur="1000" fill="hold"/>
                                        <p:tgtEl>
                                          <p:spTgt spid="5123">
                                            <p:txEl>
                                              <p:pRg st="13" end="13"/>
                                            </p:txEl>
                                          </p:spTgt>
                                        </p:tgtEl>
                                        <p:attrNameLst>
                                          <p:attrName>ppt_x</p:attrName>
                                        </p:attrNameLst>
                                      </p:cBhvr>
                                      <p:tavLst>
                                        <p:tav tm="0">
                                          <p:val>
                                            <p:strVal val="#ppt_x"/>
                                          </p:val>
                                        </p:tav>
                                        <p:tav tm="100000">
                                          <p:val>
                                            <p:strVal val="#ppt_x"/>
                                          </p:val>
                                        </p:tav>
                                      </p:tavLst>
                                    </p:anim>
                                    <p:anim calcmode="lin" valueType="num">
                                      <p:cBhvr>
                                        <p:cTn id="100" dur="1000" fill="hold"/>
                                        <p:tgtEl>
                                          <p:spTgt spid="512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5123">
                                            <p:txEl>
                                              <p:pRg st="14" end="14"/>
                                            </p:txEl>
                                          </p:spTgt>
                                        </p:tgtEl>
                                        <p:attrNameLst>
                                          <p:attrName>style.visibility</p:attrName>
                                        </p:attrNameLst>
                                      </p:cBhvr>
                                      <p:to>
                                        <p:strVal val="visible"/>
                                      </p:to>
                                    </p:set>
                                    <p:animEffect transition="in" filter="fade">
                                      <p:cBhvr>
                                        <p:cTn id="105" dur="1000"/>
                                        <p:tgtEl>
                                          <p:spTgt spid="5123">
                                            <p:txEl>
                                              <p:pRg st="14" end="14"/>
                                            </p:txEl>
                                          </p:spTgt>
                                        </p:tgtEl>
                                      </p:cBhvr>
                                    </p:animEffect>
                                    <p:anim calcmode="lin" valueType="num">
                                      <p:cBhvr>
                                        <p:cTn id="106" dur="1000" fill="hold"/>
                                        <p:tgtEl>
                                          <p:spTgt spid="5123">
                                            <p:txEl>
                                              <p:pRg st="14" end="14"/>
                                            </p:txEl>
                                          </p:spTgt>
                                        </p:tgtEl>
                                        <p:attrNameLst>
                                          <p:attrName>ppt_x</p:attrName>
                                        </p:attrNameLst>
                                      </p:cBhvr>
                                      <p:tavLst>
                                        <p:tav tm="0">
                                          <p:val>
                                            <p:strVal val="#ppt_x"/>
                                          </p:val>
                                        </p:tav>
                                        <p:tav tm="100000">
                                          <p:val>
                                            <p:strVal val="#ppt_x"/>
                                          </p:val>
                                        </p:tav>
                                      </p:tavLst>
                                    </p:anim>
                                    <p:anim calcmode="lin" valueType="num">
                                      <p:cBhvr>
                                        <p:cTn id="107" dur="1000" fill="hold"/>
                                        <p:tgtEl>
                                          <p:spTgt spid="512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653E2961-C765-4955-9594-3A222E1A1D60}"/>
              </a:ext>
            </a:extLst>
          </p:cNvPr>
          <p:cNvSpPr>
            <a:spLocks noGrp="1" noChangeArrowheads="1"/>
          </p:cNvSpPr>
          <p:nvPr>
            <p:ph type="title"/>
          </p:nvPr>
        </p:nvSpPr>
        <p:spPr>
          <a:xfrm>
            <a:off x="457200" y="152400"/>
            <a:ext cx="8229600" cy="636588"/>
          </a:xfrm>
        </p:spPr>
        <p:txBody>
          <a:bodyPr rtlCol="0">
            <a:normAutofit fontScale="90000"/>
          </a:bodyPr>
          <a:lstStyle/>
          <a:p>
            <a:pPr eaLnBrk="1" fontAlgn="auto" hangingPunct="1">
              <a:spcAft>
                <a:spcPts val="0"/>
              </a:spcAft>
              <a:defRPr/>
            </a:pPr>
            <a:r>
              <a:rPr lang="en-US" sz="3600" b="1" dirty="0">
                <a:latin typeface="Garamond" pitchFamily="18" charset="0"/>
              </a:rPr>
              <a:t>Urban Planning</a:t>
            </a:r>
          </a:p>
        </p:txBody>
      </p:sp>
      <p:sp>
        <p:nvSpPr>
          <p:cNvPr id="6147" name="Rectangle 3">
            <a:extLst>
              <a:ext uri="{FF2B5EF4-FFF2-40B4-BE49-F238E27FC236}">
                <a16:creationId xmlns:a16="http://schemas.microsoft.com/office/drawing/2014/main" id="{A170D722-84AE-4DCD-8F6C-461E2FF98B09}"/>
              </a:ext>
            </a:extLst>
          </p:cNvPr>
          <p:cNvSpPr>
            <a:spLocks noGrp="1"/>
          </p:cNvSpPr>
          <p:nvPr>
            <p:ph idx="1"/>
          </p:nvPr>
        </p:nvSpPr>
        <p:spPr>
          <a:xfrm>
            <a:off x="725010" y="1524000"/>
            <a:ext cx="7543800" cy="3200400"/>
          </a:xfrm>
        </p:spPr>
        <p:txBody>
          <a:bodyPr/>
          <a:lstStyle/>
          <a:p>
            <a:pPr algn="just" eaLnBrk="1" hangingPunct="1"/>
            <a:r>
              <a:rPr lang="en-US" altLang="en-US" dirty="0">
                <a:latin typeface="Garamond" panose="02020404030301010803" pitchFamily="18" charset="0"/>
              </a:rPr>
              <a:t>Urban planning is a mixture of science and art. It encompasses many different disciplines and brings them all under a single umbrella. The simplest definition of urban planning is that it is the organization of all elements of a town or other urban environment.</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7890"/>
                                        </p:tgtEl>
                                        <p:attrNameLst>
                                          <p:attrName>style.visibility</p:attrName>
                                        </p:attrNameLst>
                                      </p:cBhvr>
                                      <p:to>
                                        <p:strVal val="visible"/>
                                      </p:to>
                                    </p:set>
                                    <p:animEffect transition="in" filter="barn(inVertical)">
                                      <p:cBhvr>
                                        <p:cTn id="7" dur="500"/>
                                        <p:tgtEl>
                                          <p:spTgt spid="3789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147">
                                            <p:txEl>
                                              <p:pRg st="0" end="0"/>
                                            </p:txEl>
                                          </p:spTgt>
                                        </p:tgtEl>
                                        <p:attrNameLst>
                                          <p:attrName>style.visibility</p:attrName>
                                        </p:attrNameLst>
                                      </p:cBhvr>
                                      <p:to>
                                        <p:strVal val="visible"/>
                                      </p:to>
                                    </p:set>
                                    <p:animEffect transition="in" filter="fade">
                                      <p:cBhvr>
                                        <p:cTn id="12" dur="1000"/>
                                        <p:tgtEl>
                                          <p:spTgt spid="6147">
                                            <p:txEl>
                                              <p:pRg st="0" end="0"/>
                                            </p:txEl>
                                          </p:spTgt>
                                        </p:tgtEl>
                                      </p:cBhvr>
                                    </p:animEffect>
                                    <p:anim calcmode="lin" valueType="num">
                                      <p:cBhvr>
                                        <p:cTn id="13" dur="1000" fill="hold"/>
                                        <p:tgtEl>
                                          <p:spTgt spid="614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14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p:bldP spid="6147"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EC9697-69A5-43AB-B38E-FB40B0774795}"/>
              </a:ext>
            </a:extLst>
          </p:cNvPr>
          <p:cNvSpPr/>
          <p:nvPr/>
        </p:nvSpPr>
        <p:spPr>
          <a:xfrm>
            <a:off x="2756631" y="2967335"/>
            <a:ext cx="3630738" cy="923330"/>
          </a:xfrm>
          <a:prstGeom prst="rect">
            <a:avLst/>
          </a:prstGeom>
          <a:noFill/>
        </p:spPr>
        <p:txBody>
          <a:bodyPr wrap="non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THANK YOU</a:t>
            </a:r>
          </a:p>
        </p:txBody>
      </p:sp>
    </p:spTree>
    <p:custDataLst>
      <p:tags r:id="rId1"/>
    </p:custDataLst>
    <p:extLst>
      <p:ext uri="{BB962C8B-B14F-4D97-AF65-F5344CB8AC3E}">
        <p14:creationId xmlns:p14="http://schemas.microsoft.com/office/powerpoint/2010/main" val="4186762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3"/>
</p:tagLst>
</file>

<file path=ppt/tags/tag2.xml><?xml version="1.0" encoding="utf-8"?>
<p:tagLst xmlns:a="http://schemas.openxmlformats.org/drawingml/2006/main" xmlns:r="http://schemas.openxmlformats.org/officeDocument/2006/relationships" xmlns:p="http://schemas.openxmlformats.org/presentationml/2006/main">
  <p:tag name="TIMING" val="|0.4|0.8"/>
</p:tagLst>
</file>

<file path=ppt/tags/tag3.xml><?xml version="1.0" encoding="utf-8"?>
<p:tagLst xmlns:a="http://schemas.openxmlformats.org/drawingml/2006/main" xmlns:r="http://schemas.openxmlformats.org/officeDocument/2006/relationships" xmlns:p="http://schemas.openxmlformats.org/presentationml/2006/main">
  <p:tag name="TIMING" val="|0.7|26|2.7"/>
</p:tagLst>
</file>

<file path=ppt/tags/tag4.xml><?xml version="1.0" encoding="utf-8"?>
<p:tagLst xmlns:a="http://schemas.openxmlformats.org/drawingml/2006/main" xmlns:r="http://schemas.openxmlformats.org/officeDocument/2006/relationships" xmlns:p="http://schemas.openxmlformats.org/presentationml/2006/main">
  <p:tag name="TIMING" val="|0.6|11.2|10.3|4|2.3|2.8|8|2.8|2.9|2.8|3.6|3.7|4.6|3.6|4.4"/>
</p:tagLst>
</file>

<file path=ppt/tags/tag5.xml><?xml version="1.0" encoding="utf-8"?>
<p:tagLst xmlns:a="http://schemas.openxmlformats.org/drawingml/2006/main" xmlns:r="http://schemas.openxmlformats.org/officeDocument/2006/relationships" xmlns:p="http://schemas.openxmlformats.org/presentationml/2006/main">
  <p:tag name="TIMING" val="|1.3|2.2"/>
</p:tagLst>
</file>

<file path=ppt/tags/tag6.xml><?xml version="1.0" encoding="utf-8"?>
<p:tagLst xmlns:a="http://schemas.openxmlformats.org/drawingml/2006/main" xmlns:r="http://schemas.openxmlformats.org/officeDocument/2006/relationships" xmlns:p="http://schemas.openxmlformats.org/presentationml/2006/main">
  <p:tag name="TIMING" val="|0.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2843</TotalTime>
  <Words>289</Words>
  <Application>Microsoft Office PowerPoint</Application>
  <PresentationFormat>On-screen Show (4:3)</PresentationFormat>
  <Paragraphs>39</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Garamond</vt:lpstr>
      <vt:lpstr>Wingdings</vt:lpstr>
      <vt:lpstr>Parallax</vt:lpstr>
      <vt:lpstr>PowerPoint Presentation</vt:lpstr>
      <vt:lpstr>Urbanization</vt:lpstr>
      <vt:lpstr>Factors of rural to Urban Migration</vt:lpstr>
      <vt:lpstr>Problems of Urbanization</vt:lpstr>
      <vt:lpstr>Urban Planning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Mehedi Hasan</dc:creator>
  <cp:lastModifiedBy>Sabrina Shahrin Sharna</cp:lastModifiedBy>
  <cp:revision>166</cp:revision>
  <dcterms:created xsi:type="dcterms:W3CDTF">2020-07-14T14:58:22Z</dcterms:created>
  <dcterms:modified xsi:type="dcterms:W3CDTF">2020-08-24T16:09:13Z</dcterms:modified>
</cp:coreProperties>
</file>