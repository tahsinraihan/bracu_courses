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23" r:id="rId1"/>
  </p:sldMasterIdLst>
  <p:notesMasterIdLst>
    <p:notesMasterId r:id="rId30"/>
  </p:notesMasterIdLst>
  <p:handoutMasterIdLst>
    <p:handoutMasterId r:id="rId31"/>
  </p:handoutMasterIdLst>
  <p:sldIdLst>
    <p:sldId id="264" r:id="rId2"/>
    <p:sldId id="261" r:id="rId3"/>
    <p:sldId id="273" r:id="rId4"/>
    <p:sldId id="262" r:id="rId5"/>
    <p:sldId id="265" r:id="rId6"/>
    <p:sldId id="269" r:id="rId7"/>
    <p:sldId id="275" r:id="rId8"/>
    <p:sldId id="274" r:id="rId9"/>
    <p:sldId id="276" r:id="rId10"/>
    <p:sldId id="282" r:id="rId11"/>
    <p:sldId id="267" r:id="rId12"/>
    <p:sldId id="288" r:id="rId13"/>
    <p:sldId id="268" r:id="rId14"/>
    <p:sldId id="284" r:id="rId15"/>
    <p:sldId id="277" r:id="rId16"/>
    <p:sldId id="271" r:id="rId17"/>
    <p:sldId id="278" r:id="rId18"/>
    <p:sldId id="272" r:id="rId19"/>
    <p:sldId id="266" r:id="rId20"/>
    <p:sldId id="279" r:id="rId21"/>
    <p:sldId id="289" r:id="rId22"/>
    <p:sldId id="290" r:id="rId23"/>
    <p:sldId id="291" r:id="rId24"/>
    <p:sldId id="280" r:id="rId25"/>
    <p:sldId id="285" r:id="rId26"/>
    <p:sldId id="286" r:id="rId27"/>
    <p:sldId id="287" r:id="rId28"/>
    <p:sldId id="270" r:id="rId29"/>
  </p:sldIdLst>
  <p:sldSz cx="9144000" cy="6858000" type="screen4x3"/>
  <p:notesSz cx="6881813"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27" autoAdjust="0"/>
    <p:restoredTop sz="94660"/>
  </p:normalViewPr>
  <p:slideViewPr>
    <p:cSldViewPr>
      <p:cViewPr varScale="1">
        <p:scale>
          <a:sx n="74" d="100"/>
          <a:sy n="74" d="100"/>
        </p:scale>
        <p:origin x="1164"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2913"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97313" y="0"/>
            <a:ext cx="2982912" cy="465138"/>
          </a:xfrm>
          <a:prstGeom prst="rect">
            <a:avLst/>
          </a:prstGeom>
        </p:spPr>
        <p:txBody>
          <a:bodyPr vert="horz" lIns="91440" tIns="45720" rIns="91440" bIns="45720" rtlCol="0"/>
          <a:lstStyle>
            <a:lvl1pPr algn="r">
              <a:defRPr sz="1200"/>
            </a:lvl1pPr>
          </a:lstStyle>
          <a:p>
            <a:fld id="{C8ECF0FB-799B-46EA-A835-C9D7C2C4F312}" type="datetimeFigureOut">
              <a:rPr lang="en-US" smtClean="0"/>
              <a:pPr/>
              <a:t>8/5/2021</a:t>
            </a:fld>
            <a:endParaRPr lang="en-US"/>
          </a:p>
        </p:txBody>
      </p:sp>
      <p:sp>
        <p:nvSpPr>
          <p:cNvPr id="4" name="Footer Placeholder 3"/>
          <p:cNvSpPr>
            <a:spLocks noGrp="1"/>
          </p:cNvSpPr>
          <p:nvPr>
            <p:ph type="ftr" sz="quarter" idx="2"/>
          </p:nvPr>
        </p:nvSpPr>
        <p:spPr>
          <a:xfrm>
            <a:off x="0" y="8829675"/>
            <a:ext cx="2982913" cy="465138"/>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97313" y="8829675"/>
            <a:ext cx="2982912" cy="465138"/>
          </a:xfrm>
          <a:prstGeom prst="rect">
            <a:avLst/>
          </a:prstGeom>
        </p:spPr>
        <p:txBody>
          <a:bodyPr vert="horz" lIns="91440" tIns="45720" rIns="91440" bIns="45720" rtlCol="0" anchor="b"/>
          <a:lstStyle>
            <a:lvl1pPr algn="r">
              <a:defRPr sz="1200"/>
            </a:lvl1pPr>
          </a:lstStyle>
          <a:p>
            <a:fld id="{A7BA0443-C80F-4595-B112-8B8C0A3F7E0B}" type="slidenum">
              <a:rPr lang="en-US" smtClean="0"/>
              <a:pPr/>
              <a:t>‹#›</a:t>
            </a:fld>
            <a:endParaRPr lang="en-US"/>
          </a:p>
        </p:txBody>
      </p:sp>
    </p:spTree>
    <p:extLst>
      <p:ext uri="{BB962C8B-B14F-4D97-AF65-F5344CB8AC3E}">
        <p14:creationId xmlns:p14="http://schemas.microsoft.com/office/powerpoint/2010/main" val="676615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2913"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97313" y="0"/>
            <a:ext cx="2982912" cy="465138"/>
          </a:xfrm>
          <a:prstGeom prst="rect">
            <a:avLst/>
          </a:prstGeom>
        </p:spPr>
        <p:txBody>
          <a:bodyPr vert="horz" lIns="91440" tIns="45720" rIns="91440" bIns="45720" rtlCol="0"/>
          <a:lstStyle>
            <a:lvl1pPr algn="r">
              <a:defRPr sz="1200"/>
            </a:lvl1pPr>
          </a:lstStyle>
          <a:p>
            <a:fld id="{43A56063-5998-4D81-8820-D47268AFD437}" type="datetimeFigureOut">
              <a:rPr lang="en-US" smtClean="0"/>
              <a:pPr/>
              <a:t>8/5/2021</a:t>
            </a:fld>
            <a:endParaRPr lang="en-US"/>
          </a:p>
        </p:txBody>
      </p:sp>
      <p:sp>
        <p:nvSpPr>
          <p:cNvPr id="4" name="Slide Image Placeholder 3"/>
          <p:cNvSpPr>
            <a:spLocks noGrp="1" noRot="1" noChangeAspect="1"/>
          </p:cNvSpPr>
          <p:nvPr>
            <p:ph type="sldImg" idx="2"/>
          </p:nvPr>
        </p:nvSpPr>
        <p:spPr>
          <a:xfrm>
            <a:off x="1117600" y="696913"/>
            <a:ext cx="4648200" cy="34861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8975" y="4416425"/>
            <a:ext cx="5505450" cy="41830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675"/>
            <a:ext cx="2982913" cy="465138"/>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97313" y="8829675"/>
            <a:ext cx="2982912" cy="465138"/>
          </a:xfrm>
          <a:prstGeom prst="rect">
            <a:avLst/>
          </a:prstGeom>
        </p:spPr>
        <p:txBody>
          <a:bodyPr vert="horz" lIns="91440" tIns="45720" rIns="91440" bIns="45720" rtlCol="0" anchor="b"/>
          <a:lstStyle>
            <a:lvl1pPr algn="r">
              <a:defRPr sz="1200"/>
            </a:lvl1pPr>
          </a:lstStyle>
          <a:p>
            <a:fld id="{AC87D4BA-5DC1-4F07-B729-34A8B475F75B}" type="slidenum">
              <a:rPr lang="en-US" smtClean="0"/>
              <a:pPr/>
              <a:t>‹#›</a:t>
            </a:fld>
            <a:endParaRPr lang="en-US"/>
          </a:p>
        </p:txBody>
      </p:sp>
    </p:spTree>
    <p:extLst>
      <p:ext uri="{BB962C8B-B14F-4D97-AF65-F5344CB8AC3E}">
        <p14:creationId xmlns:p14="http://schemas.microsoft.com/office/powerpoint/2010/main" val="24487485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C87D4BA-5DC1-4F07-B729-34A8B475F75B}" type="slidenum">
              <a:rPr lang="en-US" smtClean="0"/>
              <a:pPr/>
              <a:t>1</a:t>
            </a:fld>
            <a:endParaRPr lang="en-US"/>
          </a:p>
        </p:txBody>
      </p:sp>
    </p:spTree>
    <p:extLst>
      <p:ext uri="{BB962C8B-B14F-4D97-AF65-F5344CB8AC3E}">
        <p14:creationId xmlns:p14="http://schemas.microsoft.com/office/powerpoint/2010/main" val="252261422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16" name="Rectangle 15"/>
          <p:cNvSpPr/>
          <p:nvPr/>
        </p:nvSpPr>
        <p:spPr>
          <a:xfrm>
            <a:off x="0" y="0"/>
            <a:ext cx="9144000" cy="6858000"/>
          </a:xfrm>
          <a:prstGeom prst="rect">
            <a:avLst/>
          </a:prstGeom>
          <a:blipFill dpi="0" rotWithShape="1">
            <a:blip r:embed="rId2">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980902" y="1275025"/>
            <a:ext cx="7182197"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088136" y="1385316"/>
            <a:ext cx="6967728" cy="4087368"/>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3794760" y="1267730"/>
            <a:ext cx="1554480" cy="64008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3886200" y="1267731"/>
            <a:ext cx="1371600" cy="548640"/>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171281" y="2091263"/>
            <a:ext cx="6801440" cy="2590800"/>
          </a:xfrm>
        </p:spPr>
        <p:txBody>
          <a:bodyPr tIns="45720" bIns="45720" anchor="ctr">
            <a:noAutofit/>
          </a:bodyPr>
          <a:lstStyle>
            <a:lvl1pPr algn="ctr">
              <a:lnSpc>
                <a:spcPct val="83000"/>
              </a:lnSpc>
              <a:defRPr lang="en-US" sz="62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171575" y="4682062"/>
            <a:ext cx="6803136" cy="502920"/>
          </a:xfrm>
        </p:spPr>
        <p:txBody>
          <a:bodyPr>
            <a:normAutofit/>
          </a:bodyPr>
          <a:lstStyle>
            <a:lvl1pPr marL="0" indent="0" algn="ctr">
              <a:spcBef>
                <a:spcPts val="0"/>
              </a:spcBef>
              <a:buNone/>
              <a:defRPr sz="1400" spc="80" baseline="0">
                <a:solidFill>
                  <a:schemeClr val="tx1"/>
                </a:solidFill>
              </a:defRPr>
            </a:lvl1pPr>
            <a:lvl2pPr marL="457200" indent="0" algn="ctr">
              <a:buNone/>
              <a:defRPr sz="1400"/>
            </a:lvl2pPr>
            <a:lvl3pPr marL="914400" indent="0" algn="ctr">
              <a:buNone/>
              <a:defRPr sz="1400"/>
            </a:lvl3pPr>
            <a:lvl4pPr marL="1371600" indent="0" algn="ctr">
              <a:buNone/>
              <a:defRPr sz="1400"/>
            </a:lvl4pPr>
            <a:lvl5pPr marL="1828800" indent="0" algn="ctr">
              <a:buNone/>
              <a:defRPr sz="1400"/>
            </a:lvl5pPr>
            <a:lvl6pPr marL="2286000" indent="0" algn="ctr">
              <a:buNone/>
              <a:defRPr sz="1400"/>
            </a:lvl6pPr>
            <a:lvl7pPr marL="2743200" indent="0" algn="ctr">
              <a:buNone/>
              <a:defRPr sz="1400"/>
            </a:lvl7pPr>
            <a:lvl8pPr marL="3200400" indent="0" algn="ctr">
              <a:buNone/>
              <a:defRPr sz="1400"/>
            </a:lvl8pPr>
            <a:lvl9pPr marL="3657600" indent="0" algn="ctr">
              <a:buNone/>
              <a:defRPr sz="1400"/>
            </a:lvl9pPr>
          </a:lstStyle>
          <a:p>
            <a:r>
              <a:rPr lang="en-US"/>
              <a:t>Click to edit Master subtitle style</a:t>
            </a:r>
            <a:endParaRPr lang="en-US" dirty="0"/>
          </a:p>
        </p:txBody>
      </p:sp>
      <p:sp>
        <p:nvSpPr>
          <p:cNvPr id="20" name="Date Placeholder 19"/>
          <p:cNvSpPr>
            <a:spLocks noGrp="1"/>
          </p:cNvSpPr>
          <p:nvPr>
            <p:ph type="dt" sz="half" idx="10"/>
          </p:nvPr>
        </p:nvSpPr>
        <p:spPr>
          <a:xfrm>
            <a:off x="3931920" y="1327188"/>
            <a:ext cx="1280160" cy="457200"/>
          </a:xfrm>
        </p:spPr>
        <p:txBody>
          <a:bodyPr/>
          <a:lstStyle>
            <a:lvl1pPr algn="ctr">
              <a:defRPr sz="1100" spc="0" baseline="0">
                <a:solidFill>
                  <a:schemeClr val="tx1"/>
                </a:solidFill>
                <a:latin typeface="+mn-lt"/>
              </a:defRPr>
            </a:lvl1pPr>
          </a:lstStyle>
          <a:p>
            <a:fld id="{1D8BD707-D9CF-40AE-B4C6-C98DA3205C09}" type="datetimeFigureOut">
              <a:rPr lang="en-US" smtClean="0"/>
              <a:pPr/>
              <a:t>8/5/2021</a:t>
            </a:fld>
            <a:endParaRPr lang="en-US"/>
          </a:p>
        </p:txBody>
      </p:sp>
      <p:sp>
        <p:nvSpPr>
          <p:cNvPr id="21" name="Footer Placeholder 20"/>
          <p:cNvSpPr>
            <a:spLocks noGrp="1"/>
          </p:cNvSpPr>
          <p:nvPr>
            <p:ph type="ftr" sz="quarter" idx="11"/>
          </p:nvPr>
        </p:nvSpPr>
        <p:spPr>
          <a:xfrm>
            <a:off x="1104936" y="5211060"/>
            <a:ext cx="4429125" cy="228600"/>
          </a:xfrm>
        </p:spPr>
        <p:txBody>
          <a:bodyPr/>
          <a:lstStyle>
            <a:lvl1pPr algn="l">
              <a:defRPr sz="900">
                <a:solidFill>
                  <a:schemeClr val="tx1">
                    <a:lumMod val="75000"/>
                    <a:lumOff val="25000"/>
                  </a:schemeClr>
                </a:solidFill>
              </a:defRPr>
            </a:lvl1pPr>
          </a:lstStyle>
          <a:p>
            <a:endParaRPr lang="en-US"/>
          </a:p>
        </p:txBody>
      </p:sp>
      <p:sp>
        <p:nvSpPr>
          <p:cNvPr id="22" name="Slide Number Placeholder 21"/>
          <p:cNvSpPr>
            <a:spLocks noGrp="1"/>
          </p:cNvSpPr>
          <p:nvPr>
            <p:ph type="sldNum" sz="quarter" idx="12"/>
          </p:nvPr>
        </p:nvSpPr>
        <p:spPr>
          <a:xfrm>
            <a:off x="6455190" y="5212080"/>
            <a:ext cx="1583911" cy="228600"/>
          </a:xfrm>
        </p:spPr>
        <p:txBody>
          <a:bodyPr/>
          <a:lstStyle>
            <a:lvl1pPr>
              <a:defRPr>
                <a:solidFill>
                  <a:schemeClr val="tx1">
                    <a:lumMod val="75000"/>
                    <a:lumOff val="2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348491346"/>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8/5/2021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pic>
        <p:nvPicPr>
          <p:cNvPr id="10" name="Picture 9" descr="A picture containing drawing, shirt&#10;&#10;Description automatically generated">
            <a:extLst>
              <a:ext uri="{FF2B5EF4-FFF2-40B4-BE49-F238E27FC236}">
                <a16:creationId xmlns:a16="http://schemas.microsoft.com/office/drawing/2014/main" xmlns="" id="{0F306AE3-F028-4200-B8D2-2C8359AA759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9050" y="5981700"/>
            <a:ext cx="876300" cy="876300"/>
          </a:xfrm>
          <a:prstGeom prst="rect">
            <a:avLst/>
          </a:prstGeom>
        </p:spPr>
      </p:pic>
      <p:sp>
        <p:nvSpPr>
          <p:cNvPr id="11" name="TextBox 10">
            <a:extLst>
              <a:ext uri="{FF2B5EF4-FFF2-40B4-BE49-F238E27FC236}">
                <a16:creationId xmlns:a16="http://schemas.microsoft.com/office/drawing/2014/main" xmlns="" id="{7A9FCBA1-3AA0-420E-91C7-1BFEE49F484A}"/>
              </a:ext>
            </a:extLst>
          </p:cNvPr>
          <p:cNvSpPr txBox="1"/>
          <p:nvPr userDrawn="1"/>
        </p:nvSpPr>
        <p:spPr>
          <a:xfrm>
            <a:off x="8001000" y="76200"/>
            <a:ext cx="1066800" cy="381000"/>
          </a:xfrm>
          <a:prstGeom prst="rect">
            <a:avLst/>
          </a:prstGeom>
          <a:effectLst>
            <a:glow rad="63500">
              <a:schemeClr val="accent1">
                <a:satMod val="175000"/>
                <a:alpha val="40000"/>
              </a:schemeClr>
            </a:glow>
          </a:effectLst>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b="1" dirty="0"/>
              <a:t>ENV-103</a:t>
            </a:r>
          </a:p>
        </p:txBody>
      </p:sp>
    </p:spTree>
    <p:extLst>
      <p:ext uri="{BB962C8B-B14F-4D97-AF65-F5344CB8AC3E}">
        <p14:creationId xmlns:p14="http://schemas.microsoft.com/office/powerpoint/2010/main" val="6790758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22" name="Rectangle 21"/>
          <p:cNvSpPr/>
          <p:nvPr/>
        </p:nvSpPr>
        <p:spPr>
          <a:xfrm>
            <a:off x="0" y="0"/>
            <a:ext cx="9144000" cy="6858000"/>
          </a:xfrm>
          <a:prstGeom prst="rect">
            <a:avLst/>
          </a:prstGeom>
          <a:blipFill dpi="0" rotWithShape="1">
            <a:blip r:embed="rId2">
              <a:alphaModFix amt="45000"/>
              <a:duotone>
                <a:schemeClr val="accent2">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980902" y="1275025"/>
            <a:ext cx="7182197"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088136" y="1385316"/>
            <a:ext cx="6967728" cy="4087368"/>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3794760" y="1267730"/>
            <a:ext cx="1554480" cy="64008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3886200" y="1267731"/>
            <a:ext cx="1371600" cy="548640"/>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172717" y="2094309"/>
            <a:ext cx="6803136" cy="2587752"/>
          </a:xfrm>
        </p:spPr>
        <p:txBody>
          <a:bodyPr anchor="ctr">
            <a:noAutofit/>
          </a:bodyPr>
          <a:lstStyle>
            <a:lvl1pPr algn="ctr">
              <a:lnSpc>
                <a:spcPct val="83000"/>
              </a:lnSpc>
              <a:defRPr lang="en-US" sz="62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Text Placeholder 2"/>
          <p:cNvSpPr>
            <a:spLocks noGrp="1"/>
          </p:cNvSpPr>
          <p:nvPr>
            <p:ph type="body" idx="1"/>
          </p:nvPr>
        </p:nvSpPr>
        <p:spPr>
          <a:xfrm>
            <a:off x="1172718" y="4682062"/>
            <a:ext cx="6803136" cy="502920"/>
          </a:xfrm>
        </p:spPr>
        <p:txBody>
          <a:bodyPr anchor="t">
            <a:normAutofit/>
          </a:bodyPr>
          <a:lstStyle>
            <a:lvl1pPr marL="0" indent="0" algn="ctr">
              <a:buNone/>
              <a:defRPr sz="1400">
                <a:solidFill>
                  <a:schemeClr val="tx1"/>
                </a:solidFill>
                <a:effectLst/>
              </a:defRPr>
            </a:lvl1pPr>
            <a:lvl2pPr marL="457200" indent="0">
              <a:buNone/>
              <a:defRPr sz="1400">
                <a:solidFill>
                  <a:schemeClr val="tx1">
                    <a:tint val="75000"/>
                  </a:schemeClr>
                </a:solidFill>
              </a:defRPr>
            </a:lvl2pPr>
            <a:lvl3pPr marL="914400" indent="0">
              <a:buNone/>
              <a:defRPr sz="14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3931920" y="1325880"/>
            <a:ext cx="1280160" cy="457200"/>
          </a:xfrm>
        </p:spPr>
        <p:txBody>
          <a:bodyPr/>
          <a:lstStyle>
            <a:lvl1pPr algn="ctr">
              <a:defRPr lang="en-US" sz="1100" kern="1200" spc="0" baseline="0">
                <a:solidFill>
                  <a:schemeClr val="tx1"/>
                </a:solidFill>
                <a:latin typeface="+mn-lt"/>
                <a:ea typeface="+mn-ea"/>
                <a:cs typeface="+mn-cs"/>
              </a:defRPr>
            </a:lvl1pPr>
          </a:lstStyle>
          <a:p>
            <a:fld id="{1D8BD707-D9CF-40AE-B4C6-C98DA3205C09}" type="datetimeFigureOut">
              <a:rPr lang="en-US" smtClean="0"/>
              <a:pPr/>
              <a:t>8/5/2021</a:t>
            </a:fld>
            <a:endParaRPr lang="en-US"/>
          </a:p>
        </p:txBody>
      </p:sp>
      <p:sp>
        <p:nvSpPr>
          <p:cNvPr id="5" name="Footer Placeholder 4"/>
          <p:cNvSpPr>
            <a:spLocks noGrp="1"/>
          </p:cNvSpPr>
          <p:nvPr>
            <p:ph type="ftr" sz="quarter" idx="11"/>
          </p:nvPr>
        </p:nvSpPr>
        <p:spPr>
          <a:xfrm>
            <a:off x="1104679" y="5211060"/>
            <a:ext cx="4430268" cy="228600"/>
          </a:xfrm>
        </p:spPr>
        <p:txBody>
          <a:bodyPr/>
          <a:lstStyle>
            <a:lvl1pPr algn="l">
              <a:defRPr/>
            </a:lvl1pPr>
          </a:lstStyle>
          <a:p>
            <a:endParaRPr lang="en-US"/>
          </a:p>
        </p:txBody>
      </p:sp>
      <p:sp>
        <p:nvSpPr>
          <p:cNvPr id="6" name="Slide Number Placeholder 5"/>
          <p:cNvSpPr>
            <a:spLocks noGrp="1"/>
          </p:cNvSpPr>
          <p:nvPr>
            <p:ph type="sldNum" sz="quarter" idx="12"/>
          </p:nvPr>
        </p:nvSpPr>
        <p:spPr>
          <a:xfrm>
            <a:off x="6453378" y="5211060"/>
            <a:ext cx="1584198" cy="228600"/>
          </a:xfrm>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393568697"/>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731520" y="2103120"/>
            <a:ext cx="3657600" cy="393192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754880" y="2103120"/>
            <a:ext cx="3657600" cy="393192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8/5/2021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0855907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731520" y="2074334"/>
            <a:ext cx="3657600" cy="640080"/>
          </a:xfrm>
        </p:spPr>
        <p:txBody>
          <a:bodyPr anchor="ctr">
            <a:normAutofit/>
          </a:bodyPr>
          <a:lstStyle>
            <a:lvl1pPr marL="0" indent="0" algn="ctr">
              <a:spcBef>
                <a:spcPts val="0"/>
              </a:spcBef>
              <a:buNone/>
              <a:defRPr sz="1900" b="0">
                <a:solidFill>
                  <a:schemeClr val="tx2"/>
                </a:solidFill>
                <a:latin typeface="+mn-lt"/>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731520" y="2755898"/>
            <a:ext cx="365760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54880" y="2074334"/>
            <a:ext cx="3657600" cy="640080"/>
          </a:xfrm>
        </p:spPr>
        <p:txBody>
          <a:bodyPr anchor="ctr">
            <a:normAutofit/>
          </a:bodyPr>
          <a:lstStyle>
            <a:lvl1pPr marL="0" indent="0" algn="ctr">
              <a:spcBef>
                <a:spcPts val="0"/>
              </a:spcBef>
              <a:buNone/>
              <a:defRPr sz="1900" b="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54880" y="2756581"/>
            <a:ext cx="365760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8/5/2021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0417750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8/5/2021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9292464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8/5/2021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9385262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6" name="Rectangle 15"/>
          <p:cNvSpPr/>
          <p:nvPr/>
        </p:nvSpPr>
        <p:spPr>
          <a:xfrm>
            <a:off x="184147" y="173736"/>
            <a:ext cx="6398514" cy="651052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6765290" y="173736"/>
            <a:ext cx="2194560" cy="651052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972300" y="607392"/>
            <a:ext cx="1823085" cy="1645920"/>
          </a:xfrm>
        </p:spPr>
        <p:txBody>
          <a:bodyPr anchor="b">
            <a:normAutofit/>
          </a:bodyPr>
          <a:lstStyle>
            <a:lvl1pPr algn="l" defTabSz="914400" rtl="0" eaLnBrk="1" latinLnBrk="0" hangingPunct="1">
              <a:lnSpc>
                <a:spcPct val="90000"/>
              </a:lnSpc>
              <a:spcBef>
                <a:spcPct val="0"/>
              </a:spcBef>
              <a:buNone/>
              <a:defRPr lang="en-US" sz="2400" b="0" kern="1200" cap="none" spc="0" baseline="0" dirty="0">
                <a:solidFill>
                  <a:srgbClr val="FFFFFF"/>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68976" y="907143"/>
            <a:ext cx="5428856" cy="5043714"/>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972300" y="2286000"/>
            <a:ext cx="1823085" cy="3505200"/>
          </a:xfrm>
        </p:spPr>
        <p:txBody>
          <a:bodyPr>
            <a:normAutofit/>
          </a:bodyPr>
          <a:lstStyle>
            <a:lvl1pPr marL="0" indent="0">
              <a:lnSpc>
                <a:spcPct val="110000"/>
              </a:lnSpc>
              <a:spcBef>
                <a:spcPts val="800"/>
              </a:spcBef>
              <a:buNone/>
              <a:defRPr sz="13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1D8BD707-D9CF-40AE-B4C6-C98DA3205C09}" type="datetimeFigureOut">
              <a:rPr lang="en-US" smtClean="0"/>
              <a:pPr/>
              <a:t>8/5/2021</a:t>
            </a:fld>
            <a:endParaRPr lang="en-US"/>
          </a:p>
        </p:txBody>
      </p:sp>
      <p:sp>
        <p:nvSpPr>
          <p:cNvPr id="9" name="Footer Placeholder 8"/>
          <p:cNvSpPr>
            <a:spLocks noGrp="1"/>
          </p:cNvSpPr>
          <p:nvPr>
            <p:ph type="ftr" sz="quarter" idx="11"/>
          </p:nvPr>
        </p:nvSpPr>
        <p:spPr/>
        <p:txBody>
          <a:bodyPr/>
          <a:lstStyle>
            <a:lvl1pPr algn="r">
              <a:defRPr/>
            </a:lvl1pPr>
          </a:lstStyle>
          <a:p>
            <a:endParaRPr lang="en-US"/>
          </a:p>
        </p:txBody>
      </p:sp>
      <p:sp>
        <p:nvSpPr>
          <p:cNvPr id="11" name="Slide Number Placeholder 10"/>
          <p:cNvSpPr>
            <a:spLocks noGrp="1"/>
          </p:cNvSpPr>
          <p:nvPr>
            <p:ph type="sldNum" sz="quarter" idx="12"/>
          </p:nvPr>
        </p:nvSpPr>
        <p:spPr>
          <a:xfrm>
            <a:off x="7795258" y="6310086"/>
            <a:ext cx="1097280" cy="274320"/>
          </a:xfrm>
        </p:spPr>
        <p:txBody>
          <a:bodyPr/>
          <a:lstStyle>
            <a:lvl1pPr>
              <a:defRPr>
                <a:solidFill>
                  <a:srgbClr val="FFFFFF"/>
                </a:solidFill>
              </a:defRPr>
            </a:lvl1pPr>
          </a:lstStyle>
          <a:p>
            <a:fld id="{B6F15528-21DE-4FAA-801E-634DDDAF4B2B}" type="slidenum">
              <a:rPr lang="en-US" smtClean="0"/>
              <a:pPr/>
              <a:t>‹#›</a:t>
            </a:fld>
            <a:endParaRPr lang="en-US"/>
          </a:p>
        </p:txBody>
      </p:sp>
      <p:sp>
        <p:nvSpPr>
          <p:cNvPr id="12" name="Rectangle 11"/>
          <p:cNvSpPr/>
          <p:nvPr/>
        </p:nvSpPr>
        <p:spPr>
          <a:xfrm>
            <a:off x="6868160" y="274320"/>
            <a:ext cx="1988820" cy="6309360"/>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0463934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4" name="Rectangle 13"/>
          <p:cNvSpPr/>
          <p:nvPr/>
        </p:nvSpPr>
        <p:spPr>
          <a:xfrm>
            <a:off x="6765290" y="173736"/>
            <a:ext cx="2194560" cy="651052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972300" y="603504"/>
            <a:ext cx="1824228" cy="1645920"/>
          </a:xfrm>
        </p:spPr>
        <p:txBody>
          <a:bodyPr anchor="b">
            <a:noAutofit/>
          </a:bodyPr>
          <a:lstStyle>
            <a:lvl1pPr algn="l">
              <a:defRPr sz="2400" b="0">
                <a:solidFill>
                  <a:srgbClr val="FFFFFF"/>
                </a:solidFill>
                <a:latin typeface="+mj-lt"/>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71449" y="173736"/>
            <a:ext cx="6398514" cy="6510528"/>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972300" y="2286000"/>
            <a:ext cx="1824228" cy="3502152"/>
          </a:xfrm>
        </p:spPr>
        <p:txBody>
          <a:bodyPr>
            <a:normAutofit/>
          </a:bodyPr>
          <a:lstStyle>
            <a:lvl1pPr marL="0" indent="0" algn="l">
              <a:lnSpc>
                <a:spcPct val="110000"/>
              </a:lnSpc>
              <a:spcBef>
                <a:spcPts val="800"/>
              </a:spcBef>
              <a:buNone/>
              <a:defRPr sz="13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rgbClr val="FFFFFF"/>
                </a:solidFill>
                <a:effectLst>
                  <a:outerShdw blurRad="12700" dist="6350" dir="2700000" algn="tl" rotWithShape="0">
                    <a:prstClr val="black">
                      <a:alpha val="40000"/>
                    </a:prstClr>
                  </a:outerShdw>
                </a:effectLst>
              </a:defRPr>
            </a:lvl1pPr>
          </a:lstStyle>
          <a:p>
            <a:fld id="{1D8BD707-D9CF-40AE-B4C6-C98DA3205C09}" type="datetimeFigureOut">
              <a:rPr lang="en-US" smtClean="0"/>
              <a:pPr/>
              <a:t>8/5/2021</a:t>
            </a:fld>
            <a:endParaRPr lang="en-US"/>
          </a:p>
        </p:txBody>
      </p:sp>
      <p:sp>
        <p:nvSpPr>
          <p:cNvPr id="6" name="Footer Placeholder 5"/>
          <p:cNvSpPr>
            <a:spLocks noGrp="1"/>
          </p:cNvSpPr>
          <p:nvPr>
            <p:ph type="ftr" sz="quarter" idx="11"/>
          </p:nvPr>
        </p:nvSpPr>
        <p:spPr/>
        <p:txBody>
          <a:bodyPr/>
          <a:lstStyle>
            <a:lvl1pPr marL="0" algn="r" defTabSz="914400" rtl="0" eaLnBrk="1" latinLnBrk="0" hangingPunct="1">
              <a:defRPr lang="en-US" sz="900" kern="1200" dirty="0">
                <a:solidFill>
                  <a:srgbClr val="FFFFFF"/>
                </a:solidFill>
                <a:effectLst>
                  <a:outerShdw blurRad="12700" dist="6350" dir="2700000" algn="tl" rotWithShape="0">
                    <a:prstClr val="black">
                      <a:alpha val="40000"/>
                    </a:prstClr>
                  </a:outerShdw>
                </a:effectLst>
                <a:latin typeface="+mn-lt"/>
                <a:ea typeface="+mn-ea"/>
                <a:cs typeface="+mn-cs"/>
              </a:defRPr>
            </a:lvl1pPr>
          </a:lstStyle>
          <a:p>
            <a:endParaRPr lang="en-US" dirty="0"/>
          </a:p>
        </p:txBody>
      </p:sp>
      <p:sp>
        <p:nvSpPr>
          <p:cNvPr id="7" name="Slide Number Placeholder 6"/>
          <p:cNvSpPr>
            <a:spLocks noGrp="1"/>
          </p:cNvSpPr>
          <p:nvPr>
            <p:ph type="sldNum" sz="quarter" idx="12"/>
          </p:nvPr>
        </p:nvSpPr>
        <p:spPr>
          <a:xfrm>
            <a:off x="7797546" y="6309360"/>
            <a:ext cx="1097280" cy="274320"/>
          </a:xfrm>
        </p:spPr>
        <p:txBody>
          <a:bodyPr/>
          <a:lstStyle>
            <a:lvl1pPr>
              <a:defRPr>
                <a:solidFill>
                  <a:srgbClr val="FFFFFF"/>
                </a:solidFill>
              </a:defRPr>
            </a:lvl1pPr>
          </a:lstStyle>
          <a:p>
            <a:fld id="{B6F15528-21DE-4FAA-801E-634DDDAF4B2B}" type="slidenum">
              <a:rPr lang="en-US" smtClean="0"/>
              <a:pPr/>
              <a:t>‹#›</a:t>
            </a:fld>
            <a:endParaRPr lang="en-US"/>
          </a:p>
        </p:txBody>
      </p:sp>
      <p:sp>
        <p:nvSpPr>
          <p:cNvPr id="11" name="Rectangle 10"/>
          <p:cNvSpPr/>
          <p:nvPr/>
        </p:nvSpPr>
        <p:spPr>
          <a:xfrm>
            <a:off x="6868160" y="274320"/>
            <a:ext cx="1988820" cy="6309360"/>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7682644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8/5/2021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9929948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43700" y="762000"/>
            <a:ext cx="177165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762000"/>
            <a:ext cx="60579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8/5/2021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7546739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176022" y="173736"/>
            <a:ext cx="8791956" cy="6510528"/>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731520" y="642594"/>
            <a:ext cx="768096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731520" y="2103120"/>
            <a:ext cx="7680960" cy="39319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34768" y="6309360"/>
            <a:ext cx="2057400" cy="274320"/>
          </a:xfrm>
          <a:prstGeom prst="rect">
            <a:avLst/>
          </a:prstGeom>
        </p:spPr>
        <p:txBody>
          <a:bodyPr vert="horz" lIns="91440" tIns="45720" rIns="91440" bIns="45720" rtlCol="0" anchor="b"/>
          <a:lstStyle>
            <a:lvl1pPr algn="l">
              <a:defRPr sz="900">
                <a:solidFill>
                  <a:schemeClr val="tx1">
                    <a:lumMod val="75000"/>
                    <a:lumOff val="25000"/>
                  </a:schemeClr>
                </a:solidFill>
              </a:defRPr>
            </a:lvl1pPr>
          </a:lstStyle>
          <a:p>
            <a:fld id="{1D8BD707-D9CF-40AE-B4C6-C98DA3205C09}" type="datetimeFigureOut">
              <a:rPr lang="en-US" smtClean="0"/>
              <a:pPr/>
              <a:t>8/5/2021</a:t>
            </a:fld>
            <a:endParaRPr lang="en-US"/>
          </a:p>
        </p:txBody>
      </p:sp>
      <p:sp>
        <p:nvSpPr>
          <p:cNvPr id="5" name="Footer Placeholder 4"/>
          <p:cNvSpPr>
            <a:spLocks noGrp="1"/>
          </p:cNvSpPr>
          <p:nvPr>
            <p:ph type="ftr" sz="quarter" idx="3"/>
          </p:nvPr>
        </p:nvSpPr>
        <p:spPr>
          <a:xfrm>
            <a:off x="2596896" y="6309360"/>
            <a:ext cx="3950208" cy="274320"/>
          </a:xfrm>
          <a:prstGeom prst="rect">
            <a:avLst/>
          </a:prstGeom>
        </p:spPr>
        <p:txBody>
          <a:bodyPr vert="horz" lIns="91440" tIns="45720" rIns="91440" bIns="45720" rtlCol="0" anchor="b"/>
          <a:lstStyle>
            <a:lvl1pPr algn="ctr">
              <a:defRPr sz="900">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7823382" y="6309360"/>
            <a:ext cx="1097280" cy="274320"/>
          </a:xfrm>
          <a:prstGeom prst="rect">
            <a:avLst/>
          </a:prstGeom>
        </p:spPr>
        <p:txBody>
          <a:bodyPr vert="horz" lIns="91440" tIns="45720" rIns="91440" bIns="45720" rtlCol="0" anchor="b"/>
          <a:lstStyle>
            <a:lvl1pPr algn="r">
              <a:defRPr sz="900">
                <a:solidFill>
                  <a:schemeClr val="tx1">
                    <a:lumMod val="75000"/>
                    <a:lumOff val="2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949537714"/>
      </p:ext>
    </p:extLst>
  </p:cSld>
  <p:clrMap bg1="lt1" tx1="dk1" bg2="lt2" tx2="dk2" accent1="accent1" accent2="accent2" accent3="accent3" accent4="accent4" accent5="accent5" accent6="accent6" hlink="hlink" folHlink="folHlink"/>
  <p:sldLayoutIdLst>
    <p:sldLayoutId id="2147483924" r:id="rId1"/>
    <p:sldLayoutId id="2147483925" r:id="rId2"/>
    <p:sldLayoutId id="2147483926" r:id="rId3"/>
    <p:sldLayoutId id="2147483927" r:id="rId4"/>
    <p:sldLayoutId id="2147483928" r:id="rId5"/>
    <p:sldLayoutId id="2147483929" r:id="rId6"/>
    <p:sldLayoutId id="2147483930" r:id="rId7"/>
    <p:sldLayoutId id="2147483931" r:id="rId8"/>
    <p:sldLayoutId id="2147483932" r:id="rId9"/>
    <p:sldLayoutId id="2147483933" r:id="rId10"/>
    <p:sldLayoutId id="2147483934" r:id="rId11"/>
  </p:sldLayoutIdLst>
  <p:txStyles>
    <p:titleStyle>
      <a:lvl1pPr algn="l" defTabSz="914400" rtl="0" eaLnBrk="1" latinLnBrk="0" hangingPunct="1">
        <a:lnSpc>
          <a:spcPct val="90000"/>
        </a:lnSpc>
        <a:spcBef>
          <a:spcPct val="0"/>
        </a:spcBef>
        <a:buNone/>
        <a:defRPr lang="en-US" sz="40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1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17.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20.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xmlns="" id="{68DBE504-36DD-4DF3-BFA6-D020600871BA}"/>
              </a:ext>
            </a:extLst>
          </p:cNvPr>
          <p:cNvSpPr/>
          <p:nvPr/>
        </p:nvSpPr>
        <p:spPr>
          <a:xfrm>
            <a:off x="7287718" y="0"/>
            <a:ext cx="1875132" cy="762000"/>
          </a:xfrm>
          <a:prstGeom prst="roundRect">
            <a:avLst>
              <a:gd name="adj" fmla="val 50000"/>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2800" b="1" dirty="0"/>
              <a:t>ENV 103</a:t>
            </a:r>
          </a:p>
        </p:txBody>
      </p:sp>
      <p:sp>
        <p:nvSpPr>
          <p:cNvPr id="8" name="TextBox 7">
            <a:extLst>
              <a:ext uri="{FF2B5EF4-FFF2-40B4-BE49-F238E27FC236}">
                <a16:creationId xmlns:a16="http://schemas.microsoft.com/office/drawing/2014/main" xmlns="" id="{A2E71CB0-FCAF-4C0A-851A-281882CA0C0D}"/>
              </a:ext>
            </a:extLst>
          </p:cNvPr>
          <p:cNvSpPr txBox="1"/>
          <p:nvPr/>
        </p:nvSpPr>
        <p:spPr>
          <a:xfrm>
            <a:off x="2286000" y="2659559"/>
            <a:ext cx="5001718" cy="769441"/>
          </a:xfrm>
          <a:prstGeom prst="rect">
            <a:avLst/>
          </a:prstGeom>
          <a:noFill/>
        </p:spPr>
        <p:txBody>
          <a:bodyPr wrap="square">
            <a:spAutoFit/>
          </a:bodyPr>
          <a:lstStyle/>
          <a:p>
            <a:r>
              <a:rPr lang="en-US" sz="4400" b="1" dirty="0">
                <a:solidFill>
                  <a:schemeClr val="tx1"/>
                </a:solidFill>
                <a:latin typeface="Garamond" pitchFamily="18" charset="0"/>
              </a:rPr>
              <a:t>Waste </a:t>
            </a:r>
            <a:r>
              <a:rPr lang="en-US" sz="4400" b="1" dirty="0">
                <a:latin typeface="Garamond" pitchFamily="18" charset="0"/>
              </a:rPr>
              <a:t>M</a:t>
            </a:r>
            <a:r>
              <a:rPr lang="en-US" sz="4400" b="1" dirty="0">
                <a:solidFill>
                  <a:schemeClr val="tx1"/>
                </a:solidFill>
                <a:latin typeface="Garamond" pitchFamily="18" charset="0"/>
              </a:rPr>
              <a:t>anagement</a:t>
            </a:r>
            <a:endParaRPr lang="en-US" sz="4400" dirty="0"/>
          </a:p>
        </p:txBody>
      </p:sp>
    </p:spTree>
    <p:custDataLst>
      <p:tags r:id="rId1"/>
    </p:custDataLst>
    <p:extLst>
      <p:ext uri="{BB962C8B-B14F-4D97-AF65-F5344CB8AC3E}">
        <p14:creationId xmlns:p14="http://schemas.microsoft.com/office/powerpoint/2010/main" val="314636486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a:extLst>
              <a:ext uri="{FF2B5EF4-FFF2-40B4-BE49-F238E27FC236}">
                <a16:creationId xmlns:a16="http://schemas.microsoft.com/office/drawing/2014/main" xmlns="" id="{2C4F57BE-C07A-4CB3-B6C8-CAEF23E624BD}"/>
              </a:ext>
            </a:extLst>
          </p:cNvPr>
          <p:cNvSpPr>
            <a:spLocks noGrp="1"/>
          </p:cNvSpPr>
          <p:nvPr>
            <p:ph idx="1"/>
          </p:nvPr>
        </p:nvSpPr>
        <p:spPr>
          <a:xfrm>
            <a:off x="838200" y="1066800"/>
            <a:ext cx="8001000" cy="5638800"/>
          </a:xfrm>
        </p:spPr>
        <p:txBody>
          <a:bodyPr>
            <a:normAutofit/>
          </a:bodyPr>
          <a:lstStyle/>
          <a:p>
            <a:pPr algn="just" eaLnBrk="1" hangingPunct="1"/>
            <a:r>
              <a:rPr lang="en-US" altLang="en-US" sz="2600" b="1" dirty="0">
                <a:latin typeface="Garamond" panose="02020404030301010803" pitchFamily="18" charset="0"/>
              </a:rPr>
              <a:t>Waste management </a:t>
            </a:r>
            <a:r>
              <a:rPr lang="en-US" altLang="en-US" sz="2600" dirty="0">
                <a:latin typeface="Garamond" panose="02020404030301010803" pitchFamily="18" charset="0"/>
              </a:rPr>
              <a:t>is the </a:t>
            </a:r>
            <a:r>
              <a:rPr lang="en-US" altLang="en-US" sz="2600" b="1" dirty="0">
                <a:latin typeface="Garamond" panose="02020404030301010803" pitchFamily="18" charset="0"/>
              </a:rPr>
              <a:t>collection,</a:t>
            </a:r>
            <a:r>
              <a:rPr lang="en-US" altLang="en-US" sz="2600" dirty="0">
                <a:latin typeface="Garamond" panose="02020404030301010803" pitchFamily="18" charset="0"/>
              </a:rPr>
              <a:t> </a:t>
            </a:r>
            <a:r>
              <a:rPr lang="en-US" altLang="en-US" sz="2600" b="1" dirty="0">
                <a:latin typeface="Garamond" panose="02020404030301010803" pitchFamily="18" charset="0"/>
              </a:rPr>
              <a:t>transport</a:t>
            </a:r>
            <a:r>
              <a:rPr lang="en-US" altLang="en-US" sz="2600" dirty="0">
                <a:latin typeface="Garamond" panose="02020404030301010803" pitchFamily="18" charset="0"/>
              </a:rPr>
              <a:t>, </a:t>
            </a:r>
            <a:r>
              <a:rPr lang="en-US" altLang="en-US" sz="2600" b="1" dirty="0">
                <a:latin typeface="Garamond" panose="02020404030301010803" pitchFamily="18" charset="0"/>
              </a:rPr>
              <a:t>processing</a:t>
            </a:r>
            <a:r>
              <a:rPr lang="en-US" altLang="en-US" sz="2600" dirty="0">
                <a:latin typeface="Garamond" panose="02020404030301010803" pitchFamily="18" charset="0"/>
              </a:rPr>
              <a:t>, </a:t>
            </a:r>
            <a:r>
              <a:rPr lang="en-US" altLang="en-US" sz="2600" b="1" dirty="0">
                <a:latin typeface="Garamond" panose="02020404030301010803" pitchFamily="18" charset="0"/>
              </a:rPr>
              <a:t>recycling or disposal</a:t>
            </a:r>
            <a:r>
              <a:rPr lang="en-US" altLang="en-US" sz="2600" dirty="0">
                <a:latin typeface="Garamond" panose="02020404030301010803" pitchFamily="18" charset="0"/>
              </a:rPr>
              <a:t>, and </a:t>
            </a:r>
            <a:r>
              <a:rPr lang="en-US" altLang="en-US" sz="2600" b="1" dirty="0">
                <a:latin typeface="Garamond" panose="02020404030301010803" pitchFamily="18" charset="0"/>
              </a:rPr>
              <a:t>monitoring</a:t>
            </a:r>
            <a:r>
              <a:rPr lang="en-US" altLang="en-US" sz="2600" dirty="0">
                <a:latin typeface="Garamond" panose="02020404030301010803" pitchFamily="18" charset="0"/>
              </a:rPr>
              <a:t> of waste materials. The term usually relates to materials produced by human activity that cause health hazards or environmental pollution. </a:t>
            </a:r>
          </a:p>
          <a:p>
            <a:pPr algn="just" eaLnBrk="1" hangingPunct="1"/>
            <a:r>
              <a:rPr lang="en-US" altLang="en-US" sz="2600" b="1" u="sng" dirty="0">
                <a:latin typeface="Garamond" panose="02020404030301010803" pitchFamily="18" charset="0"/>
              </a:rPr>
              <a:t>Purpose of waste management</a:t>
            </a:r>
            <a:r>
              <a:rPr lang="en-US" altLang="en-US" sz="2600" dirty="0">
                <a:latin typeface="Garamond" panose="02020404030301010803" pitchFamily="18" charset="0"/>
              </a:rPr>
              <a:t>: </a:t>
            </a:r>
          </a:p>
          <a:p>
            <a:pPr marL="0" indent="0" algn="just" eaLnBrk="1" hangingPunct="1">
              <a:buNone/>
            </a:pPr>
            <a:r>
              <a:rPr lang="en-US" altLang="en-US" sz="2600" dirty="0">
                <a:latin typeface="Garamond" panose="02020404030301010803" pitchFamily="18" charset="0"/>
              </a:rPr>
              <a:t>- to reduce the effect of waste on health, the environment or aesthetics. </a:t>
            </a:r>
          </a:p>
          <a:p>
            <a:pPr algn="just" eaLnBrk="1" hangingPunct="1">
              <a:buFont typeface="Wingdings 2" panose="05020102010507070707" pitchFamily="18" charset="2"/>
              <a:buNone/>
            </a:pPr>
            <a:r>
              <a:rPr lang="en-US" altLang="en-US" sz="2600" dirty="0">
                <a:latin typeface="Garamond" panose="02020404030301010803" pitchFamily="18" charset="0"/>
              </a:rPr>
              <a:t>- to recover resources from waste. </a:t>
            </a:r>
          </a:p>
          <a:p>
            <a:pPr algn="just" eaLnBrk="1" hangingPunct="1">
              <a:buFont typeface="Wingdings 2" panose="05020102010507070707" pitchFamily="18" charset="2"/>
              <a:buNone/>
            </a:pPr>
            <a:r>
              <a:rPr lang="en-US" altLang="en-US" sz="2600" dirty="0">
                <a:latin typeface="Garamond" panose="02020404030301010803" pitchFamily="18" charset="0"/>
              </a:rPr>
              <a:t>Waste management can involve solid, liquid, gaseous or radioactive substances, with different methods and fields of expertise for each.</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Effect transition="in" filter="fade">
                                      <p:cBhvr>
                                        <p:cTn id="7" dur="1000"/>
                                        <p:tgtEl>
                                          <p:spTgt spid="8195">
                                            <p:txEl>
                                              <p:pRg st="0" end="0"/>
                                            </p:txEl>
                                          </p:spTgt>
                                        </p:tgtEl>
                                      </p:cBhvr>
                                    </p:animEffect>
                                    <p:anim calcmode="lin" valueType="num">
                                      <p:cBhvr>
                                        <p:cTn id="8" dur="1000" fill="hold"/>
                                        <p:tgtEl>
                                          <p:spTgt spid="819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19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8195">
                                            <p:txEl>
                                              <p:pRg st="1" end="1"/>
                                            </p:txEl>
                                          </p:spTgt>
                                        </p:tgtEl>
                                        <p:attrNameLst>
                                          <p:attrName>style.visibility</p:attrName>
                                        </p:attrNameLst>
                                      </p:cBhvr>
                                      <p:to>
                                        <p:strVal val="visible"/>
                                      </p:to>
                                    </p:set>
                                    <p:anim calcmode="lin" valueType="num">
                                      <p:cBhvr additive="base">
                                        <p:cTn id="14" dur="500" fill="hold"/>
                                        <p:tgtEl>
                                          <p:spTgt spid="8195">
                                            <p:txEl>
                                              <p:pRg st="1" end="1"/>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819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8195">
                                            <p:txEl>
                                              <p:pRg st="2" end="2"/>
                                            </p:txEl>
                                          </p:spTgt>
                                        </p:tgtEl>
                                        <p:attrNameLst>
                                          <p:attrName>style.visibility</p:attrName>
                                        </p:attrNameLst>
                                      </p:cBhvr>
                                      <p:to>
                                        <p:strVal val="visible"/>
                                      </p:to>
                                    </p:set>
                                    <p:anim calcmode="lin" valueType="num">
                                      <p:cBhvr additive="base">
                                        <p:cTn id="20" dur="500" fill="hold"/>
                                        <p:tgtEl>
                                          <p:spTgt spid="8195">
                                            <p:txEl>
                                              <p:pRg st="2" end="2"/>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819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nodeType="clickEffect">
                                  <p:stCondLst>
                                    <p:cond delay="0"/>
                                  </p:stCondLst>
                                  <p:childTnLst>
                                    <p:set>
                                      <p:cBhvr>
                                        <p:cTn id="25" dur="1" fill="hold">
                                          <p:stCondLst>
                                            <p:cond delay="0"/>
                                          </p:stCondLst>
                                        </p:cTn>
                                        <p:tgtEl>
                                          <p:spTgt spid="8195">
                                            <p:txEl>
                                              <p:pRg st="3" end="3"/>
                                            </p:txEl>
                                          </p:spTgt>
                                        </p:tgtEl>
                                        <p:attrNameLst>
                                          <p:attrName>style.visibility</p:attrName>
                                        </p:attrNameLst>
                                      </p:cBhvr>
                                      <p:to>
                                        <p:strVal val="visible"/>
                                      </p:to>
                                    </p:set>
                                    <p:anim calcmode="lin" valueType="num">
                                      <p:cBhvr additive="base">
                                        <p:cTn id="26" dur="500" fill="hold"/>
                                        <p:tgtEl>
                                          <p:spTgt spid="8195">
                                            <p:txEl>
                                              <p:pRg st="3" end="3"/>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819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8195">
                                            <p:txEl>
                                              <p:pRg st="4" end="4"/>
                                            </p:txEl>
                                          </p:spTgt>
                                        </p:tgtEl>
                                        <p:attrNameLst>
                                          <p:attrName>style.visibility</p:attrName>
                                        </p:attrNameLst>
                                      </p:cBhvr>
                                      <p:to>
                                        <p:strVal val="visible"/>
                                      </p:to>
                                    </p:set>
                                    <p:anim calcmode="lin" valueType="num">
                                      <p:cBhvr additive="base">
                                        <p:cTn id="32" dur="500" fill="hold"/>
                                        <p:tgtEl>
                                          <p:spTgt spid="8195">
                                            <p:txEl>
                                              <p:pRg st="4" end="4"/>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819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Types of Waste</a:t>
            </a:r>
          </a:p>
        </p:txBody>
      </p:sp>
      <p:sp>
        <p:nvSpPr>
          <p:cNvPr id="3" name="Content Placeholder 2"/>
          <p:cNvSpPr>
            <a:spLocks noGrp="1"/>
          </p:cNvSpPr>
          <p:nvPr>
            <p:ph idx="1"/>
          </p:nvPr>
        </p:nvSpPr>
        <p:spPr>
          <a:xfrm>
            <a:off x="982133" y="2286000"/>
            <a:ext cx="7704667" cy="3332816"/>
          </a:xfrm>
        </p:spPr>
        <p:txBody>
          <a:bodyPr/>
          <a:lstStyle/>
          <a:p>
            <a:r>
              <a:rPr lang="en-US" dirty="0"/>
              <a:t>Solid</a:t>
            </a:r>
          </a:p>
          <a:p>
            <a:r>
              <a:rPr lang="en-US" dirty="0"/>
              <a:t>Liquid</a:t>
            </a:r>
          </a:p>
          <a:p>
            <a:r>
              <a:rPr lang="en-US" dirty="0"/>
              <a:t>Recyclable</a:t>
            </a:r>
          </a:p>
          <a:p>
            <a:r>
              <a:rPr lang="en-US" dirty="0"/>
              <a:t>Hazardous</a:t>
            </a:r>
          </a:p>
          <a:p>
            <a:r>
              <a:rPr lang="en-US" dirty="0"/>
              <a:t>Organic</a:t>
            </a:r>
          </a:p>
          <a:p>
            <a:endParaRPr lang="en-US" dirty="0"/>
          </a:p>
          <a:p>
            <a:endParaRPr lang="en-US" dirty="0"/>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t="8584"/>
          <a:stretch/>
        </p:blipFill>
        <p:spPr>
          <a:xfrm>
            <a:off x="829203" y="1752600"/>
            <a:ext cx="8010525" cy="4057773"/>
          </a:xfrm>
          <a:prstGeom prst="rect">
            <a:avLst/>
          </a:prstGeom>
        </p:spPr>
      </p:pic>
    </p:spTree>
    <p:extLst>
      <p:ext uri="{BB962C8B-B14F-4D97-AF65-F5344CB8AC3E}">
        <p14:creationId xmlns:p14="http://schemas.microsoft.com/office/powerpoint/2010/main" val="29582002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3">
            <a:extLst>
              <a:ext uri="{FF2B5EF4-FFF2-40B4-BE49-F238E27FC236}">
                <a16:creationId xmlns:a16="http://schemas.microsoft.com/office/drawing/2014/main" xmlns="" id="{0A511B12-ACA8-4860-B248-E8DFCCE4CC29}"/>
              </a:ext>
            </a:extLst>
          </p:cNvPr>
          <p:cNvSpPr>
            <a:spLocks noGrp="1"/>
          </p:cNvSpPr>
          <p:nvPr>
            <p:ph idx="1"/>
          </p:nvPr>
        </p:nvSpPr>
        <p:spPr>
          <a:xfrm>
            <a:off x="746919" y="1047280"/>
            <a:ext cx="8001000" cy="5410200"/>
          </a:xfrm>
        </p:spPr>
        <p:txBody>
          <a:bodyPr/>
          <a:lstStyle/>
          <a:p>
            <a:pPr algn="just" eaLnBrk="1" hangingPunct="1">
              <a:buFont typeface="Wingdings" panose="05000000000000000000" pitchFamily="2" charset="2"/>
              <a:buNone/>
            </a:pPr>
            <a:r>
              <a:rPr lang="en-US" altLang="en-US" dirty="0">
                <a:latin typeface="Garamond" panose="02020404030301010803" pitchFamily="18" charset="0"/>
              </a:rPr>
              <a:t>   </a:t>
            </a:r>
            <a:r>
              <a:rPr lang="en-US" altLang="en-US" sz="3200" dirty="0">
                <a:latin typeface="Garamond" panose="02020404030301010803" pitchFamily="18" charset="0"/>
              </a:rPr>
              <a:t>Waste management practices are different for developed and developing nation, for urban and rural areas, and for residential and industrial producers. Management for non-hazardous residential and institutional waste in metropolitan areas is usually the responsibility of local government authorities, while management for non-hazardous commercial and industrial waste is usually the responsibility of the generator</a:t>
            </a:r>
            <a:r>
              <a:rPr lang="en-US" altLang="en-US" dirty="0">
                <a:latin typeface="Garamond" panose="02020404030301010803" pitchFamily="18" charset="0"/>
              </a:rPr>
              <a:t>.</a:t>
            </a:r>
          </a:p>
          <a:p>
            <a:pPr eaLnBrk="1" hangingPunct="1"/>
            <a:endParaRPr lang="en-US" altLang="en-US"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218">
                                            <p:txEl>
                                              <p:pRg st="0" end="0"/>
                                            </p:txEl>
                                          </p:spTgt>
                                        </p:tgtEl>
                                        <p:attrNameLst>
                                          <p:attrName>style.visibility</p:attrName>
                                        </p:attrNameLst>
                                      </p:cBhvr>
                                      <p:to>
                                        <p:strVal val="visible"/>
                                      </p:to>
                                    </p:set>
                                    <p:animEffect transition="in" filter="fade">
                                      <p:cBhvr>
                                        <p:cTn id="7" dur="1000"/>
                                        <p:tgtEl>
                                          <p:spTgt spid="9218">
                                            <p:txEl>
                                              <p:pRg st="0" end="0"/>
                                            </p:txEl>
                                          </p:spTgt>
                                        </p:tgtEl>
                                      </p:cBhvr>
                                    </p:animEffect>
                                    <p:anim calcmode="lin" valueType="num">
                                      <p:cBhvr>
                                        <p:cTn id="8" dur="1000" fill="hold"/>
                                        <p:tgtEl>
                                          <p:spTgt spid="921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9218">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8"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2D6FE6B-E69E-4BC0-9E54-6355F956B7C8}"/>
              </a:ext>
            </a:extLst>
          </p:cNvPr>
          <p:cNvSpPr>
            <a:spLocks noGrp="1"/>
          </p:cNvSpPr>
          <p:nvPr>
            <p:ph type="title"/>
          </p:nvPr>
        </p:nvSpPr>
        <p:spPr>
          <a:xfrm>
            <a:off x="1043189" y="838200"/>
            <a:ext cx="7620000" cy="560387"/>
          </a:xfrm>
        </p:spPr>
        <p:txBody>
          <a:bodyPr>
            <a:noAutofit/>
          </a:bodyPr>
          <a:lstStyle/>
          <a:p>
            <a:pPr algn="ctr" eaLnBrk="1" fontAlgn="auto" hangingPunct="1">
              <a:spcAft>
                <a:spcPts val="0"/>
              </a:spcAft>
              <a:defRPr/>
            </a:pPr>
            <a:r>
              <a:rPr lang="en-US" sz="3200" b="1" u="sng" dirty="0">
                <a:solidFill>
                  <a:schemeClr val="tx1"/>
                </a:solidFill>
                <a:latin typeface="Garamond" pitchFamily="18" charset="0"/>
              </a:rPr>
              <a:t>Waste Management concepts</a:t>
            </a:r>
          </a:p>
        </p:txBody>
      </p:sp>
      <p:sp>
        <p:nvSpPr>
          <p:cNvPr id="10243" name="Content Placeholder 2">
            <a:extLst>
              <a:ext uri="{FF2B5EF4-FFF2-40B4-BE49-F238E27FC236}">
                <a16:creationId xmlns:a16="http://schemas.microsoft.com/office/drawing/2014/main" xmlns="" id="{873C5B26-8F77-490A-B65C-63E01B85F3BF}"/>
              </a:ext>
            </a:extLst>
          </p:cNvPr>
          <p:cNvSpPr>
            <a:spLocks noGrp="1"/>
          </p:cNvSpPr>
          <p:nvPr>
            <p:ph idx="1"/>
          </p:nvPr>
        </p:nvSpPr>
        <p:spPr>
          <a:xfrm>
            <a:off x="612820" y="2057400"/>
            <a:ext cx="8077200" cy="6019800"/>
          </a:xfrm>
        </p:spPr>
        <p:txBody>
          <a:bodyPr>
            <a:normAutofit/>
          </a:bodyPr>
          <a:lstStyle/>
          <a:p>
            <a:pPr algn="just" eaLnBrk="1" hangingPunct="1">
              <a:buFont typeface="Wingdings 2" panose="05020102010507070707" pitchFamily="18" charset="2"/>
              <a:buNone/>
            </a:pPr>
            <a:r>
              <a:rPr lang="en-US" altLang="en-US" sz="2600" dirty="0">
                <a:latin typeface="Garamond" panose="02020404030301010803" pitchFamily="18" charset="0"/>
                <a:cs typeface="Times New Roman" panose="02020603050405020304" pitchFamily="18" charset="0"/>
              </a:rPr>
              <a:t>    </a:t>
            </a:r>
            <a:r>
              <a:rPr lang="en-US" altLang="en-US" sz="2800" b="1" u="sng" dirty="0">
                <a:latin typeface="Garamond" panose="02020404030301010803" pitchFamily="18" charset="0"/>
              </a:rPr>
              <a:t>Integrated Waste Management</a:t>
            </a:r>
            <a:endParaRPr lang="en-US" altLang="en-US" sz="2800" b="1" dirty="0">
              <a:latin typeface="Garamond" panose="02020404030301010803" pitchFamily="18" charset="0"/>
              <a:cs typeface="Times New Roman" panose="02020603050405020304" pitchFamily="18" charset="0"/>
            </a:endParaRPr>
          </a:p>
          <a:p>
            <a:pPr algn="just" eaLnBrk="1" hangingPunct="1"/>
            <a:r>
              <a:rPr lang="en-US" altLang="en-US" sz="2800" dirty="0">
                <a:latin typeface="Garamond" panose="02020404030301010803" pitchFamily="18" charset="0"/>
                <a:cs typeface="Times New Roman" panose="02020603050405020304" pitchFamily="18" charset="0"/>
              </a:rPr>
              <a:t>The dominant concept today in managing waste is known as integrated waste management (IWM).</a:t>
            </a:r>
          </a:p>
          <a:p>
            <a:pPr algn="just" eaLnBrk="1" hangingPunct="1"/>
            <a:r>
              <a:rPr lang="en-US" altLang="en-US" sz="2800" dirty="0">
                <a:latin typeface="Garamond" panose="02020404030301010803" pitchFamily="18" charset="0"/>
                <a:cs typeface="Times New Roman" panose="02020603050405020304" pitchFamily="18" charset="0"/>
              </a:rPr>
              <a:t>The 3R’s of IWM are reduce, reuse and recycle</a:t>
            </a:r>
          </a:p>
          <a:p>
            <a:pPr algn="just" eaLnBrk="1" hangingPunct="1"/>
            <a:r>
              <a:rPr lang="en-US" altLang="en-US" sz="2800" dirty="0">
                <a:latin typeface="Garamond" panose="02020404030301010803" pitchFamily="18" charset="0"/>
                <a:cs typeface="Times New Roman" panose="02020603050405020304" pitchFamily="18" charset="0"/>
              </a:rPr>
              <a:t>Reduce consumption, reuse material again and again and recycle it.</a:t>
            </a:r>
          </a:p>
          <a:p>
            <a:pPr marL="0" indent="0" algn="just" eaLnBrk="1" hangingPunct="1">
              <a:buNone/>
            </a:pPr>
            <a:endParaRPr lang="en-US" altLang="en-US" sz="2800" dirty="0">
              <a:latin typeface="Garamond" panose="02020404030301010803" pitchFamily="18" charset="0"/>
              <a:cs typeface="Times New Roman" panose="02020603050405020304"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10243">
                                            <p:txEl>
                                              <p:pRg st="0" end="0"/>
                                            </p:txEl>
                                          </p:spTgt>
                                        </p:tgtEl>
                                        <p:attrNameLst>
                                          <p:attrName>style.visibility</p:attrName>
                                        </p:attrNameLst>
                                      </p:cBhvr>
                                      <p:to>
                                        <p:strVal val="visible"/>
                                      </p:to>
                                    </p:set>
                                    <p:animEffect transition="in" filter="fade">
                                      <p:cBhvr>
                                        <p:cTn id="12" dur="1000"/>
                                        <p:tgtEl>
                                          <p:spTgt spid="10243">
                                            <p:txEl>
                                              <p:pRg st="0" end="0"/>
                                            </p:txEl>
                                          </p:spTgt>
                                        </p:tgtEl>
                                      </p:cBhvr>
                                    </p:animEffect>
                                    <p:anim calcmode="lin" valueType="num">
                                      <p:cBhvr>
                                        <p:cTn id="13" dur="1000" fill="hold"/>
                                        <p:tgtEl>
                                          <p:spTgt spid="1024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1024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0243">
                                            <p:txEl>
                                              <p:pRg st="1" end="1"/>
                                            </p:txEl>
                                          </p:spTgt>
                                        </p:tgtEl>
                                        <p:attrNameLst>
                                          <p:attrName>style.visibility</p:attrName>
                                        </p:attrNameLst>
                                      </p:cBhvr>
                                      <p:to>
                                        <p:strVal val="visible"/>
                                      </p:to>
                                    </p:set>
                                    <p:animEffect transition="in" filter="fade">
                                      <p:cBhvr>
                                        <p:cTn id="19" dur="1000"/>
                                        <p:tgtEl>
                                          <p:spTgt spid="10243">
                                            <p:txEl>
                                              <p:pRg st="1" end="1"/>
                                            </p:txEl>
                                          </p:spTgt>
                                        </p:tgtEl>
                                      </p:cBhvr>
                                    </p:animEffect>
                                    <p:anim calcmode="lin" valueType="num">
                                      <p:cBhvr>
                                        <p:cTn id="20" dur="1000" fill="hold"/>
                                        <p:tgtEl>
                                          <p:spTgt spid="10243">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1024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10243">
                                            <p:txEl>
                                              <p:pRg st="2" end="2"/>
                                            </p:txEl>
                                          </p:spTgt>
                                        </p:tgtEl>
                                        <p:attrNameLst>
                                          <p:attrName>style.visibility</p:attrName>
                                        </p:attrNameLst>
                                      </p:cBhvr>
                                      <p:to>
                                        <p:strVal val="visible"/>
                                      </p:to>
                                    </p:set>
                                    <p:animEffect transition="in" filter="fade">
                                      <p:cBhvr>
                                        <p:cTn id="26" dur="1000"/>
                                        <p:tgtEl>
                                          <p:spTgt spid="10243">
                                            <p:txEl>
                                              <p:pRg st="2" end="2"/>
                                            </p:txEl>
                                          </p:spTgt>
                                        </p:tgtEl>
                                      </p:cBhvr>
                                    </p:animEffect>
                                    <p:anim calcmode="lin" valueType="num">
                                      <p:cBhvr>
                                        <p:cTn id="27" dur="1000" fill="hold"/>
                                        <p:tgtEl>
                                          <p:spTgt spid="10243">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1024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10243">
                                            <p:txEl>
                                              <p:pRg st="3" end="3"/>
                                            </p:txEl>
                                          </p:spTgt>
                                        </p:tgtEl>
                                        <p:attrNameLst>
                                          <p:attrName>style.visibility</p:attrName>
                                        </p:attrNameLst>
                                      </p:cBhvr>
                                      <p:to>
                                        <p:strVal val="visible"/>
                                      </p:to>
                                    </p:set>
                                    <p:animEffect transition="in" filter="fade">
                                      <p:cBhvr>
                                        <p:cTn id="33" dur="1000"/>
                                        <p:tgtEl>
                                          <p:spTgt spid="10243">
                                            <p:txEl>
                                              <p:pRg st="3" end="3"/>
                                            </p:txEl>
                                          </p:spTgt>
                                        </p:tgtEl>
                                      </p:cBhvr>
                                    </p:animEffect>
                                    <p:anim calcmode="lin" valueType="num">
                                      <p:cBhvr>
                                        <p:cTn id="34" dur="1000" fill="hold"/>
                                        <p:tgtEl>
                                          <p:spTgt spid="10243">
                                            <p:txEl>
                                              <p:pRg st="3" end="3"/>
                                            </p:txEl>
                                          </p:spTgt>
                                        </p:tgtEl>
                                        <p:attrNameLst>
                                          <p:attrName>ppt_x</p:attrName>
                                        </p:attrNameLst>
                                      </p:cBhvr>
                                      <p:tavLst>
                                        <p:tav tm="0">
                                          <p:val>
                                            <p:strVal val="#ppt_x"/>
                                          </p:val>
                                        </p:tav>
                                        <p:tav tm="100000">
                                          <p:val>
                                            <p:strVal val="#ppt_x"/>
                                          </p:val>
                                        </p:tav>
                                      </p:tavLst>
                                    </p:anim>
                                    <p:anim calcmode="lin" valueType="num">
                                      <p:cBhvr>
                                        <p:cTn id="35" dur="1000" fill="hold"/>
                                        <p:tgtEl>
                                          <p:spTgt spid="1024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5B4BEA57-07AA-4090-8D42-A0E9C06CCC2A}"/>
              </a:ext>
            </a:extLst>
          </p:cNvPr>
          <p:cNvSpPr>
            <a:spLocks noGrp="1"/>
          </p:cNvSpPr>
          <p:nvPr>
            <p:ph idx="1"/>
          </p:nvPr>
        </p:nvSpPr>
        <p:spPr>
          <a:xfrm>
            <a:off x="762000" y="1143000"/>
            <a:ext cx="7704667" cy="6705600"/>
          </a:xfrm>
        </p:spPr>
        <p:txBody>
          <a:bodyPr>
            <a:normAutofit/>
          </a:bodyPr>
          <a:lstStyle/>
          <a:p>
            <a:pPr marL="0" indent="0" algn="ctr">
              <a:buNone/>
            </a:pPr>
            <a:r>
              <a:rPr lang="en-US" altLang="en-US" sz="2800" b="1" dirty="0">
                <a:latin typeface="Garamond" panose="02020404030301010803" pitchFamily="18" charset="0"/>
              </a:rPr>
              <a:t>Waste Hierarchy </a:t>
            </a:r>
            <a:endParaRPr lang="en-US" altLang="en-US" sz="2800" dirty="0">
              <a:latin typeface="Garamond" panose="02020404030301010803" pitchFamily="18" charset="0"/>
            </a:endParaRPr>
          </a:p>
          <a:p>
            <a:pPr marL="0" indent="0" algn="just">
              <a:buNone/>
            </a:pPr>
            <a:r>
              <a:rPr lang="en-US" altLang="en-US" sz="2800" dirty="0">
                <a:latin typeface="Garamond" panose="02020404030301010803" pitchFamily="18" charset="0"/>
              </a:rPr>
              <a:t> The waste hierarchy refers to the "3 Rs" reduce, reuse and recycle, which classify waste management strategies according to their desirability in terms of waste minimization. The aim of the waste hierarchy is to extract the maximum practical benefits from products and to generate the minimum amount of waste.</a:t>
            </a:r>
            <a:endParaRPr lang="en-US" altLang="en-US" sz="2800" dirty="0">
              <a:latin typeface="Garamond" panose="02020404030301010803" pitchFamily="18" charset="0"/>
              <a:cs typeface="Times New Roman" panose="02020603050405020304" pitchFamily="18" charset="0"/>
            </a:endParaRPr>
          </a:p>
          <a:p>
            <a:endParaRPr lang="en-US" dirty="0"/>
          </a:p>
        </p:txBody>
      </p:sp>
    </p:spTree>
    <p:custDataLst>
      <p:tags r:id="rId1"/>
    </p:custDataLst>
    <p:extLst>
      <p:ext uri="{BB962C8B-B14F-4D97-AF65-F5344CB8AC3E}">
        <p14:creationId xmlns:p14="http://schemas.microsoft.com/office/powerpoint/2010/main" val="2136528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65915" y="1072167"/>
            <a:ext cx="7680960" cy="1371600"/>
          </a:xfrm>
        </p:spPr>
        <p:txBody>
          <a:bodyPr/>
          <a:lstStyle/>
          <a:p>
            <a:r>
              <a:rPr lang="en-US" dirty="0"/>
              <a:t>Reuse</a:t>
            </a:r>
            <a:br>
              <a:rPr lang="en-US" dirty="0"/>
            </a:br>
            <a:endParaRPr lang="en-US" dirty="0"/>
          </a:p>
        </p:txBody>
      </p:sp>
      <p:sp>
        <p:nvSpPr>
          <p:cNvPr id="3" name="Content Placeholder 2"/>
          <p:cNvSpPr>
            <a:spLocks noGrp="1"/>
          </p:cNvSpPr>
          <p:nvPr>
            <p:ph idx="1"/>
          </p:nvPr>
        </p:nvSpPr>
        <p:spPr>
          <a:xfrm>
            <a:off x="990600" y="2336239"/>
            <a:ext cx="4365819" cy="3332816"/>
          </a:xfrm>
        </p:spPr>
        <p:txBody>
          <a:bodyPr/>
          <a:lstStyle/>
          <a:p>
            <a:r>
              <a:rPr lang="en-US" dirty="0"/>
              <a:t>Reusing bottles for storing liquids</a:t>
            </a:r>
          </a:p>
          <a:p>
            <a:r>
              <a:rPr lang="en-US" dirty="0"/>
              <a:t>Rechargeable batteries</a:t>
            </a:r>
          </a:p>
          <a:p>
            <a:r>
              <a:rPr lang="en-US" dirty="0"/>
              <a:t>Reusing items again and again</a:t>
            </a:r>
          </a:p>
          <a:p>
            <a:r>
              <a:rPr lang="en-US" dirty="0"/>
              <a:t>Donating old items to the poor</a:t>
            </a:r>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05378" y="2442694"/>
            <a:ext cx="2695374" cy="3119906"/>
          </a:xfrm>
          <a:prstGeom prst="rect">
            <a:avLst/>
          </a:prstGeom>
        </p:spPr>
      </p:pic>
    </p:spTree>
    <p:extLst>
      <p:ext uri="{BB962C8B-B14F-4D97-AF65-F5344CB8AC3E}">
        <p14:creationId xmlns:p14="http://schemas.microsoft.com/office/powerpoint/2010/main" val="39837704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838200"/>
            <a:ext cx="7680960" cy="1371600"/>
          </a:xfrm>
        </p:spPr>
        <p:txBody>
          <a:bodyPr/>
          <a:lstStyle/>
          <a:p>
            <a:r>
              <a:rPr lang="en-US" dirty="0"/>
              <a:t>Reduce</a:t>
            </a:r>
            <a:br>
              <a:rPr lang="en-US" dirty="0"/>
            </a:br>
            <a:endParaRPr lang="en-US" dirty="0"/>
          </a:p>
        </p:txBody>
      </p:sp>
      <p:sp>
        <p:nvSpPr>
          <p:cNvPr id="3" name="Content Placeholder 2"/>
          <p:cNvSpPr>
            <a:spLocks noGrp="1"/>
          </p:cNvSpPr>
          <p:nvPr>
            <p:ph idx="1"/>
          </p:nvPr>
        </p:nvSpPr>
        <p:spPr>
          <a:xfrm>
            <a:off x="938130" y="2006422"/>
            <a:ext cx="3970867" cy="3810000"/>
          </a:xfrm>
        </p:spPr>
        <p:txBody>
          <a:bodyPr/>
          <a:lstStyle/>
          <a:p>
            <a:r>
              <a:rPr lang="en-US" dirty="0"/>
              <a:t>Use good quality products</a:t>
            </a:r>
          </a:p>
          <a:p>
            <a:r>
              <a:rPr lang="en-US" dirty="0"/>
              <a:t>Use durable products</a:t>
            </a:r>
          </a:p>
          <a:p>
            <a:r>
              <a:rPr lang="en-US" dirty="0"/>
              <a:t>Avoid papers, instead use electronic mediums</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904704" y="1968322"/>
            <a:ext cx="3886200" cy="3886200"/>
          </a:xfrm>
          <a:prstGeom prst="rect">
            <a:avLst/>
          </a:prstGeom>
        </p:spPr>
      </p:pic>
    </p:spTree>
    <p:extLst>
      <p:ext uri="{BB962C8B-B14F-4D97-AF65-F5344CB8AC3E}">
        <p14:creationId xmlns:p14="http://schemas.microsoft.com/office/powerpoint/2010/main" val="4230243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423929"/>
            <a:ext cx="7704667" cy="1047482"/>
          </a:xfrm>
        </p:spPr>
        <p:txBody>
          <a:bodyPr>
            <a:normAutofit fontScale="90000"/>
          </a:bodyPr>
          <a:lstStyle/>
          <a:p>
            <a:r>
              <a:rPr lang="en-US" dirty="0"/>
              <a:t>Recycle</a:t>
            </a:r>
            <a:br>
              <a:rPr lang="en-US" dirty="0"/>
            </a:br>
            <a:endParaRPr lang="en-US" dirty="0"/>
          </a:p>
        </p:txBody>
      </p:sp>
      <p:sp>
        <p:nvSpPr>
          <p:cNvPr id="3" name="Content Placeholder 2"/>
          <p:cNvSpPr>
            <a:spLocks noGrp="1"/>
          </p:cNvSpPr>
          <p:nvPr>
            <p:ph idx="1"/>
          </p:nvPr>
        </p:nvSpPr>
        <p:spPr>
          <a:xfrm>
            <a:off x="1205367" y="1452093"/>
            <a:ext cx="7938633" cy="2209800"/>
          </a:xfrm>
        </p:spPr>
        <p:txBody>
          <a:bodyPr/>
          <a:lstStyle/>
          <a:p>
            <a:r>
              <a:rPr lang="en-US" dirty="0"/>
              <a:t>Make glass, bottles, showpieces from broken/thrown glass bottles/cups/items</a:t>
            </a:r>
          </a:p>
          <a:p>
            <a:r>
              <a:rPr lang="en-US" dirty="0"/>
              <a:t>Paper Recycling</a:t>
            </a:r>
          </a:p>
          <a:p>
            <a:r>
              <a:rPr lang="en-US" dirty="0"/>
              <a:t>Plastic Recycling</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400" y="3048000"/>
            <a:ext cx="4978400" cy="3352800"/>
          </a:xfrm>
          <a:prstGeom prst="rect">
            <a:avLst/>
          </a:prstGeom>
        </p:spPr>
      </p:pic>
    </p:spTree>
    <p:extLst>
      <p:ext uri="{BB962C8B-B14F-4D97-AF65-F5344CB8AC3E}">
        <p14:creationId xmlns:p14="http://schemas.microsoft.com/office/powerpoint/2010/main" val="33156248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Industrial Waste Minimization</a:t>
            </a:r>
            <a:br>
              <a:rPr lang="en-US" dirty="0"/>
            </a:br>
            <a:endParaRPr lang="en-US" dirty="0"/>
          </a:p>
        </p:txBody>
      </p:sp>
      <p:sp>
        <p:nvSpPr>
          <p:cNvPr id="3" name="Content Placeholder 2"/>
          <p:cNvSpPr>
            <a:spLocks noGrp="1"/>
          </p:cNvSpPr>
          <p:nvPr>
            <p:ph idx="1"/>
          </p:nvPr>
        </p:nvSpPr>
        <p:spPr>
          <a:xfrm>
            <a:off x="731520" y="1600200"/>
            <a:ext cx="7680960" cy="3931920"/>
          </a:xfrm>
        </p:spPr>
        <p:txBody>
          <a:bodyPr>
            <a:noAutofit/>
          </a:bodyPr>
          <a:lstStyle/>
          <a:p>
            <a:pPr marL="0" indent="0">
              <a:buNone/>
            </a:pPr>
            <a:r>
              <a:rPr lang="en-US" b="1" dirty="0"/>
              <a:t>Classification:</a:t>
            </a:r>
          </a:p>
          <a:p>
            <a:pPr marL="0" indent="0">
              <a:buNone/>
            </a:pPr>
            <a:r>
              <a:rPr lang="en-US" dirty="0"/>
              <a:t>Hazardous and Non-hazardous</a:t>
            </a:r>
          </a:p>
          <a:p>
            <a:pPr marL="0" indent="0">
              <a:buNone/>
            </a:pPr>
            <a:endParaRPr lang="en-US" dirty="0"/>
          </a:p>
          <a:p>
            <a:pPr marL="0" indent="0">
              <a:buNone/>
            </a:pPr>
            <a:r>
              <a:rPr lang="en-US" b="1" dirty="0"/>
              <a:t>Treatment plants- </a:t>
            </a:r>
            <a:r>
              <a:rPr lang="en-US" dirty="0"/>
              <a:t>the processes used for treating wastewater produced by industries. After treatment, the treated wastewater may be reused or released to a sanitary sewer or to a surface water in the environment.</a:t>
            </a:r>
          </a:p>
          <a:p>
            <a:pPr marL="0" indent="0">
              <a:buNone/>
            </a:pPr>
            <a:endParaRPr lang="en-US" dirty="0"/>
          </a:p>
          <a:p>
            <a:pPr marL="0" indent="0">
              <a:buNone/>
            </a:pPr>
            <a:r>
              <a:rPr lang="en-US" b="1" dirty="0"/>
              <a:t>Advantages of waste minimization are:</a:t>
            </a:r>
          </a:p>
          <a:p>
            <a:pPr marL="0" indent="0">
              <a:buNone/>
            </a:pPr>
            <a:r>
              <a:rPr lang="en-US" dirty="0"/>
              <a:t>• minimum use of resources; </a:t>
            </a:r>
          </a:p>
          <a:p>
            <a:pPr marL="0" indent="0">
              <a:buNone/>
            </a:pPr>
            <a:r>
              <a:rPr lang="en-US" dirty="0"/>
              <a:t>• minimum waste production; </a:t>
            </a:r>
          </a:p>
          <a:p>
            <a:pPr marL="0" indent="0">
              <a:buNone/>
            </a:pPr>
            <a:r>
              <a:rPr lang="en-US" dirty="0"/>
              <a:t>• improvement in production process</a:t>
            </a:r>
          </a:p>
          <a:p>
            <a:pPr marL="0" indent="0">
              <a:buNone/>
            </a:pPr>
            <a:endParaRPr lang="en-US" dirty="0"/>
          </a:p>
        </p:txBody>
      </p:sp>
    </p:spTree>
    <p:extLst>
      <p:ext uri="{BB962C8B-B14F-4D97-AF65-F5344CB8AC3E}">
        <p14:creationId xmlns:p14="http://schemas.microsoft.com/office/powerpoint/2010/main" val="41459433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Content Placeholder 2">
            <a:extLst>
              <a:ext uri="{FF2B5EF4-FFF2-40B4-BE49-F238E27FC236}">
                <a16:creationId xmlns:a16="http://schemas.microsoft.com/office/drawing/2014/main" xmlns="" id="{4C899B22-1CCB-4541-B569-E81E629F2361}"/>
              </a:ext>
            </a:extLst>
          </p:cNvPr>
          <p:cNvSpPr>
            <a:spLocks noGrp="1"/>
          </p:cNvSpPr>
          <p:nvPr>
            <p:ph idx="1"/>
          </p:nvPr>
        </p:nvSpPr>
        <p:spPr>
          <a:xfrm>
            <a:off x="533400" y="1219200"/>
            <a:ext cx="8458200" cy="4800600"/>
          </a:xfrm>
        </p:spPr>
        <p:txBody>
          <a:bodyPr/>
          <a:lstStyle/>
          <a:p>
            <a:pPr algn="just" eaLnBrk="1" hangingPunct="1"/>
            <a:r>
              <a:rPr lang="en-US" altLang="en-US" sz="2800" dirty="0">
                <a:latin typeface="Garamond" panose="02020404030301010803" pitchFamily="18" charset="0"/>
                <a:cs typeface="Times New Roman" panose="02020603050405020304" pitchFamily="18" charset="0"/>
              </a:rPr>
              <a:t>At  least 50%  reduction by weight of </a:t>
            </a:r>
            <a:r>
              <a:rPr lang="en-US" altLang="en-US" sz="2800" b="1" dirty="0">
                <a:latin typeface="Garamond" panose="02020404030301010803" pitchFamily="18" charset="0"/>
                <a:cs typeface="Times New Roman" panose="02020603050405020304" pitchFamily="18" charset="0"/>
              </a:rPr>
              <a:t>urban</a:t>
            </a:r>
            <a:r>
              <a:rPr lang="en-US" altLang="en-US" sz="2800" dirty="0">
                <a:latin typeface="Garamond" panose="02020404030301010803" pitchFamily="18" charset="0"/>
                <a:cs typeface="Times New Roman" panose="02020603050405020304" pitchFamily="18" charset="0"/>
              </a:rPr>
              <a:t> </a:t>
            </a:r>
            <a:r>
              <a:rPr lang="en-US" altLang="en-US" sz="2800" b="1" dirty="0">
                <a:latin typeface="Garamond" panose="02020404030301010803" pitchFamily="18" charset="0"/>
                <a:cs typeface="Times New Roman" panose="02020603050405020304" pitchFamily="18" charset="0"/>
              </a:rPr>
              <a:t>waste</a:t>
            </a:r>
            <a:r>
              <a:rPr lang="en-US" altLang="en-US" sz="2800" dirty="0">
                <a:latin typeface="Garamond" panose="02020404030301010803" pitchFamily="18" charset="0"/>
                <a:cs typeface="Times New Roman" panose="02020603050405020304" pitchFamily="18" charset="0"/>
              </a:rPr>
              <a:t> is possible by:</a:t>
            </a:r>
          </a:p>
          <a:p>
            <a:pPr lvl="1" algn="just" eaLnBrk="1" hangingPunct="1"/>
            <a:r>
              <a:rPr lang="en-US" altLang="en-US" sz="2800" dirty="0">
                <a:latin typeface="Garamond" panose="02020404030301010803" pitchFamily="18" charset="0"/>
                <a:cs typeface="Times New Roman" panose="02020603050405020304" pitchFamily="18" charset="0"/>
              </a:rPr>
              <a:t>Better design of packaging to reduce waste, an element of source reduction (10% reduction)</a:t>
            </a:r>
          </a:p>
          <a:p>
            <a:pPr lvl="1" algn="just" eaLnBrk="1" hangingPunct="1"/>
            <a:r>
              <a:rPr lang="en-US" altLang="en-US" sz="2800" dirty="0">
                <a:latin typeface="Garamond" panose="02020404030301010803" pitchFamily="18" charset="0"/>
                <a:cs typeface="Times New Roman" panose="02020603050405020304" pitchFamily="18" charset="0"/>
              </a:rPr>
              <a:t>Establishment of recycling programs (30% reduction)</a:t>
            </a:r>
          </a:p>
          <a:p>
            <a:pPr lvl="1" algn="just" eaLnBrk="1" hangingPunct="1"/>
            <a:r>
              <a:rPr lang="en-US" altLang="en-US" sz="2800" dirty="0">
                <a:latin typeface="Garamond" panose="02020404030301010803" pitchFamily="18" charset="0"/>
                <a:cs typeface="Times New Roman" panose="02020603050405020304" pitchFamily="18" charset="0"/>
              </a:rPr>
              <a:t>Large-scale composting programs (10% reduction) </a:t>
            </a:r>
          </a:p>
          <a:p>
            <a:pPr eaLnBrk="1" hangingPunct="1"/>
            <a:endParaRPr lang="en-US" altLang="en-US" sz="2800"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266">
                                            <p:txEl>
                                              <p:pRg st="0" end="0"/>
                                            </p:txEl>
                                          </p:spTgt>
                                        </p:tgtEl>
                                        <p:attrNameLst>
                                          <p:attrName>style.visibility</p:attrName>
                                        </p:attrNameLst>
                                      </p:cBhvr>
                                      <p:to>
                                        <p:strVal val="visible"/>
                                      </p:to>
                                    </p:set>
                                    <p:animEffect transition="in" filter="fade">
                                      <p:cBhvr>
                                        <p:cTn id="7" dur="1000"/>
                                        <p:tgtEl>
                                          <p:spTgt spid="11266">
                                            <p:txEl>
                                              <p:pRg st="0" end="0"/>
                                            </p:txEl>
                                          </p:spTgt>
                                        </p:tgtEl>
                                      </p:cBhvr>
                                    </p:animEffect>
                                    <p:anim calcmode="lin" valueType="num">
                                      <p:cBhvr>
                                        <p:cTn id="8" dur="1000" fill="hold"/>
                                        <p:tgtEl>
                                          <p:spTgt spid="1126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126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1266">
                                            <p:txEl>
                                              <p:pRg st="1" end="1"/>
                                            </p:txEl>
                                          </p:spTgt>
                                        </p:tgtEl>
                                        <p:attrNameLst>
                                          <p:attrName>style.visibility</p:attrName>
                                        </p:attrNameLst>
                                      </p:cBhvr>
                                      <p:to>
                                        <p:strVal val="visible"/>
                                      </p:to>
                                    </p:set>
                                    <p:animEffect transition="in" filter="fade">
                                      <p:cBhvr>
                                        <p:cTn id="14" dur="1000"/>
                                        <p:tgtEl>
                                          <p:spTgt spid="11266">
                                            <p:txEl>
                                              <p:pRg st="1" end="1"/>
                                            </p:txEl>
                                          </p:spTgt>
                                        </p:tgtEl>
                                      </p:cBhvr>
                                    </p:animEffect>
                                    <p:anim calcmode="lin" valueType="num">
                                      <p:cBhvr>
                                        <p:cTn id="15" dur="1000" fill="hold"/>
                                        <p:tgtEl>
                                          <p:spTgt spid="11266">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126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1266">
                                            <p:txEl>
                                              <p:pRg st="2" end="2"/>
                                            </p:txEl>
                                          </p:spTgt>
                                        </p:tgtEl>
                                        <p:attrNameLst>
                                          <p:attrName>style.visibility</p:attrName>
                                        </p:attrNameLst>
                                      </p:cBhvr>
                                      <p:to>
                                        <p:strVal val="visible"/>
                                      </p:to>
                                    </p:set>
                                    <p:animEffect transition="in" filter="fade">
                                      <p:cBhvr>
                                        <p:cTn id="21" dur="1000"/>
                                        <p:tgtEl>
                                          <p:spTgt spid="11266">
                                            <p:txEl>
                                              <p:pRg st="2" end="2"/>
                                            </p:txEl>
                                          </p:spTgt>
                                        </p:tgtEl>
                                      </p:cBhvr>
                                    </p:animEffect>
                                    <p:anim calcmode="lin" valueType="num">
                                      <p:cBhvr>
                                        <p:cTn id="22" dur="1000" fill="hold"/>
                                        <p:tgtEl>
                                          <p:spTgt spid="11266">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1126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1266">
                                            <p:txEl>
                                              <p:pRg st="3" end="3"/>
                                            </p:txEl>
                                          </p:spTgt>
                                        </p:tgtEl>
                                        <p:attrNameLst>
                                          <p:attrName>style.visibility</p:attrName>
                                        </p:attrNameLst>
                                      </p:cBhvr>
                                      <p:to>
                                        <p:strVal val="visible"/>
                                      </p:to>
                                    </p:set>
                                    <p:animEffect transition="in" filter="fade">
                                      <p:cBhvr>
                                        <p:cTn id="28" dur="1000"/>
                                        <p:tgtEl>
                                          <p:spTgt spid="11266">
                                            <p:txEl>
                                              <p:pRg st="3" end="3"/>
                                            </p:txEl>
                                          </p:spTgt>
                                        </p:tgtEl>
                                      </p:cBhvr>
                                    </p:animEffect>
                                    <p:anim calcmode="lin" valueType="num">
                                      <p:cBhvr>
                                        <p:cTn id="29" dur="1000" fill="hold"/>
                                        <p:tgtEl>
                                          <p:spTgt spid="11266">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11266">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1520" y="642594"/>
            <a:ext cx="7955280" cy="1371600"/>
          </a:xfrm>
        </p:spPr>
        <p:txBody>
          <a:bodyPr/>
          <a:lstStyle/>
          <a:p>
            <a:r>
              <a:rPr lang="en-US" dirty="0"/>
              <a:t>Common methods of managing waste</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q"/>
            </a:pPr>
            <a:r>
              <a:rPr lang="en-US" sz="2800" dirty="0"/>
              <a:t>Composting</a:t>
            </a:r>
          </a:p>
          <a:p>
            <a:pPr>
              <a:buFont typeface="Wingdings" panose="05000000000000000000" pitchFamily="2" charset="2"/>
              <a:buChar char="q"/>
            </a:pPr>
            <a:r>
              <a:rPr lang="en-US" sz="2800" dirty="0"/>
              <a:t>Incineration</a:t>
            </a:r>
          </a:p>
          <a:p>
            <a:pPr>
              <a:buFont typeface="Wingdings" panose="05000000000000000000" pitchFamily="2" charset="2"/>
              <a:buChar char="q"/>
            </a:pPr>
            <a:r>
              <a:rPr lang="en-US" sz="2800" dirty="0"/>
              <a:t>Landfill</a:t>
            </a:r>
          </a:p>
          <a:p>
            <a:pPr>
              <a:buFont typeface="Wingdings" panose="05000000000000000000" pitchFamily="2" charset="2"/>
              <a:buChar char="q"/>
            </a:pPr>
            <a:r>
              <a:rPr lang="en-US" sz="2800" dirty="0"/>
              <a:t>Open dumping</a:t>
            </a:r>
          </a:p>
          <a:p>
            <a:pPr>
              <a:buFont typeface="Wingdings" panose="05000000000000000000" pitchFamily="2" charset="2"/>
              <a:buChar char="q"/>
            </a:pPr>
            <a:endParaRPr lang="en-US" sz="2800" dirty="0"/>
          </a:p>
        </p:txBody>
      </p:sp>
    </p:spTree>
    <p:extLst>
      <p:ext uri="{BB962C8B-B14F-4D97-AF65-F5344CB8AC3E}">
        <p14:creationId xmlns:p14="http://schemas.microsoft.com/office/powerpoint/2010/main" val="4586858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Content Placeholder 2">
            <a:extLst>
              <a:ext uri="{FF2B5EF4-FFF2-40B4-BE49-F238E27FC236}">
                <a16:creationId xmlns:a16="http://schemas.microsoft.com/office/drawing/2014/main" xmlns="" id="{683339D4-F3B5-4EC5-879A-5D4C77E6A490}"/>
              </a:ext>
            </a:extLst>
          </p:cNvPr>
          <p:cNvSpPr>
            <a:spLocks noGrp="1"/>
          </p:cNvSpPr>
          <p:nvPr>
            <p:ph idx="1"/>
          </p:nvPr>
        </p:nvSpPr>
        <p:spPr>
          <a:xfrm>
            <a:off x="838200" y="1066800"/>
            <a:ext cx="7239000" cy="4480719"/>
          </a:xfrm>
        </p:spPr>
        <p:txBody>
          <a:bodyPr>
            <a:normAutofit/>
          </a:bodyPr>
          <a:lstStyle/>
          <a:p>
            <a:pPr marL="0" indent="0" algn="ctr" eaLnBrk="1" hangingPunct="1">
              <a:buNone/>
            </a:pPr>
            <a:r>
              <a:rPr lang="en-US" altLang="en-US" sz="3600" b="1" dirty="0">
                <a:solidFill>
                  <a:schemeClr val="tx2"/>
                </a:solidFill>
              </a:rPr>
              <a:t>Composting</a:t>
            </a:r>
          </a:p>
          <a:p>
            <a:pPr marL="0" indent="0" algn="just" eaLnBrk="1" hangingPunct="1">
              <a:buNone/>
            </a:pPr>
            <a:r>
              <a:rPr lang="en-US" altLang="en-US" sz="2800" dirty="0"/>
              <a:t>-is a biochemical process in which organic materials such as kitchen scraps decompose to a rich, soil like material. Composts can be used as fertilizers as a source of nutrients. </a:t>
            </a:r>
          </a:p>
          <a:p>
            <a:pPr algn="just" eaLnBrk="1" hangingPunct="1"/>
            <a:r>
              <a:rPr lang="en-US" altLang="en-US" sz="2800" dirty="0"/>
              <a:t>Benefits of composting:</a:t>
            </a:r>
          </a:p>
          <a:p>
            <a:pPr lvl="1" algn="just"/>
            <a:r>
              <a:rPr lang="en-US" altLang="en-US" sz="2400" dirty="0"/>
              <a:t>Enriches soil</a:t>
            </a:r>
          </a:p>
          <a:p>
            <a:pPr lvl="1" algn="just"/>
            <a:r>
              <a:rPr lang="en-US" altLang="en-US" sz="2400" dirty="0"/>
              <a:t>Reduces need of chemical fertilizers</a:t>
            </a:r>
          </a:p>
          <a:p>
            <a:pPr marL="457200" lvl="1" indent="0" algn="just">
              <a:buNone/>
            </a:pPr>
            <a:endParaRPr lang="en-US" altLang="en-US" sz="2400"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2291">
                                            <p:txEl>
                                              <p:pRg st="0" end="0"/>
                                            </p:txEl>
                                          </p:spTgt>
                                        </p:tgtEl>
                                        <p:attrNameLst>
                                          <p:attrName>style.visibility</p:attrName>
                                        </p:attrNameLst>
                                      </p:cBhvr>
                                      <p:to>
                                        <p:strVal val="visible"/>
                                      </p:to>
                                    </p:set>
                                    <p:animEffect transition="in" filter="fade">
                                      <p:cBhvr>
                                        <p:cTn id="7" dur="1000"/>
                                        <p:tgtEl>
                                          <p:spTgt spid="12291">
                                            <p:txEl>
                                              <p:pRg st="0" end="0"/>
                                            </p:txEl>
                                          </p:spTgt>
                                        </p:tgtEl>
                                      </p:cBhvr>
                                    </p:animEffect>
                                    <p:anim calcmode="lin" valueType="num">
                                      <p:cBhvr>
                                        <p:cTn id="8" dur="1000" fill="hold"/>
                                        <p:tgtEl>
                                          <p:spTgt spid="12291">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2291">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2291">
                                            <p:txEl>
                                              <p:pRg st="1" end="1"/>
                                            </p:txEl>
                                          </p:spTgt>
                                        </p:tgtEl>
                                        <p:attrNameLst>
                                          <p:attrName>style.visibility</p:attrName>
                                        </p:attrNameLst>
                                      </p:cBhvr>
                                      <p:to>
                                        <p:strVal val="visible"/>
                                      </p:to>
                                    </p:set>
                                    <p:animEffect transition="in" filter="fade">
                                      <p:cBhvr>
                                        <p:cTn id="14" dur="1000"/>
                                        <p:tgtEl>
                                          <p:spTgt spid="12291">
                                            <p:txEl>
                                              <p:pRg st="1" end="1"/>
                                            </p:txEl>
                                          </p:spTgt>
                                        </p:tgtEl>
                                      </p:cBhvr>
                                    </p:animEffect>
                                    <p:anim calcmode="lin" valueType="num">
                                      <p:cBhvr>
                                        <p:cTn id="15" dur="1000" fill="hold"/>
                                        <p:tgtEl>
                                          <p:spTgt spid="12291">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2291">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2291">
                                            <p:txEl>
                                              <p:pRg st="2" end="2"/>
                                            </p:txEl>
                                          </p:spTgt>
                                        </p:tgtEl>
                                        <p:attrNameLst>
                                          <p:attrName>style.visibility</p:attrName>
                                        </p:attrNameLst>
                                      </p:cBhvr>
                                      <p:to>
                                        <p:strVal val="visible"/>
                                      </p:to>
                                    </p:set>
                                    <p:animEffect transition="in" filter="fade">
                                      <p:cBhvr>
                                        <p:cTn id="21" dur="1000"/>
                                        <p:tgtEl>
                                          <p:spTgt spid="12291">
                                            <p:txEl>
                                              <p:pRg st="2" end="2"/>
                                            </p:txEl>
                                          </p:spTgt>
                                        </p:tgtEl>
                                      </p:cBhvr>
                                    </p:animEffect>
                                    <p:anim calcmode="lin" valueType="num">
                                      <p:cBhvr>
                                        <p:cTn id="22" dur="1000" fill="hold"/>
                                        <p:tgtEl>
                                          <p:spTgt spid="12291">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12291">
                                            <p:txEl>
                                              <p:pRg st="2" end="2"/>
                                            </p:txEl>
                                          </p:spTgt>
                                        </p:tgtEl>
                                        <p:attrNameLst>
                                          <p:attrName>ppt_y</p:attrName>
                                        </p:attrNameLst>
                                      </p:cBhvr>
                                      <p:tavLst>
                                        <p:tav tm="0">
                                          <p:val>
                                            <p:strVal val="#ppt_y+.1"/>
                                          </p:val>
                                        </p:tav>
                                        <p:tav tm="100000">
                                          <p:val>
                                            <p:strVal val="#ppt_y"/>
                                          </p:val>
                                        </p:tav>
                                      </p:tavLst>
                                    </p:anim>
                                  </p:childTnLst>
                                </p:cTn>
                              </p:par>
                              <p:par>
                                <p:cTn id="24" presetID="42" presetClass="entr" presetSubtype="0" fill="hold" grpId="0" nodeType="withEffect">
                                  <p:stCondLst>
                                    <p:cond delay="0"/>
                                  </p:stCondLst>
                                  <p:childTnLst>
                                    <p:set>
                                      <p:cBhvr>
                                        <p:cTn id="25" dur="1" fill="hold">
                                          <p:stCondLst>
                                            <p:cond delay="0"/>
                                          </p:stCondLst>
                                        </p:cTn>
                                        <p:tgtEl>
                                          <p:spTgt spid="12291">
                                            <p:txEl>
                                              <p:pRg st="3" end="3"/>
                                            </p:txEl>
                                          </p:spTgt>
                                        </p:tgtEl>
                                        <p:attrNameLst>
                                          <p:attrName>style.visibility</p:attrName>
                                        </p:attrNameLst>
                                      </p:cBhvr>
                                      <p:to>
                                        <p:strVal val="visible"/>
                                      </p:to>
                                    </p:set>
                                    <p:animEffect transition="in" filter="fade">
                                      <p:cBhvr>
                                        <p:cTn id="26" dur="1000"/>
                                        <p:tgtEl>
                                          <p:spTgt spid="12291">
                                            <p:txEl>
                                              <p:pRg st="3" end="3"/>
                                            </p:txEl>
                                          </p:spTgt>
                                        </p:tgtEl>
                                      </p:cBhvr>
                                    </p:animEffect>
                                    <p:anim calcmode="lin" valueType="num">
                                      <p:cBhvr>
                                        <p:cTn id="27" dur="1000" fill="hold"/>
                                        <p:tgtEl>
                                          <p:spTgt spid="12291">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12291">
                                            <p:txEl>
                                              <p:pRg st="3" end="3"/>
                                            </p:txEl>
                                          </p:spTgt>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12291">
                                            <p:txEl>
                                              <p:pRg st="4" end="4"/>
                                            </p:txEl>
                                          </p:spTgt>
                                        </p:tgtEl>
                                        <p:attrNameLst>
                                          <p:attrName>style.visibility</p:attrName>
                                        </p:attrNameLst>
                                      </p:cBhvr>
                                      <p:to>
                                        <p:strVal val="visible"/>
                                      </p:to>
                                    </p:set>
                                    <p:animEffect transition="in" filter="fade">
                                      <p:cBhvr>
                                        <p:cTn id="31" dur="1000"/>
                                        <p:tgtEl>
                                          <p:spTgt spid="12291">
                                            <p:txEl>
                                              <p:pRg st="4" end="4"/>
                                            </p:txEl>
                                          </p:spTgt>
                                        </p:tgtEl>
                                      </p:cBhvr>
                                    </p:animEffect>
                                    <p:anim calcmode="lin" valueType="num">
                                      <p:cBhvr>
                                        <p:cTn id="32" dur="1000" fill="hold"/>
                                        <p:tgtEl>
                                          <p:spTgt spid="12291">
                                            <p:txEl>
                                              <p:pRg st="4" end="4"/>
                                            </p:txEl>
                                          </p:spTgt>
                                        </p:tgtEl>
                                        <p:attrNameLst>
                                          <p:attrName>ppt_x</p:attrName>
                                        </p:attrNameLst>
                                      </p:cBhvr>
                                      <p:tavLst>
                                        <p:tav tm="0">
                                          <p:val>
                                            <p:strVal val="#ppt_x"/>
                                          </p:val>
                                        </p:tav>
                                        <p:tav tm="100000">
                                          <p:val>
                                            <p:strVal val="#ppt_x"/>
                                          </p:val>
                                        </p:tav>
                                      </p:tavLst>
                                    </p:anim>
                                    <p:anim calcmode="lin" valueType="num">
                                      <p:cBhvr>
                                        <p:cTn id="33" dur="1000" fill="hold"/>
                                        <p:tgtEl>
                                          <p:spTgt spid="12291">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899160" y="642594"/>
            <a:ext cx="7345679" cy="5654675"/>
          </a:xfrm>
        </p:spPr>
      </p:pic>
    </p:spTree>
    <p:extLst>
      <p:ext uri="{BB962C8B-B14F-4D97-AF65-F5344CB8AC3E}">
        <p14:creationId xmlns:p14="http://schemas.microsoft.com/office/powerpoint/2010/main" val="9649479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r>
            <a:br>
              <a:rPr lang="en-US" dirty="0"/>
            </a:b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09600" y="914400"/>
            <a:ext cx="7802880" cy="4700789"/>
          </a:xfrm>
        </p:spPr>
      </p:pic>
      <p:sp>
        <p:nvSpPr>
          <p:cNvPr id="5" name="TextBox 4"/>
          <p:cNvSpPr txBox="1"/>
          <p:nvPr/>
        </p:nvSpPr>
        <p:spPr>
          <a:xfrm>
            <a:off x="1828800" y="5634507"/>
            <a:ext cx="5674951" cy="369332"/>
          </a:xfrm>
          <a:prstGeom prst="rect">
            <a:avLst/>
          </a:prstGeom>
          <a:noFill/>
        </p:spPr>
        <p:txBody>
          <a:bodyPr wrap="none" rtlCol="0">
            <a:spAutoFit/>
          </a:bodyPr>
          <a:lstStyle/>
          <a:p>
            <a:r>
              <a:rPr lang="en-US" dirty="0"/>
              <a:t>Fig. Woman from a rural area preparing compost</a:t>
            </a:r>
          </a:p>
        </p:txBody>
      </p:sp>
    </p:spTree>
    <p:extLst>
      <p:ext uri="{BB962C8B-B14F-4D97-AF65-F5344CB8AC3E}">
        <p14:creationId xmlns:p14="http://schemas.microsoft.com/office/powerpoint/2010/main" val="40120855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872589F6-6F10-4036-B1E7-BEA186752547}"/>
              </a:ext>
            </a:extLst>
          </p:cNvPr>
          <p:cNvSpPr>
            <a:spLocks noGrp="1"/>
          </p:cNvSpPr>
          <p:nvPr>
            <p:ph idx="1"/>
          </p:nvPr>
        </p:nvSpPr>
        <p:spPr>
          <a:xfrm>
            <a:off x="990600" y="1143000"/>
            <a:ext cx="7704667" cy="4648200"/>
          </a:xfrm>
        </p:spPr>
        <p:txBody>
          <a:bodyPr>
            <a:normAutofit/>
          </a:bodyPr>
          <a:lstStyle/>
          <a:p>
            <a:pPr marL="0" indent="0" algn="ctr" eaLnBrk="1" hangingPunct="1">
              <a:buNone/>
            </a:pPr>
            <a:r>
              <a:rPr lang="en-US" altLang="en-US" sz="3200" b="1" dirty="0">
                <a:solidFill>
                  <a:schemeClr val="tx2"/>
                </a:solidFill>
              </a:rPr>
              <a:t>Incineration</a:t>
            </a:r>
            <a:endParaRPr lang="en-US" altLang="en-US" sz="2400" dirty="0"/>
          </a:p>
          <a:p>
            <a:pPr marL="0" indent="0" algn="just" eaLnBrk="1" hangingPunct="1">
              <a:buNone/>
            </a:pPr>
            <a:r>
              <a:rPr lang="en-US" altLang="en-US" sz="2400" dirty="0"/>
              <a:t>Combustible waste is burned at temperature high enough (900-1000</a:t>
            </a:r>
            <a:r>
              <a:rPr lang="en-US" altLang="en-US" sz="2400" baseline="30000" dirty="0"/>
              <a:t>0</a:t>
            </a:r>
            <a:r>
              <a:rPr lang="en-US" altLang="en-US" sz="2400" dirty="0"/>
              <a:t>C) or (1650-1830</a:t>
            </a:r>
            <a:r>
              <a:rPr lang="en-US" altLang="en-US" sz="2400" baseline="30000" dirty="0"/>
              <a:t>0</a:t>
            </a:r>
            <a:r>
              <a:rPr lang="en-US" altLang="en-US" sz="2400" dirty="0"/>
              <a:t>F) to consume all combustible material, leaving only ash and non-combustible to dispose of in a landfill. </a:t>
            </a:r>
          </a:p>
          <a:p>
            <a:pPr marL="0" indent="0" algn="just" eaLnBrk="1" hangingPunct="1">
              <a:buNone/>
            </a:pPr>
            <a:endParaRPr lang="en-US" altLang="en-US" sz="2400" dirty="0"/>
          </a:p>
          <a:p>
            <a:pPr algn="just">
              <a:buFont typeface="Wingdings" panose="05000000000000000000" pitchFamily="2" charset="2"/>
              <a:buChar char="§"/>
            </a:pPr>
            <a:r>
              <a:rPr lang="en-US" altLang="en-US" sz="2400" dirty="0"/>
              <a:t>This process reduces the volume of solid wastes to 20-30% of original volume. </a:t>
            </a:r>
          </a:p>
          <a:p>
            <a:endParaRPr lang="en-US" dirty="0"/>
          </a:p>
        </p:txBody>
      </p:sp>
    </p:spTree>
    <p:custDataLst>
      <p:tags r:id="rId1"/>
    </p:custDataLst>
    <p:extLst>
      <p:ext uri="{BB962C8B-B14F-4D97-AF65-F5344CB8AC3E}">
        <p14:creationId xmlns:p14="http://schemas.microsoft.com/office/powerpoint/2010/main" val="470458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1000"/>
                                        <p:tgtEl>
                                          <p:spTgt spid="3">
                                            <p:txEl>
                                              <p:pRg st="3" end="3"/>
                                            </p:txEl>
                                          </p:spTgt>
                                        </p:tgtEl>
                                      </p:cBhvr>
                                    </p:animEffect>
                                    <p:anim calcmode="lin" valueType="num">
                                      <p:cBhvr>
                                        <p:cTn id="22"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rotWithShape="1">
          <a:blip r:embed="rId2">
            <a:extLst>
              <a:ext uri="{28A0092B-C50C-407E-A947-70E740481C1C}">
                <a14:useLocalDpi xmlns:a14="http://schemas.microsoft.com/office/drawing/2010/main" val="0"/>
              </a:ext>
            </a:extLst>
          </a:blip>
          <a:srcRect b="8304"/>
          <a:stretch/>
        </p:blipFill>
        <p:spPr>
          <a:xfrm>
            <a:off x="609600" y="838200"/>
            <a:ext cx="8153400" cy="4876800"/>
          </a:xfrm>
        </p:spPr>
      </p:pic>
      <p:sp>
        <p:nvSpPr>
          <p:cNvPr id="3" name="TextBox 2"/>
          <p:cNvSpPr txBox="1"/>
          <p:nvPr/>
        </p:nvSpPr>
        <p:spPr>
          <a:xfrm>
            <a:off x="3388509" y="5791200"/>
            <a:ext cx="2595582" cy="369332"/>
          </a:xfrm>
          <a:prstGeom prst="rect">
            <a:avLst/>
          </a:prstGeom>
          <a:noFill/>
        </p:spPr>
        <p:txBody>
          <a:bodyPr wrap="none" rtlCol="0">
            <a:spAutoFit/>
          </a:bodyPr>
          <a:lstStyle/>
          <a:p>
            <a:r>
              <a:rPr lang="en-US" dirty="0"/>
              <a:t>Fig. Incineration plant</a:t>
            </a:r>
          </a:p>
        </p:txBody>
      </p:sp>
    </p:spTree>
    <p:extLst>
      <p:ext uri="{BB962C8B-B14F-4D97-AF65-F5344CB8AC3E}">
        <p14:creationId xmlns:p14="http://schemas.microsoft.com/office/powerpoint/2010/main" val="42827620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D7AF5E41-D8F5-4863-AF78-CCCFDC3A9AA1}"/>
              </a:ext>
            </a:extLst>
          </p:cNvPr>
          <p:cNvSpPr>
            <a:spLocks noGrp="1"/>
          </p:cNvSpPr>
          <p:nvPr>
            <p:ph idx="1"/>
          </p:nvPr>
        </p:nvSpPr>
        <p:spPr>
          <a:xfrm>
            <a:off x="990600" y="1447800"/>
            <a:ext cx="6934200" cy="4648200"/>
          </a:xfrm>
        </p:spPr>
        <p:txBody>
          <a:bodyPr>
            <a:normAutofit/>
          </a:bodyPr>
          <a:lstStyle/>
          <a:p>
            <a:pPr marL="0" indent="0" algn="ctr">
              <a:buNone/>
            </a:pPr>
            <a:r>
              <a:rPr lang="en-US" altLang="en-US" sz="3700" b="1" dirty="0">
                <a:solidFill>
                  <a:schemeClr val="tx2"/>
                </a:solidFill>
              </a:rPr>
              <a:t>Open dumping</a:t>
            </a:r>
            <a:endParaRPr lang="en-US" altLang="en-US" sz="3700" dirty="0"/>
          </a:p>
          <a:p>
            <a:r>
              <a:rPr lang="en-US" altLang="en-US" sz="2800" dirty="0"/>
              <a:t>In many places of our country, solid waste is accumulated in open dumps  where refuse was piled up without being  covered or otherwise protected.</a:t>
            </a:r>
          </a:p>
          <a:p>
            <a:r>
              <a:rPr lang="en-US" sz="2800" dirty="0"/>
              <a:t>Open dumps creates health hazard, polluting air and sometimes polluting  groundwater and surface water.</a:t>
            </a:r>
          </a:p>
          <a:p>
            <a:endParaRPr lang="en-US" dirty="0"/>
          </a:p>
        </p:txBody>
      </p:sp>
    </p:spTree>
    <p:custDataLst>
      <p:tags r:id="rId1"/>
    </p:custDataLst>
    <p:extLst>
      <p:ext uri="{BB962C8B-B14F-4D97-AF65-F5344CB8AC3E}">
        <p14:creationId xmlns:p14="http://schemas.microsoft.com/office/powerpoint/2010/main" val="1959299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E11A450C-79D6-46B4-A327-5174EBCBA508}"/>
              </a:ext>
            </a:extLst>
          </p:cNvPr>
          <p:cNvSpPr>
            <a:spLocks noGrp="1"/>
          </p:cNvSpPr>
          <p:nvPr>
            <p:ph idx="1"/>
          </p:nvPr>
        </p:nvSpPr>
        <p:spPr>
          <a:xfrm>
            <a:off x="685800" y="685800"/>
            <a:ext cx="7497763" cy="5410200"/>
          </a:xfrm>
        </p:spPr>
        <p:txBody>
          <a:bodyPr>
            <a:normAutofit lnSpcReduction="10000"/>
          </a:bodyPr>
          <a:lstStyle/>
          <a:p>
            <a:pPr marL="82296" indent="0" algn="ctr" eaLnBrk="1" fontAlgn="auto" hangingPunct="1">
              <a:spcAft>
                <a:spcPts val="0"/>
              </a:spcAft>
              <a:buNone/>
              <a:defRPr/>
            </a:pPr>
            <a:r>
              <a:rPr lang="en-US" sz="3200" b="1" dirty="0">
                <a:solidFill>
                  <a:schemeClr val="tx2"/>
                </a:solidFill>
              </a:rPr>
              <a:t>Landfill</a:t>
            </a:r>
            <a:endParaRPr lang="en-US" sz="3200" dirty="0">
              <a:latin typeface="Garamond" pitchFamily="18" charset="0"/>
            </a:endParaRPr>
          </a:p>
          <a:p>
            <a:pPr marL="82296" indent="0" algn="just" eaLnBrk="1" fontAlgn="auto" hangingPunct="1">
              <a:spcAft>
                <a:spcPts val="0"/>
              </a:spcAft>
              <a:buNone/>
              <a:defRPr/>
            </a:pPr>
            <a:r>
              <a:rPr lang="en-US" sz="2800" dirty="0">
                <a:latin typeface="Garamond" pitchFamily="18" charset="0"/>
              </a:rPr>
              <a:t>Disposing of waste involves burying the waste and remains and is a common practice in most countries. </a:t>
            </a:r>
          </a:p>
          <a:p>
            <a:pPr marL="365760" indent="-283464" algn="just" eaLnBrk="1" fontAlgn="auto" hangingPunct="1">
              <a:spcAft>
                <a:spcPts val="0"/>
              </a:spcAft>
              <a:buFont typeface="Wingdings 2"/>
              <a:buChar char=""/>
              <a:defRPr/>
            </a:pPr>
            <a:r>
              <a:rPr lang="en-US" sz="2800" dirty="0">
                <a:latin typeface="Garamond" pitchFamily="18" charset="0"/>
              </a:rPr>
              <a:t>Properly designed and well managed landfill can be a hygienic and relatively inexpensive method of disposing of waste materials. </a:t>
            </a:r>
          </a:p>
          <a:p>
            <a:pPr marL="365760" indent="-283464" algn="just" eaLnBrk="1" fontAlgn="auto" hangingPunct="1">
              <a:spcAft>
                <a:spcPts val="0"/>
              </a:spcAft>
              <a:buFont typeface="Wingdings 2"/>
              <a:buChar char=""/>
              <a:defRPr/>
            </a:pPr>
            <a:r>
              <a:rPr lang="en-US" sz="2800" dirty="0">
                <a:latin typeface="Garamond" pitchFamily="18" charset="0"/>
              </a:rPr>
              <a:t>May cause leaching leading to ground water contamination.</a:t>
            </a:r>
          </a:p>
          <a:p>
            <a:pPr marL="365760" indent="-283464" algn="just" eaLnBrk="1" fontAlgn="auto" hangingPunct="1">
              <a:spcAft>
                <a:spcPts val="0"/>
              </a:spcAft>
              <a:buFont typeface="Wingdings 2"/>
              <a:buChar char=""/>
              <a:defRPr/>
            </a:pPr>
            <a:r>
              <a:rPr lang="en-US" sz="2800" dirty="0">
                <a:latin typeface="Garamond" pitchFamily="18" charset="0"/>
              </a:rPr>
              <a:t>May cause air pollution.</a:t>
            </a:r>
          </a:p>
          <a:p>
            <a:pPr marL="365760" indent="-283464" algn="just" eaLnBrk="1" fontAlgn="auto" hangingPunct="1">
              <a:spcAft>
                <a:spcPts val="0"/>
              </a:spcAft>
              <a:buFont typeface="Wingdings 2"/>
              <a:buChar char=""/>
              <a:defRPr/>
            </a:pPr>
            <a:r>
              <a:rPr lang="en-US" sz="2800" dirty="0">
                <a:latin typeface="Garamond" pitchFamily="18" charset="0"/>
              </a:rPr>
              <a:t>Plastics take 1000 years to decompose and releases harmful toxins in the soil.</a:t>
            </a:r>
          </a:p>
          <a:p>
            <a:pPr marL="82296" indent="0" eaLnBrk="1" fontAlgn="auto" hangingPunct="1">
              <a:spcAft>
                <a:spcPts val="0"/>
              </a:spcAft>
              <a:buNone/>
              <a:defRPr/>
            </a:pPr>
            <a:endParaRPr lang="en-US" sz="2400" dirty="0">
              <a:latin typeface="Garamond"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43000" y="914400"/>
            <a:ext cx="6776716" cy="4509596"/>
          </a:xfrm>
        </p:spPr>
      </p:pic>
    </p:spTree>
    <p:extLst>
      <p:ext uri="{BB962C8B-B14F-4D97-AF65-F5344CB8AC3E}">
        <p14:creationId xmlns:p14="http://schemas.microsoft.com/office/powerpoint/2010/main" val="206581776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571E02A-39C2-445C-B910-FBD7B1B56586}"/>
              </a:ext>
            </a:extLst>
          </p:cNvPr>
          <p:cNvSpPr>
            <a:spLocks noGrp="1"/>
          </p:cNvSpPr>
          <p:nvPr>
            <p:ph type="title"/>
          </p:nvPr>
        </p:nvSpPr>
        <p:spPr>
          <a:xfrm>
            <a:off x="457200" y="609600"/>
            <a:ext cx="7680960" cy="1371600"/>
          </a:xfrm>
        </p:spPr>
        <p:txBody>
          <a:bodyPr>
            <a:normAutofit/>
          </a:bodyPr>
          <a:lstStyle/>
          <a:p>
            <a:pPr algn="ctr"/>
            <a:r>
              <a:rPr lang="en-US" sz="3200" b="1" dirty="0">
                <a:solidFill>
                  <a:schemeClr val="tx2">
                    <a:lumMod val="75000"/>
                  </a:schemeClr>
                </a:solidFill>
              </a:rPr>
              <a:t>Waste generation </a:t>
            </a:r>
            <a:r>
              <a:rPr lang="en-US" sz="3200" b="1" dirty="0" smtClean="0">
                <a:solidFill>
                  <a:schemeClr val="tx2">
                    <a:lumMod val="75000"/>
                  </a:schemeClr>
                </a:solidFill>
              </a:rPr>
              <a:t>in</a:t>
            </a:r>
            <a:r>
              <a:rPr lang="en-US" sz="3200" b="1" dirty="0" smtClean="0">
                <a:solidFill>
                  <a:schemeClr val="tx2">
                    <a:lumMod val="75000"/>
                  </a:schemeClr>
                </a:solidFill>
              </a:rPr>
              <a:t> </a:t>
            </a:r>
            <a:r>
              <a:rPr lang="en-US" sz="3200" b="1" dirty="0">
                <a:solidFill>
                  <a:schemeClr val="tx2">
                    <a:lumMod val="75000"/>
                  </a:schemeClr>
                </a:solidFill>
              </a:rPr>
              <a:t>Dhaka City</a:t>
            </a:r>
          </a:p>
        </p:txBody>
      </p:sp>
      <p:sp>
        <p:nvSpPr>
          <p:cNvPr id="3" name="Content Placeholder 2">
            <a:extLst>
              <a:ext uri="{FF2B5EF4-FFF2-40B4-BE49-F238E27FC236}">
                <a16:creationId xmlns:a16="http://schemas.microsoft.com/office/drawing/2014/main" xmlns="" id="{F37EA449-541F-4BC7-976B-EFBE0A12194F}"/>
              </a:ext>
            </a:extLst>
          </p:cNvPr>
          <p:cNvSpPr>
            <a:spLocks noGrp="1"/>
          </p:cNvSpPr>
          <p:nvPr>
            <p:ph idx="1"/>
          </p:nvPr>
        </p:nvSpPr>
        <p:spPr>
          <a:xfrm>
            <a:off x="304800" y="1600200"/>
            <a:ext cx="8610600" cy="4419600"/>
          </a:xfrm>
        </p:spPr>
        <p:txBody>
          <a:bodyPr>
            <a:normAutofit/>
          </a:bodyPr>
          <a:lstStyle/>
          <a:p>
            <a:r>
              <a:rPr lang="en-US" sz="2000" dirty="0"/>
              <a:t>Dhaka City </a:t>
            </a:r>
            <a:r>
              <a:rPr lang="en-US" sz="2000" dirty="0" smtClean="0"/>
              <a:t>Corporation (DCC) </a:t>
            </a:r>
            <a:r>
              <a:rPr lang="en-US" sz="2000" dirty="0"/>
              <a:t>responsible for waste collection</a:t>
            </a:r>
          </a:p>
          <a:p>
            <a:r>
              <a:rPr lang="en-US" sz="2000" dirty="0"/>
              <a:t>Following landfill method to manage waste</a:t>
            </a:r>
          </a:p>
          <a:p>
            <a:r>
              <a:rPr lang="en-US" sz="2000" dirty="0"/>
              <a:t>Dhaka City Consists </a:t>
            </a:r>
            <a:r>
              <a:rPr lang="en-US" sz="2000" dirty="0" smtClean="0"/>
              <a:t>of</a:t>
            </a:r>
            <a:r>
              <a:rPr lang="en-US" sz="2000" dirty="0" smtClean="0"/>
              <a:t> </a:t>
            </a:r>
            <a:r>
              <a:rPr lang="en-US" sz="2000" dirty="0"/>
              <a:t>2 city corporations</a:t>
            </a:r>
          </a:p>
          <a:p>
            <a:r>
              <a:rPr lang="en-US" sz="2000" dirty="0"/>
              <a:t>Dhaka North City Corporation (DNCC)</a:t>
            </a:r>
          </a:p>
          <a:p>
            <a:r>
              <a:rPr lang="en-US" sz="2000" dirty="0"/>
              <a:t>Dhaka South City Corporation (DSCC)</a:t>
            </a:r>
          </a:p>
          <a:p>
            <a:r>
              <a:rPr lang="en-US" sz="2000" dirty="0"/>
              <a:t>Waste Generation of DNCC : 4220 tons/day (</a:t>
            </a:r>
            <a:r>
              <a:rPr lang="en-US" sz="2000" dirty="0" smtClean="0"/>
              <a:t>approx</a:t>
            </a:r>
            <a:r>
              <a:rPr lang="en-US" sz="2000" dirty="0"/>
              <a:t>.)</a:t>
            </a:r>
          </a:p>
          <a:p>
            <a:r>
              <a:rPr lang="en-US" sz="2000" dirty="0" err="1"/>
              <a:t>Aminbazar</a:t>
            </a:r>
            <a:r>
              <a:rPr lang="en-US" sz="2000" dirty="0"/>
              <a:t> landfill site: manage 2774 tons/day</a:t>
            </a:r>
          </a:p>
          <a:p>
            <a:r>
              <a:rPr lang="en-US" sz="2000" dirty="0"/>
              <a:t>Waste Generation of DSCC : 3319 tons/day (</a:t>
            </a:r>
            <a:r>
              <a:rPr lang="en-US" sz="2000" dirty="0" smtClean="0"/>
              <a:t>approx</a:t>
            </a:r>
            <a:r>
              <a:rPr lang="en-US" sz="2000" dirty="0"/>
              <a:t>.)</a:t>
            </a:r>
          </a:p>
          <a:p>
            <a:r>
              <a:rPr lang="en-US" sz="2000" dirty="0" err="1"/>
              <a:t>Matuail</a:t>
            </a:r>
            <a:r>
              <a:rPr lang="en-US" sz="2000" dirty="0"/>
              <a:t> landfill site: manage 2605 tons/day</a:t>
            </a:r>
          </a:p>
          <a:p>
            <a:r>
              <a:rPr lang="en-US" sz="2000" dirty="0"/>
              <a:t>Per capita waste generation</a:t>
            </a:r>
            <a:r>
              <a:rPr lang="en-US" sz="2000" dirty="0" smtClean="0"/>
              <a:t>: 0.56 </a:t>
            </a:r>
            <a:r>
              <a:rPr lang="en-US" sz="2000" dirty="0"/>
              <a:t>kg/day/per person (</a:t>
            </a:r>
            <a:r>
              <a:rPr lang="en-US" sz="2000" dirty="0" smtClean="0"/>
              <a:t>approx</a:t>
            </a:r>
            <a:r>
              <a:rPr lang="en-US" sz="2000" dirty="0"/>
              <a:t>.)</a:t>
            </a:r>
          </a:p>
          <a:p>
            <a:endParaRPr lang="en-US" sz="2400" dirty="0"/>
          </a:p>
          <a:p>
            <a:endParaRPr lang="en-US" dirty="0"/>
          </a:p>
          <a:p>
            <a:endParaRPr lang="en-US" dirty="0"/>
          </a:p>
          <a:p>
            <a:endParaRPr lang="en-US" dirty="0"/>
          </a:p>
        </p:txBody>
      </p:sp>
    </p:spTree>
    <p:extLst>
      <p:ext uri="{BB962C8B-B14F-4D97-AF65-F5344CB8AC3E}">
        <p14:creationId xmlns:p14="http://schemas.microsoft.com/office/powerpoint/2010/main" val="80221191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C2C5B42-A371-42C7-B48B-2C91E16BF28C}"/>
              </a:ext>
            </a:extLst>
          </p:cNvPr>
          <p:cNvSpPr>
            <a:spLocks noGrp="1"/>
          </p:cNvSpPr>
          <p:nvPr>
            <p:ph type="title"/>
          </p:nvPr>
        </p:nvSpPr>
        <p:spPr>
          <a:xfrm>
            <a:off x="304800" y="642594"/>
            <a:ext cx="8107680" cy="1371600"/>
          </a:xfrm>
        </p:spPr>
        <p:txBody>
          <a:bodyPr>
            <a:normAutofit/>
          </a:bodyPr>
          <a:lstStyle/>
          <a:p>
            <a:pPr algn="ctr"/>
            <a:r>
              <a:rPr lang="en-US" sz="3200" b="1" dirty="0"/>
              <a:t>Locations of landfill site </a:t>
            </a:r>
            <a:br>
              <a:rPr lang="en-US" sz="3200" b="1" dirty="0"/>
            </a:br>
            <a:r>
              <a:rPr lang="en-US" sz="3200" b="1" dirty="0"/>
              <a:t>(DNCC and DSCC)</a:t>
            </a:r>
          </a:p>
        </p:txBody>
      </p:sp>
      <p:pic>
        <p:nvPicPr>
          <p:cNvPr id="5" name="Content Placeholder 4">
            <a:extLst>
              <a:ext uri="{FF2B5EF4-FFF2-40B4-BE49-F238E27FC236}">
                <a16:creationId xmlns:a16="http://schemas.microsoft.com/office/drawing/2014/main" xmlns="" id="{E5851458-6D68-4C6A-8D80-85BE6E217346}"/>
              </a:ext>
            </a:extLst>
          </p:cNvPr>
          <p:cNvPicPr>
            <a:picLocks noGrp="1" noChangeAspect="1"/>
          </p:cNvPicPr>
          <p:nvPr>
            <p:ph idx="1"/>
          </p:nvPr>
        </p:nvPicPr>
        <p:blipFill>
          <a:blip r:embed="rId2"/>
          <a:stretch>
            <a:fillRect/>
          </a:stretch>
        </p:blipFill>
        <p:spPr>
          <a:xfrm>
            <a:off x="2362200" y="1828800"/>
            <a:ext cx="4537276" cy="4800600"/>
          </a:xfrm>
        </p:spPr>
      </p:pic>
    </p:spTree>
    <p:extLst>
      <p:ext uri="{BB962C8B-B14F-4D97-AF65-F5344CB8AC3E}">
        <p14:creationId xmlns:p14="http://schemas.microsoft.com/office/powerpoint/2010/main" val="234436486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A51BE44-1009-467B-8350-5FC1ED0D11FB}"/>
              </a:ext>
            </a:extLst>
          </p:cNvPr>
          <p:cNvSpPr>
            <a:spLocks noGrp="1"/>
          </p:cNvSpPr>
          <p:nvPr>
            <p:ph type="title"/>
          </p:nvPr>
        </p:nvSpPr>
        <p:spPr/>
        <p:txBody>
          <a:bodyPr/>
          <a:lstStyle/>
          <a:p>
            <a:pPr algn="ctr"/>
            <a:r>
              <a:rPr lang="en-US" b="1" dirty="0"/>
              <a:t>Composition of waste at Dhaka City</a:t>
            </a:r>
          </a:p>
        </p:txBody>
      </p:sp>
      <p:pic>
        <p:nvPicPr>
          <p:cNvPr id="5" name="Content Placeholder 4">
            <a:extLst>
              <a:ext uri="{FF2B5EF4-FFF2-40B4-BE49-F238E27FC236}">
                <a16:creationId xmlns:a16="http://schemas.microsoft.com/office/drawing/2014/main" xmlns="" id="{660F84BA-D2CB-4087-82B8-732116A4460F}"/>
              </a:ext>
            </a:extLst>
          </p:cNvPr>
          <p:cNvPicPr>
            <a:picLocks noGrp="1" noChangeAspect="1"/>
          </p:cNvPicPr>
          <p:nvPr>
            <p:ph idx="1"/>
          </p:nvPr>
        </p:nvPicPr>
        <p:blipFill>
          <a:blip r:embed="rId2"/>
          <a:stretch>
            <a:fillRect/>
          </a:stretch>
        </p:blipFill>
        <p:spPr>
          <a:xfrm>
            <a:off x="1981200" y="1905000"/>
            <a:ext cx="6934200" cy="4544979"/>
          </a:xfrm>
        </p:spPr>
      </p:pic>
    </p:spTree>
    <p:extLst>
      <p:ext uri="{BB962C8B-B14F-4D97-AF65-F5344CB8AC3E}">
        <p14:creationId xmlns:p14="http://schemas.microsoft.com/office/powerpoint/2010/main" val="330288027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1520" y="642594"/>
            <a:ext cx="7680960" cy="805206"/>
          </a:xfrm>
        </p:spPr>
        <p:txBody>
          <a:bodyPr>
            <a:normAutofit fontScale="90000"/>
          </a:bodyPr>
          <a:lstStyle/>
          <a:p>
            <a:r>
              <a:rPr lang="en-US" dirty="0"/>
              <a:t>Current Situation in Dhaka City</a:t>
            </a:r>
          </a:p>
        </p:txBody>
      </p:sp>
      <p:sp>
        <p:nvSpPr>
          <p:cNvPr id="3" name="Content Placeholder 2"/>
          <p:cNvSpPr>
            <a:spLocks noGrp="1"/>
          </p:cNvSpPr>
          <p:nvPr>
            <p:ph idx="1"/>
          </p:nvPr>
        </p:nvSpPr>
        <p:spPr>
          <a:xfrm>
            <a:off x="228600" y="1600200"/>
            <a:ext cx="8610600" cy="4343400"/>
          </a:xfrm>
        </p:spPr>
        <p:txBody>
          <a:bodyPr>
            <a:noAutofit/>
          </a:bodyPr>
          <a:lstStyle/>
          <a:p>
            <a:r>
              <a:rPr lang="en-US" sz="2000" dirty="0"/>
              <a:t>NGOs, community and working on door to door collection, motivation and cleaning of roads &amp; drains.</a:t>
            </a:r>
          </a:p>
          <a:p>
            <a:r>
              <a:rPr lang="en-US" sz="2000" dirty="0"/>
              <a:t>DCC collects wastes from secondary transfer points</a:t>
            </a:r>
          </a:p>
          <a:p>
            <a:r>
              <a:rPr lang="en-US" sz="2000" dirty="0"/>
              <a:t>DCC also responsible to change waste containers on specific locations</a:t>
            </a:r>
          </a:p>
          <a:p>
            <a:r>
              <a:rPr lang="en-US" sz="2000" dirty="0"/>
              <a:t>DCC encourages all the CBOs and NGOs to go for Solid Waste recycling and composting with own initiatives.</a:t>
            </a:r>
          </a:p>
          <a:p>
            <a:r>
              <a:rPr lang="en-US" sz="2000" dirty="0"/>
              <a:t>DCC has floated tender for Solid Waste Management through Private Sector Participation in two zones in the city.</a:t>
            </a:r>
          </a:p>
          <a:p>
            <a:r>
              <a:rPr lang="en-US" sz="2000" dirty="0"/>
              <a:t>Prepared first master plan with the cooperation of JICA in 2005 known as ‘Green Dhaka Clean Dhaka Plan’’ </a:t>
            </a:r>
          </a:p>
        </p:txBody>
      </p:sp>
    </p:spTree>
    <p:extLst>
      <p:ext uri="{BB962C8B-B14F-4D97-AF65-F5344CB8AC3E}">
        <p14:creationId xmlns:p14="http://schemas.microsoft.com/office/powerpoint/2010/main" val="226389514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CHALLENGES</a:t>
            </a:r>
          </a:p>
        </p:txBody>
      </p:sp>
      <p:sp>
        <p:nvSpPr>
          <p:cNvPr id="3" name="Content Placeholder 2"/>
          <p:cNvSpPr>
            <a:spLocks noGrp="1"/>
          </p:cNvSpPr>
          <p:nvPr>
            <p:ph idx="1"/>
          </p:nvPr>
        </p:nvSpPr>
        <p:spPr/>
        <p:txBody>
          <a:bodyPr>
            <a:normAutofit/>
          </a:bodyPr>
          <a:lstStyle/>
          <a:p>
            <a:pPr marL="0" indent="0">
              <a:buNone/>
            </a:pPr>
            <a:r>
              <a:rPr lang="en-US" sz="2400" dirty="0"/>
              <a:t>• Large number of population and a large quantity of waste generation</a:t>
            </a:r>
          </a:p>
          <a:p>
            <a:pPr>
              <a:buFont typeface="Arial" panose="020B0604020202020204" pitchFamily="34" charset="0"/>
              <a:buChar char="•"/>
            </a:pPr>
            <a:r>
              <a:rPr lang="en-US" sz="2400" dirty="0"/>
              <a:t>Lack of Public Awareness </a:t>
            </a:r>
          </a:p>
          <a:p>
            <a:pPr marL="0" indent="0">
              <a:buNone/>
            </a:pPr>
            <a:r>
              <a:rPr lang="en-US" sz="2400" dirty="0"/>
              <a:t>• Inefficient Primary Collection System</a:t>
            </a:r>
          </a:p>
          <a:p>
            <a:pPr marL="0" indent="0">
              <a:buNone/>
            </a:pPr>
            <a:r>
              <a:rPr lang="en-US" sz="2400" dirty="0"/>
              <a:t> • Shortage of Secondary Transfer Station</a:t>
            </a:r>
          </a:p>
          <a:p>
            <a:pPr marL="0" indent="0">
              <a:buNone/>
            </a:pPr>
            <a:r>
              <a:rPr lang="en-US" sz="2400" dirty="0"/>
              <a:t> • No formal Segregation of Waste</a:t>
            </a:r>
          </a:p>
          <a:p>
            <a:pPr marL="0" indent="0">
              <a:buNone/>
            </a:pPr>
            <a:r>
              <a:rPr lang="en-US" sz="2400" dirty="0"/>
              <a:t> • No Intermediate Treatment facilities</a:t>
            </a:r>
          </a:p>
          <a:p>
            <a:pPr marL="0" indent="0">
              <a:buNone/>
            </a:pPr>
            <a:r>
              <a:rPr lang="en-US" sz="2400" dirty="0"/>
              <a:t> • Shortage of manpower Landfill Management</a:t>
            </a:r>
          </a:p>
        </p:txBody>
      </p:sp>
    </p:spTree>
    <p:extLst>
      <p:ext uri="{BB962C8B-B14F-4D97-AF65-F5344CB8AC3E}">
        <p14:creationId xmlns:p14="http://schemas.microsoft.com/office/powerpoint/2010/main" val="22397842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Future Plans</a:t>
            </a:r>
          </a:p>
        </p:txBody>
      </p:sp>
      <p:sp>
        <p:nvSpPr>
          <p:cNvPr id="3" name="Content Placeholder 2"/>
          <p:cNvSpPr>
            <a:spLocks noGrp="1"/>
          </p:cNvSpPr>
          <p:nvPr>
            <p:ph idx="1"/>
          </p:nvPr>
        </p:nvSpPr>
        <p:spPr/>
        <p:txBody>
          <a:bodyPr>
            <a:normAutofit lnSpcReduction="10000"/>
          </a:bodyPr>
          <a:lstStyle/>
          <a:p>
            <a:r>
              <a:rPr lang="en-US" sz="2400" dirty="0"/>
              <a:t>Approval and execution of second waste management master plan for Dhaka City</a:t>
            </a:r>
          </a:p>
          <a:p>
            <a:r>
              <a:rPr lang="en-US" sz="2400" dirty="0"/>
              <a:t>Increase of public awareness</a:t>
            </a:r>
          </a:p>
          <a:p>
            <a:r>
              <a:rPr lang="en-US" sz="2400" dirty="0"/>
              <a:t>Proper segregation of waste</a:t>
            </a:r>
          </a:p>
          <a:p>
            <a:r>
              <a:rPr lang="en-US" sz="2400" dirty="0"/>
              <a:t>Setting up hubs for secondary waste collection throughout the city</a:t>
            </a:r>
          </a:p>
          <a:p>
            <a:r>
              <a:rPr lang="en-US" sz="2400" dirty="0"/>
              <a:t>The induction of incineration plant at </a:t>
            </a:r>
            <a:r>
              <a:rPr lang="en-US" sz="2400" dirty="0" err="1"/>
              <a:t>Aminbazar</a:t>
            </a:r>
            <a:r>
              <a:rPr lang="en-US" sz="2400" dirty="0"/>
              <a:t> Landfill.</a:t>
            </a:r>
          </a:p>
          <a:p>
            <a:r>
              <a:rPr lang="en-US" sz="2400" dirty="0"/>
              <a:t> Eco-Town for </a:t>
            </a:r>
            <a:r>
              <a:rPr lang="en-US" sz="2400" dirty="0" err="1"/>
              <a:t>Nasirabad</a:t>
            </a:r>
            <a:r>
              <a:rPr lang="en-US" sz="2400" dirty="0"/>
              <a:t> Landfill</a:t>
            </a:r>
          </a:p>
          <a:p>
            <a:endParaRPr lang="en-US" sz="2400" dirty="0"/>
          </a:p>
        </p:txBody>
      </p:sp>
    </p:spTree>
    <p:extLst>
      <p:ext uri="{BB962C8B-B14F-4D97-AF65-F5344CB8AC3E}">
        <p14:creationId xmlns:p14="http://schemas.microsoft.com/office/powerpoint/2010/main" val="6605209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457200" y="685800"/>
            <a:ext cx="8229600" cy="5257800"/>
          </a:xfrm>
          <a:prstGeom prst="rect">
            <a:avLst/>
          </a:prstGeom>
        </p:spPr>
      </p:pic>
    </p:spTree>
    <p:extLst>
      <p:ext uri="{BB962C8B-B14F-4D97-AF65-F5344CB8AC3E}">
        <p14:creationId xmlns:p14="http://schemas.microsoft.com/office/powerpoint/2010/main" val="39510132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xmlns="" id="{DFEC9697-69A5-43AB-B38E-FB40B0774795}"/>
              </a:ext>
            </a:extLst>
          </p:cNvPr>
          <p:cNvSpPr/>
          <p:nvPr/>
        </p:nvSpPr>
        <p:spPr>
          <a:xfrm>
            <a:off x="2756631" y="2967335"/>
            <a:ext cx="3630738" cy="923330"/>
          </a:xfrm>
          <a:prstGeom prst="rect">
            <a:avLst/>
          </a:prstGeom>
          <a:noFill/>
        </p:spPr>
        <p:txBody>
          <a:bodyPr wrap="none" lIns="91440" tIns="45720" rIns="91440" bIns="45720">
            <a:spAutoFit/>
          </a:bodyPr>
          <a:lstStyle/>
          <a:p>
            <a:pPr algn="ctr"/>
            <a:r>
              <a:rPr lang="en-US"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THANK YOU</a:t>
            </a:r>
          </a:p>
        </p:txBody>
      </p:sp>
    </p:spTree>
    <p:custDataLst>
      <p:tags r:id="rId1"/>
    </p:custDataLst>
    <p:extLst>
      <p:ext uri="{BB962C8B-B14F-4D97-AF65-F5344CB8AC3E}">
        <p14:creationId xmlns:p14="http://schemas.microsoft.com/office/powerpoint/2010/main" val="41867620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ags/tag1.xml><?xml version="1.0" encoding="utf-8"?>
<p:tagLst xmlns:a="http://schemas.openxmlformats.org/drawingml/2006/main" xmlns:r="http://schemas.openxmlformats.org/officeDocument/2006/relationships" xmlns:p="http://schemas.openxmlformats.org/presentationml/2006/main">
  <p:tag name="TIMING" val="|3.3"/>
</p:tagLst>
</file>

<file path=ppt/tags/tag2.xml><?xml version="1.0" encoding="utf-8"?>
<p:tagLst xmlns:a="http://schemas.openxmlformats.org/drawingml/2006/main" xmlns:r="http://schemas.openxmlformats.org/officeDocument/2006/relationships" xmlns:p="http://schemas.openxmlformats.org/presentationml/2006/main">
  <p:tag name="TIMING" val="|0.7|40.7|2.1|3|8.8|4.6"/>
</p:tagLst>
</file>

<file path=ppt/tags/tag3.xml><?xml version="1.0" encoding="utf-8"?>
<p:tagLst xmlns:a="http://schemas.openxmlformats.org/drawingml/2006/main" xmlns:r="http://schemas.openxmlformats.org/officeDocument/2006/relationships" xmlns:p="http://schemas.openxmlformats.org/presentationml/2006/main">
  <p:tag name="TIMING" val="|0.6"/>
</p:tagLst>
</file>

<file path=ppt/tags/tag4.xml><?xml version="1.0" encoding="utf-8"?>
<p:tagLst xmlns:a="http://schemas.openxmlformats.org/drawingml/2006/main" xmlns:r="http://schemas.openxmlformats.org/officeDocument/2006/relationships" xmlns:p="http://schemas.openxmlformats.org/presentationml/2006/main">
  <p:tag name="TIMING" val="|0.5|2.8|2.7|9.1|25.1"/>
</p:tagLst>
</file>

<file path=ppt/tags/tag5.xml><?xml version="1.0" encoding="utf-8"?>
<p:tagLst xmlns:a="http://schemas.openxmlformats.org/drawingml/2006/main" xmlns:r="http://schemas.openxmlformats.org/officeDocument/2006/relationships" xmlns:p="http://schemas.openxmlformats.org/presentationml/2006/main">
  <p:tag name="TIMING" val="|0.7|1.6"/>
</p:tagLst>
</file>

<file path=ppt/tags/tag6.xml><?xml version="1.0" encoding="utf-8"?>
<p:tagLst xmlns:a="http://schemas.openxmlformats.org/drawingml/2006/main" xmlns:r="http://schemas.openxmlformats.org/officeDocument/2006/relationships" xmlns:p="http://schemas.openxmlformats.org/presentationml/2006/main">
  <p:tag name="TIMING" val="|0.6|5.4|7.2|7.4"/>
</p:tagLst>
</file>

<file path=ppt/tags/tag7.xml><?xml version="1.0" encoding="utf-8"?>
<p:tagLst xmlns:a="http://schemas.openxmlformats.org/drawingml/2006/main" xmlns:r="http://schemas.openxmlformats.org/officeDocument/2006/relationships" xmlns:p="http://schemas.openxmlformats.org/presentationml/2006/main">
  <p:tag name="TIMING" val="|0.9|2.8|72.6"/>
</p:tagLst>
</file>

<file path=ppt/tags/tag8.xml><?xml version="1.0" encoding="utf-8"?>
<p:tagLst xmlns:a="http://schemas.openxmlformats.org/drawingml/2006/main" xmlns:r="http://schemas.openxmlformats.org/officeDocument/2006/relationships" xmlns:p="http://schemas.openxmlformats.org/presentationml/2006/main">
  <p:tag name="TIMING" val="|0.9"/>
</p:tagLst>
</file>

<file path=ppt/tags/tag9.xml><?xml version="1.0" encoding="utf-8"?>
<p:tagLst xmlns:a="http://schemas.openxmlformats.org/drawingml/2006/main" xmlns:r="http://schemas.openxmlformats.org/officeDocument/2006/relationships" xmlns:p="http://schemas.openxmlformats.org/presentationml/2006/main">
  <p:tag name="TIMING" val="|2|2.6|30.9"/>
</p:tagLst>
</file>

<file path=ppt/tags/tag10.xml><?xml version="1.0" encoding="utf-8"?>
<p:tagLst xmlns:a="http://schemas.openxmlformats.org/drawingml/2006/main" xmlns:r="http://schemas.openxmlformats.org/officeDocument/2006/relationships" xmlns:p="http://schemas.openxmlformats.org/presentationml/2006/main">
  <p:tag name="TIMING" val="|0.7|11.8|1.4"/>
</p:tagLst>
</file>

<file path=ppt/tags/tag11.xml><?xml version="1.0" encoding="utf-8"?>
<p:tagLst xmlns:a="http://schemas.openxmlformats.org/drawingml/2006/main" xmlns:r="http://schemas.openxmlformats.org/officeDocument/2006/relationships" xmlns:p="http://schemas.openxmlformats.org/presentationml/2006/main">
  <p:tag name="TIMING" val="|0.4"/>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Savon">
      <a:dk1>
        <a:sysClr val="windowText" lastClr="000000"/>
      </a:dk1>
      <a:lt1>
        <a:sysClr val="window" lastClr="FFFFFF"/>
      </a:lt1>
      <a:dk2>
        <a:srgbClr val="1485A4"/>
      </a:dk2>
      <a:lt2>
        <a:srgbClr val="E3DED1"/>
      </a:lt2>
      <a:accent1>
        <a:srgbClr val="1CADE4"/>
      </a:accent1>
      <a:accent2>
        <a:srgbClr val="2683C6"/>
      </a:accent2>
      <a:accent3>
        <a:srgbClr val="27CED7"/>
      </a:accent3>
      <a:accent4>
        <a:srgbClr val="42BA97"/>
      </a:accent4>
      <a:accent5>
        <a:srgbClr val="3E8853"/>
      </a:accent5>
      <a:accent6>
        <a:srgbClr val="62A39F"/>
      </a:accent6>
      <a:hlink>
        <a:srgbClr val="F49100"/>
      </a:hlink>
      <a:folHlink>
        <a:srgbClr val="739D9B"/>
      </a:folHlink>
    </a:clrScheme>
    <a:fontScheme name="Savon">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90000"/>
                <a:shade val="92000"/>
                <a:satMod val="160000"/>
              </a:schemeClr>
            </a:gs>
            <a:gs pos="77000">
              <a:schemeClr val="phClr">
                <a:tint val="100000"/>
                <a:shade val="73000"/>
                <a:satMod val="155000"/>
              </a:schemeClr>
            </a:gs>
            <a:gs pos="100000">
              <a:schemeClr val="phClr">
                <a:tint val="100000"/>
                <a:shade val="67000"/>
                <a:satMod val="145000"/>
              </a:schemeClr>
            </a:gs>
          </a:gsLst>
          <a:lin ang="5400000" scaled="0"/>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C20BADFE-D095-436F-9677-9264042809F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TM03457510[[fn=Savon]]</Template>
  <TotalTime>15764</TotalTime>
  <Words>950</Words>
  <Application>Microsoft Office PowerPoint</Application>
  <PresentationFormat>On-screen Show (4:3)</PresentationFormat>
  <Paragraphs>113</Paragraphs>
  <Slides>28</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28</vt:i4>
      </vt:variant>
    </vt:vector>
  </HeadingPairs>
  <TitlesOfParts>
    <vt:vector size="36" baseType="lpstr">
      <vt:lpstr>Arial</vt:lpstr>
      <vt:lpstr>Calibri</vt:lpstr>
      <vt:lpstr>Century Gothic</vt:lpstr>
      <vt:lpstr>Garamond</vt:lpstr>
      <vt:lpstr>Times New Roman</vt:lpstr>
      <vt:lpstr>Wingdings</vt:lpstr>
      <vt:lpstr>Wingdings 2</vt:lpstr>
      <vt:lpstr>Savon</vt:lpstr>
      <vt:lpstr>PowerPoint Presentation</vt:lpstr>
      <vt:lpstr>PowerPoint Presentation</vt:lpstr>
      <vt:lpstr>Types of Waste</vt:lpstr>
      <vt:lpstr>PowerPoint Presentation</vt:lpstr>
      <vt:lpstr>Waste Management concepts</vt:lpstr>
      <vt:lpstr>PowerPoint Presentation</vt:lpstr>
      <vt:lpstr>Reuse </vt:lpstr>
      <vt:lpstr>Reduce </vt:lpstr>
      <vt:lpstr>Recycle </vt:lpstr>
      <vt:lpstr>Industrial Waste Minimization </vt:lpstr>
      <vt:lpstr>PowerPoint Presentation</vt:lpstr>
      <vt:lpstr>Common methods of managing waste</vt:lpstr>
      <vt:lpstr>PowerPoint Presentation</vt:lpstr>
      <vt:lpstr>PowerPoint Presentation</vt:lpstr>
      <vt:lpstr> </vt:lpstr>
      <vt:lpstr>PowerPoint Presentation</vt:lpstr>
      <vt:lpstr>PowerPoint Presentation</vt:lpstr>
      <vt:lpstr>PowerPoint Presentation</vt:lpstr>
      <vt:lpstr>PowerPoint Presentation</vt:lpstr>
      <vt:lpstr>PowerPoint Presentation</vt:lpstr>
      <vt:lpstr>Waste generation in Dhaka City</vt:lpstr>
      <vt:lpstr>Locations of landfill site  (DNCC and DSCC)</vt:lpstr>
      <vt:lpstr>Composition of waste at Dhaka City</vt:lpstr>
      <vt:lpstr>Current Situation in Dhaka City</vt:lpstr>
      <vt:lpstr>CHALLENGES</vt:lpstr>
      <vt:lpstr>Future Plans</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Mohammad Mehedi Hasan</dc:creator>
  <cp:lastModifiedBy>Microsoft account</cp:lastModifiedBy>
  <cp:revision>187</cp:revision>
  <dcterms:created xsi:type="dcterms:W3CDTF">2020-07-14T14:58:22Z</dcterms:created>
  <dcterms:modified xsi:type="dcterms:W3CDTF">2021-08-04T19:56:53Z</dcterms:modified>
</cp:coreProperties>
</file>