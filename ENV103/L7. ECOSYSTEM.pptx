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6" r:id="rId1"/>
  </p:sldMasterIdLst>
  <p:notesMasterIdLst>
    <p:notesMasterId r:id="rId25"/>
  </p:notesMasterIdLst>
  <p:handoutMasterIdLst>
    <p:handoutMasterId r:id="rId26"/>
  </p:handoutMasterIdLst>
  <p:sldIdLst>
    <p:sldId id="264" r:id="rId2"/>
    <p:sldId id="301" r:id="rId3"/>
    <p:sldId id="307" r:id="rId4"/>
    <p:sldId id="312" r:id="rId5"/>
    <p:sldId id="302" r:id="rId6"/>
    <p:sldId id="303" r:id="rId7"/>
    <p:sldId id="278" r:id="rId8"/>
    <p:sldId id="308" r:id="rId9"/>
    <p:sldId id="309" r:id="rId10"/>
    <p:sldId id="310" r:id="rId11"/>
    <p:sldId id="282" r:id="rId12"/>
    <p:sldId id="304" r:id="rId13"/>
    <p:sldId id="260" r:id="rId14"/>
    <p:sldId id="281" r:id="rId15"/>
    <p:sldId id="313" r:id="rId16"/>
    <p:sldId id="305" r:id="rId17"/>
    <p:sldId id="311" r:id="rId18"/>
    <p:sldId id="306" r:id="rId19"/>
    <p:sldId id="314" r:id="rId20"/>
    <p:sldId id="286" r:id="rId21"/>
    <p:sldId id="315" r:id="rId22"/>
    <p:sldId id="294" r:id="rId23"/>
    <p:sldId id="298" r:id="rId24"/>
  </p:sldIdLst>
  <p:sldSz cx="9144000" cy="6858000" type="screen4x3"/>
  <p:notesSz cx="6881813"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180" y="-2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97313" y="0"/>
            <a:ext cx="2982912" cy="465138"/>
          </a:xfrm>
          <a:prstGeom prst="rect">
            <a:avLst/>
          </a:prstGeom>
        </p:spPr>
        <p:txBody>
          <a:bodyPr vert="horz" lIns="91440" tIns="45720" rIns="91440" bIns="45720" rtlCol="0"/>
          <a:lstStyle>
            <a:lvl1pPr algn="r">
              <a:defRPr sz="1200"/>
            </a:lvl1pPr>
          </a:lstStyle>
          <a:p>
            <a:fld id="{C8ECF0FB-799B-46EA-A835-C9D7C2C4F312}" type="datetimeFigureOut">
              <a:rPr lang="en-US" smtClean="0"/>
              <a:pPr/>
              <a:t>2/23/2022</a:t>
            </a:fld>
            <a:endParaRPr lang="en-US"/>
          </a:p>
        </p:txBody>
      </p:sp>
      <p:sp>
        <p:nvSpPr>
          <p:cNvPr id="4" name="Footer Placeholder 3"/>
          <p:cNvSpPr>
            <a:spLocks noGrp="1"/>
          </p:cNvSpPr>
          <p:nvPr>
            <p:ph type="ftr" sz="quarter" idx="2"/>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97313" y="8829675"/>
            <a:ext cx="2982912" cy="465138"/>
          </a:xfrm>
          <a:prstGeom prst="rect">
            <a:avLst/>
          </a:prstGeom>
        </p:spPr>
        <p:txBody>
          <a:bodyPr vert="horz" lIns="91440" tIns="45720" rIns="91440" bIns="45720" rtlCol="0" anchor="b"/>
          <a:lstStyle>
            <a:lvl1pPr algn="r">
              <a:defRPr sz="1200"/>
            </a:lvl1pPr>
          </a:lstStyle>
          <a:p>
            <a:fld id="{A7BA0443-C80F-4595-B112-8B8C0A3F7E0B}" type="slidenum">
              <a:rPr lang="en-US" smtClean="0"/>
              <a:pPr/>
              <a:t>‹#›</a:t>
            </a:fld>
            <a:endParaRPr lang="en-US"/>
          </a:p>
        </p:txBody>
      </p:sp>
    </p:spTree>
    <p:extLst>
      <p:ext uri="{BB962C8B-B14F-4D97-AF65-F5344CB8AC3E}">
        <p14:creationId xmlns:p14="http://schemas.microsoft.com/office/powerpoint/2010/main" val="67661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2913"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97313" y="0"/>
            <a:ext cx="2982912" cy="465138"/>
          </a:xfrm>
          <a:prstGeom prst="rect">
            <a:avLst/>
          </a:prstGeom>
        </p:spPr>
        <p:txBody>
          <a:bodyPr vert="horz" lIns="91440" tIns="45720" rIns="91440" bIns="45720" rtlCol="0"/>
          <a:lstStyle>
            <a:lvl1pPr algn="r">
              <a:defRPr sz="1200"/>
            </a:lvl1pPr>
          </a:lstStyle>
          <a:p>
            <a:fld id="{43A56063-5998-4D81-8820-D47268AFD437}" type="datetimeFigureOut">
              <a:rPr lang="en-US" smtClean="0"/>
              <a:pPr/>
              <a:t>2/23/2022</a:t>
            </a:fld>
            <a:endParaRPr lang="en-US"/>
          </a:p>
        </p:txBody>
      </p:sp>
      <p:sp>
        <p:nvSpPr>
          <p:cNvPr id="4" name="Slide Image Placeholder 3"/>
          <p:cNvSpPr>
            <a:spLocks noGrp="1" noRot="1" noChangeAspect="1"/>
          </p:cNvSpPr>
          <p:nvPr>
            <p:ph type="sldImg" idx="2"/>
          </p:nvPr>
        </p:nvSpPr>
        <p:spPr>
          <a:xfrm>
            <a:off x="1117600" y="696913"/>
            <a:ext cx="4648200" cy="34861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8975" y="4416425"/>
            <a:ext cx="5505450" cy="41830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2982913" cy="4651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97313" y="8829675"/>
            <a:ext cx="2982912" cy="465138"/>
          </a:xfrm>
          <a:prstGeom prst="rect">
            <a:avLst/>
          </a:prstGeom>
        </p:spPr>
        <p:txBody>
          <a:bodyPr vert="horz" lIns="91440" tIns="45720" rIns="91440" bIns="45720" rtlCol="0" anchor="b"/>
          <a:lstStyle>
            <a:lvl1pPr algn="r">
              <a:defRPr sz="1200"/>
            </a:lvl1pPr>
          </a:lstStyle>
          <a:p>
            <a:fld id="{AC87D4BA-5DC1-4F07-B729-34A8B475F75B}" type="slidenum">
              <a:rPr lang="en-US" smtClean="0"/>
              <a:pPr/>
              <a:t>‹#›</a:t>
            </a:fld>
            <a:endParaRPr lang="en-US"/>
          </a:p>
        </p:txBody>
      </p:sp>
    </p:spTree>
    <p:extLst>
      <p:ext uri="{BB962C8B-B14F-4D97-AF65-F5344CB8AC3E}">
        <p14:creationId xmlns:p14="http://schemas.microsoft.com/office/powerpoint/2010/main" val="2448748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C87D4BA-5DC1-4F07-B729-34A8B475F75B}" type="slidenum">
              <a:rPr lang="en-US" smtClean="0"/>
              <a:pPr/>
              <a:t>1</a:t>
            </a:fld>
            <a:endParaRPr lang="en-US"/>
          </a:p>
        </p:txBody>
      </p:sp>
    </p:spTree>
    <p:extLst>
      <p:ext uri="{BB962C8B-B14F-4D97-AF65-F5344CB8AC3E}">
        <p14:creationId xmlns:p14="http://schemas.microsoft.com/office/powerpoint/2010/main" val="3972443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4FC37F01-3414-42AE-9FA2-7C6D27DFBE8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778F38B-5AE3-4E73-83CE-FB117CA763DC}" type="slidenum">
              <a:rPr lang="en-GB" altLang="en-US"/>
              <a:pPr>
                <a:spcBef>
                  <a:spcPct val="0"/>
                </a:spcBef>
              </a:pPr>
              <a:t>13</a:t>
            </a:fld>
            <a:endParaRPr lang="en-GB" altLang="en-US"/>
          </a:p>
        </p:txBody>
      </p:sp>
      <p:sp>
        <p:nvSpPr>
          <p:cNvPr id="19459" name="Rectangle 2">
            <a:extLst>
              <a:ext uri="{FF2B5EF4-FFF2-40B4-BE49-F238E27FC236}">
                <a16:creationId xmlns:a16="http://schemas.microsoft.com/office/drawing/2014/main" id="{7F07F608-B18F-4983-A3F0-F1CDD7C23982}"/>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0AC38ECB-7303-4588-A90E-F9BCE2CE33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a:xfrm>
            <a:off x="3623733" y="6117336"/>
            <a:ext cx="3609438" cy="365125"/>
          </a:xfrm>
        </p:spPr>
        <p:txBody>
          <a:bodyPr/>
          <a:lstStyle/>
          <a:p>
            <a:endParaRPr lang="en-US"/>
          </a:p>
        </p:txBody>
      </p:sp>
      <p:sp>
        <p:nvSpPr>
          <p:cNvPr id="6" name="Slide Number Placeholder 5"/>
          <p:cNvSpPr>
            <a:spLocks noGrp="1"/>
          </p:cNvSpPr>
          <p:nvPr>
            <p:ph type="sldNum" sz="quarter" idx="12"/>
          </p:nvPr>
        </p:nvSpPr>
        <p:spPr>
          <a:xfrm>
            <a:off x="8275320" y="6117336"/>
            <a:ext cx="411480" cy="365125"/>
          </a:xfrm>
        </p:spPr>
        <p:txBody>
          <a:bodyPr/>
          <a:lstStyle/>
          <a:p>
            <a:fld id="{B6F15528-21DE-4FAA-801E-634DDDAF4B2B}" type="slidenum">
              <a:rPr lang="en-US" smtClean="0"/>
              <a:pPr/>
              <a:t>‹#›</a:t>
            </a:fld>
            <a:endParaRPr lang="en-US"/>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3558786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a:xfrm>
            <a:off x="1972647" y="6108173"/>
            <a:ext cx="5314517" cy="365125"/>
          </a:xfrm>
        </p:spPr>
        <p:txBody>
          <a:bodyPr/>
          <a:lstStyle/>
          <a:p>
            <a:endParaRPr lang="en-US"/>
          </a:p>
        </p:txBody>
      </p:sp>
      <p:sp>
        <p:nvSpPr>
          <p:cNvPr id="6" name="Slide Number Placeholder 5"/>
          <p:cNvSpPr>
            <a:spLocks noGrp="1"/>
          </p:cNvSpPr>
          <p:nvPr>
            <p:ph type="sldNum" sz="quarter" idx="12"/>
          </p:nvPr>
        </p:nvSpPr>
        <p:spPr>
          <a:xfrm>
            <a:off x="8258967" y="6108173"/>
            <a:ext cx="427833" cy="365125"/>
          </a:xfrm>
        </p:spPr>
        <p:txBody>
          <a:bodyPr/>
          <a:lstStyle/>
          <a:p>
            <a:fld id="{B6F15528-21DE-4FAA-801E-634DDDAF4B2B}" type="slidenum">
              <a:rPr lang="en-US" smtClean="0"/>
              <a:pPr/>
              <a:t>‹#›</a:t>
            </a:fld>
            <a:endParaRPr lang="en-US"/>
          </a:p>
        </p:txBody>
      </p:sp>
      <p:pic>
        <p:nvPicPr>
          <p:cNvPr id="8" name="Picture 7" descr="A picture containing drawing, shirt&#10;&#10;Description automatically generated">
            <a:extLst>
              <a:ext uri="{FF2B5EF4-FFF2-40B4-BE49-F238E27FC236}">
                <a16:creationId xmlns:a16="http://schemas.microsoft.com/office/drawing/2014/main" id="{0F306AE3-F028-4200-B8D2-2C8359AA759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050" y="5981700"/>
            <a:ext cx="876300" cy="876300"/>
          </a:xfrm>
          <a:prstGeom prst="rect">
            <a:avLst/>
          </a:prstGeom>
        </p:spPr>
      </p:pic>
      <p:sp>
        <p:nvSpPr>
          <p:cNvPr id="9" name="TextBox 8">
            <a:extLst>
              <a:ext uri="{FF2B5EF4-FFF2-40B4-BE49-F238E27FC236}">
                <a16:creationId xmlns:a16="http://schemas.microsoft.com/office/drawing/2014/main" id="{7A9FCBA1-3AA0-420E-91C7-1BFEE49F484A}"/>
              </a:ext>
            </a:extLst>
          </p:cNvPr>
          <p:cNvSpPr txBox="1"/>
          <p:nvPr userDrawn="1"/>
        </p:nvSpPr>
        <p:spPr>
          <a:xfrm>
            <a:off x="8001000" y="76200"/>
            <a:ext cx="1066800" cy="381000"/>
          </a:xfrm>
          <a:prstGeom prst="rect">
            <a:avLst/>
          </a:prstGeom>
          <a:effectLst>
            <a:glow rad="635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b="1" dirty="0"/>
              <a:t>ENV-103</a:t>
            </a:r>
          </a:p>
        </p:txBody>
      </p:sp>
    </p:spTree>
    <p:extLst>
      <p:ext uri="{BB962C8B-B14F-4D97-AF65-F5344CB8AC3E}">
        <p14:creationId xmlns:p14="http://schemas.microsoft.com/office/powerpoint/2010/main" val="1844462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273317" y="6116070"/>
            <a:ext cx="413483" cy="365125"/>
          </a:xfrm>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6915798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1606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2/23/2022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132615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2/23/2022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55310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75598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16720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2/23/2022</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05952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22941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78453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70996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67437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983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28133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43406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2/23/2022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05062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D8BD707-D9CF-40AE-B4C6-C98DA3205C09}" type="datetimeFigureOut">
              <a:rPr lang="en-US" smtClean="0"/>
              <a:pPr/>
              <a:t>2/23/2022</a:t>
            </a:fld>
            <a:endParaRPr lang="en-US"/>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1420480779"/>
      </p:ext>
    </p:extLst>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 id="2147483828" r:id="rId12"/>
    <p:sldLayoutId id="2147483829" r:id="rId13"/>
    <p:sldLayoutId id="2147483830" r:id="rId14"/>
    <p:sldLayoutId id="2147483831" r:id="rId15"/>
    <p:sldLayoutId id="2147483832" r:id="rId16"/>
    <p:sldLayoutId id="214748383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grpSp>
        <p:nvGrpSpPr>
          <p:cNvPr id="79" name="Group 46">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09576" y="-4763"/>
            <a:ext cx="3761187" cy="6862763"/>
            <a:chOff x="2928938" y="-4763"/>
            <a:chExt cx="5014912" cy="6862763"/>
          </a:xfrm>
        </p:grpSpPr>
        <p:sp>
          <p:nvSpPr>
            <p:cNvPr id="48"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49"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50"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51"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52"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53"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80" name="Rectangle 54">
            <a:extLst>
              <a:ext uri="{FF2B5EF4-FFF2-40B4-BE49-F238E27FC236}">
                <a16:creationId xmlns:a16="http://schemas.microsoft.com/office/drawing/2014/main" id="{9CD9ACDE-8038-488C-AB0C-5FD1A373C8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DA6C2449-5F66-4753-AAA3-4AD81E57A0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554794" cy="6858000"/>
          </a:xfrm>
          <a:prstGeom prst="rect">
            <a:avLst/>
          </a:pr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grpSp>
        <p:nvGrpSpPr>
          <p:cNvPr id="59" name="Group 58">
            <a:extLst>
              <a:ext uri="{FF2B5EF4-FFF2-40B4-BE49-F238E27FC236}">
                <a16:creationId xmlns:a16="http://schemas.microsoft.com/office/drawing/2014/main" id="{329F7DAB-18F4-436A-A0D8-61013DEB6F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6068" y="1"/>
            <a:ext cx="2443597" cy="6858000"/>
            <a:chOff x="141424" y="1"/>
            <a:chExt cx="3258129" cy="6858000"/>
          </a:xfrm>
        </p:grpSpPr>
        <p:sp>
          <p:nvSpPr>
            <p:cNvPr id="60" name="Freeform 6">
              <a:extLst>
                <a:ext uri="{FF2B5EF4-FFF2-40B4-BE49-F238E27FC236}">
                  <a16:creationId xmlns:a16="http://schemas.microsoft.com/office/drawing/2014/main" id="{AA2A446D-5444-4251-A0C1-1C33937BB1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5233" y="1"/>
              <a:ext cx="858884" cy="2780957"/>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lumMod val="75000"/>
              </a:schemeClr>
            </a:solidFill>
            <a:ln>
              <a:noFill/>
            </a:ln>
          </p:spPr>
        </p:sp>
        <p:sp>
          <p:nvSpPr>
            <p:cNvPr id="61" name="Freeform 7">
              <a:extLst>
                <a:ext uri="{FF2B5EF4-FFF2-40B4-BE49-F238E27FC236}">
                  <a16:creationId xmlns:a16="http://schemas.microsoft.com/office/drawing/2014/main" id="{E013EF53-9F7F-40D2-9E88-917DCF6430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1"/>
              <a:ext cx="835810" cy="2671495"/>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rgbClr val="595959"/>
            </a:solidFill>
            <a:ln>
              <a:noFill/>
            </a:ln>
          </p:spPr>
        </p:sp>
        <p:sp>
          <p:nvSpPr>
            <p:cNvPr id="62" name="Freeform 12">
              <a:extLst>
                <a:ext uri="{FF2B5EF4-FFF2-40B4-BE49-F238E27FC236}">
                  <a16:creationId xmlns:a16="http://schemas.microsoft.com/office/drawing/2014/main" id="{210AE139-2815-4F3D-A56C-2608DB3D7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2585830"/>
              <a:ext cx="2175413" cy="4272171"/>
            </a:xfrm>
            <a:custGeom>
              <a:avLst/>
              <a:gdLst/>
              <a:ahLst/>
              <a:cxnLst/>
              <a:rect l="0" t="0" r="r" b="b"/>
              <a:pathLst>
                <a:path w="1697" h="2693">
                  <a:moveTo>
                    <a:pt x="0" y="0"/>
                  </a:moveTo>
                  <a:lnTo>
                    <a:pt x="1622" y="2693"/>
                  </a:lnTo>
                  <a:lnTo>
                    <a:pt x="1697" y="2693"/>
                  </a:lnTo>
                  <a:lnTo>
                    <a:pt x="0" y="0"/>
                  </a:lnTo>
                  <a:close/>
                </a:path>
              </a:pathLst>
            </a:custGeom>
            <a:solidFill>
              <a:srgbClr val="262626"/>
            </a:solidFill>
            <a:ln>
              <a:noFill/>
            </a:ln>
          </p:spPr>
        </p:sp>
        <p:sp>
          <p:nvSpPr>
            <p:cNvPr id="63" name="Freeform 13">
              <a:extLst>
                <a:ext uri="{FF2B5EF4-FFF2-40B4-BE49-F238E27FC236}">
                  <a16:creationId xmlns:a16="http://schemas.microsoft.com/office/drawing/2014/main" id="{7C52B438-B53F-4BCB-A9A8-183E8815A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9078" y="2695292"/>
              <a:ext cx="2690743" cy="4162709"/>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64" name="Freeform: Shape 63">
              <a:extLst>
                <a:ext uri="{FF2B5EF4-FFF2-40B4-BE49-F238E27FC236}">
                  <a16:creationId xmlns:a16="http://schemas.microsoft.com/office/drawing/2014/main" id="{557375C8-AF41-41DF-8F04-72401D4B9E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95233" y="2690532"/>
              <a:ext cx="2904320" cy="4167469"/>
            </a:xfrm>
            <a:custGeom>
              <a:avLst/>
              <a:gdLst>
                <a:gd name="connsiteX0" fmla="*/ 0 w 2904320"/>
                <a:gd name="connsiteY0" fmla="*/ 0 h 4167469"/>
                <a:gd name="connsiteX1" fmla="*/ 288431 w 2904320"/>
                <a:gd name="connsiteY1" fmla="*/ 90425 h 4167469"/>
                <a:gd name="connsiteX2" fmla="*/ 2904320 w 2904320"/>
                <a:gd name="connsiteY2" fmla="*/ 3220465 h 4167469"/>
                <a:gd name="connsiteX3" fmla="*/ 2904320 w 2904320"/>
                <a:gd name="connsiteY3" fmla="*/ 4167469 h 4167469"/>
                <a:gd name="connsiteX4" fmla="*/ 2694589 w 2904320"/>
                <a:gd name="connsiteY4" fmla="*/ 4167469 h 4167469"/>
                <a:gd name="connsiteX5" fmla="*/ 3846 w 2904320"/>
                <a:gd name="connsiteY5" fmla="*/ 4759 h 4167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4320" h="4167469">
                  <a:moveTo>
                    <a:pt x="0" y="0"/>
                  </a:moveTo>
                  <a:lnTo>
                    <a:pt x="288431" y="90425"/>
                  </a:lnTo>
                  <a:lnTo>
                    <a:pt x="2904320" y="3220465"/>
                  </a:lnTo>
                  <a:lnTo>
                    <a:pt x="2904320" y="4167469"/>
                  </a:lnTo>
                  <a:lnTo>
                    <a:pt x="2694589" y="4167469"/>
                  </a:lnTo>
                  <a:lnTo>
                    <a:pt x="3846" y="4759"/>
                  </a:lnTo>
                  <a:close/>
                </a:path>
              </a:pathLst>
            </a:custGeom>
            <a:solidFill>
              <a:schemeClr val="accent1">
                <a:lumMod val="75000"/>
              </a:schemeClr>
            </a:solidFill>
            <a:ln>
              <a:noFill/>
            </a:ln>
          </p:spPr>
        </p:sp>
        <p:sp>
          <p:nvSpPr>
            <p:cNvPr id="65" name="Freeform 15">
              <a:extLst>
                <a:ext uri="{FF2B5EF4-FFF2-40B4-BE49-F238E27FC236}">
                  <a16:creationId xmlns:a16="http://schemas.microsoft.com/office/drawing/2014/main" id="{1B37C1D7-483C-4CD7-85AB-F4EEA6E573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1424" y="2581071"/>
              <a:ext cx="2894568" cy="427693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sp>
      </p:grpSp>
      <p:pic>
        <p:nvPicPr>
          <p:cNvPr id="3" name="Picture 2" descr="A picture containing drawing, shirt&#10;&#10;Description automatically generated">
            <a:extLst>
              <a:ext uri="{FF2B5EF4-FFF2-40B4-BE49-F238E27FC236}">
                <a16:creationId xmlns:a16="http://schemas.microsoft.com/office/drawing/2014/main" id="{97CD00F5-D549-4417-A28E-565ECE44EE1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924799" y="5619948"/>
            <a:ext cx="1238051" cy="1238051"/>
          </a:xfrm>
          <a:prstGeom prst="rect">
            <a:avLst/>
          </a:prstGeom>
        </p:spPr>
      </p:pic>
      <p:sp>
        <p:nvSpPr>
          <p:cNvPr id="5" name="Rectangle: Rounded Corners 4">
            <a:extLst>
              <a:ext uri="{FF2B5EF4-FFF2-40B4-BE49-F238E27FC236}">
                <a16:creationId xmlns:a16="http://schemas.microsoft.com/office/drawing/2014/main" id="{68DBE504-36DD-4DF3-BFA6-D020600871BA}"/>
              </a:ext>
            </a:extLst>
          </p:cNvPr>
          <p:cNvSpPr/>
          <p:nvPr/>
        </p:nvSpPr>
        <p:spPr>
          <a:xfrm>
            <a:off x="7162800" y="152400"/>
            <a:ext cx="1875132" cy="762000"/>
          </a:xfrm>
          <a:prstGeom prst="roundRect">
            <a:avLst>
              <a:gd name="adj" fmla="val 50000"/>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2800" b="1" dirty="0"/>
              <a:t>ENV 103</a:t>
            </a:r>
          </a:p>
        </p:txBody>
      </p:sp>
      <p:sp>
        <p:nvSpPr>
          <p:cNvPr id="21" name="Rectangle 2">
            <a:extLst>
              <a:ext uri="{FF2B5EF4-FFF2-40B4-BE49-F238E27FC236}">
                <a16:creationId xmlns:a16="http://schemas.microsoft.com/office/drawing/2014/main" id="{19EFA974-F551-4918-B480-6F42B8CBFB4D}"/>
              </a:ext>
            </a:extLst>
          </p:cNvPr>
          <p:cNvSpPr txBox="1">
            <a:spLocks noChangeArrowheads="1"/>
          </p:cNvSpPr>
          <p:nvPr/>
        </p:nvSpPr>
        <p:spPr>
          <a:xfrm>
            <a:off x="3816535" y="3429000"/>
            <a:ext cx="3197653" cy="762000"/>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defRPr/>
            </a:pPr>
            <a:r>
              <a:rPr lang="en-GB" sz="4800" b="1" dirty="0">
                <a:latin typeface="Garamond" pitchFamily="18" charset="0"/>
              </a:rPr>
              <a:t>Ecosystem </a:t>
            </a:r>
            <a:br>
              <a:rPr lang="en-GB" sz="4800" b="1" dirty="0">
                <a:latin typeface="Garamond" pitchFamily="18" charset="0"/>
              </a:rPr>
            </a:br>
            <a:endParaRPr lang="en-GB" sz="8000" b="1" dirty="0">
              <a:latin typeface="Garamond" pitchFamily="18" charset="0"/>
            </a:endParaRP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p:cTn id="8" dur="1000" fill="hold"/>
                                        <p:tgtEl>
                                          <p:spTgt spid="21"/>
                                        </p:tgtEl>
                                        <p:attrNameLst>
                                          <p:attrName>ppt_x</p:attrName>
                                        </p:attrNameLst>
                                      </p:cBhvr>
                                      <p:tavLst>
                                        <p:tav tm="0">
                                          <p:val>
                                            <p:strVal val="#ppt_x"/>
                                          </p:val>
                                        </p:tav>
                                        <p:tav tm="100000">
                                          <p:val>
                                            <p:strVal val="#ppt_x"/>
                                          </p:val>
                                        </p:tav>
                                      </p:tavLst>
                                    </p:anim>
                                    <p:anim calcmode="lin" valueType="num">
                                      <p:cBhvr>
                                        <p:cTn id="9"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0" presetClass="entr" presetSubtype="0" fill="hold" nodeType="clickEffect">
                                  <p:stCondLst>
                                    <p:cond delay="0"/>
                                  </p:stCondLst>
                                  <p:childTnLst>
                                    <p:set>
                                      <p:cBhvr>
                                        <p:cTn id="13" dur="1" fill="hold">
                                          <p:stCondLst>
                                            <p:cond delay="0"/>
                                          </p:stCondLst>
                                        </p:cTn>
                                        <p:tgtEl>
                                          <p:spTgt spid="21">
                                            <p:txEl>
                                              <p:pRg st="0" end="0"/>
                                            </p:txEl>
                                          </p:spTgt>
                                        </p:tgtEl>
                                        <p:attrNameLst>
                                          <p:attrName>style.visibility</p:attrName>
                                        </p:attrNameLst>
                                      </p:cBhvr>
                                      <p:to>
                                        <p:strVal val="visible"/>
                                      </p:to>
                                    </p:set>
                                    <p:animEffect transition="in" filter="wedge">
                                      <p:cBhvr>
                                        <p:cTn id="14" dur="2000"/>
                                        <p:tgtEl>
                                          <p:spTgt spid="2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2">
            <a:extLst>
              <a:ext uri="{FF2B5EF4-FFF2-40B4-BE49-F238E27FC236}">
                <a16:creationId xmlns:a16="http://schemas.microsoft.com/office/drawing/2014/main" id="{1A4DB336-C286-4180-B5DC-3149EDDDA83D}"/>
              </a:ext>
            </a:extLst>
          </p:cNvPr>
          <p:cNvSpPr>
            <a:spLocks noGrp="1"/>
          </p:cNvSpPr>
          <p:nvPr>
            <p:ph sz="quarter" idx="1"/>
          </p:nvPr>
        </p:nvSpPr>
        <p:spPr>
          <a:xfrm>
            <a:off x="304800" y="2819400"/>
            <a:ext cx="8458200" cy="3654425"/>
          </a:xfrm>
        </p:spPr>
        <p:txBody>
          <a:bodyPr/>
          <a:lstStyle/>
          <a:p>
            <a:pPr algn="just" eaLnBrk="1" hangingPunct="1">
              <a:lnSpc>
                <a:spcPct val="120000"/>
              </a:lnSpc>
              <a:buClr>
                <a:schemeClr val="tx1"/>
              </a:buClr>
              <a:buFont typeface="Wingdings" panose="05000000000000000000" pitchFamily="2" charset="2"/>
              <a:buChar char="§"/>
            </a:pPr>
            <a:r>
              <a:rPr lang="en-GB" altLang="en-US" u="sng" dirty="0">
                <a:latin typeface="Comic Sans MS" panose="030F0702030302020204" pitchFamily="66" charset="0"/>
              </a:rPr>
              <a:t>Ecology</a:t>
            </a:r>
            <a:r>
              <a:rPr lang="en-GB" altLang="en-US" dirty="0">
                <a:latin typeface="Comic Sans MS" panose="030F0702030302020204" pitchFamily="66" charset="0"/>
              </a:rPr>
              <a:t> is the study of how organisms interact with each other and with their non living environment. </a:t>
            </a:r>
          </a:p>
          <a:p>
            <a:pPr algn="just" eaLnBrk="1" hangingPunct="1">
              <a:lnSpc>
                <a:spcPct val="120000"/>
              </a:lnSpc>
              <a:buClr>
                <a:schemeClr val="tx1"/>
              </a:buClr>
              <a:buFont typeface="Wingdings" panose="05000000000000000000" pitchFamily="2" charset="2"/>
              <a:buChar char="§"/>
            </a:pPr>
            <a:r>
              <a:rPr lang="en-GB" altLang="en-US" dirty="0">
                <a:latin typeface="Comic Sans MS" panose="030F0702030302020204" pitchFamily="66" charset="0"/>
              </a:rPr>
              <a:t>In other words, </a:t>
            </a:r>
            <a:r>
              <a:rPr lang="en-US" altLang="en-US" dirty="0">
                <a:latin typeface="Comic Sans MS" panose="030F0702030302020204" pitchFamily="66" charset="0"/>
              </a:rPr>
              <a:t>Ecology is defined as the branch of science that studies how people or organisms relate to each other and their environment. An example of ecology is studying the ecosystem of a pond.</a:t>
            </a:r>
          </a:p>
          <a:p>
            <a:pPr algn="just" eaLnBrk="1" hangingPunct="1">
              <a:lnSpc>
                <a:spcPct val="120000"/>
              </a:lnSpc>
              <a:buClr>
                <a:schemeClr val="tx1"/>
              </a:buClr>
              <a:buFont typeface="Wingdings" panose="05000000000000000000" pitchFamily="2" charset="2"/>
              <a:buChar char="§"/>
            </a:pPr>
            <a:endParaRPr lang="en-US" altLang="en-US" dirty="0">
              <a:latin typeface="Comic Sans MS" panose="030F0702030302020204" pitchFamily="66" charset="0"/>
            </a:endParaRPr>
          </a:p>
          <a:p>
            <a:pPr algn="just" eaLnBrk="1" hangingPunct="1">
              <a:lnSpc>
                <a:spcPct val="120000"/>
              </a:lnSpc>
              <a:buClr>
                <a:schemeClr val="tx1"/>
              </a:buClr>
              <a:buFont typeface="Wingdings" panose="05000000000000000000" pitchFamily="2" charset="2"/>
              <a:buChar char="§"/>
            </a:pPr>
            <a:endParaRPr lang="en-US" altLang="en-US" dirty="0">
              <a:latin typeface="Comic Sans MS" panose="030F0702030302020204" pitchFamily="66" charset="0"/>
            </a:endParaRPr>
          </a:p>
          <a:p>
            <a:pPr algn="just" eaLnBrk="1" hangingPunct="1">
              <a:lnSpc>
                <a:spcPct val="120000"/>
              </a:lnSpc>
              <a:buClr>
                <a:schemeClr val="tx1"/>
              </a:buClr>
              <a:buFont typeface="Wingdings" panose="05000000000000000000" pitchFamily="2" charset="2"/>
              <a:buChar char="§"/>
            </a:pPr>
            <a:endParaRPr lang="en-US" altLang="en-US" dirty="0">
              <a:latin typeface="Comic Sans MS" panose="030F0702030302020204" pitchFamily="66" charset="0"/>
            </a:endParaRPr>
          </a:p>
          <a:p>
            <a:pPr algn="just" eaLnBrk="1" hangingPunct="1">
              <a:lnSpc>
                <a:spcPct val="120000"/>
              </a:lnSpc>
              <a:buClr>
                <a:schemeClr val="tx1"/>
              </a:buClr>
              <a:buFont typeface="Wingdings" panose="05000000000000000000" pitchFamily="2" charset="2"/>
              <a:buChar char="§"/>
            </a:pPr>
            <a:endParaRPr lang="en-US" altLang="en-US" dirty="0">
              <a:latin typeface="Comic Sans MS" panose="030F0702030302020204" pitchFamily="66" charset="0"/>
            </a:endParaRPr>
          </a:p>
          <a:p>
            <a:pPr algn="just" eaLnBrk="1" hangingPunct="1">
              <a:lnSpc>
                <a:spcPct val="120000"/>
              </a:lnSpc>
              <a:buClr>
                <a:schemeClr val="tx1"/>
              </a:buClr>
              <a:buFont typeface="Wingdings" panose="05000000000000000000" pitchFamily="2" charset="2"/>
              <a:buChar char="§"/>
            </a:pPr>
            <a:endParaRPr lang="en-US" altLang="en-US" dirty="0">
              <a:latin typeface="Comic Sans MS" panose="030F0702030302020204" pitchFamily="66" charset="0"/>
            </a:endParaRPr>
          </a:p>
          <a:p>
            <a:pPr algn="just" eaLnBrk="1" hangingPunct="1">
              <a:lnSpc>
                <a:spcPct val="120000"/>
              </a:lnSpc>
              <a:buClr>
                <a:schemeClr val="tx1"/>
              </a:buClr>
              <a:buFont typeface="Wingdings" panose="05000000000000000000" pitchFamily="2" charset="2"/>
              <a:buChar char="§"/>
            </a:pPr>
            <a:endParaRPr lang="en-US" altLang="en-US" dirty="0">
              <a:latin typeface="Comic Sans MS" panose="030F0702030302020204" pitchFamily="66" charset="0"/>
            </a:endParaRPr>
          </a:p>
          <a:p>
            <a:pPr algn="just" eaLnBrk="1" hangingPunct="1">
              <a:lnSpc>
                <a:spcPct val="120000"/>
              </a:lnSpc>
              <a:buClr>
                <a:schemeClr val="tx1"/>
              </a:buClr>
              <a:buFont typeface="Wingdings" panose="05000000000000000000" pitchFamily="2" charset="2"/>
              <a:buChar char="§"/>
            </a:pPr>
            <a:endParaRPr lang="en-US" altLang="en-US" dirty="0">
              <a:latin typeface="Comic Sans MS" panose="030F0702030302020204" pitchFamily="66" charset="0"/>
            </a:endParaRPr>
          </a:p>
          <a:p>
            <a:pPr algn="just" eaLnBrk="1" hangingPunct="1">
              <a:lnSpc>
                <a:spcPct val="120000"/>
              </a:lnSpc>
              <a:buClr>
                <a:schemeClr val="tx1"/>
              </a:buClr>
              <a:buFont typeface="Wingdings" panose="05000000000000000000" pitchFamily="2" charset="2"/>
              <a:buChar char="§"/>
            </a:pPr>
            <a:endParaRPr lang="en-US" altLang="en-US" dirty="0">
              <a:latin typeface="Comic Sans MS" panose="030F0702030302020204" pitchFamily="66" charset="0"/>
            </a:endParaRPr>
          </a:p>
          <a:p>
            <a:pPr eaLnBrk="1" hangingPunct="1"/>
            <a:endParaRPr lang="en-US" altLang="en-US" dirty="0">
              <a:latin typeface="Comic Sans MS" panose="030F0702030302020204" pitchFamily="66" charset="0"/>
            </a:endParaRPr>
          </a:p>
        </p:txBody>
      </p:sp>
      <p:pic>
        <p:nvPicPr>
          <p:cNvPr id="11267" name="Picture 6" descr="DNA Edit: Ecology vs development - In this eternal debate, India should opt  for middle path">
            <a:extLst>
              <a:ext uri="{FF2B5EF4-FFF2-40B4-BE49-F238E27FC236}">
                <a16:creationId xmlns:a16="http://schemas.microsoft.com/office/drawing/2014/main" id="{80BBD257-73DE-4011-8697-8BAB2FD485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725" y="3657600"/>
            <a:ext cx="5416550" cy="304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1266">
                                            <p:txEl>
                                              <p:pRg st="0" end="0"/>
                                            </p:txEl>
                                          </p:spTgt>
                                        </p:tgtEl>
                                        <p:attrNameLst>
                                          <p:attrName>style.visibility</p:attrName>
                                        </p:attrNameLst>
                                      </p:cBhvr>
                                      <p:to>
                                        <p:strVal val="visible"/>
                                      </p:to>
                                    </p:set>
                                    <p:anim calcmode="lin" valueType="num">
                                      <p:cBhvr>
                                        <p:cTn id="7" dur="1000" fill="hold"/>
                                        <p:tgtEl>
                                          <p:spTgt spid="11266">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1266">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1266">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11266">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26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6" presetClass="entr" presetSubtype="16" fill="hold" nodeType="clickEffect">
                                  <p:stCondLst>
                                    <p:cond delay="0"/>
                                  </p:stCondLst>
                                  <p:childTnLst>
                                    <p:set>
                                      <p:cBhvr>
                                        <p:cTn id="18" dur="1" fill="hold">
                                          <p:stCondLst>
                                            <p:cond delay="0"/>
                                          </p:stCondLst>
                                        </p:cTn>
                                        <p:tgtEl>
                                          <p:spTgt spid="11267"/>
                                        </p:tgtEl>
                                        <p:attrNameLst>
                                          <p:attrName>style.visibility</p:attrName>
                                        </p:attrNameLst>
                                      </p:cBhvr>
                                      <p:to>
                                        <p:strVal val="visible"/>
                                      </p:to>
                                    </p:set>
                                    <p:animEffect transition="in" filter="circle(in)">
                                      <p:cBhvr>
                                        <p:cTn id="19" dur="2000"/>
                                        <p:tgtEl>
                                          <p:spTgt spid="112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7111C-A7F5-436C-A2A8-35484C90E06D}"/>
              </a:ext>
            </a:extLst>
          </p:cNvPr>
          <p:cNvSpPr>
            <a:spLocks noGrp="1"/>
          </p:cNvSpPr>
          <p:nvPr>
            <p:ph type="title"/>
          </p:nvPr>
        </p:nvSpPr>
        <p:spPr>
          <a:xfrm>
            <a:off x="838200" y="609600"/>
            <a:ext cx="7467600" cy="411163"/>
          </a:xfrm>
        </p:spPr>
        <p:txBody>
          <a:bodyPr>
            <a:noAutofit/>
          </a:bodyPr>
          <a:lstStyle/>
          <a:p>
            <a:pPr>
              <a:defRPr/>
            </a:pPr>
            <a:r>
              <a:rPr lang="en-US" sz="2600" dirty="0">
                <a:solidFill>
                  <a:srgbClr val="FF0000"/>
                </a:solidFill>
                <a:latin typeface="Comic Sans MS" pitchFamily="66" charset="0"/>
              </a:rPr>
              <a:t>Five levels of ecological organization: </a:t>
            </a:r>
            <a:br>
              <a:rPr lang="en-US" sz="2600" dirty="0">
                <a:solidFill>
                  <a:srgbClr val="FF0000"/>
                </a:solidFill>
                <a:latin typeface="Comic Sans MS" pitchFamily="66" charset="0"/>
              </a:rPr>
            </a:br>
            <a:endParaRPr lang="en-US" sz="2600" dirty="0"/>
          </a:p>
        </p:txBody>
      </p:sp>
      <p:sp>
        <p:nvSpPr>
          <p:cNvPr id="3" name="Content Placeholder 2">
            <a:extLst>
              <a:ext uri="{FF2B5EF4-FFF2-40B4-BE49-F238E27FC236}">
                <a16:creationId xmlns:a16="http://schemas.microsoft.com/office/drawing/2014/main" id="{57BA719E-51EE-4B62-8538-1B5F2E39C244}"/>
              </a:ext>
            </a:extLst>
          </p:cNvPr>
          <p:cNvSpPr>
            <a:spLocks noGrp="1"/>
          </p:cNvSpPr>
          <p:nvPr>
            <p:ph sz="quarter" idx="1"/>
          </p:nvPr>
        </p:nvSpPr>
        <p:spPr>
          <a:xfrm>
            <a:off x="838200" y="685800"/>
            <a:ext cx="8077200" cy="5788025"/>
          </a:xfrm>
        </p:spPr>
        <p:txBody>
          <a:bodyPr>
            <a:normAutofit/>
          </a:bodyPr>
          <a:lstStyle/>
          <a:p>
            <a:pPr marL="274320" indent="-274320" algn="just" eaLnBrk="1" fontAlgn="auto" hangingPunct="1">
              <a:lnSpc>
                <a:spcPct val="120000"/>
              </a:lnSpc>
              <a:spcAft>
                <a:spcPts val="0"/>
              </a:spcAft>
              <a:buClr>
                <a:schemeClr val="tx1"/>
              </a:buClr>
              <a:buFont typeface="Wingdings" panose="05000000000000000000" pitchFamily="2" charset="2"/>
              <a:buChar char="§"/>
              <a:defRPr/>
            </a:pPr>
            <a:r>
              <a:rPr lang="en-US" sz="2000" u="sng" dirty="0">
                <a:solidFill>
                  <a:srgbClr val="002060"/>
                </a:solidFill>
                <a:latin typeface="Comic Sans MS" pitchFamily="66" charset="0"/>
              </a:rPr>
              <a:t>Organism: </a:t>
            </a:r>
            <a:r>
              <a:rPr lang="en-US" sz="2000" dirty="0">
                <a:latin typeface="Comic Sans MS" pitchFamily="66" charset="0"/>
              </a:rPr>
              <a:t>The definition of an organism is a creature such as a plant, animal or a single-celled life form, or something that has interdependent parts and that is being compared to a living creature. Organisms are classified into groups such as multicellular animals, plants and fungi  or unicellular microorganisms such as bacteria. Species refers to the organisms that resemble one another in terms of their appearance, behavior,  chemistry and genetic makeup. </a:t>
            </a:r>
          </a:p>
          <a:p>
            <a:pPr marL="274320" indent="-274320" algn="just" eaLnBrk="1" fontAlgn="auto" hangingPunct="1">
              <a:lnSpc>
                <a:spcPct val="120000"/>
              </a:lnSpc>
              <a:spcAft>
                <a:spcPts val="0"/>
              </a:spcAft>
              <a:buClr>
                <a:schemeClr val="tx1"/>
              </a:buClr>
              <a:buFont typeface="Wingdings" panose="05000000000000000000" pitchFamily="2" charset="2"/>
              <a:buChar char="§"/>
              <a:defRPr/>
            </a:pPr>
            <a:r>
              <a:rPr lang="en-US" sz="2000" u="sng" dirty="0">
                <a:solidFill>
                  <a:srgbClr val="002060"/>
                </a:solidFill>
                <a:latin typeface="Comic Sans MS" pitchFamily="66" charset="0"/>
              </a:rPr>
              <a:t>Population</a:t>
            </a:r>
            <a:r>
              <a:rPr lang="en-US" sz="2000" dirty="0">
                <a:solidFill>
                  <a:srgbClr val="FF6600"/>
                </a:solidFill>
                <a:latin typeface="Comic Sans MS" pitchFamily="66" charset="0"/>
              </a:rPr>
              <a:t> </a:t>
            </a:r>
            <a:r>
              <a:rPr lang="en-US" sz="2000" dirty="0">
                <a:latin typeface="Comic Sans MS" pitchFamily="66" charset="0"/>
              </a:rPr>
              <a:t>is a group of interacting individuals of the same species living in a given area. </a:t>
            </a:r>
            <a:r>
              <a:rPr lang="en-US" sz="2000" dirty="0">
                <a:solidFill>
                  <a:srgbClr val="002060"/>
                </a:solidFill>
                <a:latin typeface="Comic Sans MS" pitchFamily="66" charset="0"/>
              </a:rPr>
              <a:t>Example:</a:t>
            </a:r>
            <a:r>
              <a:rPr lang="en-US" sz="2000" dirty="0">
                <a:latin typeface="Comic Sans MS" pitchFamily="66" charset="0"/>
              </a:rPr>
              <a:t> sunfish in a pond, white oak trees in a forest, people in a country.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15CE7F-879A-4A68-9575-48F1060F63C1}"/>
              </a:ext>
            </a:extLst>
          </p:cNvPr>
          <p:cNvSpPr>
            <a:spLocks noGrp="1"/>
          </p:cNvSpPr>
          <p:nvPr>
            <p:ph idx="1"/>
          </p:nvPr>
        </p:nvSpPr>
        <p:spPr>
          <a:xfrm>
            <a:off x="982133" y="533400"/>
            <a:ext cx="7704667" cy="5466416"/>
          </a:xfrm>
        </p:spPr>
        <p:txBody>
          <a:bodyPr/>
          <a:lstStyle/>
          <a:p>
            <a:pPr marL="274320" indent="-274320" algn="just">
              <a:lnSpc>
                <a:spcPct val="120000"/>
              </a:lnSpc>
              <a:spcAft>
                <a:spcPts val="0"/>
              </a:spcAft>
              <a:buClr>
                <a:schemeClr val="tx1"/>
              </a:buClr>
              <a:buFont typeface="Wingdings" panose="05000000000000000000" pitchFamily="2" charset="2"/>
              <a:buChar char="§"/>
              <a:defRPr/>
            </a:pPr>
            <a:r>
              <a:rPr lang="en-US" u="sng" dirty="0">
                <a:solidFill>
                  <a:srgbClr val="002060"/>
                </a:solidFill>
                <a:latin typeface="Comic Sans MS" pitchFamily="66" charset="0"/>
              </a:rPr>
              <a:t>Community</a:t>
            </a:r>
            <a:r>
              <a:rPr lang="en-US" dirty="0">
                <a:latin typeface="Comic Sans MS" pitchFamily="66" charset="0"/>
              </a:rPr>
              <a:t> consists of all populations of different species of plants, animals, and microorganisms living and interacting in an area.</a:t>
            </a:r>
          </a:p>
          <a:p>
            <a:pPr>
              <a:defRPr/>
            </a:pPr>
            <a:r>
              <a:rPr lang="en-US" altLang="en-US" u="sng" dirty="0">
                <a:solidFill>
                  <a:srgbClr val="002060"/>
                </a:solidFill>
                <a:latin typeface="Comic Sans MS" panose="030F0702030302020204" pitchFamily="66" charset="0"/>
              </a:rPr>
              <a:t>Ecosystem</a:t>
            </a:r>
            <a:r>
              <a:rPr lang="en-US" altLang="en-US" dirty="0">
                <a:solidFill>
                  <a:srgbClr val="002060"/>
                </a:solidFill>
                <a:latin typeface="Comic Sans MS" panose="030F0702030302020204" pitchFamily="66" charset="0"/>
              </a:rPr>
              <a:t>  </a:t>
            </a:r>
            <a:r>
              <a:rPr lang="en-US" altLang="en-US" dirty="0">
                <a:latin typeface="Comic Sans MS" panose="030F0702030302020204" pitchFamily="66" charset="0"/>
              </a:rPr>
              <a:t>is a community of different species interacting with one another and with their physical environment of matter and energy in a particular area.</a:t>
            </a:r>
          </a:p>
          <a:p>
            <a:pPr>
              <a:defRPr/>
            </a:pPr>
            <a:r>
              <a:rPr lang="en-US" u="sng" dirty="0">
                <a:solidFill>
                  <a:srgbClr val="002060"/>
                </a:solidFill>
                <a:latin typeface="Comic Sans MS" panose="030F0702030302020204" pitchFamily="66" charset="0"/>
              </a:rPr>
              <a:t>Biosphere</a:t>
            </a:r>
            <a:r>
              <a:rPr lang="en-US" dirty="0">
                <a:latin typeface="Comic Sans MS" panose="030F0702030302020204" pitchFamily="66" charset="0"/>
              </a:rPr>
              <a:t> is the sum of all ecosystems. </a:t>
            </a:r>
            <a:endParaRPr lang="en-US" dirty="0"/>
          </a:p>
          <a:p>
            <a:endParaRPr lang="en-US" dirty="0"/>
          </a:p>
        </p:txBody>
      </p:sp>
    </p:spTree>
    <p:extLst>
      <p:ext uri="{BB962C8B-B14F-4D97-AF65-F5344CB8AC3E}">
        <p14:creationId xmlns:p14="http://schemas.microsoft.com/office/powerpoint/2010/main" val="369056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2">
            <a:extLst>
              <a:ext uri="{FF2B5EF4-FFF2-40B4-BE49-F238E27FC236}">
                <a16:creationId xmlns:a16="http://schemas.microsoft.com/office/drawing/2014/main" id="{8073BD48-D74D-4AB9-8298-CAA7121245B7}"/>
              </a:ext>
            </a:extLst>
          </p:cNvPr>
          <p:cNvSpPr>
            <a:spLocks noGrp="1"/>
          </p:cNvSpPr>
          <p:nvPr>
            <p:ph sz="quarter" idx="1"/>
          </p:nvPr>
        </p:nvSpPr>
        <p:spPr>
          <a:xfrm>
            <a:off x="533400" y="762000"/>
            <a:ext cx="8305800" cy="6245225"/>
          </a:xfrm>
        </p:spPr>
        <p:txBody>
          <a:bodyPr/>
          <a:lstStyle/>
          <a:p>
            <a:pPr algn="just" eaLnBrk="1" hangingPunct="1"/>
            <a:r>
              <a:rPr lang="en-US" altLang="en-US" u="sng" dirty="0">
                <a:solidFill>
                  <a:srgbClr val="002060"/>
                </a:solidFill>
                <a:latin typeface="Comic Sans MS" panose="030F0702030302020204" pitchFamily="66" charset="0"/>
              </a:rPr>
              <a:t>Habitat</a:t>
            </a:r>
            <a:r>
              <a:rPr lang="en-US" altLang="en-US" dirty="0">
                <a:latin typeface="Comic Sans MS" panose="030F0702030302020204" pitchFamily="66" charset="0"/>
              </a:rPr>
              <a:t> is the place where a population (or an individual organism) normally lives. It may be large as an ocean or as small as the intestine of a termite. </a:t>
            </a:r>
          </a:p>
          <a:p>
            <a:pPr algn="just" eaLnBrk="1" hangingPunct="1"/>
            <a:endParaRPr lang="en-US" altLang="en-US" dirty="0">
              <a:latin typeface="Comic Sans MS" panose="030F0702030302020204" pitchFamily="66" charset="0"/>
            </a:endParaRPr>
          </a:p>
          <a:p>
            <a:pPr algn="just" eaLnBrk="1" hangingPunct="1">
              <a:buFont typeface="Wingdings" panose="05000000000000000000" pitchFamily="2" charset="2"/>
              <a:buNone/>
            </a:pPr>
            <a:r>
              <a:rPr lang="en-US" altLang="en-US" u="sng" dirty="0">
                <a:latin typeface="Comic Sans MS" panose="030F0702030302020204" pitchFamily="66" charset="0"/>
              </a:rPr>
              <a:t>Classification of Ecosystem</a:t>
            </a:r>
          </a:p>
          <a:p>
            <a:pPr algn="just" eaLnBrk="1" hangingPunct="1">
              <a:buFont typeface="Wingdings" panose="05000000000000000000" pitchFamily="2" charset="2"/>
              <a:buNone/>
            </a:pPr>
            <a:r>
              <a:rPr lang="en-US" altLang="en-US" dirty="0">
                <a:latin typeface="Comic Sans MS" panose="030F0702030302020204" pitchFamily="66" charset="0"/>
              </a:rPr>
              <a:t>An ecosystem is formed by the interactions between all living and non-living components</a:t>
            </a:r>
          </a:p>
          <a:p>
            <a:pPr algn="just" eaLnBrk="1" hangingPunct="1">
              <a:buFont typeface="Wingdings" panose="05000000000000000000" pitchFamily="2" charset="2"/>
              <a:buNone/>
            </a:pPr>
            <a:endParaRPr lang="en-US" altLang="en-US" u="sng" dirty="0">
              <a:latin typeface="Comic Sans MS" panose="030F0702030302020204" pitchFamily="66" charset="0"/>
            </a:endParaRPr>
          </a:p>
          <a:p>
            <a:pPr algn="just" eaLnBrk="1" hangingPunct="1"/>
            <a:r>
              <a:rPr lang="en-US" altLang="en-US" dirty="0">
                <a:latin typeface="Comic Sans MS" panose="030F0702030302020204" pitchFamily="66" charset="0"/>
              </a:rPr>
              <a:t> In terms of </a:t>
            </a:r>
            <a:r>
              <a:rPr lang="en-US" altLang="en-US" dirty="0">
                <a:solidFill>
                  <a:srgbClr val="FF0000"/>
                </a:solidFill>
                <a:latin typeface="Comic Sans MS" panose="030F0702030302020204" pitchFamily="66" charset="0"/>
              </a:rPr>
              <a:t>origin </a:t>
            </a:r>
            <a:r>
              <a:rPr lang="en-US" altLang="en-US" dirty="0">
                <a:latin typeface="Comic Sans MS" panose="030F0702030302020204" pitchFamily="66" charset="0"/>
              </a:rPr>
              <a:t>ecosystems can be </a:t>
            </a:r>
          </a:p>
          <a:p>
            <a:pPr algn="just" eaLnBrk="1" hangingPunct="1">
              <a:buFont typeface="Wingdings" panose="05000000000000000000" pitchFamily="2" charset="2"/>
              <a:buNone/>
            </a:pPr>
            <a:r>
              <a:rPr lang="en-US" altLang="en-US" dirty="0">
                <a:latin typeface="Comic Sans MS" panose="030F0702030302020204" pitchFamily="66" charset="0"/>
              </a:rPr>
              <a:t>        - </a:t>
            </a:r>
            <a:r>
              <a:rPr lang="en-US" altLang="en-US" u="sng" dirty="0">
                <a:latin typeface="Comic Sans MS" panose="030F0702030302020204" pitchFamily="66" charset="0"/>
              </a:rPr>
              <a:t>natural</a:t>
            </a:r>
            <a:r>
              <a:rPr lang="en-US" altLang="en-US" dirty="0">
                <a:latin typeface="Comic Sans MS" panose="030F0702030302020204" pitchFamily="66" charset="0"/>
              </a:rPr>
              <a:t> : Sahara desert, </a:t>
            </a:r>
            <a:r>
              <a:rPr lang="en-US" altLang="en-US" dirty="0" err="1">
                <a:latin typeface="Comic Sans MS" panose="030F0702030302020204" pitchFamily="66" charset="0"/>
              </a:rPr>
              <a:t>Sundarban</a:t>
            </a:r>
            <a:r>
              <a:rPr lang="en-US" altLang="en-US" dirty="0">
                <a:latin typeface="Comic Sans MS" panose="030F0702030302020204" pitchFamily="66" charset="0"/>
              </a:rPr>
              <a:t> forest,           Atlantic ocean. </a:t>
            </a:r>
          </a:p>
          <a:p>
            <a:pPr algn="just" eaLnBrk="1" hangingPunct="1">
              <a:buFont typeface="Wingdings" panose="05000000000000000000" pitchFamily="2" charset="2"/>
              <a:buNone/>
            </a:pPr>
            <a:r>
              <a:rPr lang="en-US" altLang="en-US" dirty="0">
                <a:latin typeface="Comic Sans MS" panose="030F0702030302020204" pitchFamily="66" charset="0"/>
              </a:rPr>
              <a:t>        - </a:t>
            </a:r>
            <a:r>
              <a:rPr lang="en-US" altLang="en-US" u="sng" dirty="0">
                <a:latin typeface="Comic Sans MS" panose="030F0702030302020204" pitchFamily="66" charset="0"/>
              </a:rPr>
              <a:t>artificial</a:t>
            </a:r>
            <a:r>
              <a:rPr lang="en-US" altLang="en-US" dirty="0">
                <a:latin typeface="Comic Sans MS" panose="030F0702030302020204" pitchFamily="66" charset="0"/>
              </a:rPr>
              <a:t> (human created) : crop fields, farm      ponds. </a:t>
            </a:r>
          </a:p>
          <a:p>
            <a:pPr algn="just" eaLnBrk="1" hangingPunct="1"/>
            <a:endParaRPr lang="en-US" altLang="en-US" dirty="0">
              <a:latin typeface="Comic Sans MS" panose="030F0702030302020204" pitchFamily="66" charset="0"/>
            </a:endParaRPr>
          </a:p>
          <a:p>
            <a:pPr algn="just" eaLnBrk="1" hangingPunct="1"/>
            <a:endParaRPr lang="en-US" altLang="en-US" sz="2200" u="sng" dirty="0">
              <a:solidFill>
                <a:srgbClr val="002060"/>
              </a:solidFill>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3314">
                                            <p:txEl>
                                              <p:pRg st="0" end="0"/>
                                            </p:txEl>
                                          </p:spTgt>
                                        </p:tgtEl>
                                        <p:attrNameLst>
                                          <p:attrName>style.visibility</p:attrName>
                                        </p:attrNameLst>
                                      </p:cBhvr>
                                      <p:to>
                                        <p:strVal val="visible"/>
                                      </p:to>
                                    </p:set>
                                    <p:animEffect transition="in" filter="fade">
                                      <p:cBhvr>
                                        <p:cTn id="7" dur="1000"/>
                                        <p:tgtEl>
                                          <p:spTgt spid="13314">
                                            <p:txEl>
                                              <p:pRg st="0" end="0"/>
                                            </p:txEl>
                                          </p:spTgt>
                                        </p:tgtEl>
                                      </p:cBhvr>
                                    </p:animEffect>
                                    <p:anim calcmode="lin" valueType="num">
                                      <p:cBhvr>
                                        <p:cTn id="8" dur="1000" fill="hold"/>
                                        <p:tgtEl>
                                          <p:spTgt spid="1331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331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3314">
                                            <p:txEl>
                                              <p:pRg st="2" end="2"/>
                                            </p:txEl>
                                          </p:spTgt>
                                        </p:tgtEl>
                                        <p:attrNameLst>
                                          <p:attrName>style.visibility</p:attrName>
                                        </p:attrNameLst>
                                      </p:cBhvr>
                                      <p:to>
                                        <p:strVal val="visible"/>
                                      </p:to>
                                    </p:set>
                                    <p:animEffect transition="in" filter="circle(in)">
                                      <p:cBhvr>
                                        <p:cTn id="14" dur="2000"/>
                                        <p:tgtEl>
                                          <p:spTgt spid="13314">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3314">
                                            <p:txEl>
                                              <p:pRg st="3" end="3"/>
                                            </p:txEl>
                                          </p:spTgt>
                                        </p:tgtEl>
                                        <p:attrNameLst>
                                          <p:attrName>style.visibility</p:attrName>
                                        </p:attrNameLst>
                                      </p:cBhvr>
                                      <p:to>
                                        <p:strVal val="visible"/>
                                      </p:to>
                                    </p:set>
                                    <p:animEffect transition="in" filter="fade">
                                      <p:cBhvr>
                                        <p:cTn id="19" dur="1000"/>
                                        <p:tgtEl>
                                          <p:spTgt spid="13314">
                                            <p:txEl>
                                              <p:pRg st="3" end="3"/>
                                            </p:txEl>
                                          </p:spTgt>
                                        </p:tgtEl>
                                      </p:cBhvr>
                                    </p:animEffect>
                                    <p:anim calcmode="lin" valueType="num">
                                      <p:cBhvr>
                                        <p:cTn id="20" dur="1000" fill="hold"/>
                                        <p:tgtEl>
                                          <p:spTgt spid="13314">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331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3314">
                                            <p:txEl>
                                              <p:pRg st="5" end="5"/>
                                            </p:txEl>
                                          </p:spTgt>
                                        </p:tgtEl>
                                        <p:attrNameLst>
                                          <p:attrName>style.visibility</p:attrName>
                                        </p:attrNameLst>
                                      </p:cBhvr>
                                      <p:to>
                                        <p:strVal val="visible"/>
                                      </p:to>
                                    </p:set>
                                    <p:animEffect transition="in" filter="fade">
                                      <p:cBhvr>
                                        <p:cTn id="26" dur="1000"/>
                                        <p:tgtEl>
                                          <p:spTgt spid="13314">
                                            <p:txEl>
                                              <p:pRg st="5" end="5"/>
                                            </p:txEl>
                                          </p:spTgt>
                                        </p:tgtEl>
                                      </p:cBhvr>
                                    </p:animEffect>
                                    <p:anim calcmode="lin" valueType="num">
                                      <p:cBhvr>
                                        <p:cTn id="27" dur="1000" fill="hold"/>
                                        <p:tgtEl>
                                          <p:spTgt spid="13314">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1331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314">
                                            <p:txEl>
                                              <p:pRg st="6" end="6"/>
                                            </p:txEl>
                                          </p:spTgt>
                                        </p:tgtEl>
                                        <p:attrNameLst>
                                          <p:attrName>style.visibility</p:attrName>
                                        </p:attrNameLst>
                                      </p:cBhvr>
                                      <p:to>
                                        <p:strVal val="visible"/>
                                      </p:to>
                                    </p:set>
                                    <p:animEffect transition="in" filter="fade">
                                      <p:cBhvr>
                                        <p:cTn id="33" dur="1000"/>
                                        <p:tgtEl>
                                          <p:spTgt spid="13314">
                                            <p:txEl>
                                              <p:pRg st="6" end="6"/>
                                            </p:txEl>
                                          </p:spTgt>
                                        </p:tgtEl>
                                      </p:cBhvr>
                                    </p:animEffect>
                                    <p:anim calcmode="lin" valueType="num">
                                      <p:cBhvr>
                                        <p:cTn id="34" dur="1000" fill="hold"/>
                                        <p:tgtEl>
                                          <p:spTgt spid="13314">
                                            <p:txEl>
                                              <p:pRg st="6" end="6"/>
                                            </p:txEl>
                                          </p:spTgt>
                                        </p:tgtEl>
                                        <p:attrNameLst>
                                          <p:attrName>ppt_x</p:attrName>
                                        </p:attrNameLst>
                                      </p:cBhvr>
                                      <p:tavLst>
                                        <p:tav tm="0">
                                          <p:val>
                                            <p:strVal val="#ppt_x"/>
                                          </p:val>
                                        </p:tav>
                                        <p:tav tm="100000">
                                          <p:val>
                                            <p:strVal val="#ppt_x"/>
                                          </p:val>
                                        </p:tav>
                                      </p:tavLst>
                                    </p:anim>
                                    <p:anim calcmode="lin" valueType="num">
                                      <p:cBhvr>
                                        <p:cTn id="35" dur="1000" fill="hold"/>
                                        <p:tgtEl>
                                          <p:spTgt spid="1331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3314">
                                            <p:txEl>
                                              <p:pRg st="7" end="7"/>
                                            </p:txEl>
                                          </p:spTgt>
                                        </p:tgtEl>
                                        <p:attrNameLst>
                                          <p:attrName>style.visibility</p:attrName>
                                        </p:attrNameLst>
                                      </p:cBhvr>
                                      <p:to>
                                        <p:strVal val="visible"/>
                                      </p:to>
                                    </p:set>
                                    <p:animEffect transition="in" filter="fade">
                                      <p:cBhvr>
                                        <p:cTn id="40" dur="1000"/>
                                        <p:tgtEl>
                                          <p:spTgt spid="13314">
                                            <p:txEl>
                                              <p:pRg st="7" end="7"/>
                                            </p:txEl>
                                          </p:spTgt>
                                        </p:tgtEl>
                                      </p:cBhvr>
                                    </p:animEffect>
                                    <p:anim calcmode="lin" valueType="num">
                                      <p:cBhvr>
                                        <p:cTn id="41" dur="1000" fill="hold"/>
                                        <p:tgtEl>
                                          <p:spTgt spid="13314">
                                            <p:txEl>
                                              <p:pRg st="7" end="7"/>
                                            </p:txEl>
                                          </p:spTgt>
                                        </p:tgtEl>
                                        <p:attrNameLst>
                                          <p:attrName>ppt_x</p:attrName>
                                        </p:attrNameLst>
                                      </p:cBhvr>
                                      <p:tavLst>
                                        <p:tav tm="0">
                                          <p:val>
                                            <p:strVal val="#ppt_x"/>
                                          </p:val>
                                        </p:tav>
                                        <p:tav tm="100000">
                                          <p:val>
                                            <p:strVal val="#ppt_x"/>
                                          </p:val>
                                        </p:tav>
                                      </p:tavLst>
                                    </p:anim>
                                    <p:anim calcmode="lin" valueType="num">
                                      <p:cBhvr>
                                        <p:cTn id="42" dur="1000" fill="hold"/>
                                        <p:tgtEl>
                                          <p:spTgt spid="1331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842E86CC-D44A-4778-9A49-AFED9D2EC179}"/>
              </a:ext>
            </a:extLst>
          </p:cNvPr>
          <p:cNvSpPr>
            <a:spLocks noGrp="1"/>
          </p:cNvSpPr>
          <p:nvPr>
            <p:ph sz="quarter" idx="1"/>
          </p:nvPr>
        </p:nvSpPr>
        <p:spPr>
          <a:xfrm>
            <a:off x="990600" y="934781"/>
            <a:ext cx="7467600" cy="5940425"/>
          </a:xfrm>
        </p:spPr>
        <p:txBody>
          <a:bodyPr/>
          <a:lstStyle/>
          <a:p>
            <a:pPr algn="just" eaLnBrk="1" hangingPunct="1"/>
            <a:r>
              <a:rPr lang="en-US" altLang="en-US" dirty="0">
                <a:latin typeface="Comic Sans MS" panose="030F0702030302020204" pitchFamily="66" charset="0"/>
              </a:rPr>
              <a:t>In terms of their </a:t>
            </a:r>
            <a:r>
              <a:rPr lang="en-US" altLang="en-US" dirty="0">
                <a:solidFill>
                  <a:srgbClr val="FF0000"/>
                </a:solidFill>
                <a:latin typeface="Comic Sans MS" panose="030F0702030302020204" pitchFamily="66" charset="0"/>
              </a:rPr>
              <a:t>location </a:t>
            </a:r>
            <a:r>
              <a:rPr lang="en-US" altLang="en-US" dirty="0">
                <a:latin typeface="Comic Sans MS" panose="030F0702030302020204" pitchFamily="66" charset="0"/>
              </a:rPr>
              <a:t>ecosystems can be</a:t>
            </a:r>
          </a:p>
          <a:p>
            <a:pPr algn="just" eaLnBrk="1" hangingPunct="1"/>
            <a:endParaRPr lang="en-US" altLang="en-US" dirty="0">
              <a:latin typeface="Comic Sans MS" panose="030F0702030302020204" pitchFamily="66" charset="0"/>
            </a:endParaRPr>
          </a:p>
          <a:p>
            <a:pPr eaLnBrk="1" hangingPunct="1">
              <a:lnSpc>
                <a:spcPct val="90000"/>
              </a:lnSpc>
            </a:pPr>
            <a:r>
              <a:rPr lang="en-US" altLang="en-US" dirty="0">
                <a:latin typeface="Comic Sans MS" panose="030F0702030302020204" pitchFamily="66" charset="0"/>
              </a:rPr>
              <a:t>Terrestrial ecosystem : related to land</a:t>
            </a:r>
          </a:p>
          <a:p>
            <a:pPr lvl="1" eaLnBrk="1" hangingPunct="1">
              <a:lnSpc>
                <a:spcPct val="90000"/>
              </a:lnSpc>
            </a:pPr>
            <a:r>
              <a:rPr lang="en-US" altLang="en-US" sz="2400" dirty="0">
                <a:latin typeface="Comic Sans MS" panose="030F0702030302020204" pitchFamily="66" charset="0"/>
              </a:rPr>
              <a:t>Forest</a:t>
            </a:r>
          </a:p>
          <a:p>
            <a:pPr lvl="1" eaLnBrk="1" hangingPunct="1">
              <a:lnSpc>
                <a:spcPct val="90000"/>
              </a:lnSpc>
            </a:pPr>
            <a:r>
              <a:rPr lang="en-US" altLang="en-US" sz="2400" dirty="0">
                <a:latin typeface="Comic Sans MS" panose="030F0702030302020204" pitchFamily="66" charset="0"/>
              </a:rPr>
              <a:t>Mountain</a:t>
            </a:r>
          </a:p>
          <a:p>
            <a:pPr lvl="1" eaLnBrk="1" hangingPunct="1">
              <a:lnSpc>
                <a:spcPct val="90000"/>
              </a:lnSpc>
            </a:pPr>
            <a:r>
              <a:rPr lang="en-US" altLang="en-US" sz="2400" dirty="0">
                <a:latin typeface="Comic Sans MS" panose="030F0702030302020204" pitchFamily="66" charset="0"/>
              </a:rPr>
              <a:t>Desert</a:t>
            </a:r>
          </a:p>
          <a:p>
            <a:pPr lvl="1" eaLnBrk="1" hangingPunct="1">
              <a:lnSpc>
                <a:spcPct val="90000"/>
              </a:lnSpc>
            </a:pPr>
            <a:r>
              <a:rPr lang="en-US" altLang="en-US" sz="2400" dirty="0">
                <a:latin typeface="Comic Sans MS" panose="030F0702030302020204" pitchFamily="66" charset="0"/>
              </a:rPr>
              <a:t>Grassland</a:t>
            </a:r>
          </a:p>
          <a:p>
            <a:pPr lvl="1" eaLnBrk="1" hangingPunct="1">
              <a:lnSpc>
                <a:spcPct val="90000"/>
              </a:lnSpc>
            </a:pPr>
            <a:r>
              <a:rPr lang="en-US" altLang="en-US" sz="2400" dirty="0">
                <a:latin typeface="Comic Sans MS" panose="030F0702030302020204" pitchFamily="66" charset="0"/>
              </a:rPr>
              <a:t>Urban ecosystem</a:t>
            </a:r>
          </a:p>
          <a:p>
            <a:pPr lvl="1" eaLnBrk="1" hangingPunct="1">
              <a:lnSpc>
                <a:spcPct val="90000"/>
              </a:lnSpc>
              <a:buFont typeface="Wingdings 2" panose="05020102010507070707" pitchFamily="18" charset="2"/>
              <a:buNone/>
            </a:pPr>
            <a:endParaRPr lang="en-US" altLang="en-US" sz="2400" dirty="0">
              <a:latin typeface="Comic Sans MS" panose="030F0702030302020204" pitchFamily="66" charset="0"/>
            </a:endParaRPr>
          </a:p>
          <a:p>
            <a:pPr eaLnBrk="1" hangingPunct="1">
              <a:lnSpc>
                <a:spcPct val="90000"/>
              </a:lnSpc>
            </a:pPr>
            <a:r>
              <a:rPr lang="en-US" altLang="en-US" dirty="0">
                <a:latin typeface="Comic Sans MS" panose="030F0702030302020204" pitchFamily="66" charset="0"/>
              </a:rPr>
              <a:t>Aquatic ecosystem : related to water</a:t>
            </a:r>
          </a:p>
          <a:p>
            <a:pPr lvl="1" eaLnBrk="1" hangingPunct="1">
              <a:lnSpc>
                <a:spcPct val="90000"/>
              </a:lnSpc>
            </a:pPr>
            <a:r>
              <a:rPr lang="en-US" altLang="en-US" sz="2400" dirty="0">
                <a:latin typeface="Comic Sans MS" panose="030F0702030302020204" pitchFamily="66" charset="0"/>
              </a:rPr>
              <a:t>Marine- Ocean</a:t>
            </a:r>
          </a:p>
          <a:p>
            <a:pPr lvl="1" eaLnBrk="1" hangingPunct="1">
              <a:lnSpc>
                <a:spcPct val="90000"/>
              </a:lnSpc>
            </a:pPr>
            <a:r>
              <a:rPr lang="en-US" altLang="en-US" sz="2400" dirty="0">
                <a:latin typeface="Comic Sans MS" panose="030F0702030302020204" pitchFamily="66" charset="0"/>
              </a:rPr>
              <a:t>Freshwater- ponds, lakes, rivers etc. </a:t>
            </a:r>
          </a:p>
          <a:p>
            <a:pPr lvl="1" eaLnBrk="1" hangingPunct="1">
              <a:lnSpc>
                <a:spcPct val="90000"/>
              </a:lnSpc>
              <a:buFont typeface="Wingdings 2" panose="05020102010507070707" pitchFamily="18" charset="2"/>
              <a:buNone/>
            </a:pPr>
            <a:endParaRPr lang="en-US" altLang="en-US" sz="2200" dirty="0">
              <a:latin typeface="Comic Sans MS" panose="030F0702030302020204" pitchFamily="66" charset="0"/>
            </a:endParaRPr>
          </a:p>
          <a:p>
            <a:pPr eaLnBrk="1" hangingPunct="1"/>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4338">
                                            <p:txEl>
                                              <p:pRg st="0" end="0"/>
                                            </p:txEl>
                                          </p:spTgt>
                                        </p:tgtEl>
                                        <p:attrNameLst>
                                          <p:attrName>style.visibility</p:attrName>
                                        </p:attrNameLst>
                                      </p:cBhvr>
                                      <p:to>
                                        <p:strVal val="visible"/>
                                      </p:to>
                                    </p:set>
                                    <p:animEffect transition="in" filter="barn(inVertical)">
                                      <p:cBhvr>
                                        <p:cTn id="7" dur="500"/>
                                        <p:tgtEl>
                                          <p:spTgt spid="1433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4338">
                                            <p:txEl>
                                              <p:pRg st="2" end="2"/>
                                            </p:txEl>
                                          </p:spTgt>
                                        </p:tgtEl>
                                        <p:attrNameLst>
                                          <p:attrName>style.visibility</p:attrName>
                                        </p:attrNameLst>
                                      </p:cBhvr>
                                      <p:to>
                                        <p:strVal val="visible"/>
                                      </p:to>
                                    </p:set>
                                    <p:animEffect transition="in" filter="fade">
                                      <p:cBhvr>
                                        <p:cTn id="12" dur="1000"/>
                                        <p:tgtEl>
                                          <p:spTgt spid="14338">
                                            <p:txEl>
                                              <p:pRg st="2" end="2"/>
                                            </p:txEl>
                                          </p:spTgt>
                                        </p:tgtEl>
                                      </p:cBhvr>
                                    </p:animEffect>
                                    <p:anim calcmode="lin" valueType="num">
                                      <p:cBhvr>
                                        <p:cTn id="13" dur="1000" fill="hold"/>
                                        <p:tgtEl>
                                          <p:spTgt spid="14338">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433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4338">
                                            <p:txEl>
                                              <p:pRg st="3" end="3"/>
                                            </p:txEl>
                                          </p:spTgt>
                                        </p:tgtEl>
                                        <p:attrNameLst>
                                          <p:attrName>style.visibility</p:attrName>
                                        </p:attrNameLst>
                                      </p:cBhvr>
                                      <p:to>
                                        <p:strVal val="visible"/>
                                      </p:to>
                                    </p:set>
                                    <p:animEffect transition="in" filter="fade">
                                      <p:cBhvr>
                                        <p:cTn id="19" dur="1000"/>
                                        <p:tgtEl>
                                          <p:spTgt spid="14338">
                                            <p:txEl>
                                              <p:pRg st="3" end="3"/>
                                            </p:txEl>
                                          </p:spTgt>
                                        </p:tgtEl>
                                      </p:cBhvr>
                                    </p:animEffect>
                                    <p:anim calcmode="lin" valueType="num">
                                      <p:cBhvr>
                                        <p:cTn id="20" dur="1000" fill="hold"/>
                                        <p:tgtEl>
                                          <p:spTgt spid="14338">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1433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4338">
                                            <p:txEl>
                                              <p:pRg st="4" end="4"/>
                                            </p:txEl>
                                          </p:spTgt>
                                        </p:tgtEl>
                                        <p:attrNameLst>
                                          <p:attrName>style.visibility</p:attrName>
                                        </p:attrNameLst>
                                      </p:cBhvr>
                                      <p:to>
                                        <p:strVal val="visible"/>
                                      </p:to>
                                    </p:set>
                                    <p:animEffect transition="in" filter="fade">
                                      <p:cBhvr>
                                        <p:cTn id="26" dur="1000"/>
                                        <p:tgtEl>
                                          <p:spTgt spid="14338">
                                            <p:txEl>
                                              <p:pRg st="4" end="4"/>
                                            </p:txEl>
                                          </p:spTgt>
                                        </p:tgtEl>
                                      </p:cBhvr>
                                    </p:animEffect>
                                    <p:anim calcmode="lin" valueType="num">
                                      <p:cBhvr>
                                        <p:cTn id="27" dur="1000" fill="hold"/>
                                        <p:tgtEl>
                                          <p:spTgt spid="14338">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1433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4338">
                                            <p:txEl>
                                              <p:pRg st="5" end="5"/>
                                            </p:txEl>
                                          </p:spTgt>
                                        </p:tgtEl>
                                        <p:attrNameLst>
                                          <p:attrName>style.visibility</p:attrName>
                                        </p:attrNameLst>
                                      </p:cBhvr>
                                      <p:to>
                                        <p:strVal val="visible"/>
                                      </p:to>
                                    </p:set>
                                    <p:animEffect transition="in" filter="fade">
                                      <p:cBhvr>
                                        <p:cTn id="33" dur="1000"/>
                                        <p:tgtEl>
                                          <p:spTgt spid="14338">
                                            <p:txEl>
                                              <p:pRg st="5" end="5"/>
                                            </p:txEl>
                                          </p:spTgt>
                                        </p:tgtEl>
                                      </p:cBhvr>
                                    </p:animEffect>
                                    <p:anim calcmode="lin" valueType="num">
                                      <p:cBhvr>
                                        <p:cTn id="34" dur="1000" fill="hold"/>
                                        <p:tgtEl>
                                          <p:spTgt spid="14338">
                                            <p:txEl>
                                              <p:pRg st="5" end="5"/>
                                            </p:txEl>
                                          </p:spTgt>
                                        </p:tgtEl>
                                        <p:attrNameLst>
                                          <p:attrName>ppt_x</p:attrName>
                                        </p:attrNameLst>
                                      </p:cBhvr>
                                      <p:tavLst>
                                        <p:tav tm="0">
                                          <p:val>
                                            <p:strVal val="#ppt_x"/>
                                          </p:val>
                                        </p:tav>
                                        <p:tav tm="100000">
                                          <p:val>
                                            <p:strVal val="#ppt_x"/>
                                          </p:val>
                                        </p:tav>
                                      </p:tavLst>
                                    </p:anim>
                                    <p:anim calcmode="lin" valueType="num">
                                      <p:cBhvr>
                                        <p:cTn id="35" dur="1000" fill="hold"/>
                                        <p:tgtEl>
                                          <p:spTgt spid="14338">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4338">
                                            <p:txEl>
                                              <p:pRg st="6" end="6"/>
                                            </p:txEl>
                                          </p:spTgt>
                                        </p:tgtEl>
                                        <p:attrNameLst>
                                          <p:attrName>style.visibility</p:attrName>
                                        </p:attrNameLst>
                                      </p:cBhvr>
                                      <p:to>
                                        <p:strVal val="visible"/>
                                      </p:to>
                                    </p:set>
                                    <p:animEffect transition="in" filter="fade">
                                      <p:cBhvr>
                                        <p:cTn id="40" dur="1000"/>
                                        <p:tgtEl>
                                          <p:spTgt spid="14338">
                                            <p:txEl>
                                              <p:pRg st="6" end="6"/>
                                            </p:txEl>
                                          </p:spTgt>
                                        </p:tgtEl>
                                      </p:cBhvr>
                                    </p:animEffect>
                                    <p:anim calcmode="lin" valueType="num">
                                      <p:cBhvr>
                                        <p:cTn id="41" dur="1000" fill="hold"/>
                                        <p:tgtEl>
                                          <p:spTgt spid="14338">
                                            <p:txEl>
                                              <p:pRg st="6" end="6"/>
                                            </p:txEl>
                                          </p:spTgt>
                                        </p:tgtEl>
                                        <p:attrNameLst>
                                          <p:attrName>ppt_x</p:attrName>
                                        </p:attrNameLst>
                                      </p:cBhvr>
                                      <p:tavLst>
                                        <p:tav tm="0">
                                          <p:val>
                                            <p:strVal val="#ppt_x"/>
                                          </p:val>
                                        </p:tav>
                                        <p:tav tm="100000">
                                          <p:val>
                                            <p:strVal val="#ppt_x"/>
                                          </p:val>
                                        </p:tav>
                                      </p:tavLst>
                                    </p:anim>
                                    <p:anim calcmode="lin" valueType="num">
                                      <p:cBhvr>
                                        <p:cTn id="42" dur="1000" fill="hold"/>
                                        <p:tgtEl>
                                          <p:spTgt spid="1433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4338">
                                            <p:txEl>
                                              <p:pRg st="7" end="7"/>
                                            </p:txEl>
                                          </p:spTgt>
                                        </p:tgtEl>
                                        <p:attrNameLst>
                                          <p:attrName>style.visibility</p:attrName>
                                        </p:attrNameLst>
                                      </p:cBhvr>
                                      <p:to>
                                        <p:strVal val="visible"/>
                                      </p:to>
                                    </p:set>
                                    <p:animEffect transition="in" filter="fade">
                                      <p:cBhvr>
                                        <p:cTn id="47" dur="1000"/>
                                        <p:tgtEl>
                                          <p:spTgt spid="14338">
                                            <p:txEl>
                                              <p:pRg st="7" end="7"/>
                                            </p:txEl>
                                          </p:spTgt>
                                        </p:tgtEl>
                                      </p:cBhvr>
                                    </p:animEffect>
                                    <p:anim calcmode="lin" valueType="num">
                                      <p:cBhvr>
                                        <p:cTn id="48" dur="1000" fill="hold"/>
                                        <p:tgtEl>
                                          <p:spTgt spid="14338">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1433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4338">
                                            <p:txEl>
                                              <p:pRg st="9" end="9"/>
                                            </p:txEl>
                                          </p:spTgt>
                                        </p:tgtEl>
                                        <p:attrNameLst>
                                          <p:attrName>style.visibility</p:attrName>
                                        </p:attrNameLst>
                                      </p:cBhvr>
                                      <p:to>
                                        <p:strVal val="visible"/>
                                      </p:to>
                                    </p:set>
                                    <p:anim calcmode="lin" valueType="num">
                                      <p:cBhvr additive="base">
                                        <p:cTn id="54" dur="500" fill="hold"/>
                                        <p:tgtEl>
                                          <p:spTgt spid="14338">
                                            <p:txEl>
                                              <p:pRg st="9" end="9"/>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433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nodeType="clickEffect">
                                  <p:stCondLst>
                                    <p:cond delay="0"/>
                                  </p:stCondLst>
                                  <p:childTnLst>
                                    <p:set>
                                      <p:cBhvr>
                                        <p:cTn id="59" dur="1" fill="hold">
                                          <p:stCondLst>
                                            <p:cond delay="0"/>
                                          </p:stCondLst>
                                        </p:cTn>
                                        <p:tgtEl>
                                          <p:spTgt spid="14338">
                                            <p:txEl>
                                              <p:pRg st="10" end="10"/>
                                            </p:txEl>
                                          </p:spTgt>
                                        </p:tgtEl>
                                        <p:attrNameLst>
                                          <p:attrName>style.visibility</p:attrName>
                                        </p:attrNameLst>
                                      </p:cBhvr>
                                      <p:to>
                                        <p:strVal val="visible"/>
                                      </p:to>
                                    </p:set>
                                    <p:animEffect transition="in" filter="fade">
                                      <p:cBhvr>
                                        <p:cTn id="60" dur="1000"/>
                                        <p:tgtEl>
                                          <p:spTgt spid="14338">
                                            <p:txEl>
                                              <p:pRg st="10" end="10"/>
                                            </p:txEl>
                                          </p:spTgt>
                                        </p:tgtEl>
                                      </p:cBhvr>
                                    </p:animEffect>
                                    <p:anim calcmode="lin" valueType="num">
                                      <p:cBhvr>
                                        <p:cTn id="61" dur="1000" fill="hold"/>
                                        <p:tgtEl>
                                          <p:spTgt spid="14338">
                                            <p:txEl>
                                              <p:pRg st="10" end="10"/>
                                            </p:txEl>
                                          </p:spTgt>
                                        </p:tgtEl>
                                        <p:attrNameLst>
                                          <p:attrName>ppt_x</p:attrName>
                                        </p:attrNameLst>
                                      </p:cBhvr>
                                      <p:tavLst>
                                        <p:tav tm="0">
                                          <p:val>
                                            <p:strVal val="#ppt_x"/>
                                          </p:val>
                                        </p:tav>
                                        <p:tav tm="100000">
                                          <p:val>
                                            <p:strVal val="#ppt_x"/>
                                          </p:val>
                                        </p:tav>
                                      </p:tavLst>
                                    </p:anim>
                                    <p:anim calcmode="lin" valueType="num">
                                      <p:cBhvr>
                                        <p:cTn id="62" dur="1000" fill="hold"/>
                                        <p:tgtEl>
                                          <p:spTgt spid="14338">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14338">
                                            <p:txEl>
                                              <p:pRg st="11" end="11"/>
                                            </p:txEl>
                                          </p:spTgt>
                                        </p:tgtEl>
                                        <p:attrNameLst>
                                          <p:attrName>style.visibility</p:attrName>
                                        </p:attrNameLst>
                                      </p:cBhvr>
                                      <p:to>
                                        <p:strVal val="visible"/>
                                      </p:to>
                                    </p:set>
                                    <p:animEffect transition="in" filter="fade">
                                      <p:cBhvr>
                                        <p:cTn id="67" dur="1000"/>
                                        <p:tgtEl>
                                          <p:spTgt spid="14338">
                                            <p:txEl>
                                              <p:pRg st="11" end="11"/>
                                            </p:txEl>
                                          </p:spTgt>
                                        </p:tgtEl>
                                      </p:cBhvr>
                                    </p:animEffect>
                                    <p:anim calcmode="lin" valueType="num">
                                      <p:cBhvr>
                                        <p:cTn id="68" dur="1000" fill="hold"/>
                                        <p:tgtEl>
                                          <p:spTgt spid="14338">
                                            <p:txEl>
                                              <p:pRg st="11" end="11"/>
                                            </p:txEl>
                                          </p:spTgt>
                                        </p:tgtEl>
                                        <p:attrNameLst>
                                          <p:attrName>ppt_x</p:attrName>
                                        </p:attrNameLst>
                                      </p:cBhvr>
                                      <p:tavLst>
                                        <p:tav tm="0">
                                          <p:val>
                                            <p:strVal val="#ppt_x"/>
                                          </p:val>
                                        </p:tav>
                                        <p:tav tm="100000">
                                          <p:val>
                                            <p:strVal val="#ppt_x"/>
                                          </p:val>
                                        </p:tav>
                                      </p:tavLst>
                                    </p:anim>
                                    <p:anim calcmode="lin" valueType="num">
                                      <p:cBhvr>
                                        <p:cTn id="69" dur="1000" fill="hold"/>
                                        <p:tgtEl>
                                          <p:spTgt spid="14338">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a:extLst>
              <a:ext uri="{FF2B5EF4-FFF2-40B4-BE49-F238E27FC236}">
                <a16:creationId xmlns:a16="http://schemas.microsoft.com/office/drawing/2014/main" id="{55178D71-3E1F-4CC7-8CAD-0A7E3B3CE58A}"/>
              </a:ext>
            </a:extLst>
          </p:cNvPr>
          <p:cNvSpPr>
            <a:spLocks noGrp="1"/>
          </p:cNvSpPr>
          <p:nvPr>
            <p:ph sz="quarter" idx="1"/>
          </p:nvPr>
        </p:nvSpPr>
        <p:spPr>
          <a:xfrm>
            <a:off x="762000" y="381000"/>
            <a:ext cx="7620000" cy="6096000"/>
          </a:xfrm>
        </p:spPr>
        <p:txBody>
          <a:bodyPr>
            <a:normAutofit/>
          </a:bodyPr>
          <a:lstStyle/>
          <a:p>
            <a:pPr algn="just" eaLnBrk="1" hangingPunct="1">
              <a:buClr>
                <a:schemeClr val="tx1"/>
              </a:buClr>
              <a:buFont typeface="Wingdings" panose="05000000000000000000" pitchFamily="2" charset="2"/>
              <a:buChar char="§"/>
              <a:tabLst>
                <a:tab pos="2854325" algn="l"/>
                <a:tab pos="3892550" algn="l"/>
              </a:tabLst>
            </a:pPr>
            <a:endParaRPr lang="en-US" altLang="en-US" dirty="0">
              <a:solidFill>
                <a:srgbClr val="FF0000"/>
              </a:solidFill>
              <a:latin typeface="Comic Sans MS" panose="030F0702030302020204" pitchFamily="66" charset="0"/>
            </a:endParaRPr>
          </a:p>
          <a:p>
            <a:pPr algn="just" eaLnBrk="1" hangingPunct="1">
              <a:buClr>
                <a:schemeClr val="tx1"/>
              </a:buClr>
              <a:buFont typeface="Wingdings" panose="05000000000000000000" pitchFamily="2" charset="2"/>
              <a:buChar char="§"/>
            </a:pPr>
            <a:r>
              <a:rPr lang="en-US" altLang="en-US" dirty="0">
                <a:solidFill>
                  <a:srgbClr val="FF0000"/>
                </a:solidFill>
                <a:latin typeface="Comic Sans MS" panose="030F0702030302020204" pitchFamily="66" charset="0"/>
              </a:rPr>
              <a:t>Structure:</a:t>
            </a:r>
            <a:endParaRPr lang="en-US" altLang="en-US" dirty="0">
              <a:latin typeface="Comic Sans MS" panose="030F0702030302020204" pitchFamily="66" charset="0"/>
            </a:endParaRPr>
          </a:p>
          <a:p>
            <a:pPr algn="just" eaLnBrk="1" hangingPunct="1">
              <a:buFont typeface="Arial" panose="020B0604020202020204" pitchFamily="34" charset="0"/>
              <a:buNone/>
            </a:pPr>
            <a:r>
              <a:rPr lang="en-US" altLang="en-US" dirty="0">
                <a:latin typeface="Comic Sans MS" panose="030F0702030302020204" pitchFamily="66" charset="0"/>
              </a:rPr>
              <a:t>	Two types of components make up the ecosystem: </a:t>
            </a:r>
          </a:p>
          <a:p>
            <a:pPr algn="just" eaLnBrk="1" hangingPunct="1">
              <a:buFont typeface="Arial" panose="020B0604020202020204" pitchFamily="34" charset="0"/>
              <a:buNone/>
            </a:pPr>
            <a:r>
              <a:rPr lang="en-US" altLang="en-US" dirty="0">
                <a:solidFill>
                  <a:srgbClr val="FF6600"/>
                </a:solidFill>
                <a:latin typeface="Comic Sans MS" panose="030F0702030302020204" pitchFamily="66" charset="0"/>
              </a:rPr>
              <a:t>		</a:t>
            </a:r>
            <a:r>
              <a:rPr lang="en-US" altLang="en-US" dirty="0">
                <a:solidFill>
                  <a:srgbClr val="002060"/>
                </a:solidFill>
                <a:latin typeface="Comic Sans MS" panose="030F0702030302020204" pitchFamily="66" charset="0"/>
              </a:rPr>
              <a:t>Abiotic or nonliving components </a:t>
            </a:r>
            <a:r>
              <a:rPr lang="en-US" altLang="en-US" dirty="0">
                <a:latin typeface="Comic Sans MS" panose="030F0702030302020204" pitchFamily="66" charset="0"/>
              </a:rPr>
              <a:t>such as water, air, nutrients &amp; 	solar energy. Also known as </a:t>
            </a:r>
            <a:r>
              <a:rPr lang="en-US" altLang="en-US" dirty="0" err="1">
                <a:latin typeface="Comic Sans MS" panose="030F0702030302020204" pitchFamily="66" charset="0"/>
              </a:rPr>
              <a:t>physico</a:t>
            </a:r>
            <a:r>
              <a:rPr lang="en-US" altLang="en-US" dirty="0">
                <a:latin typeface="Comic Sans MS" panose="030F0702030302020204" pitchFamily="66" charset="0"/>
              </a:rPr>
              <a:t>-chemical environment. </a:t>
            </a:r>
          </a:p>
          <a:p>
            <a:pPr algn="just" eaLnBrk="1" hangingPunct="1">
              <a:buFont typeface="Arial" panose="020B0604020202020204" pitchFamily="34" charset="0"/>
              <a:buNone/>
            </a:pPr>
            <a:r>
              <a:rPr lang="en-US" altLang="en-US" dirty="0">
                <a:latin typeface="Comic Sans MS" panose="030F0702030302020204" pitchFamily="66" charset="0"/>
              </a:rPr>
              <a:t>		</a:t>
            </a:r>
            <a:r>
              <a:rPr lang="en-US" altLang="en-US" dirty="0">
                <a:solidFill>
                  <a:srgbClr val="002060"/>
                </a:solidFill>
                <a:latin typeface="Comic Sans MS" panose="030F0702030302020204" pitchFamily="66" charset="0"/>
              </a:rPr>
              <a:t>Biotic or living components </a:t>
            </a:r>
            <a:r>
              <a:rPr lang="en-US" altLang="en-US" dirty="0">
                <a:latin typeface="Comic Sans MS" panose="030F0702030302020204" pitchFamily="66" charset="0"/>
              </a:rPr>
              <a:t>such as plants, animals 	and microbes. Also known as ecological community. </a:t>
            </a:r>
          </a:p>
          <a:p>
            <a:pPr marL="0" indent="0">
              <a:buNone/>
            </a:pPr>
            <a:endParaRPr lang="en-US" altLang="en-US" dirty="0">
              <a:latin typeface="Comic Sans MS" panose="030F0702030302020204" pitchFamily="66" charset="0"/>
            </a:endParaRPr>
          </a:p>
          <a:p>
            <a:pPr lvl="1" algn="just" eaLnBrk="1" hangingPunct="1">
              <a:buClr>
                <a:srgbClr val="000000"/>
              </a:buClr>
              <a:buFont typeface="Courier New" panose="02070309020205020404" pitchFamily="49" charset="0"/>
              <a:buChar char="o"/>
            </a:pPr>
            <a:endParaRPr lang="en-GB" altLang="en-US" sz="2400" dirty="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5363">
                                            <p:txEl>
                                              <p:pRg st="1" end="1"/>
                                            </p:txEl>
                                          </p:spTgt>
                                        </p:tgtEl>
                                        <p:attrNameLst>
                                          <p:attrName>style.visibility</p:attrName>
                                        </p:attrNameLst>
                                      </p:cBhvr>
                                      <p:to>
                                        <p:strVal val="visible"/>
                                      </p:to>
                                    </p:set>
                                    <p:animEffect transition="in" filter="fade">
                                      <p:cBhvr>
                                        <p:cTn id="7" dur="1000"/>
                                        <p:tgtEl>
                                          <p:spTgt spid="15363">
                                            <p:txEl>
                                              <p:pRg st="1" end="1"/>
                                            </p:txEl>
                                          </p:spTgt>
                                        </p:tgtEl>
                                      </p:cBhvr>
                                    </p:animEffect>
                                    <p:anim calcmode="lin" valueType="num">
                                      <p:cBhvr>
                                        <p:cTn id="8" dur="10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153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5363">
                                            <p:txEl>
                                              <p:pRg st="2" end="2"/>
                                            </p:txEl>
                                          </p:spTgt>
                                        </p:tgtEl>
                                        <p:attrNameLst>
                                          <p:attrName>style.visibility</p:attrName>
                                        </p:attrNameLst>
                                      </p:cBhvr>
                                      <p:to>
                                        <p:strVal val="visible"/>
                                      </p:to>
                                    </p:set>
                                    <p:animEffect transition="in" filter="fade">
                                      <p:cBhvr>
                                        <p:cTn id="14" dur="1000"/>
                                        <p:tgtEl>
                                          <p:spTgt spid="15363">
                                            <p:txEl>
                                              <p:pRg st="2" end="2"/>
                                            </p:txEl>
                                          </p:spTgt>
                                        </p:tgtEl>
                                      </p:cBhvr>
                                    </p:animEffect>
                                    <p:anim calcmode="lin" valueType="num">
                                      <p:cBhvr>
                                        <p:cTn id="15" dur="10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153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5363">
                                            <p:txEl>
                                              <p:pRg st="3" end="3"/>
                                            </p:txEl>
                                          </p:spTgt>
                                        </p:tgtEl>
                                        <p:attrNameLst>
                                          <p:attrName>style.visibility</p:attrName>
                                        </p:attrNameLst>
                                      </p:cBhvr>
                                      <p:to>
                                        <p:strVal val="visible"/>
                                      </p:to>
                                    </p:set>
                                    <p:animEffect transition="in" filter="fade">
                                      <p:cBhvr>
                                        <p:cTn id="21" dur="1000"/>
                                        <p:tgtEl>
                                          <p:spTgt spid="15363">
                                            <p:txEl>
                                              <p:pRg st="3" end="3"/>
                                            </p:txEl>
                                          </p:spTgt>
                                        </p:tgtEl>
                                      </p:cBhvr>
                                    </p:animEffect>
                                    <p:anim calcmode="lin" valueType="num">
                                      <p:cBhvr>
                                        <p:cTn id="22" dur="10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153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5363">
                                            <p:txEl>
                                              <p:pRg st="4" end="4"/>
                                            </p:txEl>
                                          </p:spTgt>
                                        </p:tgtEl>
                                        <p:attrNameLst>
                                          <p:attrName>style.visibility</p:attrName>
                                        </p:attrNameLst>
                                      </p:cBhvr>
                                      <p:to>
                                        <p:strVal val="visible"/>
                                      </p:to>
                                    </p:set>
                                    <p:animEffect transition="in" filter="fade">
                                      <p:cBhvr>
                                        <p:cTn id="28" dur="1000"/>
                                        <p:tgtEl>
                                          <p:spTgt spid="15363">
                                            <p:txEl>
                                              <p:pRg st="4" end="4"/>
                                            </p:txEl>
                                          </p:spTgt>
                                        </p:tgtEl>
                                      </p:cBhvr>
                                    </p:animEffect>
                                    <p:anim calcmode="lin" valueType="num">
                                      <p:cBhvr>
                                        <p:cTn id="29" dur="10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1536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627850-7699-4E9F-BA72-D79A75FB6AF0}"/>
              </a:ext>
            </a:extLst>
          </p:cNvPr>
          <p:cNvSpPr>
            <a:spLocks noGrp="1"/>
          </p:cNvSpPr>
          <p:nvPr>
            <p:ph sz="quarter" idx="1"/>
          </p:nvPr>
        </p:nvSpPr>
        <p:spPr>
          <a:xfrm>
            <a:off x="1066800" y="747842"/>
            <a:ext cx="7467600" cy="6092952"/>
          </a:xfrm>
        </p:spPr>
        <p:txBody>
          <a:bodyPr>
            <a:normAutofit fontScale="85000" lnSpcReduction="20000"/>
          </a:bodyPr>
          <a:lstStyle/>
          <a:p>
            <a:pPr algn="just" eaLnBrk="1" hangingPunct="1">
              <a:buClr>
                <a:srgbClr val="000000"/>
              </a:buClr>
              <a:buFont typeface="Wingdings" panose="05000000000000000000" pitchFamily="2" charset="2"/>
              <a:buChar char="§"/>
            </a:pPr>
            <a:r>
              <a:rPr lang="en-US" altLang="en-US" sz="2600" dirty="0">
                <a:solidFill>
                  <a:srgbClr val="002060"/>
                </a:solidFill>
                <a:latin typeface="Comic Sans MS" panose="030F0702030302020204" pitchFamily="66" charset="0"/>
              </a:rPr>
              <a:t>Processes:</a:t>
            </a:r>
          </a:p>
          <a:p>
            <a:r>
              <a:rPr lang="en-US" altLang="en-US" sz="2600" dirty="0">
                <a:solidFill>
                  <a:srgbClr val="002060"/>
                </a:solidFill>
                <a:latin typeface="Comic Sans MS" panose="030F0702030302020204" pitchFamily="66" charset="0"/>
              </a:rPr>
              <a:t>Ecosystems are controlled both by external and internal factors. </a:t>
            </a:r>
          </a:p>
          <a:p>
            <a:r>
              <a:rPr lang="en-US" altLang="en-US" sz="2600" dirty="0">
                <a:solidFill>
                  <a:srgbClr val="002060"/>
                </a:solidFill>
                <a:latin typeface="Comic Sans MS" panose="030F0702030302020204" pitchFamily="66" charset="0"/>
              </a:rPr>
              <a:t>External factors are</a:t>
            </a:r>
          </a:p>
          <a:p>
            <a:pPr lvl="1"/>
            <a:r>
              <a:rPr lang="en-US" altLang="en-US" sz="2600" dirty="0">
                <a:solidFill>
                  <a:srgbClr val="002060"/>
                </a:solidFill>
                <a:latin typeface="Comic Sans MS" panose="030F0702030302020204" pitchFamily="66" charset="0"/>
              </a:rPr>
              <a:t>Climate</a:t>
            </a:r>
          </a:p>
          <a:p>
            <a:pPr lvl="1"/>
            <a:r>
              <a:rPr lang="en-US" altLang="en-US" sz="2600" dirty="0">
                <a:solidFill>
                  <a:srgbClr val="002060"/>
                </a:solidFill>
                <a:latin typeface="Comic Sans MS" panose="030F0702030302020204" pitchFamily="66" charset="0"/>
              </a:rPr>
              <a:t>Parent material</a:t>
            </a:r>
          </a:p>
          <a:p>
            <a:pPr lvl="1"/>
            <a:r>
              <a:rPr lang="en-US" altLang="en-US" sz="2600" dirty="0">
                <a:solidFill>
                  <a:srgbClr val="002060"/>
                </a:solidFill>
                <a:latin typeface="Comic Sans MS" panose="030F0702030302020204" pitchFamily="66" charset="0"/>
              </a:rPr>
              <a:t>Topography</a:t>
            </a:r>
          </a:p>
          <a:p>
            <a:pPr lvl="1"/>
            <a:r>
              <a:rPr lang="en-US" altLang="en-US" sz="2600" dirty="0">
                <a:solidFill>
                  <a:srgbClr val="002060"/>
                </a:solidFill>
                <a:latin typeface="Comic Sans MS" panose="030F0702030302020204" pitchFamily="66" charset="0"/>
              </a:rPr>
              <a:t>Time</a:t>
            </a:r>
          </a:p>
          <a:p>
            <a:pPr lvl="1"/>
            <a:r>
              <a:rPr lang="en-US" altLang="en-US" sz="2600" dirty="0">
                <a:solidFill>
                  <a:srgbClr val="002060"/>
                </a:solidFill>
                <a:latin typeface="Comic Sans MS" panose="030F0702030302020204" pitchFamily="66" charset="0"/>
              </a:rPr>
              <a:t>Biota</a:t>
            </a:r>
          </a:p>
          <a:p>
            <a:pPr marL="366713" lvl="1" indent="0">
              <a:buNone/>
            </a:pPr>
            <a:r>
              <a:rPr lang="en-US" altLang="en-US" sz="2600" dirty="0">
                <a:solidFill>
                  <a:srgbClr val="002060"/>
                </a:solidFill>
                <a:latin typeface="Comic Sans MS" panose="030F0702030302020204" pitchFamily="66" charset="0"/>
              </a:rPr>
              <a:t>Internal factors are</a:t>
            </a:r>
          </a:p>
          <a:p>
            <a:pPr lvl="1"/>
            <a:r>
              <a:rPr lang="en-US" altLang="en-US" sz="2600" dirty="0">
                <a:solidFill>
                  <a:srgbClr val="002060"/>
                </a:solidFill>
                <a:latin typeface="Comic Sans MS" panose="030F0702030302020204" pitchFamily="66" charset="0"/>
              </a:rPr>
              <a:t>Decomposition</a:t>
            </a:r>
          </a:p>
          <a:p>
            <a:pPr lvl="1"/>
            <a:r>
              <a:rPr lang="en-US" altLang="en-US" sz="2600" dirty="0">
                <a:solidFill>
                  <a:srgbClr val="002060"/>
                </a:solidFill>
                <a:latin typeface="Comic Sans MS" panose="030F0702030302020204" pitchFamily="66" charset="0"/>
              </a:rPr>
              <a:t>Root competition</a:t>
            </a:r>
          </a:p>
          <a:p>
            <a:pPr lvl="1"/>
            <a:r>
              <a:rPr lang="en-US" altLang="en-US" sz="2600" dirty="0">
                <a:solidFill>
                  <a:srgbClr val="002060"/>
                </a:solidFill>
                <a:latin typeface="Comic Sans MS" panose="030F0702030302020204" pitchFamily="66" charset="0"/>
              </a:rPr>
              <a:t>Disturbance</a:t>
            </a:r>
          </a:p>
          <a:p>
            <a:pPr lvl="1"/>
            <a:r>
              <a:rPr lang="en-US" altLang="en-US" sz="2600" dirty="0">
                <a:solidFill>
                  <a:srgbClr val="002060"/>
                </a:solidFill>
                <a:latin typeface="Comic Sans MS" panose="030F0702030302020204" pitchFamily="66" charset="0"/>
              </a:rPr>
              <a:t>Succession</a:t>
            </a:r>
          </a:p>
          <a:p>
            <a:pPr lvl="1"/>
            <a:r>
              <a:rPr lang="en-US" altLang="en-US" sz="2600" dirty="0">
                <a:solidFill>
                  <a:srgbClr val="002060"/>
                </a:solidFill>
                <a:latin typeface="Comic Sans MS" panose="030F0702030302020204" pitchFamily="66" charset="0"/>
              </a:rPr>
              <a:t>Types of species present</a:t>
            </a:r>
          </a:p>
          <a:p>
            <a:pPr marL="366713" lvl="1" indent="0">
              <a:buNone/>
            </a:pPr>
            <a:endParaRPr lang="en-US" altLang="en-US" dirty="0">
              <a:latin typeface="Comic Sans MS" panose="030F0702030302020204" pitchFamily="66" charset="0"/>
            </a:endParaRPr>
          </a:p>
          <a:p>
            <a:endParaRPr lang="en-US" dirty="0"/>
          </a:p>
        </p:txBody>
      </p:sp>
    </p:spTree>
    <p:extLst>
      <p:ext uri="{BB962C8B-B14F-4D97-AF65-F5344CB8AC3E}">
        <p14:creationId xmlns:p14="http://schemas.microsoft.com/office/powerpoint/2010/main" val="143479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1000"/>
                                        <p:tgtEl>
                                          <p:spTgt spid="3">
                                            <p:txEl>
                                              <p:pRg st="3" end="3"/>
                                            </p:txEl>
                                          </p:spTgt>
                                        </p:tgtEl>
                                      </p:cBhvr>
                                    </p:animEffect>
                                    <p:anim calcmode="lin" valueType="num">
                                      <p:cBhvr>
                                        <p:cTn id="2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xEl>
                                              <p:pRg st="5" end="5"/>
                                            </p:txEl>
                                          </p:spTgt>
                                        </p:tgtEl>
                                        <p:attrNameLst>
                                          <p:attrName>style.visibility</p:attrName>
                                        </p:attrNameLst>
                                      </p:cBhvr>
                                      <p:to>
                                        <p:strVal val="visible"/>
                                      </p:to>
                                    </p:set>
                                    <p:animEffect transition="in" filter="fade">
                                      <p:cBhvr>
                                        <p:cTn id="41" dur="1000"/>
                                        <p:tgtEl>
                                          <p:spTgt spid="3">
                                            <p:txEl>
                                              <p:pRg st="5" end="5"/>
                                            </p:txEl>
                                          </p:spTgt>
                                        </p:tgtEl>
                                      </p:cBhvr>
                                    </p:animEffect>
                                    <p:anim calcmode="lin" valueType="num">
                                      <p:cBhvr>
                                        <p:cTn id="4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
                                            <p:txEl>
                                              <p:pRg st="6" end="6"/>
                                            </p:txEl>
                                          </p:spTgt>
                                        </p:tgtEl>
                                        <p:attrNameLst>
                                          <p:attrName>style.visibility</p:attrName>
                                        </p:attrNameLst>
                                      </p:cBhvr>
                                      <p:to>
                                        <p:strVal val="visible"/>
                                      </p:to>
                                    </p:set>
                                    <p:animEffect transition="in" filter="fade">
                                      <p:cBhvr>
                                        <p:cTn id="48" dur="1000"/>
                                        <p:tgtEl>
                                          <p:spTgt spid="3">
                                            <p:txEl>
                                              <p:pRg st="6" end="6"/>
                                            </p:txEl>
                                          </p:spTgt>
                                        </p:tgtEl>
                                      </p:cBhvr>
                                    </p:animEffect>
                                    <p:anim calcmode="lin" valueType="num">
                                      <p:cBhvr>
                                        <p:cTn id="4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Effect transition="in" filter="fade">
                                      <p:cBhvr>
                                        <p:cTn id="55" dur="1000"/>
                                        <p:tgtEl>
                                          <p:spTgt spid="3">
                                            <p:txEl>
                                              <p:pRg st="7" end="7"/>
                                            </p:txEl>
                                          </p:spTgt>
                                        </p:tgtEl>
                                      </p:cBhvr>
                                    </p:animEffect>
                                    <p:anim calcmode="lin" valueType="num">
                                      <p:cBhvr>
                                        <p:cTn id="5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3">
                                            <p:txEl>
                                              <p:pRg st="8" end="8"/>
                                            </p:txEl>
                                          </p:spTgt>
                                        </p:tgtEl>
                                        <p:attrNameLst>
                                          <p:attrName>style.visibility</p:attrName>
                                        </p:attrNameLst>
                                      </p:cBhvr>
                                      <p:to>
                                        <p:strVal val="visible"/>
                                      </p:to>
                                    </p:set>
                                    <p:anim calcmode="lin" valueType="num">
                                      <p:cBhvr additive="base">
                                        <p:cTn id="62"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3">
                                            <p:txEl>
                                              <p:pRg st="9" end="9"/>
                                            </p:txEl>
                                          </p:spTgt>
                                        </p:tgtEl>
                                        <p:attrNameLst>
                                          <p:attrName>style.visibility</p:attrName>
                                        </p:attrNameLst>
                                      </p:cBhvr>
                                      <p:to>
                                        <p:strVal val="visible"/>
                                      </p:to>
                                    </p:set>
                                    <p:animEffect transition="in" filter="fade">
                                      <p:cBhvr>
                                        <p:cTn id="68" dur="1000"/>
                                        <p:tgtEl>
                                          <p:spTgt spid="3">
                                            <p:txEl>
                                              <p:pRg st="9" end="9"/>
                                            </p:txEl>
                                          </p:spTgt>
                                        </p:tgtEl>
                                      </p:cBhvr>
                                    </p:animEffect>
                                    <p:anim calcmode="lin" valueType="num">
                                      <p:cBhvr>
                                        <p:cTn id="69"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3">
                                            <p:txEl>
                                              <p:pRg st="10" end="10"/>
                                            </p:txEl>
                                          </p:spTgt>
                                        </p:tgtEl>
                                        <p:attrNameLst>
                                          <p:attrName>style.visibility</p:attrName>
                                        </p:attrNameLst>
                                      </p:cBhvr>
                                      <p:to>
                                        <p:strVal val="visible"/>
                                      </p:to>
                                    </p:set>
                                    <p:animEffect transition="in" filter="fade">
                                      <p:cBhvr>
                                        <p:cTn id="75" dur="1000"/>
                                        <p:tgtEl>
                                          <p:spTgt spid="3">
                                            <p:txEl>
                                              <p:pRg st="10" end="10"/>
                                            </p:txEl>
                                          </p:spTgt>
                                        </p:tgtEl>
                                      </p:cBhvr>
                                    </p:animEffect>
                                    <p:anim calcmode="lin" valueType="num">
                                      <p:cBhvr>
                                        <p:cTn id="7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7"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3">
                                            <p:txEl>
                                              <p:pRg st="11" end="11"/>
                                            </p:txEl>
                                          </p:spTgt>
                                        </p:tgtEl>
                                        <p:attrNameLst>
                                          <p:attrName>style.visibility</p:attrName>
                                        </p:attrNameLst>
                                      </p:cBhvr>
                                      <p:to>
                                        <p:strVal val="visible"/>
                                      </p:to>
                                    </p:set>
                                    <p:animEffect transition="in" filter="fade">
                                      <p:cBhvr>
                                        <p:cTn id="82" dur="1000"/>
                                        <p:tgtEl>
                                          <p:spTgt spid="3">
                                            <p:txEl>
                                              <p:pRg st="11" end="11"/>
                                            </p:txEl>
                                          </p:spTgt>
                                        </p:tgtEl>
                                      </p:cBhvr>
                                    </p:animEffect>
                                    <p:anim calcmode="lin" valueType="num">
                                      <p:cBhvr>
                                        <p:cTn id="83"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84"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3">
                                            <p:txEl>
                                              <p:pRg st="12" end="12"/>
                                            </p:txEl>
                                          </p:spTgt>
                                        </p:tgtEl>
                                        <p:attrNameLst>
                                          <p:attrName>style.visibility</p:attrName>
                                        </p:attrNameLst>
                                      </p:cBhvr>
                                      <p:to>
                                        <p:strVal val="visible"/>
                                      </p:to>
                                    </p:set>
                                    <p:animEffect transition="in" filter="fade">
                                      <p:cBhvr>
                                        <p:cTn id="89" dur="1000"/>
                                        <p:tgtEl>
                                          <p:spTgt spid="3">
                                            <p:txEl>
                                              <p:pRg st="12" end="12"/>
                                            </p:txEl>
                                          </p:spTgt>
                                        </p:tgtEl>
                                      </p:cBhvr>
                                    </p:animEffect>
                                    <p:anim calcmode="lin" valueType="num">
                                      <p:cBhvr>
                                        <p:cTn id="90"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1"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3">
                                            <p:txEl>
                                              <p:pRg st="13" end="13"/>
                                            </p:txEl>
                                          </p:spTgt>
                                        </p:tgtEl>
                                        <p:attrNameLst>
                                          <p:attrName>style.visibility</p:attrName>
                                        </p:attrNameLst>
                                      </p:cBhvr>
                                      <p:to>
                                        <p:strVal val="visible"/>
                                      </p:to>
                                    </p:set>
                                    <p:animEffect transition="in" filter="fade">
                                      <p:cBhvr>
                                        <p:cTn id="96" dur="1000"/>
                                        <p:tgtEl>
                                          <p:spTgt spid="3">
                                            <p:txEl>
                                              <p:pRg st="13" end="13"/>
                                            </p:txEl>
                                          </p:spTgt>
                                        </p:tgtEl>
                                      </p:cBhvr>
                                    </p:animEffect>
                                    <p:anim calcmode="lin" valueType="num">
                                      <p:cBhvr>
                                        <p:cTn id="97"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98"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C01E32-EB52-48EA-8C5D-0FF6A634225E}"/>
              </a:ext>
            </a:extLst>
          </p:cNvPr>
          <p:cNvSpPr>
            <a:spLocks noGrp="1"/>
          </p:cNvSpPr>
          <p:nvPr>
            <p:ph sz="quarter" idx="1"/>
          </p:nvPr>
        </p:nvSpPr>
        <p:spPr>
          <a:xfrm>
            <a:off x="609600" y="533400"/>
            <a:ext cx="8382000" cy="6096000"/>
          </a:xfrm>
        </p:spPr>
        <p:txBody>
          <a:bodyPr/>
          <a:lstStyle/>
          <a:p>
            <a:r>
              <a:rPr lang="en-US" sz="2800" dirty="0">
                <a:latin typeface="Comic Sans MS" panose="030F0702030302020204" pitchFamily="66" charset="0"/>
              </a:rPr>
              <a:t>Primary Production</a:t>
            </a:r>
          </a:p>
          <a:p>
            <a:pPr marL="0" indent="0" algn="just">
              <a:buNone/>
            </a:pPr>
            <a:r>
              <a:rPr lang="en-US" dirty="0">
                <a:latin typeface="Comic Sans MS" panose="030F0702030302020204" pitchFamily="66" charset="0"/>
              </a:rPr>
              <a:t>Primary production is the production of  organic matter  from inorganic carbon sources. This mainly occurs through photosynthesis. </a:t>
            </a:r>
          </a:p>
          <a:p>
            <a:pPr marL="0" indent="0" algn="just">
              <a:buNone/>
            </a:pPr>
            <a:endParaRPr lang="en-US" dirty="0">
              <a:latin typeface="Comic Sans MS" panose="030F0702030302020204" pitchFamily="66" charset="0"/>
            </a:endParaRPr>
          </a:p>
          <a:p>
            <a:r>
              <a:rPr lang="en-US" sz="2800" dirty="0">
                <a:latin typeface="Comic Sans MS" panose="030F0702030302020204" pitchFamily="66" charset="0"/>
              </a:rPr>
              <a:t>Energy Flow</a:t>
            </a:r>
          </a:p>
          <a:p>
            <a:pPr marL="366713" lvl="1" indent="0" algn="just">
              <a:buNone/>
            </a:pPr>
            <a:r>
              <a:rPr lang="en-US" sz="2400" dirty="0">
                <a:latin typeface="Comic Sans MS" panose="030F0702030302020204" pitchFamily="66" charset="0"/>
              </a:rPr>
              <a:t>Energy and carbon enter ecosystems through photosynthesis, are incorporated into living tissue, transferred to other organisms that feed on the living and dead plant matter, and eventually released through respiration. The carbon and energy incorporated into plant tissues is either consumed by animals while the plant is alive, or it remains uneaten when the plant tissue dies .</a:t>
            </a:r>
          </a:p>
        </p:txBody>
      </p:sp>
    </p:spTree>
    <p:extLst>
      <p:ext uri="{BB962C8B-B14F-4D97-AF65-F5344CB8AC3E}">
        <p14:creationId xmlns:p14="http://schemas.microsoft.com/office/powerpoint/2010/main" val="78452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3D72E1-BFCE-4E47-B453-40DD44DD34AF}"/>
              </a:ext>
            </a:extLst>
          </p:cNvPr>
          <p:cNvSpPr>
            <a:spLocks noGrp="1"/>
          </p:cNvSpPr>
          <p:nvPr>
            <p:ph sz="quarter" idx="1"/>
          </p:nvPr>
        </p:nvSpPr>
        <p:spPr>
          <a:xfrm>
            <a:off x="762000" y="533400"/>
            <a:ext cx="8229600" cy="6169152"/>
          </a:xfrm>
        </p:spPr>
        <p:txBody>
          <a:bodyPr>
            <a:normAutofit lnSpcReduction="10000"/>
          </a:bodyPr>
          <a:lstStyle/>
          <a:p>
            <a:r>
              <a:rPr lang="en-US" dirty="0">
                <a:latin typeface="Comic Sans MS" panose="030F0702030302020204" pitchFamily="66" charset="0"/>
              </a:rPr>
              <a:t>Dynamics:</a:t>
            </a:r>
          </a:p>
          <a:p>
            <a:pPr algn="just"/>
            <a:r>
              <a:rPr lang="en-US" dirty="0">
                <a:latin typeface="Comic Sans MS" panose="030F0702030302020204" pitchFamily="66" charset="0"/>
              </a:rPr>
              <a:t>Ecosystems are dynamic entities. They are subject to periodic disturbances and are in the process of recovering from some past disturbance</a:t>
            </a:r>
          </a:p>
          <a:p>
            <a:pPr algn="just"/>
            <a:r>
              <a:rPr lang="en-US" dirty="0">
                <a:latin typeface="Comic Sans MS" panose="030F0702030302020204" pitchFamily="66" charset="0"/>
              </a:rPr>
              <a:t>From one year to another, ecosystems experience variation in their biotic and abiotic environments. A drought, a colder than usual winter, and a pest outbreak all are short-term variability in environmental conditions. Animal populations vary from year to year. </a:t>
            </a:r>
          </a:p>
          <a:p>
            <a:pPr algn="just"/>
            <a:r>
              <a:rPr lang="en-US" dirty="0">
                <a:latin typeface="Comic Sans MS" panose="030F0702030302020204" pitchFamily="66" charset="0"/>
              </a:rPr>
              <a:t>Disturbance also plays an important role in ecological processes. Disturbance is a relatively discrete event in time and space that alters the structure of populations, communities, and ecosystems and causes changes in resources availability or the physical environment. </a:t>
            </a:r>
          </a:p>
        </p:txBody>
      </p:sp>
    </p:spTree>
    <p:extLst>
      <p:ext uri="{BB962C8B-B14F-4D97-AF65-F5344CB8AC3E}">
        <p14:creationId xmlns:p14="http://schemas.microsoft.com/office/powerpoint/2010/main" val="27526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185DAD5-1CE5-48DB-998D-373E555317BB}"/>
              </a:ext>
            </a:extLst>
          </p:cNvPr>
          <p:cNvSpPr>
            <a:spLocks noGrp="1" noChangeArrowheads="1"/>
          </p:cNvSpPr>
          <p:nvPr>
            <p:ph type="title"/>
          </p:nvPr>
        </p:nvSpPr>
        <p:spPr>
          <a:xfrm>
            <a:off x="609600" y="341671"/>
            <a:ext cx="8763000" cy="457200"/>
          </a:xfrm>
        </p:spPr>
        <p:txBody>
          <a:bodyPr/>
          <a:lstStyle/>
          <a:p>
            <a:pPr eaLnBrk="1" fontAlgn="auto" hangingPunct="1">
              <a:spcAft>
                <a:spcPts val="0"/>
              </a:spcAft>
              <a:defRPr/>
            </a:pPr>
            <a:r>
              <a:rPr lang="en-US" sz="2200" b="1" u="sng" dirty="0">
                <a:solidFill>
                  <a:srgbClr val="C00000"/>
                </a:solidFill>
                <a:latin typeface="Comic Sans MS" pitchFamily="66" charset="0"/>
              </a:rPr>
              <a:t>Major Components of Ecosystem</a:t>
            </a:r>
          </a:p>
        </p:txBody>
      </p:sp>
      <p:sp>
        <p:nvSpPr>
          <p:cNvPr id="16387" name="Rectangle 3">
            <a:extLst>
              <a:ext uri="{FF2B5EF4-FFF2-40B4-BE49-F238E27FC236}">
                <a16:creationId xmlns:a16="http://schemas.microsoft.com/office/drawing/2014/main" id="{2090FA8A-84E8-4F94-9130-1AF683B5D527}"/>
              </a:ext>
            </a:extLst>
          </p:cNvPr>
          <p:cNvSpPr>
            <a:spLocks noGrp="1"/>
          </p:cNvSpPr>
          <p:nvPr>
            <p:ph sz="quarter" idx="1"/>
          </p:nvPr>
        </p:nvSpPr>
        <p:spPr>
          <a:xfrm>
            <a:off x="609600" y="1295400"/>
            <a:ext cx="8305800" cy="5867400"/>
          </a:xfrm>
        </p:spPr>
        <p:txBody>
          <a:bodyPr>
            <a:normAutofit fontScale="92500" lnSpcReduction="10000"/>
          </a:bodyPr>
          <a:lstStyle/>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Any ecosystem includes two major components- the non living (abiotic) and living (biotic) components </a:t>
            </a:r>
          </a:p>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Some of the major </a:t>
            </a:r>
            <a:r>
              <a:rPr lang="en-US" altLang="en-US" sz="2200" u="sng" dirty="0">
                <a:latin typeface="Comic Sans MS" panose="030F0702030302020204" pitchFamily="66" charset="0"/>
              </a:rPr>
              <a:t>non living components </a:t>
            </a:r>
            <a:r>
              <a:rPr lang="en-US" altLang="en-US" sz="2200" dirty="0">
                <a:latin typeface="Comic Sans MS" panose="030F0702030302020204" pitchFamily="66" charset="0"/>
              </a:rPr>
              <a:t>of ecosystem are</a:t>
            </a:r>
          </a:p>
          <a:p>
            <a:pPr algn="just" eaLnBrk="1" hangingPunct="1">
              <a:buClr>
                <a:schemeClr val="tx1"/>
              </a:buClr>
              <a:buFont typeface="Wingdings" panose="05000000000000000000" pitchFamily="2" charset="2"/>
              <a:buNone/>
            </a:pPr>
            <a:r>
              <a:rPr lang="en-US" altLang="en-US" sz="2200" dirty="0">
                <a:latin typeface="Comic Sans MS" panose="030F0702030302020204" pitchFamily="66" charset="0"/>
              </a:rPr>
              <a:t>              -  </a:t>
            </a:r>
            <a:r>
              <a:rPr lang="en-US" altLang="en-US" sz="2200" dirty="0">
                <a:solidFill>
                  <a:srgbClr val="002060"/>
                </a:solidFill>
                <a:latin typeface="Comic Sans MS" panose="030F0702030302020204" pitchFamily="66" charset="0"/>
              </a:rPr>
              <a:t>soil</a:t>
            </a:r>
            <a:r>
              <a:rPr lang="en-US" altLang="en-US" sz="2200" dirty="0">
                <a:latin typeface="Comic Sans MS" panose="030F0702030302020204" pitchFamily="66" charset="0"/>
              </a:rPr>
              <a:t>,</a:t>
            </a:r>
          </a:p>
          <a:p>
            <a:pPr algn="just" eaLnBrk="1" hangingPunct="1">
              <a:buClr>
                <a:schemeClr val="tx1"/>
              </a:buClr>
              <a:buFont typeface="Wingdings" panose="05000000000000000000" pitchFamily="2" charset="2"/>
              <a:buNone/>
            </a:pPr>
            <a:r>
              <a:rPr lang="en-US" altLang="en-US" sz="2200" dirty="0">
                <a:solidFill>
                  <a:srgbClr val="002060"/>
                </a:solidFill>
                <a:latin typeface="Comic Sans MS" panose="030F0702030302020204" pitchFamily="66" charset="0"/>
              </a:rPr>
              <a:t>              - solar energy,</a:t>
            </a:r>
          </a:p>
          <a:p>
            <a:pPr algn="just" eaLnBrk="1" hangingPunct="1">
              <a:buClr>
                <a:schemeClr val="tx1"/>
              </a:buClr>
              <a:buFont typeface="Wingdings" panose="05000000000000000000" pitchFamily="2" charset="2"/>
              <a:buNone/>
            </a:pPr>
            <a:r>
              <a:rPr lang="en-US" altLang="en-US" sz="2200" dirty="0">
                <a:solidFill>
                  <a:srgbClr val="002060"/>
                </a:solidFill>
                <a:latin typeface="Comic Sans MS" panose="030F0702030302020204" pitchFamily="66" charset="0"/>
              </a:rPr>
              <a:t>              - local atmosphere,</a:t>
            </a:r>
          </a:p>
          <a:p>
            <a:pPr algn="just" eaLnBrk="1" hangingPunct="1">
              <a:buClr>
                <a:schemeClr val="tx1"/>
              </a:buClr>
              <a:buFont typeface="Wingdings" panose="05000000000000000000" pitchFamily="2" charset="2"/>
              <a:buNone/>
            </a:pPr>
            <a:r>
              <a:rPr lang="en-US" altLang="en-US" sz="2200" dirty="0">
                <a:solidFill>
                  <a:srgbClr val="002060"/>
                </a:solidFill>
                <a:latin typeface="Comic Sans MS" panose="030F0702030302020204" pitchFamily="66" charset="0"/>
              </a:rPr>
              <a:t>              - water </a:t>
            </a:r>
          </a:p>
          <a:p>
            <a:pPr algn="just" eaLnBrk="1" hangingPunct="1">
              <a:buClr>
                <a:schemeClr val="tx1"/>
              </a:buClr>
              <a:buFont typeface="Wingdings" panose="05000000000000000000" pitchFamily="2" charset="2"/>
              <a:buNone/>
            </a:pPr>
            <a:endParaRPr lang="en-US" altLang="en-US" sz="2200" dirty="0">
              <a:solidFill>
                <a:srgbClr val="002060"/>
              </a:solidFill>
              <a:latin typeface="Comic Sans MS" panose="030F0702030302020204" pitchFamily="66" charset="0"/>
            </a:endParaRPr>
          </a:p>
          <a:p>
            <a:pPr algn="just" eaLnBrk="1" hangingPunct="1">
              <a:buClr>
                <a:schemeClr val="tx1"/>
              </a:buClr>
              <a:buFont typeface="Arial" panose="020B0604020202020204" pitchFamily="34" charset="0"/>
              <a:buChar char="•"/>
            </a:pPr>
            <a:r>
              <a:rPr lang="en-US" altLang="en-US" sz="2200" dirty="0">
                <a:solidFill>
                  <a:srgbClr val="002060"/>
                </a:solidFill>
                <a:latin typeface="Comic Sans MS" panose="030F0702030302020204" pitchFamily="66" charset="0"/>
              </a:rPr>
              <a:t>Major </a:t>
            </a:r>
            <a:r>
              <a:rPr lang="en-US" altLang="en-US" sz="2200" u="sng" dirty="0">
                <a:latin typeface="Comic Sans MS" panose="030F0702030302020204" pitchFamily="66" charset="0"/>
              </a:rPr>
              <a:t>living components</a:t>
            </a:r>
            <a:r>
              <a:rPr lang="en-US" altLang="en-US" sz="2200" dirty="0">
                <a:latin typeface="Comic Sans MS" panose="030F0702030302020204" pitchFamily="66" charset="0"/>
              </a:rPr>
              <a:t>  include the plants, animals and microorganisms which can be classified as </a:t>
            </a:r>
          </a:p>
          <a:p>
            <a:pPr algn="just" eaLnBrk="1" hangingPunct="1">
              <a:buClr>
                <a:schemeClr val="tx1"/>
              </a:buClr>
              <a:buFont typeface="Wingdings" panose="05000000000000000000" pitchFamily="2" charset="2"/>
              <a:buNone/>
            </a:pPr>
            <a:r>
              <a:rPr lang="en-US" altLang="en-US" sz="2200" dirty="0">
                <a:latin typeface="Comic Sans MS" panose="030F0702030302020204" pitchFamily="66" charset="0"/>
              </a:rPr>
              <a:t>              - producers, </a:t>
            </a:r>
          </a:p>
          <a:p>
            <a:pPr algn="just" eaLnBrk="1" hangingPunct="1">
              <a:buClr>
                <a:schemeClr val="tx1"/>
              </a:buClr>
              <a:buFont typeface="Wingdings" panose="05000000000000000000" pitchFamily="2" charset="2"/>
              <a:buNone/>
            </a:pPr>
            <a:r>
              <a:rPr lang="en-US" altLang="en-US" sz="2200" dirty="0">
                <a:latin typeface="Comic Sans MS" panose="030F0702030302020204" pitchFamily="66" charset="0"/>
              </a:rPr>
              <a:t>              - consumers and</a:t>
            </a:r>
          </a:p>
          <a:p>
            <a:pPr algn="just" eaLnBrk="1" hangingPunct="1">
              <a:buClr>
                <a:schemeClr val="tx1"/>
              </a:buClr>
              <a:buFont typeface="Wingdings" panose="05000000000000000000" pitchFamily="2" charset="2"/>
              <a:buNone/>
            </a:pPr>
            <a:r>
              <a:rPr lang="en-US" altLang="en-US" sz="2200" dirty="0">
                <a:latin typeface="Comic Sans MS" panose="030F0702030302020204" pitchFamily="66" charset="0"/>
              </a:rPr>
              <a:t>              - decomposers</a:t>
            </a:r>
          </a:p>
          <a:p>
            <a:pPr eaLnBrk="1" hangingPunct="1">
              <a:buClr>
                <a:schemeClr val="tx1"/>
              </a:buClr>
              <a:buFont typeface="Wingdings" panose="05000000000000000000" pitchFamily="2" charset="2"/>
              <a:buChar char="§"/>
            </a:pPr>
            <a:endParaRPr lang="en-US" altLang="en-US" sz="2200" dirty="0">
              <a:solidFill>
                <a:srgbClr val="FF0000"/>
              </a:solidFill>
              <a:latin typeface="Comic Sans MS" panose="030F0702030302020204" pitchFamily="66" charset="0"/>
            </a:endParaRPr>
          </a:p>
          <a:p>
            <a:pPr eaLnBrk="1" hangingPunct="1">
              <a:buClr>
                <a:schemeClr val="tx1"/>
              </a:buClr>
              <a:buFont typeface="Arial" panose="020B0604020202020204" pitchFamily="34" charset="0"/>
              <a:buNone/>
            </a:pPr>
            <a:r>
              <a:rPr lang="en-US" altLang="en-US" sz="2200" dirty="0">
                <a:solidFill>
                  <a:srgbClr val="FF0000"/>
                </a:solidFill>
                <a:latin typeface="Comic Sans MS" panose="030F0702030302020204" pitchFamily="66" charset="0"/>
              </a:rPr>
              <a:t>    </a:t>
            </a:r>
            <a:endParaRPr lang="en-US" altLang="en-US" sz="2200" dirty="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arn(inVertical)">
                                      <p:cBhvr>
                                        <p:cTn id="7" dur="5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6387">
                                            <p:txEl>
                                              <p:pRg st="0" end="0"/>
                                            </p:txEl>
                                          </p:spTgt>
                                        </p:tgtEl>
                                        <p:attrNameLst>
                                          <p:attrName>style.visibility</p:attrName>
                                        </p:attrNameLst>
                                      </p:cBhvr>
                                      <p:to>
                                        <p:strVal val="visible"/>
                                      </p:to>
                                    </p:set>
                                    <p:animEffect transition="in" filter="fade">
                                      <p:cBhvr>
                                        <p:cTn id="12" dur="1000"/>
                                        <p:tgtEl>
                                          <p:spTgt spid="16387">
                                            <p:txEl>
                                              <p:pRg st="0" end="0"/>
                                            </p:txEl>
                                          </p:spTgt>
                                        </p:tgtEl>
                                      </p:cBhvr>
                                    </p:animEffect>
                                    <p:anim calcmode="lin" valueType="num">
                                      <p:cBhvr>
                                        <p:cTn id="13" dur="10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63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6387">
                                            <p:txEl>
                                              <p:pRg st="1" end="1"/>
                                            </p:txEl>
                                          </p:spTgt>
                                        </p:tgtEl>
                                        <p:attrNameLst>
                                          <p:attrName>style.visibility</p:attrName>
                                        </p:attrNameLst>
                                      </p:cBhvr>
                                      <p:to>
                                        <p:strVal val="visible"/>
                                      </p:to>
                                    </p:set>
                                    <p:animEffect transition="in" filter="fade">
                                      <p:cBhvr>
                                        <p:cTn id="19" dur="1000"/>
                                        <p:tgtEl>
                                          <p:spTgt spid="16387">
                                            <p:txEl>
                                              <p:pRg st="1" end="1"/>
                                            </p:txEl>
                                          </p:spTgt>
                                        </p:tgtEl>
                                      </p:cBhvr>
                                    </p:animEffect>
                                    <p:anim calcmode="lin" valueType="num">
                                      <p:cBhvr>
                                        <p:cTn id="20" dur="10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163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6387">
                                            <p:txEl>
                                              <p:pRg st="2" end="2"/>
                                            </p:txEl>
                                          </p:spTgt>
                                        </p:tgtEl>
                                        <p:attrNameLst>
                                          <p:attrName>style.visibility</p:attrName>
                                        </p:attrNameLst>
                                      </p:cBhvr>
                                      <p:to>
                                        <p:strVal val="visible"/>
                                      </p:to>
                                    </p:set>
                                    <p:animEffect transition="in" filter="fade">
                                      <p:cBhvr>
                                        <p:cTn id="26" dur="1000"/>
                                        <p:tgtEl>
                                          <p:spTgt spid="16387">
                                            <p:txEl>
                                              <p:pRg st="2" end="2"/>
                                            </p:txEl>
                                          </p:spTgt>
                                        </p:tgtEl>
                                      </p:cBhvr>
                                    </p:animEffect>
                                    <p:anim calcmode="lin" valueType="num">
                                      <p:cBhvr>
                                        <p:cTn id="27" dur="10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1638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6387">
                                            <p:txEl>
                                              <p:pRg st="3" end="3"/>
                                            </p:txEl>
                                          </p:spTgt>
                                        </p:tgtEl>
                                        <p:attrNameLst>
                                          <p:attrName>style.visibility</p:attrName>
                                        </p:attrNameLst>
                                      </p:cBhvr>
                                      <p:to>
                                        <p:strVal val="visible"/>
                                      </p:to>
                                    </p:set>
                                    <p:animEffect transition="in" filter="fade">
                                      <p:cBhvr>
                                        <p:cTn id="33" dur="1000"/>
                                        <p:tgtEl>
                                          <p:spTgt spid="16387">
                                            <p:txEl>
                                              <p:pRg st="3" end="3"/>
                                            </p:txEl>
                                          </p:spTgt>
                                        </p:tgtEl>
                                      </p:cBhvr>
                                    </p:animEffect>
                                    <p:anim calcmode="lin" valueType="num">
                                      <p:cBhvr>
                                        <p:cTn id="34" dur="10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p:cTn id="35" dur="1000" fill="hold"/>
                                        <p:tgtEl>
                                          <p:spTgt spid="163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6387">
                                            <p:txEl>
                                              <p:pRg st="4" end="4"/>
                                            </p:txEl>
                                          </p:spTgt>
                                        </p:tgtEl>
                                        <p:attrNameLst>
                                          <p:attrName>style.visibility</p:attrName>
                                        </p:attrNameLst>
                                      </p:cBhvr>
                                      <p:to>
                                        <p:strVal val="visible"/>
                                      </p:to>
                                    </p:set>
                                    <p:animEffect transition="in" filter="fade">
                                      <p:cBhvr>
                                        <p:cTn id="40" dur="1000"/>
                                        <p:tgtEl>
                                          <p:spTgt spid="16387">
                                            <p:txEl>
                                              <p:pRg st="4" end="4"/>
                                            </p:txEl>
                                          </p:spTgt>
                                        </p:tgtEl>
                                      </p:cBhvr>
                                    </p:animEffect>
                                    <p:anim calcmode="lin" valueType="num">
                                      <p:cBhvr>
                                        <p:cTn id="41" dur="10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p:cTn id="42" dur="1000" fill="hold"/>
                                        <p:tgtEl>
                                          <p:spTgt spid="1638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6387">
                                            <p:txEl>
                                              <p:pRg st="5" end="5"/>
                                            </p:txEl>
                                          </p:spTgt>
                                        </p:tgtEl>
                                        <p:attrNameLst>
                                          <p:attrName>style.visibility</p:attrName>
                                        </p:attrNameLst>
                                      </p:cBhvr>
                                      <p:to>
                                        <p:strVal val="visible"/>
                                      </p:to>
                                    </p:set>
                                    <p:animEffect transition="in" filter="fade">
                                      <p:cBhvr>
                                        <p:cTn id="47" dur="1000"/>
                                        <p:tgtEl>
                                          <p:spTgt spid="16387">
                                            <p:txEl>
                                              <p:pRg st="5" end="5"/>
                                            </p:txEl>
                                          </p:spTgt>
                                        </p:tgtEl>
                                      </p:cBhvr>
                                    </p:animEffect>
                                    <p:anim calcmode="lin" valueType="num">
                                      <p:cBhvr>
                                        <p:cTn id="48" dur="10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p:cTn id="49" dur="1000" fill="hold"/>
                                        <p:tgtEl>
                                          <p:spTgt spid="1638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6387">
                                            <p:txEl>
                                              <p:pRg st="7" end="7"/>
                                            </p:txEl>
                                          </p:spTgt>
                                        </p:tgtEl>
                                        <p:attrNameLst>
                                          <p:attrName>style.visibility</p:attrName>
                                        </p:attrNameLst>
                                      </p:cBhvr>
                                      <p:to>
                                        <p:strVal val="visible"/>
                                      </p:to>
                                    </p:set>
                                    <p:animEffect transition="in" filter="fade">
                                      <p:cBhvr>
                                        <p:cTn id="54" dur="1000"/>
                                        <p:tgtEl>
                                          <p:spTgt spid="16387">
                                            <p:txEl>
                                              <p:pRg st="7" end="7"/>
                                            </p:txEl>
                                          </p:spTgt>
                                        </p:tgtEl>
                                      </p:cBhvr>
                                    </p:animEffect>
                                    <p:anim calcmode="lin" valueType="num">
                                      <p:cBhvr>
                                        <p:cTn id="55" dur="1000" fill="hold"/>
                                        <p:tgtEl>
                                          <p:spTgt spid="16387">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1638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16387">
                                            <p:txEl>
                                              <p:pRg st="8" end="8"/>
                                            </p:txEl>
                                          </p:spTgt>
                                        </p:tgtEl>
                                        <p:attrNameLst>
                                          <p:attrName>style.visibility</p:attrName>
                                        </p:attrNameLst>
                                      </p:cBhvr>
                                      <p:to>
                                        <p:strVal val="visible"/>
                                      </p:to>
                                    </p:set>
                                    <p:animEffect transition="in" filter="fade">
                                      <p:cBhvr>
                                        <p:cTn id="61" dur="1000"/>
                                        <p:tgtEl>
                                          <p:spTgt spid="16387">
                                            <p:txEl>
                                              <p:pRg st="8" end="8"/>
                                            </p:txEl>
                                          </p:spTgt>
                                        </p:tgtEl>
                                      </p:cBhvr>
                                    </p:animEffect>
                                    <p:anim calcmode="lin" valueType="num">
                                      <p:cBhvr>
                                        <p:cTn id="62" dur="1000" fill="hold"/>
                                        <p:tgtEl>
                                          <p:spTgt spid="16387">
                                            <p:txEl>
                                              <p:pRg st="8" end="8"/>
                                            </p:txEl>
                                          </p:spTgt>
                                        </p:tgtEl>
                                        <p:attrNameLst>
                                          <p:attrName>ppt_x</p:attrName>
                                        </p:attrNameLst>
                                      </p:cBhvr>
                                      <p:tavLst>
                                        <p:tav tm="0">
                                          <p:val>
                                            <p:strVal val="#ppt_x"/>
                                          </p:val>
                                        </p:tav>
                                        <p:tav tm="100000">
                                          <p:val>
                                            <p:strVal val="#ppt_x"/>
                                          </p:val>
                                        </p:tav>
                                      </p:tavLst>
                                    </p:anim>
                                    <p:anim calcmode="lin" valueType="num">
                                      <p:cBhvr>
                                        <p:cTn id="63" dur="1000" fill="hold"/>
                                        <p:tgtEl>
                                          <p:spTgt spid="1638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16387">
                                            <p:txEl>
                                              <p:pRg st="9" end="9"/>
                                            </p:txEl>
                                          </p:spTgt>
                                        </p:tgtEl>
                                        <p:attrNameLst>
                                          <p:attrName>style.visibility</p:attrName>
                                        </p:attrNameLst>
                                      </p:cBhvr>
                                      <p:to>
                                        <p:strVal val="visible"/>
                                      </p:to>
                                    </p:set>
                                    <p:animEffect transition="in" filter="fade">
                                      <p:cBhvr>
                                        <p:cTn id="68" dur="1000"/>
                                        <p:tgtEl>
                                          <p:spTgt spid="16387">
                                            <p:txEl>
                                              <p:pRg st="9" end="9"/>
                                            </p:txEl>
                                          </p:spTgt>
                                        </p:tgtEl>
                                      </p:cBhvr>
                                    </p:animEffect>
                                    <p:anim calcmode="lin" valueType="num">
                                      <p:cBhvr>
                                        <p:cTn id="69" dur="1000" fill="hold"/>
                                        <p:tgtEl>
                                          <p:spTgt spid="16387">
                                            <p:txEl>
                                              <p:pRg st="9" end="9"/>
                                            </p:txEl>
                                          </p:spTgt>
                                        </p:tgtEl>
                                        <p:attrNameLst>
                                          <p:attrName>ppt_x</p:attrName>
                                        </p:attrNameLst>
                                      </p:cBhvr>
                                      <p:tavLst>
                                        <p:tav tm="0">
                                          <p:val>
                                            <p:strVal val="#ppt_x"/>
                                          </p:val>
                                        </p:tav>
                                        <p:tav tm="100000">
                                          <p:val>
                                            <p:strVal val="#ppt_x"/>
                                          </p:val>
                                        </p:tav>
                                      </p:tavLst>
                                    </p:anim>
                                    <p:anim calcmode="lin" valueType="num">
                                      <p:cBhvr>
                                        <p:cTn id="70" dur="1000" fill="hold"/>
                                        <p:tgtEl>
                                          <p:spTgt spid="16387">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16387">
                                            <p:txEl>
                                              <p:pRg st="10" end="10"/>
                                            </p:txEl>
                                          </p:spTgt>
                                        </p:tgtEl>
                                        <p:attrNameLst>
                                          <p:attrName>style.visibility</p:attrName>
                                        </p:attrNameLst>
                                      </p:cBhvr>
                                      <p:to>
                                        <p:strVal val="visible"/>
                                      </p:to>
                                    </p:set>
                                    <p:animEffect transition="in" filter="fade">
                                      <p:cBhvr>
                                        <p:cTn id="75" dur="1000"/>
                                        <p:tgtEl>
                                          <p:spTgt spid="16387">
                                            <p:txEl>
                                              <p:pRg st="10" end="10"/>
                                            </p:txEl>
                                          </p:spTgt>
                                        </p:tgtEl>
                                      </p:cBhvr>
                                    </p:animEffect>
                                    <p:anim calcmode="lin" valueType="num">
                                      <p:cBhvr>
                                        <p:cTn id="76" dur="1000" fill="hold"/>
                                        <p:tgtEl>
                                          <p:spTgt spid="16387">
                                            <p:txEl>
                                              <p:pRg st="10" end="10"/>
                                            </p:txEl>
                                          </p:spTgt>
                                        </p:tgtEl>
                                        <p:attrNameLst>
                                          <p:attrName>ppt_x</p:attrName>
                                        </p:attrNameLst>
                                      </p:cBhvr>
                                      <p:tavLst>
                                        <p:tav tm="0">
                                          <p:val>
                                            <p:strVal val="#ppt_x"/>
                                          </p:val>
                                        </p:tav>
                                        <p:tav tm="100000">
                                          <p:val>
                                            <p:strVal val="#ppt_x"/>
                                          </p:val>
                                        </p:tav>
                                      </p:tavLst>
                                    </p:anim>
                                    <p:anim calcmode="lin" valueType="num">
                                      <p:cBhvr>
                                        <p:cTn id="77" dur="1000" fill="hold"/>
                                        <p:tgtEl>
                                          <p:spTgt spid="16387">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2">
            <a:extLst>
              <a:ext uri="{FF2B5EF4-FFF2-40B4-BE49-F238E27FC236}">
                <a16:creationId xmlns:a16="http://schemas.microsoft.com/office/drawing/2014/main" id="{CAADEE2E-9BFB-4F3A-A573-F30CF097398E}"/>
              </a:ext>
            </a:extLst>
          </p:cNvPr>
          <p:cNvSpPr>
            <a:spLocks noGrp="1"/>
          </p:cNvSpPr>
          <p:nvPr>
            <p:ph sz="quarter" idx="1"/>
          </p:nvPr>
        </p:nvSpPr>
        <p:spPr>
          <a:xfrm>
            <a:off x="533400" y="1828800"/>
            <a:ext cx="8458200" cy="6169025"/>
          </a:xfrm>
        </p:spPr>
        <p:txBody>
          <a:bodyPr>
            <a:normAutofit lnSpcReduction="10000"/>
          </a:bodyPr>
          <a:lstStyle/>
          <a:p>
            <a:pPr eaLnBrk="1" hangingPunct="1">
              <a:buClr>
                <a:schemeClr val="tx1"/>
              </a:buClr>
              <a:buFont typeface="Wingdings" panose="05000000000000000000" pitchFamily="2" charset="2"/>
              <a:buNone/>
            </a:pPr>
            <a:r>
              <a:rPr lang="en-US" altLang="en-US" sz="2200" u="sng" dirty="0">
                <a:solidFill>
                  <a:srgbClr val="FF0000"/>
                </a:solidFill>
                <a:latin typeface="Comic Sans MS" panose="030F0702030302020204" pitchFamily="66" charset="0"/>
              </a:rPr>
              <a:t>Abiotic Components </a:t>
            </a:r>
          </a:p>
          <a:p>
            <a:pPr algn="just" eaLnBrk="1" hangingPunct="1">
              <a:buClr>
                <a:schemeClr val="tx1"/>
              </a:buClr>
              <a:buFont typeface="Wingdings" panose="05000000000000000000" pitchFamily="2" charset="2"/>
              <a:buChar char="§"/>
            </a:pPr>
            <a:r>
              <a:rPr lang="en-US" altLang="en-US" sz="2200" dirty="0">
                <a:solidFill>
                  <a:srgbClr val="FF0000"/>
                </a:solidFill>
                <a:latin typeface="Comic Sans MS" panose="030F0702030302020204" pitchFamily="66" charset="0"/>
              </a:rPr>
              <a:t>Soils</a:t>
            </a:r>
            <a:r>
              <a:rPr lang="en-US" altLang="en-US" sz="2200" dirty="0">
                <a:latin typeface="Comic Sans MS" panose="030F0702030302020204" pitchFamily="66" charset="0"/>
              </a:rPr>
              <a:t> contain a mixture of weathered rock fragments, minerals particles, organic matter and living organisms.</a:t>
            </a:r>
          </a:p>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Soils provide nutrients, water, air, a home and a structural growing medium for organisms.</a:t>
            </a:r>
          </a:p>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The </a:t>
            </a:r>
            <a:r>
              <a:rPr lang="en-US" altLang="en-US" sz="2200" dirty="0">
                <a:solidFill>
                  <a:srgbClr val="FF0000"/>
                </a:solidFill>
                <a:latin typeface="Comic Sans MS" panose="030F0702030302020204" pitchFamily="66" charset="0"/>
              </a:rPr>
              <a:t>atmosphere</a:t>
            </a:r>
            <a:r>
              <a:rPr lang="en-US" altLang="en-US" sz="2200" dirty="0">
                <a:latin typeface="Comic Sans MS" panose="030F0702030302020204" pitchFamily="66" charset="0"/>
              </a:rPr>
              <a:t> provides carbon dioxide for photosynthesis and oxygen for respiration for the organisms found in the ecosystem. Exchange of other essential gases also occur. </a:t>
            </a:r>
          </a:p>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The processes of evaporation, transpiration and precipitation are responsible for the cycling of water between the atmosphere and the earth’s surface.</a:t>
            </a:r>
          </a:p>
          <a:p>
            <a:pPr algn="just" eaLnBrk="1" hangingPunct="1">
              <a:buClr>
                <a:schemeClr val="tx1"/>
              </a:buClr>
              <a:buFont typeface="Wingdings" panose="05000000000000000000" pitchFamily="2" charset="2"/>
              <a:buChar char="§"/>
            </a:pPr>
            <a:r>
              <a:rPr lang="en-US" altLang="en-US" sz="2200" dirty="0">
                <a:solidFill>
                  <a:srgbClr val="FF0000"/>
                </a:solidFill>
                <a:latin typeface="Comic Sans MS" panose="030F0702030302020204" pitchFamily="66" charset="0"/>
              </a:rPr>
              <a:t>Solar radiation </a:t>
            </a:r>
            <a:r>
              <a:rPr lang="en-US" altLang="en-US" sz="2200" dirty="0">
                <a:latin typeface="Comic Sans MS" panose="030F0702030302020204" pitchFamily="66" charset="0"/>
              </a:rPr>
              <a:t>is used in ecosystems to heat the atmosphere and to evaporate and transpire water into the atmosphere. </a:t>
            </a:r>
          </a:p>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Sunlight is also necessary for photosynthesis. </a:t>
            </a:r>
          </a:p>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Also regulates optimum temperature for favorable habitat. </a:t>
            </a:r>
          </a:p>
          <a:p>
            <a:pPr eaLnBrk="1" hangingPunct="1">
              <a:buClr>
                <a:schemeClr val="tx1"/>
              </a:buClr>
              <a:buFont typeface="Wingdings" panose="05000000000000000000" pitchFamily="2" charset="2"/>
              <a:buChar char="§"/>
            </a:pPr>
            <a:endParaRPr lang="en-US" altLang="en-US" sz="2200" dirty="0">
              <a:latin typeface="Comic Sans MS" panose="030F0702030302020204" pitchFamily="66" charset="0"/>
            </a:endParaRPr>
          </a:p>
          <a:p>
            <a:pPr eaLnBrk="1" hangingPunct="1">
              <a:buClr>
                <a:schemeClr val="tx1"/>
              </a:buClr>
              <a:buFont typeface="Wingdings" panose="05000000000000000000" pitchFamily="2" charset="2"/>
              <a:buChar char="§"/>
            </a:pPr>
            <a:endParaRPr lang="en-US" altLang="en-US" sz="2200" dirty="0">
              <a:latin typeface="Comic Sans MS" panose="030F0702030302020204" pitchFamily="66" charset="0"/>
            </a:endParaRPr>
          </a:p>
          <a:p>
            <a:pPr eaLnBrk="1" hangingPunct="1">
              <a:buClr>
                <a:schemeClr val="tx1"/>
              </a:buClr>
              <a:buFont typeface="Wingdings" panose="05000000000000000000" pitchFamily="2" charset="2"/>
              <a:buChar char="§"/>
            </a:pPr>
            <a:endParaRPr lang="en-US" altLang="en-US" sz="2200" dirty="0">
              <a:latin typeface="Comic Sans MS" panose="030F0702030302020204" pitchFamily="66" charset="0"/>
            </a:endParaRPr>
          </a:p>
          <a:p>
            <a:pPr eaLnBrk="1" hangingPunct="1">
              <a:buClr>
                <a:schemeClr val="tx1"/>
              </a:buClr>
              <a:buFont typeface="Wingdings" panose="05000000000000000000" pitchFamily="2" charset="2"/>
              <a:buChar char="§"/>
            </a:pPr>
            <a:endParaRPr lang="en-US" altLang="en-US" sz="2200" dirty="0">
              <a:latin typeface="Comic Sans MS" panose="030F0702030302020204" pitchFamily="66" charset="0"/>
            </a:endParaRPr>
          </a:p>
          <a:p>
            <a:pPr eaLnBrk="1" hangingPunct="1">
              <a:buClr>
                <a:schemeClr val="tx1"/>
              </a:buClr>
              <a:buFont typeface="Wingdings" panose="05000000000000000000" pitchFamily="2" charset="2"/>
              <a:buChar char="§"/>
            </a:pPr>
            <a:endParaRPr lang="en-US" altLang="en-US" sz="2200" dirty="0">
              <a:latin typeface="Comic Sans MS" panose="030F0702030302020204" pitchFamily="66" charset="0"/>
            </a:endParaRPr>
          </a:p>
          <a:p>
            <a:pPr eaLnBrk="1" hangingPunct="1">
              <a:buClr>
                <a:schemeClr val="tx1"/>
              </a:buClr>
              <a:buFont typeface="Wingdings" panose="05000000000000000000" pitchFamily="2" charset="2"/>
              <a:buChar char="§"/>
            </a:pPr>
            <a:endParaRPr lang="en-US" altLang="en-US" sz="2200" dirty="0">
              <a:latin typeface="Comic Sans MS" panose="030F0702030302020204" pitchFamily="66" charset="0"/>
            </a:endParaRPr>
          </a:p>
          <a:p>
            <a:pPr algn="just" eaLnBrk="1" hangingPunct="1"/>
            <a:endParaRPr lang="en-US" altLang="en-US" sz="2200" dirty="0">
              <a:latin typeface="Comic Sans MS" panose="030F0702030302020204"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410">
                                            <p:txEl>
                                              <p:pRg st="0" end="0"/>
                                            </p:txEl>
                                          </p:spTgt>
                                        </p:tgtEl>
                                        <p:attrNameLst>
                                          <p:attrName>style.visibility</p:attrName>
                                        </p:attrNameLst>
                                      </p:cBhvr>
                                      <p:to>
                                        <p:strVal val="visible"/>
                                      </p:to>
                                    </p:set>
                                    <p:animEffect transition="in" filter="fade">
                                      <p:cBhvr>
                                        <p:cTn id="7" dur="1000"/>
                                        <p:tgtEl>
                                          <p:spTgt spid="17410">
                                            <p:txEl>
                                              <p:pRg st="0" end="0"/>
                                            </p:txEl>
                                          </p:spTgt>
                                        </p:tgtEl>
                                      </p:cBhvr>
                                    </p:animEffect>
                                    <p:anim calcmode="lin" valueType="num">
                                      <p:cBhvr>
                                        <p:cTn id="8" dur="1000" fill="hold"/>
                                        <p:tgtEl>
                                          <p:spTgt spid="17410">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4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7410">
                                            <p:txEl>
                                              <p:pRg st="1" end="1"/>
                                            </p:txEl>
                                          </p:spTgt>
                                        </p:tgtEl>
                                        <p:attrNameLst>
                                          <p:attrName>style.visibility</p:attrName>
                                        </p:attrNameLst>
                                      </p:cBhvr>
                                      <p:to>
                                        <p:strVal val="visible"/>
                                      </p:to>
                                    </p:set>
                                    <p:animEffect transition="in" filter="fade">
                                      <p:cBhvr>
                                        <p:cTn id="14" dur="1000"/>
                                        <p:tgtEl>
                                          <p:spTgt spid="17410">
                                            <p:txEl>
                                              <p:pRg st="1" end="1"/>
                                            </p:txEl>
                                          </p:spTgt>
                                        </p:tgtEl>
                                      </p:cBhvr>
                                    </p:animEffect>
                                    <p:anim calcmode="lin" valueType="num">
                                      <p:cBhvr>
                                        <p:cTn id="15" dur="1000" fill="hold"/>
                                        <p:tgtEl>
                                          <p:spTgt spid="17410">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74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7410">
                                            <p:txEl>
                                              <p:pRg st="2" end="2"/>
                                            </p:txEl>
                                          </p:spTgt>
                                        </p:tgtEl>
                                        <p:attrNameLst>
                                          <p:attrName>style.visibility</p:attrName>
                                        </p:attrNameLst>
                                      </p:cBhvr>
                                      <p:to>
                                        <p:strVal val="visible"/>
                                      </p:to>
                                    </p:set>
                                    <p:animEffect transition="in" filter="fade">
                                      <p:cBhvr>
                                        <p:cTn id="21" dur="1000"/>
                                        <p:tgtEl>
                                          <p:spTgt spid="17410">
                                            <p:txEl>
                                              <p:pRg st="2" end="2"/>
                                            </p:txEl>
                                          </p:spTgt>
                                        </p:tgtEl>
                                      </p:cBhvr>
                                    </p:animEffect>
                                    <p:anim calcmode="lin" valueType="num">
                                      <p:cBhvr>
                                        <p:cTn id="22" dur="1000" fill="hold"/>
                                        <p:tgtEl>
                                          <p:spTgt spid="17410">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74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7410">
                                            <p:txEl>
                                              <p:pRg st="3" end="3"/>
                                            </p:txEl>
                                          </p:spTgt>
                                        </p:tgtEl>
                                        <p:attrNameLst>
                                          <p:attrName>style.visibility</p:attrName>
                                        </p:attrNameLst>
                                      </p:cBhvr>
                                      <p:to>
                                        <p:strVal val="visible"/>
                                      </p:to>
                                    </p:set>
                                    <p:animEffect transition="in" filter="fade">
                                      <p:cBhvr>
                                        <p:cTn id="28" dur="1000"/>
                                        <p:tgtEl>
                                          <p:spTgt spid="17410">
                                            <p:txEl>
                                              <p:pRg st="3" end="3"/>
                                            </p:txEl>
                                          </p:spTgt>
                                        </p:tgtEl>
                                      </p:cBhvr>
                                    </p:animEffect>
                                    <p:anim calcmode="lin" valueType="num">
                                      <p:cBhvr>
                                        <p:cTn id="29" dur="1000" fill="hold"/>
                                        <p:tgtEl>
                                          <p:spTgt spid="17410">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74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7410">
                                            <p:txEl>
                                              <p:pRg st="4" end="4"/>
                                            </p:txEl>
                                          </p:spTgt>
                                        </p:tgtEl>
                                        <p:attrNameLst>
                                          <p:attrName>style.visibility</p:attrName>
                                        </p:attrNameLst>
                                      </p:cBhvr>
                                      <p:to>
                                        <p:strVal val="visible"/>
                                      </p:to>
                                    </p:set>
                                    <p:animEffect transition="in" filter="fade">
                                      <p:cBhvr>
                                        <p:cTn id="35" dur="1000"/>
                                        <p:tgtEl>
                                          <p:spTgt spid="17410">
                                            <p:txEl>
                                              <p:pRg st="4" end="4"/>
                                            </p:txEl>
                                          </p:spTgt>
                                        </p:tgtEl>
                                      </p:cBhvr>
                                    </p:animEffect>
                                    <p:anim calcmode="lin" valueType="num">
                                      <p:cBhvr>
                                        <p:cTn id="36" dur="1000" fill="hold"/>
                                        <p:tgtEl>
                                          <p:spTgt spid="17410">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74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7410">
                                            <p:txEl>
                                              <p:pRg st="5" end="5"/>
                                            </p:txEl>
                                          </p:spTgt>
                                        </p:tgtEl>
                                        <p:attrNameLst>
                                          <p:attrName>style.visibility</p:attrName>
                                        </p:attrNameLst>
                                      </p:cBhvr>
                                      <p:to>
                                        <p:strVal val="visible"/>
                                      </p:to>
                                    </p:set>
                                    <p:animEffect transition="in" filter="fade">
                                      <p:cBhvr>
                                        <p:cTn id="42" dur="1000"/>
                                        <p:tgtEl>
                                          <p:spTgt spid="17410">
                                            <p:txEl>
                                              <p:pRg st="5" end="5"/>
                                            </p:txEl>
                                          </p:spTgt>
                                        </p:tgtEl>
                                      </p:cBhvr>
                                    </p:animEffect>
                                    <p:anim calcmode="lin" valueType="num">
                                      <p:cBhvr>
                                        <p:cTn id="43" dur="1000" fill="hold"/>
                                        <p:tgtEl>
                                          <p:spTgt spid="17410">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74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7410">
                                            <p:txEl>
                                              <p:pRg st="6" end="6"/>
                                            </p:txEl>
                                          </p:spTgt>
                                        </p:tgtEl>
                                        <p:attrNameLst>
                                          <p:attrName>style.visibility</p:attrName>
                                        </p:attrNameLst>
                                      </p:cBhvr>
                                      <p:to>
                                        <p:strVal val="visible"/>
                                      </p:to>
                                    </p:set>
                                    <p:animEffect transition="in" filter="fade">
                                      <p:cBhvr>
                                        <p:cTn id="49" dur="1000"/>
                                        <p:tgtEl>
                                          <p:spTgt spid="17410">
                                            <p:txEl>
                                              <p:pRg st="6" end="6"/>
                                            </p:txEl>
                                          </p:spTgt>
                                        </p:tgtEl>
                                      </p:cBhvr>
                                    </p:animEffect>
                                    <p:anim calcmode="lin" valueType="num">
                                      <p:cBhvr>
                                        <p:cTn id="50" dur="1000" fill="hold"/>
                                        <p:tgtEl>
                                          <p:spTgt spid="17410">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74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7410">
                                            <p:txEl>
                                              <p:pRg st="7" end="7"/>
                                            </p:txEl>
                                          </p:spTgt>
                                        </p:tgtEl>
                                        <p:attrNameLst>
                                          <p:attrName>style.visibility</p:attrName>
                                        </p:attrNameLst>
                                      </p:cBhvr>
                                      <p:to>
                                        <p:strVal val="visible"/>
                                      </p:to>
                                    </p:set>
                                    <p:animEffect transition="in" filter="fade">
                                      <p:cBhvr>
                                        <p:cTn id="56" dur="1000"/>
                                        <p:tgtEl>
                                          <p:spTgt spid="17410">
                                            <p:txEl>
                                              <p:pRg st="7" end="7"/>
                                            </p:txEl>
                                          </p:spTgt>
                                        </p:tgtEl>
                                      </p:cBhvr>
                                    </p:animEffect>
                                    <p:anim calcmode="lin" valueType="num">
                                      <p:cBhvr>
                                        <p:cTn id="57" dur="1000" fill="hold"/>
                                        <p:tgtEl>
                                          <p:spTgt spid="17410">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17410">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A7CF1F71-1A83-486D-8EC3-D5B09C170A52}"/>
              </a:ext>
            </a:extLst>
          </p:cNvPr>
          <p:cNvSpPr>
            <a:spLocks noGrp="1"/>
          </p:cNvSpPr>
          <p:nvPr>
            <p:ph sz="quarter" idx="1"/>
          </p:nvPr>
        </p:nvSpPr>
        <p:spPr>
          <a:xfrm>
            <a:off x="914400" y="-1157748"/>
            <a:ext cx="7696200" cy="6019800"/>
          </a:xfrm>
        </p:spPr>
        <p:txBody>
          <a:bodyPr lIns="90487" tIns="44450" rIns="90487" bIns="44450"/>
          <a:lstStyle/>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Most living  tissue is composed of a very high percentage of </a:t>
            </a:r>
            <a:r>
              <a:rPr lang="en-US" altLang="en-US" sz="2200" dirty="0">
                <a:solidFill>
                  <a:srgbClr val="FF0000"/>
                </a:solidFill>
                <a:latin typeface="Comic Sans MS" panose="030F0702030302020204" pitchFamily="66" charset="0"/>
              </a:rPr>
              <a:t>water</a:t>
            </a:r>
            <a:r>
              <a:rPr lang="en-US" altLang="en-US" sz="2200" dirty="0">
                <a:latin typeface="Comic Sans MS" panose="030F0702030302020204" pitchFamily="66" charset="0"/>
              </a:rPr>
              <a:t>, up to and even exceeding 90%. </a:t>
            </a:r>
          </a:p>
          <a:p>
            <a:pPr algn="just" eaLnBrk="1" hangingPunct="1">
              <a:buClr>
                <a:schemeClr val="tx1"/>
              </a:buClr>
              <a:buFont typeface="Wingdings" panose="05000000000000000000" pitchFamily="2" charset="2"/>
              <a:buChar char="§"/>
            </a:pPr>
            <a:r>
              <a:rPr lang="en-US" altLang="en-US" sz="2200" dirty="0">
                <a:latin typeface="Comic Sans MS" panose="030F0702030302020204" pitchFamily="66" charset="0"/>
              </a:rPr>
              <a:t> Water is the medium by which mineral nutrients enter plants and are translocated in plants. It is also necessary for the maintenance.</a:t>
            </a:r>
          </a:p>
          <a:p>
            <a:pPr algn="just" eaLnBrk="1" hangingPunct="1">
              <a:buClr>
                <a:schemeClr val="tx1"/>
              </a:buClr>
              <a:buFont typeface="Wingdings" panose="05000000000000000000" pitchFamily="2" charset="2"/>
              <a:buChar char="§"/>
            </a:pPr>
            <a:endParaRPr lang="en-US" altLang="en-US" sz="2200" dirty="0">
              <a:latin typeface="Comic Sans MS" panose="030F0702030302020204" pitchFamily="66" charset="0"/>
            </a:endParaRPr>
          </a:p>
        </p:txBody>
      </p:sp>
      <p:pic>
        <p:nvPicPr>
          <p:cNvPr id="18435" name="Picture 3">
            <a:extLst>
              <a:ext uri="{FF2B5EF4-FFF2-40B4-BE49-F238E27FC236}">
                <a16:creationId xmlns:a16="http://schemas.microsoft.com/office/drawing/2014/main" id="{20D37840-C33B-4CA6-A6C8-3B055ACE0A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7350" y="2667000"/>
            <a:ext cx="58293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434">
                                            <p:txEl>
                                              <p:pRg st="0" end="0"/>
                                            </p:txEl>
                                          </p:spTgt>
                                        </p:tgtEl>
                                        <p:attrNameLst>
                                          <p:attrName>style.visibility</p:attrName>
                                        </p:attrNameLst>
                                      </p:cBhvr>
                                      <p:to>
                                        <p:strVal val="visible"/>
                                      </p:to>
                                    </p:set>
                                    <p:animEffect transition="in" filter="fade">
                                      <p:cBhvr>
                                        <p:cTn id="7" dur="1000"/>
                                        <p:tgtEl>
                                          <p:spTgt spid="18434">
                                            <p:txEl>
                                              <p:pRg st="0" end="0"/>
                                            </p:txEl>
                                          </p:spTgt>
                                        </p:tgtEl>
                                      </p:cBhvr>
                                    </p:animEffect>
                                    <p:anim calcmode="lin" valueType="num">
                                      <p:cBhvr>
                                        <p:cTn id="8" dur="1000" fill="hold"/>
                                        <p:tgtEl>
                                          <p:spTgt spid="1843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843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8434">
                                            <p:txEl>
                                              <p:pRg st="1" end="1"/>
                                            </p:txEl>
                                          </p:spTgt>
                                        </p:tgtEl>
                                        <p:attrNameLst>
                                          <p:attrName>style.visibility</p:attrName>
                                        </p:attrNameLst>
                                      </p:cBhvr>
                                      <p:to>
                                        <p:strVal val="visible"/>
                                      </p:to>
                                    </p:set>
                                    <p:animEffect transition="in" filter="fade">
                                      <p:cBhvr>
                                        <p:cTn id="14" dur="1000"/>
                                        <p:tgtEl>
                                          <p:spTgt spid="18434">
                                            <p:txEl>
                                              <p:pRg st="1" end="1"/>
                                            </p:txEl>
                                          </p:spTgt>
                                        </p:tgtEl>
                                      </p:cBhvr>
                                    </p:animEffect>
                                    <p:anim calcmode="lin" valueType="num">
                                      <p:cBhvr>
                                        <p:cTn id="15" dur="1000" fill="hold"/>
                                        <p:tgtEl>
                                          <p:spTgt spid="1843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843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18435"/>
                                        </p:tgtEl>
                                        <p:attrNameLst>
                                          <p:attrName>style.visibility</p:attrName>
                                        </p:attrNameLst>
                                      </p:cBhvr>
                                      <p:to>
                                        <p:strVal val="visible"/>
                                      </p:to>
                                    </p:set>
                                    <p:animEffect transition="in" filter="circle(in)">
                                      <p:cBhvr>
                                        <p:cTn id="21" dur="20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a:extLst>
              <a:ext uri="{FF2B5EF4-FFF2-40B4-BE49-F238E27FC236}">
                <a16:creationId xmlns:a16="http://schemas.microsoft.com/office/drawing/2014/main" id="{8AF264DF-68FE-4D48-BE4F-563E069356D9}"/>
              </a:ext>
            </a:extLst>
          </p:cNvPr>
          <p:cNvSpPr>
            <a:spLocks noGrp="1" noChangeArrowheads="1"/>
          </p:cNvSpPr>
          <p:nvPr>
            <p:ph type="title"/>
          </p:nvPr>
        </p:nvSpPr>
        <p:spPr>
          <a:xfrm>
            <a:off x="152400" y="0"/>
            <a:ext cx="8991600" cy="685800"/>
          </a:xfrm>
        </p:spPr>
        <p:txBody>
          <a:bodyPr/>
          <a:lstStyle/>
          <a:p>
            <a:pPr eaLnBrk="1" fontAlgn="auto" hangingPunct="1">
              <a:spcAft>
                <a:spcPts val="0"/>
              </a:spcAft>
              <a:defRPr/>
            </a:pPr>
            <a:r>
              <a:rPr lang="en-US" sz="2200" u="sng" dirty="0">
                <a:solidFill>
                  <a:srgbClr val="C00000"/>
                </a:solidFill>
                <a:latin typeface="Comic Sans MS" pitchFamily="66" charset="0"/>
              </a:rPr>
              <a:t>Biotic Components of Ecosystem</a:t>
            </a:r>
          </a:p>
        </p:txBody>
      </p:sp>
      <p:sp>
        <p:nvSpPr>
          <p:cNvPr id="10242" name="Rectangle 3">
            <a:extLst>
              <a:ext uri="{FF2B5EF4-FFF2-40B4-BE49-F238E27FC236}">
                <a16:creationId xmlns:a16="http://schemas.microsoft.com/office/drawing/2014/main" id="{AF3944DB-2E01-43EA-ACE6-CB00BC8896EB}"/>
              </a:ext>
            </a:extLst>
          </p:cNvPr>
          <p:cNvSpPr>
            <a:spLocks noGrp="1" noChangeArrowheads="1"/>
          </p:cNvSpPr>
          <p:nvPr>
            <p:ph sz="quarter" idx="1"/>
          </p:nvPr>
        </p:nvSpPr>
        <p:spPr>
          <a:xfrm>
            <a:off x="173665" y="609600"/>
            <a:ext cx="8839200" cy="6172200"/>
          </a:xfrm>
        </p:spPr>
        <p:txBody>
          <a:bodyPr rtlCol="0">
            <a:normAutofit/>
          </a:bodyPr>
          <a:lstStyle/>
          <a:p>
            <a:pPr marL="228600" indent="-228600" algn="just" eaLnBrk="1" fontAlgn="auto" hangingPunct="1">
              <a:lnSpc>
                <a:spcPct val="90000"/>
              </a:lnSpc>
              <a:spcAft>
                <a:spcPts val="0"/>
              </a:spcAft>
              <a:buClr>
                <a:schemeClr val="tx1"/>
              </a:buClr>
              <a:buFont typeface="Wingdings" panose="05000000000000000000" pitchFamily="2" charset="2"/>
              <a:buChar char="§"/>
              <a:defRPr/>
            </a:pPr>
            <a:endParaRPr lang="en-US" sz="2200" dirty="0">
              <a:solidFill>
                <a:srgbClr val="FF6600"/>
              </a:solidFill>
              <a:latin typeface="Comic Sans MS" pitchFamily="66" charset="0"/>
            </a:endParaRPr>
          </a:p>
          <a:p>
            <a:pPr marL="228600" indent="-228600" algn="just" eaLnBrk="1" fontAlgn="auto" hangingPunct="1">
              <a:lnSpc>
                <a:spcPct val="90000"/>
              </a:lnSpc>
              <a:spcAft>
                <a:spcPts val="0"/>
              </a:spcAft>
              <a:buClr>
                <a:schemeClr val="tx1"/>
              </a:buClr>
              <a:buFont typeface="Wingdings" panose="05000000000000000000" pitchFamily="2" charset="2"/>
              <a:buChar char="§"/>
              <a:defRPr/>
            </a:pPr>
            <a:r>
              <a:rPr lang="en-US" sz="2200" dirty="0">
                <a:solidFill>
                  <a:srgbClr val="FF0000"/>
                </a:solidFill>
                <a:latin typeface="Comic Sans MS" pitchFamily="66" charset="0"/>
              </a:rPr>
              <a:t>Producers</a:t>
            </a:r>
            <a:r>
              <a:rPr lang="en-US" sz="2200" dirty="0">
                <a:latin typeface="Comic Sans MS" pitchFamily="66" charset="0"/>
              </a:rPr>
              <a:t>- sometimes called </a:t>
            </a:r>
            <a:r>
              <a:rPr lang="en-US" sz="2200" dirty="0" err="1">
                <a:latin typeface="Comic Sans MS" pitchFamily="66" charset="0"/>
              </a:rPr>
              <a:t>autotrophs</a:t>
            </a:r>
            <a:r>
              <a:rPr lang="en-US" sz="2200" dirty="0">
                <a:latin typeface="Comic Sans MS" pitchFamily="66" charset="0"/>
              </a:rPr>
              <a:t> (self-feeders)- are organisms that can make their own food (the organic compounds they need as sources of energy and nutrients). </a:t>
            </a:r>
          </a:p>
          <a:p>
            <a:pPr marL="228600" indent="-228600" algn="just" eaLnBrk="1" fontAlgn="auto" hangingPunct="1">
              <a:lnSpc>
                <a:spcPct val="90000"/>
              </a:lnSpc>
              <a:spcAft>
                <a:spcPts val="0"/>
              </a:spcAft>
              <a:buClr>
                <a:schemeClr val="tx1"/>
              </a:buClr>
              <a:buFont typeface="Wingdings"/>
              <a:buNone/>
              <a:defRPr/>
            </a:pPr>
            <a:r>
              <a:rPr lang="en-US" sz="2200" dirty="0">
                <a:latin typeface="Comic Sans MS" pitchFamily="66" charset="0"/>
              </a:rPr>
              <a:t>  Most producers are green plants that can manufacture their food through the process of photosynthesis.</a:t>
            </a:r>
          </a:p>
          <a:p>
            <a:pPr marL="228600" indent="-228600" algn="just" eaLnBrk="1" fontAlgn="auto" hangingPunct="1">
              <a:lnSpc>
                <a:spcPct val="90000"/>
              </a:lnSpc>
              <a:spcAft>
                <a:spcPts val="0"/>
              </a:spcAft>
              <a:buClr>
                <a:schemeClr val="tx1"/>
              </a:buClr>
              <a:buFont typeface="Wingdings" panose="05000000000000000000" pitchFamily="2" charset="2"/>
              <a:buChar char="§"/>
              <a:defRPr/>
            </a:pPr>
            <a:r>
              <a:rPr lang="en-US" sz="2200" dirty="0">
                <a:solidFill>
                  <a:srgbClr val="FF0000"/>
                </a:solidFill>
                <a:latin typeface="Comic Sans MS" pitchFamily="66" charset="0"/>
              </a:rPr>
              <a:t>Consumers</a:t>
            </a:r>
            <a:r>
              <a:rPr lang="en-US" sz="2200" dirty="0">
                <a:latin typeface="Comic Sans MS" pitchFamily="66" charset="0"/>
              </a:rPr>
              <a:t>- or heterotrophs (other-feeders) get their energy and nutrients by feeding directly or indirectly on producers and also other organisms.  </a:t>
            </a:r>
          </a:p>
          <a:p>
            <a:pPr marL="228600" indent="-228600" algn="just" eaLnBrk="1" fontAlgn="auto" hangingPunct="1">
              <a:lnSpc>
                <a:spcPct val="90000"/>
              </a:lnSpc>
              <a:spcAft>
                <a:spcPts val="0"/>
              </a:spcAft>
              <a:buClr>
                <a:schemeClr val="tx1"/>
              </a:buClr>
              <a:buFont typeface="Arial" charset="0"/>
              <a:buNone/>
              <a:defRPr/>
            </a:pPr>
            <a:r>
              <a:rPr lang="en-US" sz="2200" dirty="0">
                <a:latin typeface="Comic Sans MS" pitchFamily="66" charset="0"/>
              </a:rPr>
              <a:t>      - Plant eating animals are known as </a:t>
            </a:r>
            <a:r>
              <a:rPr lang="en-US" sz="2200" dirty="0">
                <a:solidFill>
                  <a:srgbClr val="FF0000"/>
                </a:solidFill>
                <a:latin typeface="Comic Sans MS" pitchFamily="66" charset="0"/>
              </a:rPr>
              <a:t>herbivores</a:t>
            </a:r>
            <a:r>
              <a:rPr lang="en-US" sz="2200" dirty="0">
                <a:latin typeface="Comic Sans MS" pitchFamily="66" charset="0"/>
              </a:rPr>
              <a:t>.</a:t>
            </a:r>
          </a:p>
          <a:p>
            <a:pPr marL="228600" indent="-228600" algn="just" eaLnBrk="1" fontAlgn="auto" hangingPunct="1">
              <a:lnSpc>
                <a:spcPct val="90000"/>
              </a:lnSpc>
              <a:spcAft>
                <a:spcPts val="0"/>
              </a:spcAft>
              <a:buClr>
                <a:schemeClr val="tx1"/>
              </a:buClr>
              <a:buFont typeface="Arial" charset="0"/>
              <a:buNone/>
              <a:defRPr/>
            </a:pPr>
            <a:r>
              <a:rPr lang="en-US" sz="2200" dirty="0">
                <a:latin typeface="Comic Sans MS" pitchFamily="66" charset="0"/>
              </a:rPr>
              <a:t>      - Organism that feed on herbivores known as </a:t>
            </a:r>
            <a:r>
              <a:rPr lang="en-US" sz="2200" dirty="0">
                <a:solidFill>
                  <a:srgbClr val="FF0000"/>
                </a:solidFill>
                <a:latin typeface="Comic Sans MS" pitchFamily="66" charset="0"/>
              </a:rPr>
              <a:t>carnivores</a:t>
            </a:r>
            <a:r>
              <a:rPr lang="en-US" sz="2200" dirty="0">
                <a:latin typeface="Comic Sans MS" pitchFamily="66" charset="0"/>
              </a:rPr>
              <a:t>. </a:t>
            </a:r>
          </a:p>
          <a:p>
            <a:pPr marL="228600" indent="-228600" algn="just" eaLnBrk="1" fontAlgn="auto" hangingPunct="1">
              <a:lnSpc>
                <a:spcPct val="90000"/>
              </a:lnSpc>
              <a:spcAft>
                <a:spcPts val="0"/>
              </a:spcAft>
              <a:buClr>
                <a:schemeClr val="tx1"/>
              </a:buClr>
              <a:buFont typeface="Arial" charset="0"/>
              <a:buNone/>
              <a:defRPr/>
            </a:pPr>
            <a:r>
              <a:rPr lang="en-US" sz="2200" dirty="0">
                <a:latin typeface="Comic Sans MS" pitchFamily="66" charset="0"/>
              </a:rPr>
              <a:t>        Carnivores can also consume other carnivores.       </a:t>
            </a:r>
          </a:p>
          <a:p>
            <a:pPr marL="228600" indent="-228600" algn="just" eaLnBrk="1" fontAlgn="auto" hangingPunct="1">
              <a:lnSpc>
                <a:spcPct val="90000"/>
              </a:lnSpc>
              <a:spcAft>
                <a:spcPts val="0"/>
              </a:spcAft>
              <a:buClr>
                <a:schemeClr val="tx1"/>
              </a:buClr>
              <a:buFont typeface="Arial" charset="0"/>
              <a:buNone/>
              <a:defRPr/>
            </a:pPr>
            <a:r>
              <a:rPr lang="en-US" sz="2200" dirty="0">
                <a:latin typeface="Comic Sans MS" pitchFamily="66" charset="0"/>
              </a:rPr>
              <a:t>     - Consumers which feed on both plants and animals are called </a:t>
            </a:r>
            <a:r>
              <a:rPr lang="en-US" sz="2200" dirty="0">
                <a:solidFill>
                  <a:srgbClr val="FF0000"/>
                </a:solidFill>
                <a:latin typeface="Comic Sans MS" pitchFamily="66" charset="0"/>
              </a:rPr>
              <a:t>omnivores</a:t>
            </a:r>
            <a:r>
              <a:rPr lang="en-US" sz="2200" dirty="0">
                <a:latin typeface="Comic Sans MS" pitchFamily="66" charset="0"/>
              </a:rPr>
              <a:t>.</a:t>
            </a:r>
          </a:p>
          <a:p>
            <a:pPr marL="274320" indent="-274320" eaLnBrk="1" fontAlgn="auto" hangingPunct="1">
              <a:lnSpc>
                <a:spcPct val="90000"/>
              </a:lnSpc>
              <a:spcAft>
                <a:spcPts val="0"/>
              </a:spcAft>
              <a:buFontTx/>
              <a:buNone/>
              <a:defRPr/>
            </a:pPr>
            <a:endParaRPr lang="en-US" sz="2800" dirty="0">
              <a:latin typeface="Garamond"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fade">
                                      <p:cBhvr>
                                        <p:cTn id="7" dur="1000"/>
                                        <p:tgtEl>
                                          <p:spTgt spid="9219"/>
                                        </p:tgtEl>
                                      </p:cBhvr>
                                    </p:animEffect>
                                    <p:anim calcmode="lin" valueType="num">
                                      <p:cBhvr>
                                        <p:cTn id="8" dur="1000" fill="hold"/>
                                        <p:tgtEl>
                                          <p:spTgt spid="9219"/>
                                        </p:tgtEl>
                                        <p:attrNameLst>
                                          <p:attrName>ppt_x</p:attrName>
                                        </p:attrNameLst>
                                      </p:cBhvr>
                                      <p:tavLst>
                                        <p:tav tm="0">
                                          <p:val>
                                            <p:strVal val="#ppt_x"/>
                                          </p:val>
                                        </p:tav>
                                        <p:tav tm="100000">
                                          <p:val>
                                            <p:strVal val="#ppt_x"/>
                                          </p:val>
                                        </p:tav>
                                      </p:tavLst>
                                    </p:anim>
                                    <p:anim calcmode="lin" valueType="num">
                                      <p:cBhvr>
                                        <p:cTn id="9" dur="1000" fill="hold"/>
                                        <p:tgtEl>
                                          <p:spTgt spid="92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242">
                                            <p:txEl>
                                              <p:pRg st="1" end="1"/>
                                            </p:txEl>
                                          </p:spTgt>
                                        </p:tgtEl>
                                        <p:attrNameLst>
                                          <p:attrName>style.visibility</p:attrName>
                                        </p:attrNameLst>
                                      </p:cBhvr>
                                      <p:to>
                                        <p:strVal val="visible"/>
                                      </p:to>
                                    </p:set>
                                    <p:animEffect transition="in" filter="fade">
                                      <p:cBhvr>
                                        <p:cTn id="14" dur="1000"/>
                                        <p:tgtEl>
                                          <p:spTgt spid="10242">
                                            <p:txEl>
                                              <p:pRg st="1" end="1"/>
                                            </p:txEl>
                                          </p:spTgt>
                                        </p:tgtEl>
                                      </p:cBhvr>
                                    </p:animEffect>
                                    <p:anim calcmode="lin" valueType="num">
                                      <p:cBhvr>
                                        <p:cTn id="15" dur="1000" fill="hold"/>
                                        <p:tgtEl>
                                          <p:spTgt spid="1024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0242">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242">
                                            <p:txEl>
                                              <p:pRg st="2" end="2"/>
                                            </p:txEl>
                                          </p:spTgt>
                                        </p:tgtEl>
                                        <p:attrNameLst>
                                          <p:attrName>style.visibility</p:attrName>
                                        </p:attrNameLst>
                                      </p:cBhvr>
                                      <p:to>
                                        <p:strVal val="visible"/>
                                      </p:to>
                                    </p:set>
                                    <p:animEffect transition="in" filter="fade">
                                      <p:cBhvr>
                                        <p:cTn id="19" dur="1000"/>
                                        <p:tgtEl>
                                          <p:spTgt spid="10242">
                                            <p:txEl>
                                              <p:pRg st="2" end="2"/>
                                            </p:txEl>
                                          </p:spTgt>
                                        </p:tgtEl>
                                      </p:cBhvr>
                                    </p:animEffect>
                                    <p:anim calcmode="lin" valueType="num">
                                      <p:cBhvr>
                                        <p:cTn id="20" dur="1000" fill="hold"/>
                                        <p:tgtEl>
                                          <p:spTgt spid="10242">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1024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242">
                                            <p:txEl>
                                              <p:pRg st="3" end="3"/>
                                            </p:txEl>
                                          </p:spTgt>
                                        </p:tgtEl>
                                        <p:attrNameLst>
                                          <p:attrName>style.visibility</p:attrName>
                                        </p:attrNameLst>
                                      </p:cBhvr>
                                      <p:to>
                                        <p:strVal val="visible"/>
                                      </p:to>
                                    </p:set>
                                    <p:animEffect transition="in" filter="fade">
                                      <p:cBhvr>
                                        <p:cTn id="26" dur="1000"/>
                                        <p:tgtEl>
                                          <p:spTgt spid="10242">
                                            <p:txEl>
                                              <p:pRg st="3" end="3"/>
                                            </p:txEl>
                                          </p:spTgt>
                                        </p:tgtEl>
                                      </p:cBhvr>
                                    </p:animEffect>
                                    <p:anim calcmode="lin" valueType="num">
                                      <p:cBhvr>
                                        <p:cTn id="27" dur="1000" fill="hold"/>
                                        <p:tgtEl>
                                          <p:spTgt spid="10242">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024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0242">
                                            <p:txEl>
                                              <p:pRg st="4" end="4"/>
                                            </p:txEl>
                                          </p:spTgt>
                                        </p:tgtEl>
                                        <p:attrNameLst>
                                          <p:attrName>style.visibility</p:attrName>
                                        </p:attrNameLst>
                                      </p:cBhvr>
                                      <p:to>
                                        <p:strVal val="visible"/>
                                      </p:to>
                                    </p:set>
                                    <p:animEffect transition="in" filter="fade">
                                      <p:cBhvr>
                                        <p:cTn id="33" dur="1000"/>
                                        <p:tgtEl>
                                          <p:spTgt spid="10242">
                                            <p:txEl>
                                              <p:pRg st="4" end="4"/>
                                            </p:txEl>
                                          </p:spTgt>
                                        </p:tgtEl>
                                      </p:cBhvr>
                                    </p:animEffect>
                                    <p:anim calcmode="lin" valueType="num">
                                      <p:cBhvr>
                                        <p:cTn id="34" dur="1000" fill="hold"/>
                                        <p:tgtEl>
                                          <p:spTgt spid="10242">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1024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0242">
                                            <p:txEl>
                                              <p:pRg st="5" end="5"/>
                                            </p:txEl>
                                          </p:spTgt>
                                        </p:tgtEl>
                                        <p:attrNameLst>
                                          <p:attrName>style.visibility</p:attrName>
                                        </p:attrNameLst>
                                      </p:cBhvr>
                                      <p:to>
                                        <p:strVal val="visible"/>
                                      </p:to>
                                    </p:set>
                                    <p:animEffect transition="in" filter="fade">
                                      <p:cBhvr>
                                        <p:cTn id="40" dur="1000"/>
                                        <p:tgtEl>
                                          <p:spTgt spid="10242">
                                            <p:txEl>
                                              <p:pRg st="5" end="5"/>
                                            </p:txEl>
                                          </p:spTgt>
                                        </p:tgtEl>
                                      </p:cBhvr>
                                    </p:animEffect>
                                    <p:anim calcmode="lin" valueType="num">
                                      <p:cBhvr>
                                        <p:cTn id="41" dur="1000" fill="hold"/>
                                        <p:tgtEl>
                                          <p:spTgt spid="10242">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1024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0242">
                                            <p:txEl>
                                              <p:pRg st="6" end="6"/>
                                            </p:txEl>
                                          </p:spTgt>
                                        </p:tgtEl>
                                        <p:attrNameLst>
                                          <p:attrName>style.visibility</p:attrName>
                                        </p:attrNameLst>
                                      </p:cBhvr>
                                      <p:to>
                                        <p:strVal val="visible"/>
                                      </p:to>
                                    </p:set>
                                    <p:animEffect transition="in" filter="fade">
                                      <p:cBhvr>
                                        <p:cTn id="47" dur="1000"/>
                                        <p:tgtEl>
                                          <p:spTgt spid="10242">
                                            <p:txEl>
                                              <p:pRg st="6" end="6"/>
                                            </p:txEl>
                                          </p:spTgt>
                                        </p:tgtEl>
                                      </p:cBhvr>
                                    </p:animEffect>
                                    <p:anim calcmode="lin" valueType="num">
                                      <p:cBhvr>
                                        <p:cTn id="48" dur="1000" fill="hold"/>
                                        <p:tgtEl>
                                          <p:spTgt spid="10242">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1024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10242">
                                            <p:txEl>
                                              <p:pRg st="7" end="7"/>
                                            </p:txEl>
                                          </p:spTgt>
                                        </p:tgtEl>
                                        <p:attrNameLst>
                                          <p:attrName>style.visibility</p:attrName>
                                        </p:attrNameLst>
                                      </p:cBhvr>
                                      <p:to>
                                        <p:strVal val="visible"/>
                                      </p:to>
                                    </p:set>
                                    <p:animEffect transition="in" filter="fade">
                                      <p:cBhvr>
                                        <p:cTn id="54" dur="1000"/>
                                        <p:tgtEl>
                                          <p:spTgt spid="10242">
                                            <p:txEl>
                                              <p:pRg st="7" end="7"/>
                                            </p:txEl>
                                          </p:spTgt>
                                        </p:tgtEl>
                                      </p:cBhvr>
                                    </p:animEffect>
                                    <p:anim calcmode="lin" valueType="num">
                                      <p:cBhvr>
                                        <p:cTn id="55" dur="1000" fill="hold"/>
                                        <p:tgtEl>
                                          <p:spTgt spid="10242">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1024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A65737-DAC3-4D1D-B957-CC116E87B38D}"/>
              </a:ext>
            </a:extLst>
          </p:cNvPr>
          <p:cNvSpPr>
            <a:spLocks noGrp="1"/>
          </p:cNvSpPr>
          <p:nvPr>
            <p:ph idx="1"/>
          </p:nvPr>
        </p:nvSpPr>
        <p:spPr>
          <a:xfrm>
            <a:off x="990600" y="609600"/>
            <a:ext cx="7704667" cy="4094816"/>
          </a:xfrm>
        </p:spPr>
        <p:txBody>
          <a:bodyPr/>
          <a:lstStyle/>
          <a:p>
            <a:r>
              <a:rPr lang="en-US" dirty="0">
                <a:solidFill>
                  <a:srgbClr val="FF0000"/>
                </a:solidFill>
                <a:latin typeface="Comic Sans MS" pitchFamily="66" charset="0"/>
              </a:rPr>
              <a:t>Decomposers</a:t>
            </a:r>
            <a:r>
              <a:rPr lang="en-US" dirty="0">
                <a:solidFill>
                  <a:srgbClr val="FF6600"/>
                </a:solidFill>
                <a:latin typeface="Comic Sans MS" pitchFamily="66" charset="0"/>
              </a:rPr>
              <a:t> </a:t>
            </a:r>
            <a:r>
              <a:rPr lang="en-US" dirty="0">
                <a:latin typeface="Comic Sans MS" pitchFamily="66" charset="0"/>
              </a:rPr>
              <a:t>or</a:t>
            </a:r>
            <a:r>
              <a:rPr lang="en-US" dirty="0">
                <a:solidFill>
                  <a:srgbClr val="FF6600"/>
                </a:solidFill>
                <a:latin typeface="Comic Sans MS" pitchFamily="66" charset="0"/>
              </a:rPr>
              <a:t> </a:t>
            </a:r>
            <a:r>
              <a:rPr lang="en-US" dirty="0">
                <a:solidFill>
                  <a:srgbClr val="FF0000"/>
                </a:solidFill>
                <a:latin typeface="Comic Sans MS" pitchFamily="66" charset="0"/>
              </a:rPr>
              <a:t>detritivores</a:t>
            </a:r>
            <a:r>
              <a:rPr lang="en-US" dirty="0">
                <a:latin typeface="Comic Sans MS" pitchFamily="66" charset="0"/>
              </a:rPr>
              <a:t>, such as bacteria and fungi, decompose dead organisms. They break down organic materials into simpler inorganic compounds into soil and water where producers and other microorganisms can take them up as nutrients.  </a:t>
            </a:r>
          </a:p>
          <a:p>
            <a:endParaRPr lang="en-US" dirty="0"/>
          </a:p>
        </p:txBody>
      </p:sp>
    </p:spTree>
    <p:extLst>
      <p:ext uri="{BB962C8B-B14F-4D97-AF65-F5344CB8AC3E}">
        <p14:creationId xmlns:p14="http://schemas.microsoft.com/office/powerpoint/2010/main" val="224153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A9F27506-5CFC-42E8-9C22-4061417438E0}"/>
              </a:ext>
            </a:extLst>
          </p:cNvPr>
          <p:cNvSpPr>
            <a:spLocks noGrp="1"/>
          </p:cNvSpPr>
          <p:nvPr>
            <p:ph type="title"/>
          </p:nvPr>
        </p:nvSpPr>
        <p:spPr>
          <a:xfrm>
            <a:off x="484239" y="381000"/>
            <a:ext cx="8229600" cy="381000"/>
          </a:xfrm>
        </p:spPr>
        <p:txBody>
          <a:bodyPr>
            <a:noAutofit/>
          </a:bodyPr>
          <a:lstStyle/>
          <a:p>
            <a:pPr eaLnBrk="1" fontAlgn="auto" hangingPunct="1">
              <a:spcAft>
                <a:spcPts val="0"/>
              </a:spcAft>
              <a:defRPr/>
            </a:pPr>
            <a:r>
              <a:rPr lang="en-US" sz="2200" u="sng" dirty="0">
                <a:solidFill>
                  <a:srgbClr val="FF0000"/>
                </a:solidFill>
                <a:latin typeface="Comic Sans MS" pitchFamily="66" charset="0"/>
              </a:rPr>
              <a:t>Food Chain and Food Web</a:t>
            </a:r>
          </a:p>
        </p:txBody>
      </p:sp>
      <p:sp>
        <p:nvSpPr>
          <p:cNvPr id="3" name="Content Placeholder 2">
            <a:extLst>
              <a:ext uri="{FF2B5EF4-FFF2-40B4-BE49-F238E27FC236}">
                <a16:creationId xmlns:a16="http://schemas.microsoft.com/office/drawing/2014/main" id="{6F13A8B3-4175-4A5E-93F6-A0D203DA9F6E}"/>
              </a:ext>
            </a:extLst>
          </p:cNvPr>
          <p:cNvSpPr>
            <a:spLocks noGrp="1"/>
          </p:cNvSpPr>
          <p:nvPr>
            <p:ph sz="quarter" idx="1"/>
          </p:nvPr>
        </p:nvSpPr>
        <p:spPr>
          <a:xfrm>
            <a:off x="685800" y="1184787"/>
            <a:ext cx="8458200" cy="2244213"/>
          </a:xfrm>
        </p:spPr>
        <p:txBody>
          <a:bodyPr>
            <a:normAutofit/>
          </a:bodyPr>
          <a:lstStyle/>
          <a:p>
            <a:pPr marL="228600" indent="-228600" algn="just" eaLnBrk="1" fontAlgn="auto" hangingPunct="1">
              <a:lnSpc>
                <a:spcPct val="90000"/>
              </a:lnSpc>
              <a:spcAft>
                <a:spcPts val="0"/>
              </a:spcAft>
              <a:buClr>
                <a:schemeClr val="tx1"/>
              </a:buClr>
              <a:buFont typeface="Wingdings" panose="05000000000000000000" pitchFamily="2" charset="2"/>
              <a:buChar char="§"/>
              <a:defRPr/>
            </a:pPr>
            <a:r>
              <a:rPr lang="en-US" sz="2200" dirty="0">
                <a:solidFill>
                  <a:srgbClr val="002060"/>
                </a:solidFill>
                <a:latin typeface="Comic Sans MS" pitchFamily="66" charset="0"/>
              </a:rPr>
              <a:t>Food chain</a:t>
            </a:r>
            <a:r>
              <a:rPr lang="en-US" sz="2200" dirty="0">
                <a:latin typeface="Comic Sans MS" pitchFamily="66" charset="0"/>
              </a:rPr>
              <a:t>: simplistic representation of the feeding relationship among organisms. </a:t>
            </a:r>
          </a:p>
          <a:p>
            <a:pPr marL="228600" indent="-228600" algn="just" eaLnBrk="1" fontAlgn="auto" hangingPunct="1">
              <a:lnSpc>
                <a:spcPct val="90000"/>
              </a:lnSpc>
              <a:spcAft>
                <a:spcPts val="0"/>
              </a:spcAft>
              <a:buClr>
                <a:schemeClr val="tx1"/>
              </a:buClr>
              <a:buFont typeface="Wingdings"/>
              <a:buNone/>
              <a:defRPr/>
            </a:pPr>
            <a:r>
              <a:rPr lang="en-US" sz="2200" dirty="0">
                <a:latin typeface="Comic Sans MS" pitchFamily="66" charset="0"/>
              </a:rPr>
              <a:t>   A linear sequence of organisms, each of which serves as a source of food for the next, is called a food chain. </a:t>
            </a:r>
          </a:p>
          <a:p>
            <a:pPr marL="228600" indent="-228600" algn="just" eaLnBrk="1" fontAlgn="auto" hangingPunct="1">
              <a:lnSpc>
                <a:spcPct val="90000"/>
              </a:lnSpc>
              <a:spcAft>
                <a:spcPts val="0"/>
              </a:spcAft>
              <a:buClr>
                <a:schemeClr val="tx1"/>
              </a:buClr>
              <a:buFont typeface="Wingdings"/>
              <a:buNone/>
              <a:defRPr/>
            </a:pPr>
            <a:r>
              <a:rPr lang="en-US" sz="2200" dirty="0">
                <a:latin typeface="Comic Sans MS" pitchFamily="66" charset="0"/>
              </a:rPr>
              <a:t>   It determines how energy and nutrients move from one organism to another through the ecosystem. </a:t>
            </a:r>
          </a:p>
          <a:p>
            <a:pPr marL="228600" indent="-228600" algn="just" eaLnBrk="1" fontAlgn="auto" hangingPunct="1">
              <a:lnSpc>
                <a:spcPct val="90000"/>
              </a:lnSpc>
              <a:spcAft>
                <a:spcPts val="0"/>
              </a:spcAft>
              <a:buClr>
                <a:schemeClr val="tx1"/>
              </a:buClr>
              <a:buFont typeface="Wingdings"/>
              <a:buNone/>
              <a:defRPr/>
            </a:pPr>
            <a:endParaRPr lang="en-US" sz="2200" dirty="0">
              <a:latin typeface="Comic Sans MS" pitchFamily="66" charset="0"/>
            </a:endParaRPr>
          </a:p>
          <a:p>
            <a:pPr marL="274320" indent="-274320" eaLnBrk="1" fontAlgn="auto" hangingPunct="1">
              <a:spcAft>
                <a:spcPts val="0"/>
              </a:spcAft>
              <a:buFont typeface="Wingdings"/>
              <a:buChar char=""/>
              <a:defRPr/>
            </a:pPr>
            <a:endParaRPr lang="en-US" dirty="0"/>
          </a:p>
        </p:txBody>
      </p:sp>
      <p:pic>
        <p:nvPicPr>
          <p:cNvPr id="5" name="Picture 4" descr="E:\SGR\SGR\ENV 103 SGR\SPRING 2014\trophic_pyramid.jpg">
            <a:extLst>
              <a:ext uri="{FF2B5EF4-FFF2-40B4-BE49-F238E27FC236}">
                <a16:creationId xmlns:a16="http://schemas.microsoft.com/office/drawing/2014/main" id="{0EFE864B-93F9-4A97-BB23-DEE5C8C5B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819400" y="3508468"/>
            <a:ext cx="4267200" cy="3120932"/>
          </a:xfrm>
          <a:prstGeom prst="rect">
            <a:avLst/>
          </a:prstGeom>
          <a:noFill/>
        </p:spPr>
      </p:pic>
      <p:sp>
        <p:nvSpPr>
          <p:cNvPr id="6" name="Rectangle 5">
            <a:extLst>
              <a:ext uri="{FF2B5EF4-FFF2-40B4-BE49-F238E27FC236}">
                <a16:creationId xmlns:a16="http://schemas.microsoft.com/office/drawing/2014/main" id="{338E2BCE-094D-42D8-BDD1-A35118763A37}"/>
              </a:ext>
            </a:extLst>
          </p:cNvPr>
          <p:cNvSpPr/>
          <p:nvPr/>
        </p:nvSpPr>
        <p:spPr>
          <a:xfrm>
            <a:off x="3276600" y="6117500"/>
            <a:ext cx="2525628" cy="369332"/>
          </a:xfrm>
          <a:prstGeom prst="rect">
            <a:avLst/>
          </a:prstGeom>
        </p:spPr>
        <p:txBody>
          <a:bodyPr wrap="none">
            <a:spAutoFit/>
          </a:bodyPr>
          <a:lstStyle/>
          <a:p>
            <a:r>
              <a:rPr lang="en-US" dirty="0">
                <a:latin typeface="Garamond" pitchFamily="18" charset="0"/>
              </a:rPr>
              <a:t>Example of a Food Chain</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fade">
                                      <p:cBhvr>
                                        <p:cTn id="7" dur="1000"/>
                                        <p:tgtEl>
                                          <p:spTgt spid="10242"/>
                                        </p:tgtEl>
                                      </p:cBhvr>
                                    </p:animEffect>
                                    <p:anim calcmode="lin" valueType="num">
                                      <p:cBhvr>
                                        <p:cTn id="8" dur="1000" fill="hold"/>
                                        <p:tgtEl>
                                          <p:spTgt spid="10242"/>
                                        </p:tgtEl>
                                        <p:attrNameLst>
                                          <p:attrName>ppt_x</p:attrName>
                                        </p:attrNameLst>
                                      </p:cBhvr>
                                      <p:tavLst>
                                        <p:tav tm="0">
                                          <p:val>
                                            <p:strVal val="#ppt_x"/>
                                          </p:val>
                                        </p:tav>
                                        <p:tav tm="100000">
                                          <p:val>
                                            <p:strVal val="#ppt_x"/>
                                          </p:val>
                                        </p:tav>
                                      </p:tavLst>
                                    </p:anim>
                                    <p:anim calcmode="lin" valueType="num">
                                      <p:cBhvr>
                                        <p:cTn id="9" dur="1000" fill="hold"/>
                                        <p:tgtEl>
                                          <p:spTgt spid="1024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circle(in)">
                                      <p:cBhvr>
                                        <p:cTn id="35" dur="20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1000"/>
                                        <p:tgtEl>
                                          <p:spTgt spid="6"/>
                                        </p:tgtEl>
                                      </p:cBhvr>
                                    </p:animEffect>
                                    <p:anim calcmode="lin" valueType="num">
                                      <p:cBhvr>
                                        <p:cTn id="41" dur="1000" fill="hold"/>
                                        <p:tgtEl>
                                          <p:spTgt spid="6"/>
                                        </p:tgtEl>
                                        <p:attrNameLst>
                                          <p:attrName>ppt_x</p:attrName>
                                        </p:attrNameLst>
                                      </p:cBhvr>
                                      <p:tavLst>
                                        <p:tav tm="0">
                                          <p:val>
                                            <p:strVal val="#ppt_x"/>
                                          </p:val>
                                        </p:tav>
                                        <p:tav tm="100000">
                                          <p:val>
                                            <p:strVal val="#ppt_x"/>
                                          </p:val>
                                        </p:tav>
                                      </p:tavLst>
                                    </p:anim>
                                    <p:anim calcmode="lin" valueType="num">
                                      <p:cBhvr>
                                        <p:cTn id="4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30" name="Picture 6" descr="Food Chain ( Read ) | Biology | CK-12 Foundation">
            <a:extLst>
              <a:ext uri="{FF2B5EF4-FFF2-40B4-BE49-F238E27FC236}">
                <a16:creationId xmlns:a16="http://schemas.microsoft.com/office/drawing/2014/main" id="{A809298A-F43C-4366-A7CF-CC0B055E58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2091063"/>
            <a:ext cx="3503264" cy="4047473"/>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pic>
        <p:nvPicPr>
          <p:cNvPr id="52232" name="Picture 8" descr="Food Chains and Food Webs | Food chain, Food web, Food chain activities">
            <a:extLst>
              <a:ext uri="{FF2B5EF4-FFF2-40B4-BE49-F238E27FC236}">
                <a16:creationId xmlns:a16="http://schemas.microsoft.com/office/drawing/2014/main" id="{FB9840DD-73FE-4B59-AF80-7CA51FEE1F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360" y="914400"/>
            <a:ext cx="3838560" cy="3200400"/>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293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2232"/>
                                        </p:tgtEl>
                                        <p:attrNameLst>
                                          <p:attrName>style.visibility</p:attrName>
                                        </p:attrNameLst>
                                      </p:cBhvr>
                                      <p:to>
                                        <p:strVal val="visible"/>
                                      </p:to>
                                    </p:set>
                                    <p:animEffect transition="in" filter="circle(in)">
                                      <p:cBhvr>
                                        <p:cTn id="7" dur="2000"/>
                                        <p:tgtEl>
                                          <p:spTgt spid="5223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52230"/>
                                        </p:tgtEl>
                                        <p:attrNameLst>
                                          <p:attrName>style.visibility</p:attrName>
                                        </p:attrNameLst>
                                      </p:cBhvr>
                                      <p:to>
                                        <p:strVal val="visible"/>
                                      </p:to>
                                    </p:set>
                                    <p:animEffect transition="in" filter="circle(in)">
                                      <p:cBhvr>
                                        <p:cTn id="12" dur="2000"/>
                                        <p:tgtEl>
                                          <p:spTgt spid="52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5" name="Picture 2" descr="E:\SGR\SGR\ENV 103 SGR\SPRING 2014\foodchain.jpg">
            <a:extLst>
              <a:ext uri="{FF2B5EF4-FFF2-40B4-BE49-F238E27FC236}">
                <a16:creationId xmlns:a16="http://schemas.microsoft.com/office/drawing/2014/main" id="{BE3FED5F-BFAB-4CE0-9402-DA284C5F4FE2}"/>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600200" y="914400"/>
            <a:ext cx="6553200" cy="5273121"/>
          </a:xfrm>
          <a:noFill/>
        </p:spPr>
      </p:pic>
    </p:spTree>
    <p:extLst>
      <p:ext uri="{BB962C8B-B14F-4D97-AF65-F5344CB8AC3E}">
        <p14:creationId xmlns:p14="http://schemas.microsoft.com/office/powerpoint/2010/main" val="226390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circle(in)">
                                      <p:cBhvr>
                                        <p:cTn id="7" dur="2000"/>
                                        <p:tgtEl>
                                          <p:spTgt spid="23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6C84EF2-4408-4790-86BD-18FBE2DF8E8F}"/>
              </a:ext>
            </a:extLst>
          </p:cNvPr>
          <p:cNvSpPr/>
          <p:nvPr/>
        </p:nvSpPr>
        <p:spPr>
          <a:xfrm>
            <a:off x="609600" y="557444"/>
            <a:ext cx="4240535" cy="5743111"/>
          </a:xfrm>
          <a:prstGeom prst="rect">
            <a:avLst/>
          </a:prstGeom>
        </p:spPr>
        <p:txBody>
          <a:bodyPr wrap="square">
            <a:spAutoFit/>
          </a:bodyPr>
          <a:lstStyle/>
          <a:p>
            <a:pPr marL="228600" indent="-228600" algn="just">
              <a:lnSpc>
                <a:spcPct val="90000"/>
              </a:lnSpc>
              <a:buClr>
                <a:schemeClr val="tx1"/>
              </a:buClr>
              <a:buFont typeface="Wingdings" panose="05000000000000000000" pitchFamily="2" charset="2"/>
              <a:buChar char="§"/>
              <a:defRPr/>
            </a:pPr>
            <a:r>
              <a:rPr lang="en-US" sz="2600" dirty="0">
                <a:solidFill>
                  <a:srgbClr val="002060"/>
                </a:solidFill>
                <a:latin typeface="Comic Sans MS" pitchFamily="66" charset="0"/>
              </a:rPr>
              <a:t>Food web</a:t>
            </a:r>
            <a:r>
              <a:rPr lang="en-US" sz="2600" dirty="0">
                <a:latin typeface="Comic Sans MS" pitchFamily="66" charset="0"/>
              </a:rPr>
              <a:t>: Real ecosystems are more complex.  Most consumers feed on more than one type of organism and most organisms are eaten by more than one type of consumer.  </a:t>
            </a:r>
          </a:p>
          <a:p>
            <a:pPr marL="228600" indent="-228600" algn="just">
              <a:lnSpc>
                <a:spcPct val="90000"/>
              </a:lnSpc>
              <a:buClr>
                <a:schemeClr val="tx1"/>
              </a:buClr>
              <a:defRPr/>
            </a:pPr>
            <a:r>
              <a:rPr lang="en-US" sz="2600" dirty="0">
                <a:latin typeface="Comic Sans MS" pitchFamily="66" charset="0"/>
              </a:rPr>
              <a:t>   The realistic and complex network of many interconnected food chains in  the ecosystem is called a food web.</a:t>
            </a:r>
          </a:p>
          <a:p>
            <a:pPr marL="228600" indent="-228600" algn="just">
              <a:lnSpc>
                <a:spcPct val="90000"/>
              </a:lnSpc>
              <a:buClr>
                <a:schemeClr val="tx1"/>
              </a:buClr>
              <a:defRPr/>
            </a:pPr>
            <a:endParaRPr lang="en-US" dirty="0">
              <a:latin typeface="Comic Sans MS" pitchFamily="66" charset="0"/>
            </a:endParaRPr>
          </a:p>
        </p:txBody>
      </p:sp>
      <p:pic>
        <p:nvPicPr>
          <p:cNvPr id="5" name="Picture 5" descr="Food Chains and Food Webs | Examples of Food Chains and Food Webs">
            <a:extLst>
              <a:ext uri="{FF2B5EF4-FFF2-40B4-BE49-F238E27FC236}">
                <a16:creationId xmlns:a16="http://schemas.microsoft.com/office/drawing/2014/main" id="{16322563-2CA0-482C-8C91-0421194AE7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685800"/>
            <a:ext cx="3843716" cy="43434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A7EC066-4573-43D6-9E21-E07D038954B2}"/>
              </a:ext>
            </a:extLst>
          </p:cNvPr>
          <p:cNvSpPr/>
          <p:nvPr/>
        </p:nvSpPr>
        <p:spPr>
          <a:xfrm>
            <a:off x="5867400" y="5181600"/>
            <a:ext cx="1998689" cy="369332"/>
          </a:xfrm>
          <a:prstGeom prst="rect">
            <a:avLst/>
          </a:prstGeom>
        </p:spPr>
        <p:txBody>
          <a:bodyPr wrap="none">
            <a:spAutoFit/>
          </a:bodyPr>
          <a:lstStyle/>
          <a:p>
            <a:r>
              <a:rPr lang="en-US" dirty="0">
                <a:latin typeface="Garamond" pitchFamily="18" charset="0"/>
              </a:rPr>
              <a:t>Terrestrial food web</a:t>
            </a:r>
            <a:endParaRPr lang="en-US" dirty="0"/>
          </a:p>
        </p:txBody>
      </p:sp>
    </p:spTree>
    <p:extLst>
      <p:ext uri="{BB962C8B-B14F-4D97-AF65-F5344CB8AC3E}">
        <p14:creationId xmlns:p14="http://schemas.microsoft.com/office/powerpoint/2010/main" val="90774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down)">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down)">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6">
            <a:extLst>
              <a:ext uri="{FF2B5EF4-FFF2-40B4-BE49-F238E27FC236}">
                <a16:creationId xmlns:a16="http://schemas.microsoft.com/office/drawing/2014/main" id="{2D41F692-7264-4BA4-BB06-B0D8B4A80A96}"/>
              </a:ext>
            </a:extLst>
          </p:cNvPr>
          <p:cNvSpPr>
            <a:spLocks noGrp="1" noChangeArrowheads="1"/>
          </p:cNvSpPr>
          <p:nvPr>
            <p:ph type="title"/>
          </p:nvPr>
        </p:nvSpPr>
        <p:spPr>
          <a:xfrm>
            <a:off x="457200" y="152400"/>
            <a:ext cx="8229600" cy="457200"/>
          </a:xfrm>
        </p:spPr>
        <p:txBody>
          <a:bodyPr rtlCol="0">
            <a:normAutofit fontScale="90000"/>
          </a:bodyPr>
          <a:lstStyle/>
          <a:p>
            <a:pPr eaLnBrk="1" fontAlgn="auto" hangingPunct="1">
              <a:spcAft>
                <a:spcPts val="0"/>
              </a:spcAft>
              <a:defRPr/>
            </a:pPr>
            <a:r>
              <a:rPr lang="en-US" sz="3600" dirty="0">
                <a:latin typeface="Garamond" pitchFamily="18" charset="0"/>
              </a:rPr>
              <a:t>Marine food web and food chain</a:t>
            </a:r>
          </a:p>
        </p:txBody>
      </p:sp>
      <p:sp>
        <p:nvSpPr>
          <p:cNvPr id="24579" name="Rectangle 3">
            <a:extLst>
              <a:ext uri="{FF2B5EF4-FFF2-40B4-BE49-F238E27FC236}">
                <a16:creationId xmlns:a16="http://schemas.microsoft.com/office/drawing/2014/main" id="{E4CE9CC1-C1DC-4C15-91B1-4659265BE923}"/>
              </a:ext>
            </a:extLst>
          </p:cNvPr>
          <p:cNvSpPr>
            <a:spLocks noGrp="1"/>
          </p:cNvSpPr>
          <p:nvPr>
            <p:ph sz="quarter" idx="1"/>
          </p:nvPr>
        </p:nvSpPr>
        <p:spPr>
          <a:xfrm>
            <a:off x="457200" y="457200"/>
            <a:ext cx="8229600" cy="6019800"/>
          </a:xfrm>
        </p:spPr>
        <p:txBody>
          <a:bodyPr/>
          <a:lstStyle/>
          <a:p>
            <a:pPr eaLnBrk="1" hangingPunct="1">
              <a:buFontTx/>
              <a:buNone/>
            </a:pPr>
            <a:endParaRPr lang="en-US" altLang="en-US">
              <a:latin typeface="Garamond" panose="02020404030301010803" pitchFamily="18" charset="0"/>
            </a:endParaRPr>
          </a:p>
          <a:p>
            <a:pPr eaLnBrk="1" hangingPunct="1"/>
            <a:endParaRPr lang="en-US" altLang="en-US"/>
          </a:p>
        </p:txBody>
      </p:sp>
      <p:pic>
        <p:nvPicPr>
          <p:cNvPr id="24580" name="Picture 5">
            <a:extLst>
              <a:ext uri="{FF2B5EF4-FFF2-40B4-BE49-F238E27FC236}">
                <a16:creationId xmlns:a16="http://schemas.microsoft.com/office/drawing/2014/main" id="{606801E5-5EFA-4C25-B1D3-6DD74E97F0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181100"/>
            <a:ext cx="6749143"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Effect transition="in" filter="circle(in)">
                                      <p:cBhvr>
                                        <p:cTn id="7" dur="20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Energy Transfer in Trophic Levels - YouTube">
            <a:extLst>
              <a:ext uri="{FF2B5EF4-FFF2-40B4-BE49-F238E27FC236}">
                <a16:creationId xmlns:a16="http://schemas.microsoft.com/office/drawing/2014/main" id="{7099AD18-F024-409C-94E7-75D5BB003E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33600" y="2899798"/>
            <a:ext cx="5249333" cy="29527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4966A26A-46F9-4F7C-ACFD-4186AE2DE0B7}"/>
              </a:ext>
            </a:extLst>
          </p:cNvPr>
          <p:cNvSpPr/>
          <p:nvPr/>
        </p:nvSpPr>
        <p:spPr>
          <a:xfrm>
            <a:off x="838200" y="1143000"/>
            <a:ext cx="8001000" cy="1338828"/>
          </a:xfrm>
          <a:prstGeom prst="rect">
            <a:avLst/>
          </a:prstGeom>
        </p:spPr>
        <p:txBody>
          <a:bodyPr wrap="square">
            <a:spAutoFit/>
          </a:bodyPr>
          <a:lstStyle/>
          <a:p>
            <a:pPr marL="228600" indent="-228600" algn="just">
              <a:lnSpc>
                <a:spcPct val="90000"/>
              </a:lnSpc>
              <a:buClr>
                <a:schemeClr val="tx1"/>
              </a:buClr>
              <a:buFont typeface="Wingdings" panose="05000000000000000000" pitchFamily="2" charset="2"/>
              <a:buChar char="§"/>
              <a:defRPr/>
            </a:pPr>
            <a:r>
              <a:rPr lang="en-US" dirty="0">
                <a:solidFill>
                  <a:srgbClr val="002060"/>
                </a:solidFill>
                <a:latin typeface="Comic Sans MS" pitchFamily="66" charset="0"/>
              </a:rPr>
              <a:t>Trophic level</a:t>
            </a:r>
            <a:r>
              <a:rPr lang="en-US" dirty="0">
                <a:latin typeface="Comic Sans MS" pitchFamily="66" charset="0"/>
              </a:rPr>
              <a:t>: Also known as feeding level. Each organism in the ecosystem is assigned to a trophic level depending on whether it is a producer or a consumer. The trophic level of an organism is the position it occupies in a food chain.</a:t>
            </a:r>
          </a:p>
          <a:p>
            <a:pPr marL="228600" indent="-228600" algn="just">
              <a:lnSpc>
                <a:spcPct val="90000"/>
              </a:lnSpc>
              <a:buClr>
                <a:schemeClr val="tx1"/>
              </a:buClr>
              <a:defRPr/>
            </a:pPr>
            <a:endParaRPr lang="en-US" dirty="0">
              <a:latin typeface="Comic Sans MS" pitchFamily="66" charset="0"/>
            </a:endParaRPr>
          </a:p>
        </p:txBody>
      </p:sp>
    </p:spTree>
    <p:extLst>
      <p:ext uri="{BB962C8B-B14F-4D97-AF65-F5344CB8AC3E}">
        <p14:creationId xmlns:p14="http://schemas.microsoft.com/office/powerpoint/2010/main" val="35166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1F6EA54-4575-4A81-9B64-323B0AA75D91}"/>
              </a:ext>
            </a:extLst>
          </p:cNvPr>
          <p:cNvSpPr>
            <a:spLocks noGrp="1" noChangeArrowheads="1"/>
          </p:cNvSpPr>
          <p:nvPr>
            <p:ph type="title"/>
          </p:nvPr>
        </p:nvSpPr>
        <p:spPr>
          <a:xfrm>
            <a:off x="0" y="0"/>
            <a:ext cx="9144000" cy="609600"/>
          </a:xfrm>
        </p:spPr>
        <p:txBody>
          <a:bodyPr/>
          <a:lstStyle/>
          <a:p>
            <a:pPr eaLnBrk="1" fontAlgn="auto" hangingPunct="1">
              <a:spcAft>
                <a:spcPts val="0"/>
              </a:spcAft>
              <a:defRPr/>
            </a:pPr>
            <a:r>
              <a:rPr lang="en-US" sz="2200" dirty="0">
                <a:solidFill>
                  <a:srgbClr val="C00000"/>
                </a:solidFill>
                <a:latin typeface="Comic Sans MS" pitchFamily="66" charset="0"/>
              </a:rPr>
              <a:t>     </a:t>
            </a:r>
            <a:r>
              <a:rPr lang="en-US" sz="2200" u="sng" dirty="0">
                <a:solidFill>
                  <a:srgbClr val="C00000"/>
                </a:solidFill>
                <a:latin typeface="Comic Sans MS" pitchFamily="66" charset="0"/>
              </a:rPr>
              <a:t>Energy Pyramid</a:t>
            </a:r>
          </a:p>
        </p:txBody>
      </p:sp>
      <p:sp>
        <p:nvSpPr>
          <p:cNvPr id="16387" name="Rectangle 3">
            <a:extLst>
              <a:ext uri="{FF2B5EF4-FFF2-40B4-BE49-F238E27FC236}">
                <a16:creationId xmlns:a16="http://schemas.microsoft.com/office/drawing/2014/main" id="{3F0850EC-DABE-4CAB-93A7-DB1B769464B4}"/>
              </a:ext>
            </a:extLst>
          </p:cNvPr>
          <p:cNvSpPr>
            <a:spLocks noGrp="1" noChangeArrowheads="1"/>
          </p:cNvSpPr>
          <p:nvPr>
            <p:ph sz="quarter" idx="1"/>
          </p:nvPr>
        </p:nvSpPr>
        <p:spPr>
          <a:xfrm>
            <a:off x="495300" y="1905000"/>
            <a:ext cx="8153400" cy="5638800"/>
          </a:xfrm>
        </p:spPr>
        <p:txBody>
          <a:bodyPr>
            <a:normAutofit fontScale="92500"/>
          </a:bodyPr>
          <a:lstStyle/>
          <a:p>
            <a:pPr marL="274320" indent="-274320" algn="just" eaLnBrk="1" fontAlgn="auto" hangingPunct="1">
              <a:spcAft>
                <a:spcPts val="0"/>
              </a:spcAft>
              <a:buFont typeface="Wingdings" panose="05000000000000000000" pitchFamily="2" charset="2"/>
              <a:buChar char="§"/>
              <a:defRPr/>
            </a:pPr>
            <a:r>
              <a:rPr lang="en-US" sz="2200" dirty="0">
                <a:latin typeface="Comic Sans MS" pitchFamily="66" charset="0"/>
              </a:rPr>
              <a:t>Each </a:t>
            </a:r>
            <a:r>
              <a:rPr lang="en-US" sz="2200" dirty="0" err="1">
                <a:latin typeface="Comic Sans MS" pitchFamily="66" charset="0"/>
              </a:rPr>
              <a:t>trophic</a:t>
            </a:r>
            <a:r>
              <a:rPr lang="en-US" sz="2200" dirty="0">
                <a:latin typeface="Comic Sans MS" pitchFamily="66" charset="0"/>
              </a:rPr>
              <a:t> level in a food chain or web contains a certain amount of </a:t>
            </a:r>
            <a:r>
              <a:rPr lang="en-US" sz="2200" b="1" dirty="0">
                <a:latin typeface="Comic Sans MS" pitchFamily="66" charset="0"/>
              </a:rPr>
              <a:t>biomass. </a:t>
            </a:r>
            <a:r>
              <a:rPr lang="en-US" sz="2200" dirty="0">
                <a:latin typeface="Comic Sans MS" pitchFamily="66" charset="0"/>
              </a:rPr>
              <a:t>Biomass is the dry weight of all organic matter contained in its organisms. The chemical energy stored in biomass is transferred from one </a:t>
            </a:r>
            <a:r>
              <a:rPr lang="en-US" sz="2200" dirty="0" err="1">
                <a:latin typeface="Comic Sans MS" pitchFamily="66" charset="0"/>
              </a:rPr>
              <a:t>trophic</a:t>
            </a:r>
            <a:r>
              <a:rPr lang="en-US" sz="2200" dirty="0">
                <a:latin typeface="Comic Sans MS" pitchFamily="66" charset="0"/>
              </a:rPr>
              <a:t> level to another. </a:t>
            </a:r>
          </a:p>
          <a:p>
            <a:pPr marL="274320" indent="-274320" algn="just" eaLnBrk="1" fontAlgn="auto" hangingPunct="1">
              <a:spcAft>
                <a:spcPts val="0"/>
              </a:spcAft>
              <a:buFont typeface="Wingdings" panose="05000000000000000000" pitchFamily="2" charset="2"/>
              <a:buChar char="§"/>
              <a:defRPr/>
            </a:pPr>
            <a:r>
              <a:rPr lang="en-US" sz="2200" dirty="0">
                <a:latin typeface="Comic Sans MS" pitchFamily="66" charset="0"/>
              </a:rPr>
              <a:t>There is a decrease in the amount of energy available from one </a:t>
            </a:r>
            <a:r>
              <a:rPr lang="en-US" sz="2200" dirty="0" err="1">
                <a:latin typeface="Comic Sans MS" pitchFamily="66" charset="0"/>
              </a:rPr>
              <a:t>trophic</a:t>
            </a:r>
            <a:r>
              <a:rPr lang="en-US" sz="2200" dirty="0">
                <a:latin typeface="Comic Sans MS" pitchFamily="66" charset="0"/>
              </a:rPr>
              <a:t> level to another in a food chain or web. </a:t>
            </a:r>
          </a:p>
          <a:p>
            <a:pPr marL="274320" indent="-274320" algn="just" eaLnBrk="1" fontAlgn="auto" hangingPunct="1">
              <a:spcAft>
                <a:spcPts val="0"/>
              </a:spcAft>
              <a:buFont typeface="Wingdings" panose="05000000000000000000" pitchFamily="2" charset="2"/>
              <a:buChar char="§"/>
              <a:defRPr/>
            </a:pPr>
            <a:r>
              <a:rPr lang="en-US" sz="2200" dirty="0">
                <a:latin typeface="Comic Sans MS" pitchFamily="66" charset="0"/>
              </a:rPr>
              <a:t>The percentage of usable energy transferred as biomass from one </a:t>
            </a:r>
            <a:r>
              <a:rPr lang="en-US" sz="2200" dirty="0" err="1">
                <a:latin typeface="Comic Sans MS" pitchFamily="66" charset="0"/>
              </a:rPr>
              <a:t>trophic</a:t>
            </a:r>
            <a:r>
              <a:rPr lang="en-US" sz="2200" dirty="0">
                <a:latin typeface="Comic Sans MS" pitchFamily="66" charset="0"/>
              </a:rPr>
              <a:t> level to the next is called </a:t>
            </a:r>
            <a:r>
              <a:rPr lang="en-US" sz="2200" b="1" dirty="0">
                <a:latin typeface="Comic Sans MS" pitchFamily="66" charset="0"/>
              </a:rPr>
              <a:t>ecological efficiency</a:t>
            </a:r>
            <a:r>
              <a:rPr lang="en-US" sz="2200" dirty="0">
                <a:latin typeface="Comic Sans MS" pitchFamily="66" charset="0"/>
              </a:rPr>
              <a:t>.  It ranges from 2-40% (that is a loss of 60-98%) depending on the types of species and ecosystem involved, but 10% is typical. </a:t>
            </a:r>
          </a:p>
          <a:p>
            <a:pPr marL="274320" indent="-274320" algn="just" eaLnBrk="1" fontAlgn="auto" hangingPunct="1">
              <a:spcAft>
                <a:spcPts val="0"/>
              </a:spcAft>
              <a:buFont typeface="Wingdings" panose="05000000000000000000" pitchFamily="2" charset="2"/>
              <a:buChar char="§"/>
              <a:defRPr/>
            </a:pPr>
            <a:r>
              <a:rPr lang="en-US" sz="2200" dirty="0">
                <a:latin typeface="Comic Sans MS" pitchFamily="66" charset="0"/>
              </a:rPr>
              <a:t>Why energy is lost at each higher level of food chain-</a:t>
            </a:r>
          </a:p>
          <a:p>
            <a:pPr marL="640080" lvl="1" indent="-274320" algn="just" eaLnBrk="1" fontAlgn="auto" hangingPunct="1">
              <a:spcAft>
                <a:spcPts val="0"/>
              </a:spcAft>
              <a:buFont typeface="Wingdings 2"/>
              <a:buChar char=""/>
              <a:defRPr/>
            </a:pPr>
            <a:r>
              <a:rPr lang="en-US" sz="2200" dirty="0">
                <a:latin typeface="Comic Sans MS" pitchFamily="66" charset="0"/>
              </a:rPr>
              <a:t>Some of the food that organisms eat is undigested and does not provide usable energy.</a:t>
            </a:r>
          </a:p>
          <a:p>
            <a:pPr marL="640080" lvl="1" indent="-274320" algn="just" eaLnBrk="1" fontAlgn="auto" hangingPunct="1">
              <a:spcAft>
                <a:spcPts val="0"/>
              </a:spcAft>
              <a:buFont typeface="Wingdings 2"/>
              <a:buChar char=""/>
              <a:defRPr/>
            </a:pPr>
            <a:r>
              <a:rPr lang="en-US" sz="2200" dirty="0">
                <a:latin typeface="Comic Sans MS" pitchFamily="66" charset="0"/>
              </a:rPr>
              <a:t>Much of the energy that is absorbed is used in the daily processes of living or lost as heat when it is transformed from one form to another and thus isn’t stored as biomass that can be eaten.</a:t>
            </a:r>
          </a:p>
          <a:p>
            <a:pPr marL="640080" lvl="1" indent="-274320" algn="just" eaLnBrk="1" fontAlgn="auto" hangingPunct="1">
              <a:spcAft>
                <a:spcPts val="0"/>
              </a:spcAft>
              <a:buFont typeface="Wingdings 2"/>
              <a:buChar char=""/>
              <a:defRPr/>
            </a:pPr>
            <a:endParaRPr lang="en-US" sz="2200" dirty="0">
              <a:latin typeface="Comic Sans MS" pitchFamily="66" charset="0"/>
            </a:endParaRPr>
          </a:p>
          <a:p>
            <a:pPr marL="640080" lvl="1" indent="-274320" algn="just" eaLnBrk="1" fontAlgn="auto" hangingPunct="1">
              <a:spcAft>
                <a:spcPts val="0"/>
              </a:spcAft>
              <a:buFont typeface="Wingdings 2"/>
              <a:buChar char=""/>
              <a:defRPr/>
            </a:pPr>
            <a:endParaRPr lang="en-US" sz="2200" dirty="0">
              <a:latin typeface="Comic Sans MS" pitchFamily="66" charset="0"/>
            </a:endParaRPr>
          </a:p>
          <a:p>
            <a:pPr marL="640080" lvl="1" indent="-274320" algn="just" eaLnBrk="1" fontAlgn="auto" hangingPunct="1">
              <a:spcAft>
                <a:spcPts val="0"/>
              </a:spcAft>
              <a:buFont typeface="Wingdings 2"/>
              <a:buChar char=""/>
              <a:defRPr/>
            </a:pPr>
            <a:endParaRPr lang="en-US" sz="2200" dirty="0">
              <a:latin typeface="Comic Sans MS" pitchFamily="66" charset="0"/>
            </a:endParaRPr>
          </a:p>
          <a:p>
            <a:pPr marL="640080" lvl="1" indent="-274320" algn="just" eaLnBrk="1" fontAlgn="auto" hangingPunct="1">
              <a:spcAft>
                <a:spcPts val="0"/>
              </a:spcAft>
              <a:buFont typeface="Wingdings 2"/>
              <a:buChar char=""/>
              <a:defRPr/>
            </a:pPr>
            <a:endParaRPr lang="en-US" sz="2200" dirty="0">
              <a:latin typeface="Comic Sans MS" pitchFamily="66" charset="0"/>
            </a:endParaRPr>
          </a:p>
          <a:p>
            <a:pPr marL="640080" lvl="1" indent="-274320" algn="just" eaLnBrk="1" fontAlgn="auto" hangingPunct="1">
              <a:spcAft>
                <a:spcPts val="0"/>
              </a:spcAft>
              <a:buFont typeface="Wingdings 2"/>
              <a:buChar char=""/>
              <a:defRPr/>
            </a:pPr>
            <a:endParaRPr lang="en-US" sz="2200" dirty="0">
              <a:latin typeface="Comic Sans MS" pitchFamily="66" charset="0"/>
            </a:endParaRPr>
          </a:p>
          <a:p>
            <a:pPr marL="640080" lvl="1" indent="-274320" algn="just" eaLnBrk="1" fontAlgn="auto" hangingPunct="1">
              <a:spcAft>
                <a:spcPts val="0"/>
              </a:spcAft>
              <a:buFont typeface="Wingdings 2"/>
              <a:buNone/>
              <a:defRPr/>
            </a:pPr>
            <a:endParaRPr lang="en-US" sz="2200" dirty="0">
              <a:latin typeface="Comic Sans MS"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fade">
                                      <p:cBhvr>
                                        <p:cTn id="7" dur="1000"/>
                                        <p:tgtEl>
                                          <p:spTgt spid="16386"/>
                                        </p:tgtEl>
                                      </p:cBhvr>
                                    </p:animEffect>
                                    <p:anim calcmode="lin" valueType="num">
                                      <p:cBhvr>
                                        <p:cTn id="8" dur="1000" fill="hold"/>
                                        <p:tgtEl>
                                          <p:spTgt spid="16386"/>
                                        </p:tgtEl>
                                        <p:attrNameLst>
                                          <p:attrName>ppt_x</p:attrName>
                                        </p:attrNameLst>
                                      </p:cBhvr>
                                      <p:tavLst>
                                        <p:tav tm="0">
                                          <p:val>
                                            <p:strVal val="#ppt_x"/>
                                          </p:val>
                                        </p:tav>
                                        <p:tav tm="100000">
                                          <p:val>
                                            <p:strVal val="#ppt_x"/>
                                          </p:val>
                                        </p:tav>
                                      </p:tavLst>
                                    </p:anim>
                                    <p:anim calcmode="lin" valueType="num">
                                      <p:cBhvr>
                                        <p:cTn id="9" dur="1000" fill="hold"/>
                                        <p:tgtEl>
                                          <p:spTgt spid="1638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387">
                                            <p:txEl>
                                              <p:pRg st="0" end="0"/>
                                            </p:txEl>
                                          </p:spTgt>
                                        </p:tgtEl>
                                        <p:attrNameLst>
                                          <p:attrName>style.visibility</p:attrName>
                                        </p:attrNameLst>
                                      </p:cBhvr>
                                      <p:to>
                                        <p:strVal val="visible"/>
                                      </p:to>
                                    </p:set>
                                    <p:animEffect transition="in" filter="fade">
                                      <p:cBhvr>
                                        <p:cTn id="14" dur="1000"/>
                                        <p:tgtEl>
                                          <p:spTgt spid="16387">
                                            <p:txEl>
                                              <p:pRg st="0" end="0"/>
                                            </p:txEl>
                                          </p:spTgt>
                                        </p:tgtEl>
                                      </p:cBhvr>
                                    </p:animEffect>
                                    <p:anim calcmode="lin" valueType="num">
                                      <p:cBhvr>
                                        <p:cTn id="15" dur="1000" fill="hold"/>
                                        <p:tgtEl>
                                          <p:spTgt spid="1638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638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6387">
                                            <p:txEl>
                                              <p:pRg st="1" end="1"/>
                                            </p:txEl>
                                          </p:spTgt>
                                        </p:tgtEl>
                                        <p:attrNameLst>
                                          <p:attrName>style.visibility</p:attrName>
                                        </p:attrNameLst>
                                      </p:cBhvr>
                                      <p:to>
                                        <p:strVal val="visible"/>
                                      </p:to>
                                    </p:set>
                                    <p:animEffect transition="in" filter="fade">
                                      <p:cBhvr>
                                        <p:cTn id="21" dur="1000"/>
                                        <p:tgtEl>
                                          <p:spTgt spid="16387">
                                            <p:txEl>
                                              <p:pRg st="1" end="1"/>
                                            </p:txEl>
                                          </p:spTgt>
                                        </p:tgtEl>
                                      </p:cBhvr>
                                    </p:animEffect>
                                    <p:anim calcmode="lin" valueType="num">
                                      <p:cBhvr>
                                        <p:cTn id="22" dur="1000" fill="hold"/>
                                        <p:tgtEl>
                                          <p:spTgt spid="1638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638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387">
                                            <p:txEl>
                                              <p:pRg st="2" end="2"/>
                                            </p:txEl>
                                          </p:spTgt>
                                        </p:tgtEl>
                                        <p:attrNameLst>
                                          <p:attrName>style.visibility</p:attrName>
                                        </p:attrNameLst>
                                      </p:cBhvr>
                                      <p:to>
                                        <p:strVal val="visible"/>
                                      </p:to>
                                    </p:set>
                                    <p:animEffect transition="in" filter="fade">
                                      <p:cBhvr>
                                        <p:cTn id="28" dur="1000"/>
                                        <p:tgtEl>
                                          <p:spTgt spid="16387">
                                            <p:txEl>
                                              <p:pRg st="2" end="2"/>
                                            </p:txEl>
                                          </p:spTgt>
                                        </p:tgtEl>
                                      </p:cBhvr>
                                    </p:animEffect>
                                    <p:anim calcmode="lin" valueType="num">
                                      <p:cBhvr>
                                        <p:cTn id="29" dur="10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638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6387">
                                            <p:txEl>
                                              <p:pRg st="3" end="3"/>
                                            </p:txEl>
                                          </p:spTgt>
                                        </p:tgtEl>
                                        <p:attrNameLst>
                                          <p:attrName>style.visibility</p:attrName>
                                        </p:attrNameLst>
                                      </p:cBhvr>
                                      <p:to>
                                        <p:strVal val="visible"/>
                                      </p:to>
                                    </p:set>
                                    <p:animEffect transition="in" filter="fade">
                                      <p:cBhvr>
                                        <p:cTn id="35" dur="1000"/>
                                        <p:tgtEl>
                                          <p:spTgt spid="16387">
                                            <p:txEl>
                                              <p:pRg st="3" end="3"/>
                                            </p:txEl>
                                          </p:spTgt>
                                        </p:tgtEl>
                                      </p:cBhvr>
                                    </p:animEffect>
                                    <p:anim calcmode="lin" valueType="num">
                                      <p:cBhvr>
                                        <p:cTn id="36" dur="10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1638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6387">
                                            <p:txEl>
                                              <p:pRg st="4" end="4"/>
                                            </p:txEl>
                                          </p:spTgt>
                                        </p:tgtEl>
                                        <p:attrNameLst>
                                          <p:attrName>style.visibility</p:attrName>
                                        </p:attrNameLst>
                                      </p:cBhvr>
                                      <p:to>
                                        <p:strVal val="visible"/>
                                      </p:to>
                                    </p:set>
                                    <p:animEffect transition="in" filter="fade">
                                      <p:cBhvr>
                                        <p:cTn id="42" dur="1000"/>
                                        <p:tgtEl>
                                          <p:spTgt spid="16387">
                                            <p:txEl>
                                              <p:pRg st="4" end="4"/>
                                            </p:txEl>
                                          </p:spTgt>
                                        </p:tgtEl>
                                      </p:cBhvr>
                                    </p:animEffect>
                                    <p:anim calcmode="lin" valueType="num">
                                      <p:cBhvr>
                                        <p:cTn id="43" dur="10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1638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6387">
                                            <p:txEl>
                                              <p:pRg st="5" end="5"/>
                                            </p:txEl>
                                          </p:spTgt>
                                        </p:tgtEl>
                                        <p:attrNameLst>
                                          <p:attrName>style.visibility</p:attrName>
                                        </p:attrNameLst>
                                      </p:cBhvr>
                                      <p:to>
                                        <p:strVal val="visible"/>
                                      </p:to>
                                    </p:set>
                                    <p:animEffect transition="in" filter="fade">
                                      <p:cBhvr>
                                        <p:cTn id="49" dur="1000"/>
                                        <p:tgtEl>
                                          <p:spTgt spid="16387">
                                            <p:txEl>
                                              <p:pRg st="5" end="5"/>
                                            </p:txEl>
                                          </p:spTgt>
                                        </p:tgtEl>
                                      </p:cBhvr>
                                    </p:animEffect>
                                    <p:anim calcmode="lin" valueType="num">
                                      <p:cBhvr>
                                        <p:cTn id="50" dur="10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1638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90881E8-CC33-46F7-A364-B0E53EFED699}"/>
              </a:ext>
            </a:extLst>
          </p:cNvPr>
          <p:cNvSpPr>
            <a:spLocks noGrp="1" noChangeArrowheads="1"/>
          </p:cNvSpPr>
          <p:nvPr>
            <p:ph type="title"/>
          </p:nvPr>
        </p:nvSpPr>
        <p:spPr>
          <a:xfrm>
            <a:off x="457200" y="381000"/>
            <a:ext cx="8229600" cy="411163"/>
          </a:xfrm>
        </p:spPr>
        <p:txBody>
          <a:bodyPr rtlCol="0">
            <a:normAutofit fontScale="90000"/>
          </a:bodyPr>
          <a:lstStyle/>
          <a:p>
            <a:pPr eaLnBrk="1" fontAlgn="auto" hangingPunct="1">
              <a:spcAft>
                <a:spcPts val="0"/>
              </a:spcAft>
              <a:defRPr/>
            </a:pPr>
            <a:br>
              <a:rPr lang="en-US" sz="3600" dirty="0">
                <a:latin typeface="Garamond" pitchFamily="18" charset="0"/>
              </a:rPr>
            </a:br>
            <a:br>
              <a:rPr lang="en-US" sz="3600" dirty="0">
                <a:latin typeface="Garamond" pitchFamily="18" charset="0"/>
              </a:rPr>
            </a:br>
            <a:r>
              <a:rPr lang="en-US" sz="3600" dirty="0">
                <a:latin typeface="Garamond" pitchFamily="18" charset="0"/>
              </a:rPr>
              <a:t> Pyramid of energy flow</a:t>
            </a:r>
          </a:p>
        </p:txBody>
      </p:sp>
      <p:pic>
        <p:nvPicPr>
          <p:cNvPr id="27651" name="Picture 3">
            <a:extLst>
              <a:ext uri="{FF2B5EF4-FFF2-40B4-BE49-F238E27FC236}">
                <a16:creationId xmlns:a16="http://schemas.microsoft.com/office/drawing/2014/main" id="{0ACC639C-594F-4DD7-8373-1A9E6607CEE1}"/>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600200" y="1524000"/>
            <a:ext cx="6838682" cy="4495800"/>
          </a:xfr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fade">
                                      <p:cBhvr>
                                        <p:cTn id="7" dur="1000"/>
                                        <p:tgtEl>
                                          <p:spTgt spid="17410"/>
                                        </p:tgtEl>
                                      </p:cBhvr>
                                    </p:animEffect>
                                    <p:anim calcmode="lin" valueType="num">
                                      <p:cBhvr>
                                        <p:cTn id="8" dur="1000" fill="hold"/>
                                        <p:tgtEl>
                                          <p:spTgt spid="17410"/>
                                        </p:tgtEl>
                                        <p:attrNameLst>
                                          <p:attrName>ppt_x</p:attrName>
                                        </p:attrNameLst>
                                      </p:cBhvr>
                                      <p:tavLst>
                                        <p:tav tm="0">
                                          <p:val>
                                            <p:strVal val="#ppt_x"/>
                                          </p:val>
                                        </p:tav>
                                        <p:tav tm="100000">
                                          <p:val>
                                            <p:strVal val="#ppt_x"/>
                                          </p:val>
                                        </p:tav>
                                      </p:tavLst>
                                    </p:anim>
                                    <p:anim calcmode="lin" valueType="num">
                                      <p:cBhvr>
                                        <p:cTn id="9" dur="1000" fill="hold"/>
                                        <p:tgtEl>
                                          <p:spTgt spid="174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27651"/>
                                        </p:tgtEl>
                                        <p:attrNameLst>
                                          <p:attrName>style.visibility</p:attrName>
                                        </p:attrNameLst>
                                      </p:cBhvr>
                                      <p:to>
                                        <p:strVal val="visible"/>
                                      </p:to>
                                    </p:set>
                                    <p:animEffect transition="in" filter="circle(in)">
                                      <p:cBhvr>
                                        <p:cTn id="14" dur="2000"/>
                                        <p:tgtEl>
                                          <p:spTgt spid="27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0"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5.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EBEBEB"/>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527</TotalTime>
  <Words>1411</Words>
  <Application>Microsoft Office PowerPoint</Application>
  <PresentationFormat>On-screen Show (4:3)</PresentationFormat>
  <Paragraphs>128</Paragraphs>
  <Slides>23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Calibri</vt:lpstr>
      <vt:lpstr>Century Gothic</vt:lpstr>
      <vt:lpstr>Comic Sans MS</vt:lpstr>
      <vt:lpstr>Courier New</vt:lpstr>
      <vt:lpstr>Garamond</vt:lpstr>
      <vt:lpstr>Wingdings</vt:lpstr>
      <vt:lpstr>Wingdings 2</vt:lpstr>
      <vt:lpstr>Parallax</vt:lpstr>
      <vt:lpstr>PowerPoint Presentation</vt:lpstr>
      <vt:lpstr>PowerPoint Presentation</vt:lpstr>
      <vt:lpstr>Five levels of ecological organization: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Major Components of Ecosystem</vt:lpstr>
      <vt:lpstr>PowerPoint Presentation</vt:lpstr>
      <vt:lpstr>PowerPoint Presentation</vt:lpstr>
      <vt:lpstr>Biotic Components of Ecosystem</vt:lpstr>
      <vt:lpstr>PowerPoint Presentation</vt:lpstr>
      <vt:lpstr>Food Chain and Food Web</vt:lpstr>
      <vt:lpstr>PowerPoint Presentation</vt:lpstr>
      <vt:lpstr>PowerPoint Presentation</vt:lpstr>
      <vt:lpstr>PowerPoint Presentation</vt:lpstr>
      <vt:lpstr>Marine food web and food chain</vt:lpstr>
      <vt:lpstr>PowerPoint Presentation</vt:lpstr>
      <vt:lpstr>     Energy Pyramid</vt:lpstr>
      <vt:lpstr>   Pyramid of energy flow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Mohammad Mehedi Hasan</dc:creator>
  <cp:lastModifiedBy>moushumi_geo@outlook.com</cp:lastModifiedBy>
  <cp:revision>36</cp:revision>
  <dcterms:created xsi:type="dcterms:W3CDTF">2020-07-14T14:58:22Z</dcterms:created>
  <dcterms:modified xsi:type="dcterms:W3CDTF">2022-02-23T06:13:57Z</dcterms:modified>
</cp:coreProperties>
</file>