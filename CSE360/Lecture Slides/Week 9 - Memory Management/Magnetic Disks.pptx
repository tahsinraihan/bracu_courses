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9144000"/>
  <p:embeddedFontLst>
    <p:embeddedFont>
      <p:font typeface="Helvetica Neue"/>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h/6ZUjzVJxp+w+ue5PbOff/OvM6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HelveticaNeue-italic.fntdata"/><Relationship Id="rId11" Type="http://schemas.openxmlformats.org/officeDocument/2006/relationships/slide" Target="slides/slide7.xml"/><Relationship Id="rId22" Type="http://customschemas.google.com/relationships/presentationmetadata" Target="metadata"/><Relationship Id="rId10" Type="http://schemas.openxmlformats.org/officeDocument/2006/relationships/slide" Target="slides/slide6.xml"/><Relationship Id="rId21" Type="http://schemas.openxmlformats.org/officeDocument/2006/relationships/font" Target="fonts/HelveticaNeue-bold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HelveticaNeue-bold.fntdata"/><Relationship Id="rId6" Type="http://schemas.openxmlformats.org/officeDocument/2006/relationships/slide" Target="slides/slide2.xml"/><Relationship Id="rId18" Type="http://schemas.openxmlformats.org/officeDocument/2006/relationships/font" Target="fonts/HelveticaNeue-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1" name="Google Shape;21;p15"/>
          <p:cNvPicPr preferRelativeResize="0"/>
          <p:nvPr/>
        </p:nvPicPr>
        <p:blipFill rotWithShape="1">
          <a:blip r:embed="rId2">
            <a:alphaModFix/>
          </a:blip>
          <a:srcRect b="0" l="0" r="0" t="0"/>
          <a:stretch/>
        </p:blipFill>
        <p:spPr>
          <a:xfrm>
            <a:off x="10939870" y="365125"/>
            <a:ext cx="827859" cy="55190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1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 name="Google Shape;25;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1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1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1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1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1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1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2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2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23"/>
          <p:cNvSpPr/>
          <p:nvPr>
            <p:ph idx="2" type="pic"/>
          </p:nvPr>
        </p:nvSpPr>
        <p:spPr>
          <a:xfrm>
            <a:off x="5183188" y="987425"/>
            <a:ext cx="6172200" cy="4873625"/>
          </a:xfrm>
          <a:prstGeom prst="rect">
            <a:avLst/>
          </a:prstGeom>
          <a:noFill/>
          <a:ln>
            <a:noFill/>
          </a:ln>
        </p:spPr>
      </p:sp>
      <p:sp>
        <p:nvSpPr>
          <p:cNvPr id="69" name="Google Shape;69;p2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2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2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2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title"/>
          </p:nvPr>
        </p:nvSpPr>
        <p:spPr>
          <a:xfrm>
            <a:off x="838200" y="365125"/>
            <a:ext cx="10515600" cy="24204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br>
              <a:rPr lang="en-US"/>
            </a:br>
            <a:br>
              <a:rPr lang="en-US"/>
            </a:br>
            <a:r>
              <a:rPr b="1" lang="en-US" sz="4400"/>
              <a:t>CSE360-Computer Interfacing</a:t>
            </a:r>
            <a:br>
              <a:rPr b="1" lang="en-US" sz="4400"/>
            </a:br>
            <a:r>
              <a:rPr b="1" lang="en-US" sz="4400"/>
              <a:t>BRAC University</a:t>
            </a:r>
            <a:br>
              <a:rPr b="1" lang="en-US"/>
            </a:br>
            <a:r>
              <a:rPr b="1" lang="en-US" sz="6000">
                <a:solidFill>
                  <a:schemeClr val="accent1"/>
                </a:solidFill>
              </a:rPr>
              <a:t>Magnetic Disk</a:t>
            </a:r>
            <a:br>
              <a:rPr lang="en-US"/>
            </a:br>
            <a:endParaRPr/>
          </a:p>
        </p:txBody>
      </p:sp>
      <p:sp>
        <p:nvSpPr>
          <p:cNvPr id="90" name="Google Shape;9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91" name="Google Shape;91;p1"/>
          <p:cNvPicPr preferRelativeResize="0"/>
          <p:nvPr/>
        </p:nvPicPr>
        <p:blipFill rotWithShape="1">
          <a:blip r:embed="rId3">
            <a:alphaModFix/>
          </a:blip>
          <a:srcRect b="0" l="0" r="0" t="0"/>
          <a:stretch/>
        </p:blipFill>
        <p:spPr>
          <a:xfrm>
            <a:off x="2279146" y="3012328"/>
            <a:ext cx="6140058" cy="346076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4400"/>
              <a:buFont typeface="Calibri"/>
              <a:buNone/>
            </a:pPr>
            <a:r>
              <a:rPr b="1" lang="en-US">
                <a:solidFill>
                  <a:schemeClr val="accent1"/>
                </a:solidFill>
              </a:rPr>
              <a:t>Magnetic Disk</a:t>
            </a:r>
            <a:endParaRPr/>
          </a:p>
        </p:txBody>
      </p:sp>
      <p:sp>
        <p:nvSpPr>
          <p:cNvPr id="97" name="Google Shape;97;p2"/>
          <p:cNvSpPr txBox="1"/>
          <p:nvPr>
            <p:ph idx="1" type="body"/>
          </p:nvPr>
        </p:nvSpPr>
        <p:spPr>
          <a:xfrm>
            <a:off x="838200" y="1858957"/>
            <a:ext cx="10515600" cy="4351200"/>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rgbClr val="3B3835"/>
              </a:buClr>
              <a:buSzPct val="100000"/>
              <a:buChar char="•"/>
            </a:pPr>
            <a:r>
              <a:rPr b="0" i="0" lang="en-US">
                <a:solidFill>
                  <a:srgbClr val="3B3835"/>
                </a:solidFill>
                <a:latin typeface="Helvetica Neue"/>
                <a:ea typeface="Helvetica Neue"/>
                <a:cs typeface="Helvetica Neue"/>
                <a:sym typeface="Helvetica Neue"/>
              </a:rPr>
              <a:t>A magnetic disk is the primary storage disk in a computer. </a:t>
            </a:r>
            <a:endParaRPr/>
          </a:p>
          <a:p>
            <a:pPr indent="0" lvl="0" marL="0" rtl="0" algn="l">
              <a:lnSpc>
                <a:spcPct val="90000"/>
              </a:lnSpc>
              <a:spcBef>
                <a:spcPts val="1000"/>
              </a:spcBef>
              <a:spcAft>
                <a:spcPts val="0"/>
              </a:spcAft>
              <a:buClr>
                <a:srgbClr val="3B3835"/>
              </a:buClr>
              <a:buSzPct val="100000"/>
              <a:buNone/>
            </a:pPr>
            <a:r>
              <a:rPr b="0" i="0" lang="en-US">
                <a:solidFill>
                  <a:srgbClr val="3B3835"/>
                </a:solidFill>
                <a:latin typeface="Helvetica Neue"/>
                <a:ea typeface="Helvetica Neue"/>
                <a:cs typeface="Helvetica Neue"/>
                <a:sym typeface="Helvetica Neue"/>
              </a:rPr>
              <a:t>• A magnetic disk is a used to read from and write data to the disk. </a:t>
            </a:r>
            <a:endParaRPr/>
          </a:p>
          <a:p>
            <a:pPr indent="0" lvl="0" marL="0" rtl="0" algn="l">
              <a:lnSpc>
                <a:spcPct val="90000"/>
              </a:lnSpc>
              <a:spcBef>
                <a:spcPts val="1000"/>
              </a:spcBef>
              <a:spcAft>
                <a:spcPts val="0"/>
              </a:spcAft>
              <a:buClr>
                <a:srgbClr val="3B3835"/>
              </a:buClr>
              <a:buSzPct val="100000"/>
              <a:buNone/>
            </a:pPr>
            <a:r>
              <a:rPr b="0" i="0" lang="en-US">
                <a:solidFill>
                  <a:srgbClr val="3B3835"/>
                </a:solidFill>
                <a:latin typeface="Helvetica Neue"/>
                <a:ea typeface="Helvetica Neue"/>
                <a:cs typeface="Helvetica Neue"/>
                <a:sym typeface="Helvetica Neue"/>
              </a:rPr>
              <a:t>• The data on a magnetic disk are read and written using a magnetization process.</a:t>
            </a:r>
            <a:endParaRPr/>
          </a:p>
          <a:p>
            <a:pPr indent="0" lvl="0" marL="0" rtl="0" algn="l">
              <a:lnSpc>
                <a:spcPct val="90000"/>
              </a:lnSpc>
              <a:spcBef>
                <a:spcPts val="1000"/>
              </a:spcBef>
              <a:spcAft>
                <a:spcPts val="0"/>
              </a:spcAft>
              <a:buClr>
                <a:srgbClr val="3B3835"/>
              </a:buClr>
              <a:buSzPct val="100000"/>
              <a:buNone/>
            </a:pPr>
            <a:r>
              <a:rPr b="0" i="0" lang="en-US">
                <a:solidFill>
                  <a:srgbClr val="3B3835"/>
                </a:solidFill>
                <a:latin typeface="Helvetica Neue"/>
                <a:ea typeface="Helvetica Neue"/>
                <a:cs typeface="Helvetica Neue"/>
                <a:sym typeface="Helvetica Neue"/>
              </a:rPr>
              <a:t>• It is covered with a magnetic coating and stores data in the form of tracks and sectors. </a:t>
            </a:r>
            <a:endParaRPr/>
          </a:p>
          <a:p>
            <a:pPr indent="-228600" lvl="0" marL="228600" rtl="0" algn="l">
              <a:lnSpc>
                <a:spcPct val="90000"/>
              </a:lnSpc>
              <a:spcBef>
                <a:spcPts val="1000"/>
              </a:spcBef>
              <a:spcAft>
                <a:spcPts val="0"/>
              </a:spcAft>
              <a:buClr>
                <a:srgbClr val="3B3835"/>
              </a:buClr>
              <a:buSzPct val="100000"/>
              <a:buChar char="•"/>
            </a:pPr>
            <a:r>
              <a:rPr b="0" i="0" lang="en-US">
                <a:solidFill>
                  <a:srgbClr val="3B3835"/>
                </a:solidFill>
                <a:latin typeface="Helvetica Neue"/>
                <a:ea typeface="Helvetica Neue"/>
                <a:cs typeface="Helvetica Neue"/>
                <a:sym typeface="Helvetica Neue"/>
              </a:rPr>
              <a:t>Physically a magnetic disk is a thin, circular plate or platter made of metal or plastic that is usually coated on both sides with a magnetizable recording material such as Iron Oxide. It is called substrate.</a:t>
            </a:r>
            <a:endParaRPr/>
          </a:p>
          <a:p>
            <a:pPr indent="0" lvl="0" marL="0" rtl="0" algn="l">
              <a:lnSpc>
                <a:spcPct val="90000"/>
              </a:lnSpc>
              <a:spcBef>
                <a:spcPts val="1000"/>
              </a:spcBef>
              <a:spcAft>
                <a:spcPts val="0"/>
              </a:spcAft>
              <a:buClr>
                <a:schemeClr val="dk1"/>
              </a:buClr>
              <a:buSzPct val="100000"/>
              <a:buNone/>
            </a:pPr>
            <a:r>
              <a:t/>
            </a:r>
            <a:endParaRPr b="0" i="0">
              <a:solidFill>
                <a:srgbClr val="3B3835"/>
              </a:solidFill>
              <a:latin typeface="Helvetica Neue"/>
              <a:ea typeface="Helvetica Neue"/>
              <a:cs typeface="Helvetica Neue"/>
              <a:sym typeface="Helvetica Neue"/>
            </a:endParaRPr>
          </a:p>
          <a:p>
            <a:pPr indent="0" lvl="0" marL="0" rtl="0" algn="l">
              <a:lnSpc>
                <a:spcPct val="90000"/>
              </a:lnSpc>
              <a:spcBef>
                <a:spcPts val="1000"/>
              </a:spcBef>
              <a:spcAft>
                <a:spcPts val="0"/>
              </a:spcAft>
              <a:buClr>
                <a:schemeClr val="dk1"/>
              </a:buClr>
              <a:buSzPct val="100000"/>
              <a:buNone/>
            </a:pPr>
            <a:r>
              <a:t/>
            </a:r>
            <a:endParaRPr/>
          </a:p>
        </p:txBody>
      </p:sp>
      <p:sp>
        <p:nvSpPr>
          <p:cNvPr id="98" name="Google Shape;98;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4400"/>
              <a:buFont typeface="Calibri"/>
              <a:buNone/>
            </a:pPr>
            <a:r>
              <a:rPr b="1" lang="en-US">
                <a:solidFill>
                  <a:schemeClr val="accent1"/>
                </a:solidFill>
              </a:rPr>
              <a:t>Magnetic Disk</a:t>
            </a:r>
            <a:endParaRPr/>
          </a:p>
        </p:txBody>
      </p:sp>
      <p:sp>
        <p:nvSpPr>
          <p:cNvPr id="104" name="Google Shape;104;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3B3835"/>
              </a:buClr>
              <a:buSzPts val="2800"/>
              <a:buChar char="•"/>
            </a:pPr>
            <a:r>
              <a:rPr lang="en-US">
                <a:solidFill>
                  <a:srgbClr val="3B3835"/>
                </a:solidFill>
                <a:latin typeface="Helvetica Neue"/>
                <a:ea typeface="Helvetica Neue"/>
                <a:cs typeface="Helvetica Neue"/>
                <a:sym typeface="Helvetica Neue"/>
              </a:rPr>
              <a:t>The disk is stored in a specially designed protective envelop or cartridge, or several of them are stacked together in a sealed, contamination-free container.</a:t>
            </a:r>
            <a:endParaRPr/>
          </a:p>
          <a:p>
            <a:pPr indent="-228600" lvl="0" marL="228600" rtl="0" algn="l">
              <a:lnSpc>
                <a:spcPct val="90000"/>
              </a:lnSpc>
              <a:spcBef>
                <a:spcPts val="1000"/>
              </a:spcBef>
              <a:spcAft>
                <a:spcPts val="0"/>
              </a:spcAft>
              <a:buClr>
                <a:srgbClr val="3B3835"/>
              </a:buClr>
              <a:buSzPts val="2800"/>
              <a:buChar char="•"/>
            </a:pPr>
            <a:r>
              <a:rPr b="0" i="0" lang="en-US">
                <a:solidFill>
                  <a:srgbClr val="3B3835"/>
                </a:solidFill>
                <a:latin typeface="Helvetica Neue"/>
                <a:ea typeface="Helvetica Neue"/>
                <a:cs typeface="Helvetica Neue"/>
                <a:sym typeface="Helvetica Neue"/>
              </a:rPr>
              <a:t>Hard disks, zip disks and floppy disks are common examples of magnetic disks.</a:t>
            </a:r>
            <a:endParaRPr/>
          </a:p>
          <a:p>
            <a:pPr indent="-50800" lvl="0" marL="228600" rtl="0" algn="l">
              <a:lnSpc>
                <a:spcPct val="90000"/>
              </a:lnSpc>
              <a:spcBef>
                <a:spcPts val="1000"/>
              </a:spcBef>
              <a:spcAft>
                <a:spcPts val="0"/>
              </a:spcAft>
              <a:buClr>
                <a:schemeClr val="dk1"/>
              </a:buClr>
              <a:buSzPts val="2800"/>
              <a:buNone/>
            </a:pPr>
            <a:r>
              <a:t/>
            </a:r>
            <a:endParaRPr b="0" i="0">
              <a:solidFill>
                <a:srgbClr val="3B3835"/>
              </a:solidFill>
              <a:latin typeface="Helvetica Neue"/>
              <a:ea typeface="Helvetica Neue"/>
              <a:cs typeface="Helvetica Neue"/>
              <a:sym typeface="Helvetica Neue"/>
            </a:endParaRPr>
          </a:p>
        </p:txBody>
      </p:sp>
      <p:sp>
        <p:nvSpPr>
          <p:cNvPr id="105" name="Google Shape;10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4400"/>
              <a:buFont typeface="Calibri"/>
              <a:buNone/>
            </a:pPr>
            <a:r>
              <a:rPr b="1" lang="en-US">
                <a:solidFill>
                  <a:schemeClr val="accent1"/>
                </a:solidFill>
              </a:rPr>
              <a:t>Magnetic Disk</a:t>
            </a:r>
            <a:endParaRPr/>
          </a:p>
        </p:txBody>
      </p:sp>
      <p:pic>
        <p:nvPicPr>
          <p:cNvPr id="111" name="Google Shape;111;p4"/>
          <p:cNvPicPr preferRelativeResize="0"/>
          <p:nvPr>
            <p:ph idx="1" type="body"/>
          </p:nvPr>
        </p:nvPicPr>
        <p:blipFill rotWithShape="1">
          <a:blip r:embed="rId3">
            <a:alphaModFix/>
          </a:blip>
          <a:srcRect b="0" l="0" r="0" t="0"/>
          <a:stretch/>
        </p:blipFill>
        <p:spPr>
          <a:xfrm>
            <a:off x="1137606" y="1863942"/>
            <a:ext cx="4644215" cy="4452451"/>
          </a:xfrm>
          <a:prstGeom prst="rect">
            <a:avLst/>
          </a:prstGeom>
          <a:noFill/>
          <a:ln>
            <a:noFill/>
          </a:ln>
        </p:spPr>
      </p:pic>
      <p:pic>
        <p:nvPicPr>
          <p:cNvPr id="112" name="Google Shape;112;p4"/>
          <p:cNvPicPr preferRelativeResize="0"/>
          <p:nvPr/>
        </p:nvPicPr>
        <p:blipFill rotWithShape="1">
          <a:blip r:embed="rId4">
            <a:alphaModFix/>
          </a:blip>
          <a:srcRect b="0" l="0" r="0" t="0"/>
          <a:stretch/>
        </p:blipFill>
        <p:spPr>
          <a:xfrm>
            <a:off x="5880295" y="1863942"/>
            <a:ext cx="6063175" cy="4418528"/>
          </a:xfrm>
          <a:prstGeom prst="rect">
            <a:avLst/>
          </a:prstGeom>
          <a:noFill/>
          <a:ln>
            <a:noFill/>
          </a:ln>
        </p:spPr>
      </p:pic>
      <p:sp>
        <p:nvSpPr>
          <p:cNvPr id="113" name="Google Shape;113;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5"/>
          <p:cNvSpPr txBox="1"/>
          <p:nvPr>
            <p:ph type="title"/>
          </p:nvPr>
        </p:nvSpPr>
        <p:spPr>
          <a:xfrm>
            <a:off x="838200" y="441325"/>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4400"/>
              <a:buFont typeface="Calibri"/>
              <a:buNone/>
            </a:pPr>
            <a:r>
              <a:rPr b="1" lang="en-US">
                <a:solidFill>
                  <a:schemeClr val="accent1"/>
                </a:solidFill>
              </a:rPr>
              <a:t>Magnetic Disk</a:t>
            </a:r>
            <a:endParaRPr/>
          </a:p>
        </p:txBody>
      </p:sp>
      <p:sp>
        <p:nvSpPr>
          <p:cNvPr id="119" name="Google Shape;119;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accent1"/>
              </a:buClr>
              <a:buSzPts val="2800"/>
              <a:buChar char="•"/>
            </a:pPr>
            <a:r>
              <a:rPr b="1" i="0" lang="en-US">
                <a:solidFill>
                  <a:schemeClr val="accent1"/>
                </a:solidFill>
                <a:latin typeface="Helvetica Neue"/>
                <a:ea typeface="Helvetica Neue"/>
                <a:cs typeface="Helvetica Neue"/>
                <a:sym typeface="Helvetica Neue"/>
              </a:rPr>
              <a:t>TRACK:-</a:t>
            </a:r>
            <a:endParaRPr/>
          </a:p>
          <a:p>
            <a:pPr indent="-228600" lvl="1" marL="685800" rtl="0" algn="l">
              <a:lnSpc>
                <a:spcPct val="90000"/>
              </a:lnSpc>
              <a:spcBef>
                <a:spcPts val="500"/>
              </a:spcBef>
              <a:spcAft>
                <a:spcPts val="0"/>
              </a:spcAft>
              <a:buClr>
                <a:schemeClr val="dk1"/>
              </a:buClr>
              <a:buSzPts val="2400"/>
              <a:buChar char="•"/>
            </a:pPr>
            <a:r>
              <a:rPr b="0" i="0" lang="en-US">
                <a:latin typeface="Helvetica Neue"/>
                <a:ea typeface="Helvetica Neue"/>
                <a:cs typeface="Helvetica Neue"/>
                <a:sym typeface="Helvetica Neue"/>
              </a:rPr>
              <a:t>The disk surface is divided into concentric tracks (circles within circles). </a:t>
            </a:r>
            <a:endParaRPr/>
          </a:p>
          <a:p>
            <a:pPr indent="-228600" lvl="1" marL="685800" rtl="0" algn="l">
              <a:lnSpc>
                <a:spcPct val="90000"/>
              </a:lnSpc>
              <a:spcBef>
                <a:spcPts val="500"/>
              </a:spcBef>
              <a:spcAft>
                <a:spcPts val="0"/>
              </a:spcAft>
              <a:buClr>
                <a:schemeClr val="dk1"/>
              </a:buClr>
              <a:buSzPts val="2400"/>
              <a:buChar char="•"/>
            </a:pPr>
            <a:r>
              <a:rPr b="0" i="0" lang="en-US">
                <a:latin typeface="Helvetica Neue"/>
                <a:ea typeface="Helvetica Neue"/>
                <a:cs typeface="Helvetica Neue"/>
                <a:sym typeface="Helvetica Neue"/>
              </a:rPr>
              <a:t>The thinner the tracks, the more storage. </a:t>
            </a:r>
            <a:endParaRPr/>
          </a:p>
          <a:p>
            <a:pPr indent="-228600" lvl="1" marL="685800" rtl="0" algn="l">
              <a:lnSpc>
                <a:spcPct val="90000"/>
              </a:lnSpc>
              <a:spcBef>
                <a:spcPts val="500"/>
              </a:spcBef>
              <a:spcAft>
                <a:spcPts val="0"/>
              </a:spcAft>
              <a:buClr>
                <a:schemeClr val="dk1"/>
              </a:buClr>
              <a:buSzPts val="2400"/>
              <a:buChar char="•"/>
            </a:pPr>
            <a:r>
              <a:rPr b="0" i="0" lang="en-US">
                <a:latin typeface="Helvetica Neue"/>
                <a:ea typeface="Helvetica Neue"/>
                <a:cs typeface="Helvetica Neue"/>
                <a:sym typeface="Helvetica Neue"/>
              </a:rPr>
              <a:t>The data bits are recorded as tiny magnetic spots on the tracks. The smaller the spot, the more bits per inch and the greater the storage. </a:t>
            </a:r>
            <a:endParaRPr/>
          </a:p>
          <a:p>
            <a:pPr indent="-228600" lvl="0" marL="228600" rtl="0" algn="l">
              <a:lnSpc>
                <a:spcPct val="90000"/>
              </a:lnSpc>
              <a:spcBef>
                <a:spcPts val="1000"/>
              </a:spcBef>
              <a:spcAft>
                <a:spcPts val="0"/>
              </a:spcAft>
              <a:buClr>
                <a:schemeClr val="accent1"/>
              </a:buClr>
              <a:buSzPts val="2800"/>
              <a:buChar char="•"/>
            </a:pPr>
            <a:r>
              <a:rPr b="1" i="0" lang="en-US">
                <a:solidFill>
                  <a:schemeClr val="accent1"/>
                </a:solidFill>
                <a:latin typeface="Helvetica Neue"/>
                <a:ea typeface="Helvetica Neue"/>
                <a:cs typeface="Helvetica Neue"/>
                <a:sym typeface="Helvetica Neue"/>
              </a:rPr>
              <a:t>SECTOR:- </a:t>
            </a:r>
            <a:endParaRPr/>
          </a:p>
          <a:p>
            <a:pPr indent="-228600" lvl="1" marL="685800" rtl="0" algn="l">
              <a:lnSpc>
                <a:spcPct val="90000"/>
              </a:lnSpc>
              <a:spcBef>
                <a:spcPts val="500"/>
              </a:spcBef>
              <a:spcAft>
                <a:spcPts val="0"/>
              </a:spcAft>
              <a:buClr>
                <a:schemeClr val="dk1"/>
              </a:buClr>
              <a:buSzPts val="2400"/>
              <a:buChar char="•"/>
            </a:pPr>
            <a:r>
              <a:rPr b="0" i="0" lang="en-US">
                <a:latin typeface="Helvetica Neue"/>
                <a:ea typeface="Helvetica Neue"/>
                <a:cs typeface="Helvetica Neue"/>
                <a:sym typeface="Helvetica Neue"/>
              </a:rPr>
              <a:t>Tracks are further divided into sectors, which hold a block of data that is read or written at one time.</a:t>
            </a:r>
            <a:endParaRPr/>
          </a:p>
          <a:p>
            <a:pPr indent="-228600" lvl="1" marL="685800" rtl="0" algn="l">
              <a:lnSpc>
                <a:spcPct val="90000"/>
              </a:lnSpc>
              <a:spcBef>
                <a:spcPts val="500"/>
              </a:spcBef>
              <a:spcAft>
                <a:spcPts val="0"/>
              </a:spcAft>
              <a:buClr>
                <a:schemeClr val="dk1"/>
              </a:buClr>
              <a:buSzPts val="2400"/>
              <a:buChar char="•"/>
            </a:pPr>
            <a:r>
              <a:rPr b="0" i="0" lang="en-US">
                <a:latin typeface="Helvetica Neue"/>
                <a:ea typeface="Helvetica Neue"/>
                <a:cs typeface="Helvetica Neue"/>
                <a:sym typeface="Helvetica Neue"/>
              </a:rPr>
              <a:t>In order to update the disk, one or more sectors are read into the computer, changed and written back to disk. The operating system figures out how to fit data into these fixed spaces.</a:t>
            </a:r>
            <a:endParaRPr/>
          </a:p>
        </p:txBody>
      </p:sp>
      <p:sp>
        <p:nvSpPr>
          <p:cNvPr id="120" name="Google Shape;120;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4400"/>
              <a:buFont typeface="Calibri"/>
              <a:buNone/>
            </a:pPr>
            <a:r>
              <a:rPr b="1" lang="en-US">
                <a:solidFill>
                  <a:schemeClr val="accent1"/>
                </a:solidFill>
              </a:rPr>
              <a:t>Magnetic Read and Write Memory</a:t>
            </a:r>
            <a:endParaRPr/>
          </a:p>
        </p:txBody>
      </p:sp>
      <p:sp>
        <p:nvSpPr>
          <p:cNvPr id="126" name="Google Shape;126;p6"/>
          <p:cNvSpPr txBox="1"/>
          <p:nvPr>
            <p:ph idx="1" type="body"/>
          </p:nvPr>
        </p:nvSpPr>
        <p:spPr>
          <a:xfrm>
            <a:off x="905025" y="1584975"/>
            <a:ext cx="10515600" cy="4351200"/>
          </a:xfrm>
          <a:prstGeom prst="rect">
            <a:avLst/>
          </a:prstGeom>
          <a:noFill/>
          <a:ln>
            <a:noFill/>
          </a:ln>
        </p:spPr>
        <p:txBody>
          <a:bodyPr anchorCtr="0" anchor="t" bIns="45700" lIns="91425" spcFirstLastPara="1" rIns="91425" wrap="square" tIns="45700">
            <a:normAutofit lnSpcReduction="20000"/>
          </a:bodyPr>
          <a:lstStyle/>
          <a:p>
            <a:pPr indent="-240030" lvl="0" marL="228600" rtl="0" algn="l">
              <a:lnSpc>
                <a:spcPct val="90000"/>
              </a:lnSpc>
              <a:spcBef>
                <a:spcPts val="0"/>
              </a:spcBef>
              <a:spcAft>
                <a:spcPts val="0"/>
              </a:spcAft>
              <a:buClr>
                <a:schemeClr val="dk1"/>
              </a:buClr>
              <a:buSzPts val="2400"/>
              <a:buChar char="•"/>
            </a:pPr>
            <a:r>
              <a:rPr lang="en-US" sz="2400">
                <a:latin typeface="Helvetica Neue"/>
                <a:ea typeface="Helvetica Neue"/>
                <a:cs typeface="Helvetica Neue"/>
                <a:sym typeface="Helvetica Neue"/>
              </a:rPr>
              <a:t>For t</a:t>
            </a:r>
            <a:r>
              <a:rPr b="0" i="0" lang="en-US" sz="2400">
                <a:latin typeface="Helvetica Neue"/>
                <a:ea typeface="Helvetica Neue"/>
                <a:cs typeface="Helvetica Neue"/>
                <a:sym typeface="Helvetica Neue"/>
              </a:rPr>
              <a:t>he write mechanism the electricity flowing through a coil produces a magnetic field. </a:t>
            </a:r>
            <a:endParaRPr/>
          </a:p>
          <a:p>
            <a:pPr indent="-240030" lvl="0" marL="228600" rtl="0" algn="l">
              <a:lnSpc>
                <a:spcPct val="90000"/>
              </a:lnSpc>
              <a:spcBef>
                <a:spcPts val="1000"/>
              </a:spcBef>
              <a:spcAft>
                <a:spcPts val="0"/>
              </a:spcAft>
              <a:buClr>
                <a:schemeClr val="dk1"/>
              </a:buClr>
              <a:buSzPts val="2400"/>
              <a:buChar char="•"/>
            </a:pPr>
            <a:r>
              <a:rPr b="0" i="0" lang="en-US" sz="2400">
                <a:latin typeface="Helvetica Neue"/>
                <a:ea typeface="Helvetica Neue"/>
                <a:cs typeface="Helvetica Neue"/>
                <a:sym typeface="Helvetica Neue"/>
              </a:rPr>
              <a:t>Electric pulses are send to the write head and the resulting magnetic patterns are recorded on the surface below, with different patterns for positive and negative currents.</a:t>
            </a:r>
            <a:endParaRPr/>
          </a:p>
          <a:p>
            <a:pPr indent="-240030" lvl="0" marL="228600" rtl="0" algn="l">
              <a:lnSpc>
                <a:spcPct val="90000"/>
              </a:lnSpc>
              <a:spcBef>
                <a:spcPts val="1000"/>
              </a:spcBef>
              <a:spcAft>
                <a:spcPts val="0"/>
              </a:spcAft>
              <a:buClr>
                <a:schemeClr val="dk1"/>
              </a:buClr>
              <a:buSzPts val="2400"/>
              <a:buChar char="•"/>
            </a:pPr>
            <a:r>
              <a:rPr b="0" i="0" lang="en-US" sz="2400">
                <a:latin typeface="Helvetica Neue"/>
                <a:ea typeface="Helvetica Neue"/>
                <a:cs typeface="Helvetica Neue"/>
                <a:sym typeface="Helvetica Neue"/>
              </a:rPr>
              <a:t>The read mechanism exploits the fact that a magnetic field moving relative to a coil produces an electrical current in the coil.</a:t>
            </a:r>
            <a:endParaRPr/>
          </a:p>
          <a:p>
            <a:pPr indent="-240030" lvl="0" marL="228600" rtl="0" algn="l">
              <a:lnSpc>
                <a:spcPct val="90000"/>
              </a:lnSpc>
              <a:spcBef>
                <a:spcPts val="1000"/>
              </a:spcBef>
              <a:spcAft>
                <a:spcPts val="0"/>
              </a:spcAft>
              <a:buClr>
                <a:schemeClr val="dk1"/>
              </a:buClr>
              <a:buSzPts val="2400"/>
              <a:buChar char="•"/>
            </a:pPr>
            <a:r>
              <a:rPr b="0" i="0" lang="en-US" sz="2400">
                <a:latin typeface="Helvetica Neue"/>
                <a:ea typeface="Helvetica Neue"/>
                <a:cs typeface="Helvetica Neue"/>
                <a:sym typeface="Helvetica Neue"/>
              </a:rPr>
              <a:t>When the surface of the disk passes under the head, it generates a current of the same polarity as the one already recorded. </a:t>
            </a:r>
            <a:endParaRPr/>
          </a:p>
          <a:p>
            <a:pPr indent="-240030" lvl="0" marL="228600" rtl="0" algn="l">
              <a:lnSpc>
                <a:spcPct val="90000"/>
              </a:lnSpc>
              <a:spcBef>
                <a:spcPts val="1000"/>
              </a:spcBef>
              <a:spcAft>
                <a:spcPts val="0"/>
              </a:spcAft>
              <a:buClr>
                <a:schemeClr val="dk1"/>
              </a:buClr>
              <a:buSzPts val="2400"/>
              <a:buChar char="•"/>
            </a:pPr>
            <a:r>
              <a:rPr b="0" i="0" lang="en-US" sz="2400">
                <a:latin typeface="Helvetica Neue"/>
                <a:ea typeface="Helvetica Neue"/>
                <a:cs typeface="Helvetica Neue"/>
                <a:sym typeface="Helvetica Neue"/>
              </a:rPr>
              <a:t>The read head consists of a partially shielded magneto resistive (MR) sensor. </a:t>
            </a:r>
            <a:endParaRPr/>
          </a:p>
          <a:p>
            <a:pPr indent="-240030" lvl="0" marL="228600" rtl="0" algn="l">
              <a:lnSpc>
                <a:spcPct val="90000"/>
              </a:lnSpc>
              <a:spcBef>
                <a:spcPts val="1000"/>
              </a:spcBef>
              <a:spcAft>
                <a:spcPts val="0"/>
              </a:spcAft>
              <a:buClr>
                <a:schemeClr val="dk1"/>
              </a:buClr>
              <a:buSzPts val="2400"/>
              <a:buChar char="•"/>
            </a:pPr>
            <a:r>
              <a:rPr b="0" i="0" lang="en-US" sz="2400">
                <a:latin typeface="Helvetica Neue"/>
                <a:ea typeface="Helvetica Neue"/>
                <a:cs typeface="Helvetica Neue"/>
                <a:sym typeface="Helvetica Neue"/>
              </a:rPr>
              <a:t>The MR material has an electrical resistance that depends on the direction of the magnetization of the medium moving under it.</a:t>
            </a:r>
            <a:endParaRPr/>
          </a:p>
        </p:txBody>
      </p:sp>
      <p:sp>
        <p:nvSpPr>
          <p:cNvPr id="127" name="Google Shape;127;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4400"/>
              <a:buFont typeface="Calibri"/>
              <a:buNone/>
            </a:pPr>
            <a:r>
              <a:rPr b="1" lang="en-US">
                <a:solidFill>
                  <a:schemeClr val="accent1"/>
                </a:solidFill>
              </a:rPr>
              <a:t>Magnetic Disk</a:t>
            </a:r>
            <a:endParaRPr/>
          </a:p>
        </p:txBody>
      </p:sp>
      <p:sp>
        <p:nvSpPr>
          <p:cNvPr id="133" name="Google Shape;133;p7"/>
          <p:cNvSpPr txBox="1"/>
          <p:nvPr>
            <p:ph idx="1" type="body"/>
          </p:nvPr>
        </p:nvSpPr>
        <p:spPr>
          <a:xfrm>
            <a:off x="838200" y="1690688"/>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2"/>
              </a:buClr>
              <a:buSzPts val="3200"/>
              <a:buFont typeface="Noto Sans Symbols"/>
              <a:buChar char="⮚"/>
            </a:pPr>
            <a:r>
              <a:rPr b="0" i="0" lang="en-US" sz="3200">
                <a:solidFill>
                  <a:schemeClr val="dk2"/>
                </a:solidFill>
                <a:latin typeface="Helvetica Neue"/>
                <a:ea typeface="Helvetica Neue"/>
                <a:cs typeface="Helvetica Neue"/>
                <a:sym typeface="Helvetica Neue"/>
              </a:rPr>
              <a:t>Some key Concept:</a:t>
            </a:r>
            <a:endParaRPr sz="3200">
              <a:solidFill>
                <a:schemeClr val="dk2"/>
              </a:solidFill>
              <a:latin typeface="Helvetica Neue"/>
              <a:ea typeface="Helvetica Neue"/>
              <a:cs typeface="Helvetica Neue"/>
              <a:sym typeface="Helvetica Neue"/>
            </a:endParaRPr>
          </a:p>
          <a:p>
            <a:pPr indent="-228600" lvl="0" marL="228600" rtl="0" algn="l">
              <a:lnSpc>
                <a:spcPct val="90000"/>
              </a:lnSpc>
              <a:spcBef>
                <a:spcPts val="1000"/>
              </a:spcBef>
              <a:spcAft>
                <a:spcPts val="0"/>
              </a:spcAft>
              <a:buClr>
                <a:schemeClr val="dk1"/>
              </a:buClr>
              <a:buSzPts val="2400"/>
              <a:buFont typeface="Courier New"/>
              <a:buChar char="o"/>
            </a:pPr>
            <a:r>
              <a:rPr b="0" i="0" lang="en-US" sz="2400">
                <a:latin typeface="Helvetica Neue"/>
                <a:ea typeface="Helvetica Neue"/>
                <a:cs typeface="Helvetica Neue"/>
                <a:sym typeface="Helvetica Neue"/>
              </a:rPr>
              <a:t>Outcome:</a:t>
            </a:r>
            <a:endParaRPr sz="2400">
              <a:latin typeface="Helvetica Neue"/>
              <a:ea typeface="Helvetica Neue"/>
              <a:cs typeface="Helvetica Neue"/>
              <a:sym typeface="Helvetica Neue"/>
            </a:endParaRPr>
          </a:p>
          <a:p>
            <a:pPr indent="-457200" lvl="1" marL="914400" rtl="0" algn="l">
              <a:lnSpc>
                <a:spcPct val="90000"/>
              </a:lnSpc>
              <a:spcBef>
                <a:spcPts val="500"/>
              </a:spcBef>
              <a:spcAft>
                <a:spcPts val="0"/>
              </a:spcAft>
              <a:buClr>
                <a:schemeClr val="dk1"/>
              </a:buClr>
              <a:buSzPts val="2000"/>
              <a:buFont typeface="Calibri"/>
              <a:buAutoNum type="arabicPeriod"/>
            </a:pPr>
            <a:r>
              <a:rPr b="0" i="0" lang="en-US" sz="2000">
                <a:latin typeface="Helvetica Neue"/>
                <a:ea typeface="Helvetica Neue"/>
                <a:cs typeface="Helvetica Neue"/>
                <a:sym typeface="Helvetica Neue"/>
              </a:rPr>
              <a:t>Total </a:t>
            </a:r>
            <a:endParaRPr/>
          </a:p>
          <a:p>
            <a:pPr indent="-457200" lvl="1" marL="914400" rtl="0" algn="l">
              <a:lnSpc>
                <a:spcPct val="90000"/>
              </a:lnSpc>
              <a:spcBef>
                <a:spcPts val="500"/>
              </a:spcBef>
              <a:spcAft>
                <a:spcPts val="0"/>
              </a:spcAft>
              <a:buClr>
                <a:schemeClr val="dk1"/>
              </a:buClr>
              <a:buSzPts val="2000"/>
              <a:buFont typeface="Calibri"/>
              <a:buAutoNum type="arabicPeriod"/>
            </a:pPr>
            <a:r>
              <a:rPr lang="en-US" sz="2000">
                <a:latin typeface="Helvetica Neue"/>
                <a:ea typeface="Helvetica Neue"/>
                <a:cs typeface="Helvetica Neue"/>
                <a:sym typeface="Helvetica Neue"/>
              </a:rPr>
              <a:t>Partial</a:t>
            </a:r>
            <a:endParaRPr/>
          </a:p>
          <a:p>
            <a:pPr indent="-457200" lvl="1" marL="914400" rtl="0" algn="l">
              <a:lnSpc>
                <a:spcPct val="90000"/>
              </a:lnSpc>
              <a:spcBef>
                <a:spcPts val="500"/>
              </a:spcBef>
              <a:spcAft>
                <a:spcPts val="0"/>
              </a:spcAft>
              <a:buClr>
                <a:schemeClr val="dk1"/>
              </a:buClr>
              <a:buSzPts val="2000"/>
              <a:buFont typeface="Calibri"/>
              <a:buAutoNum type="arabicPeriod"/>
            </a:pPr>
            <a:r>
              <a:rPr b="0" i="0" lang="en-US" sz="2000">
                <a:latin typeface="Helvetica Neue"/>
                <a:ea typeface="Helvetica Neue"/>
                <a:cs typeface="Helvetica Neue"/>
                <a:sym typeface="Helvetica Neue"/>
              </a:rPr>
              <a:t>Total Failure</a:t>
            </a:r>
            <a:endParaRPr/>
          </a:p>
          <a:p>
            <a:pPr indent="-76200" lvl="0" marL="228600" rtl="0" algn="l">
              <a:lnSpc>
                <a:spcPct val="90000"/>
              </a:lnSpc>
              <a:spcBef>
                <a:spcPts val="1000"/>
              </a:spcBef>
              <a:spcAft>
                <a:spcPts val="0"/>
              </a:spcAft>
              <a:buClr>
                <a:schemeClr val="dk1"/>
              </a:buClr>
              <a:buSzPts val="2400"/>
              <a:buFont typeface="Noto Sans Symbols"/>
              <a:buNone/>
            </a:pPr>
            <a:r>
              <a:t/>
            </a:r>
            <a:endParaRPr sz="2400">
              <a:latin typeface="Helvetica Neue"/>
              <a:ea typeface="Helvetica Neue"/>
              <a:cs typeface="Helvetica Neue"/>
              <a:sym typeface="Helvetica Neue"/>
            </a:endParaRPr>
          </a:p>
          <a:p>
            <a:pPr indent="-228600" lvl="0" marL="228600" rtl="0" algn="l">
              <a:lnSpc>
                <a:spcPct val="90000"/>
              </a:lnSpc>
              <a:spcBef>
                <a:spcPts val="1000"/>
              </a:spcBef>
              <a:spcAft>
                <a:spcPts val="0"/>
              </a:spcAft>
              <a:buClr>
                <a:schemeClr val="dk1"/>
              </a:buClr>
              <a:buSzPts val="2400"/>
              <a:buFont typeface="Courier New"/>
              <a:buChar char="o"/>
            </a:pPr>
            <a:r>
              <a:rPr lang="en-US" sz="2400">
                <a:latin typeface="Helvetica Neue"/>
                <a:ea typeface="Helvetica Neue"/>
                <a:cs typeface="Helvetica Neue"/>
                <a:sym typeface="Helvetica Neue"/>
              </a:rPr>
              <a:t>Storage Unit:</a:t>
            </a:r>
            <a:endParaRPr/>
          </a:p>
          <a:p>
            <a:pPr indent="-457200" lvl="1" marL="914400" rtl="0" algn="l">
              <a:lnSpc>
                <a:spcPct val="90000"/>
              </a:lnSpc>
              <a:spcBef>
                <a:spcPts val="500"/>
              </a:spcBef>
              <a:spcAft>
                <a:spcPts val="0"/>
              </a:spcAft>
              <a:buClr>
                <a:schemeClr val="dk1"/>
              </a:buClr>
              <a:buSzPts val="2000"/>
              <a:buFont typeface="Calibri"/>
              <a:buAutoNum type="arabicPeriod"/>
            </a:pPr>
            <a:r>
              <a:rPr b="0" i="0" lang="en-US" sz="2000">
                <a:latin typeface="Helvetica Neue"/>
                <a:ea typeface="Helvetica Neue"/>
                <a:cs typeface="Helvetica Neue"/>
                <a:sym typeface="Helvetica Neue"/>
              </a:rPr>
              <a:t>Allocation Unit</a:t>
            </a:r>
            <a:endParaRPr/>
          </a:p>
        </p:txBody>
      </p:sp>
      <p:sp>
        <p:nvSpPr>
          <p:cNvPr id="134" name="Google Shape;13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4400"/>
              <a:buFont typeface="Calibri"/>
              <a:buNone/>
            </a:pPr>
            <a:r>
              <a:rPr b="1" lang="en-US">
                <a:solidFill>
                  <a:schemeClr val="accent1"/>
                </a:solidFill>
              </a:rPr>
              <a:t>Timings in Operation</a:t>
            </a:r>
            <a:endParaRPr/>
          </a:p>
        </p:txBody>
      </p:sp>
      <p:sp>
        <p:nvSpPr>
          <p:cNvPr id="140" name="Google Shape;140;p8"/>
          <p:cNvSpPr txBox="1"/>
          <p:nvPr>
            <p:ph idx="1" type="body"/>
          </p:nvPr>
        </p:nvSpPr>
        <p:spPr>
          <a:xfrm>
            <a:off x="838200" y="1420837"/>
            <a:ext cx="10515600" cy="4756126"/>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accent1"/>
              </a:buClr>
              <a:buSzPts val="2800"/>
              <a:buChar char="•"/>
            </a:pPr>
            <a:r>
              <a:rPr b="1" lang="en-US">
                <a:solidFill>
                  <a:schemeClr val="accent1"/>
                </a:solidFill>
              </a:rPr>
              <a:t>Disk Access Time: </a:t>
            </a:r>
            <a:r>
              <a:rPr lang="en-US"/>
              <a:t>It is the interval between a computer makes a request for transfer of data from a disk system to the primary storage and the instant the operation is completed. Disk Access Time depends on the following three parameters:</a:t>
            </a:r>
            <a:endParaRPr/>
          </a:p>
          <a:p>
            <a:pPr indent="-228600" lvl="0" marL="228600" rtl="0" algn="l">
              <a:lnSpc>
                <a:spcPct val="90000"/>
              </a:lnSpc>
              <a:spcBef>
                <a:spcPts val="1000"/>
              </a:spcBef>
              <a:spcAft>
                <a:spcPts val="0"/>
              </a:spcAft>
              <a:buClr>
                <a:schemeClr val="accent1"/>
              </a:buClr>
              <a:buSzPts val="2800"/>
              <a:buChar char="•"/>
            </a:pPr>
            <a:r>
              <a:rPr b="1" lang="en-US">
                <a:solidFill>
                  <a:schemeClr val="accent1"/>
                </a:solidFill>
              </a:rPr>
              <a:t>Seek Time: </a:t>
            </a:r>
            <a:r>
              <a:rPr lang="en-US"/>
              <a:t>It is the time required to position the read/write head over the desired track, as soon as a read/ write command is received by disk unit.</a:t>
            </a:r>
            <a:endParaRPr/>
          </a:p>
          <a:p>
            <a:pPr indent="-228600" lvl="0" marL="228600" rtl="0" algn="l">
              <a:lnSpc>
                <a:spcPct val="90000"/>
              </a:lnSpc>
              <a:spcBef>
                <a:spcPts val="1000"/>
              </a:spcBef>
              <a:spcAft>
                <a:spcPts val="0"/>
              </a:spcAft>
              <a:buClr>
                <a:schemeClr val="accent1"/>
              </a:buClr>
              <a:buSzPts val="2800"/>
              <a:buChar char="•"/>
            </a:pPr>
            <a:r>
              <a:rPr b="1" lang="en-US">
                <a:solidFill>
                  <a:schemeClr val="accent1"/>
                </a:solidFill>
              </a:rPr>
              <a:t>Latency: </a:t>
            </a:r>
            <a:r>
              <a:rPr lang="en-US"/>
              <a:t>It is the time required to spin the desired sector under the read/write head, once the read/write is positioned on the desired track.</a:t>
            </a:r>
            <a:endParaRPr/>
          </a:p>
          <a:p>
            <a:pPr indent="-228600" lvl="0" marL="228600" rtl="0" algn="l">
              <a:lnSpc>
                <a:spcPct val="90000"/>
              </a:lnSpc>
              <a:spcBef>
                <a:spcPts val="1000"/>
              </a:spcBef>
              <a:spcAft>
                <a:spcPts val="0"/>
              </a:spcAft>
              <a:buClr>
                <a:schemeClr val="accent1"/>
              </a:buClr>
              <a:buSzPts val="2800"/>
              <a:buChar char="•"/>
            </a:pPr>
            <a:r>
              <a:rPr b="1" lang="en-US">
                <a:solidFill>
                  <a:schemeClr val="accent1"/>
                </a:solidFill>
              </a:rPr>
              <a:t>Transfer rate: </a:t>
            </a:r>
            <a:r>
              <a:rPr lang="en-US"/>
              <a:t>It is the rate at which data are read/written to the disk, once the read/write head is positioned over the desired track.</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41" name="Google Shape;14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4400"/>
              <a:buFont typeface="Calibri"/>
              <a:buNone/>
            </a:pPr>
            <a:r>
              <a:rPr b="1" lang="en-US">
                <a:solidFill>
                  <a:schemeClr val="accent1"/>
                </a:solidFill>
              </a:rPr>
              <a:t>Disk Partition</a:t>
            </a:r>
            <a:endParaRPr/>
          </a:p>
        </p:txBody>
      </p:sp>
      <p:sp>
        <p:nvSpPr>
          <p:cNvPr id="147" name="Google Shape;147;p9"/>
          <p:cNvSpPr txBox="1"/>
          <p:nvPr>
            <p:ph idx="1" type="body"/>
          </p:nvPr>
        </p:nvSpPr>
        <p:spPr>
          <a:xfrm>
            <a:off x="838200" y="1420837"/>
            <a:ext cx="10515600" cy="475612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2F5496"/>
              </a:buClr>
              <a:buSzPts val="3200"/>
              <a:buChar char="•"/>
            </a:pPr>
            <a:r>
              <a:rPr b="1" lang="en-US" sz="3200">
                <a:solidFill>
                  <a:srgbClr val="2F5496"/>
                </a:solidFill>
              </a:rPr>
              <a:t>Logical Partition: </a:t>
            </a:r>
            <a:r>
              <a:rPr lang="en-US" sz="3200"/>
              <a:t>A disk can be partitioned into multiple drives. We can partition our disk space into multiple drives and this is called as logical partition.</a:t>
            </a:r>
            <a:endParaRPr/>
          </a:p>
          <a:p>
            <a:pPr indent="0" lvl="0" marL="0" rtl="0" algn="l">
              <a:lnSpc>
                <a:spcPct val="90000"/>
              </a:lnSpc>
              <a:spcBef>
                <a:spcPts val="1000"/>
              </a:spcBef>
              <a:spcAft>
                <a:spcPts val="0"/>
              </a:spcAft>
              <a:buClr>
                <a:schemeClr val="dk1"/>
              </a:buClr>
              <a:buSzPts val="3200"/>
              <a:buNone/>
            </a:pPr>
            <a:r>
              <a:t/>
            </a:r>
            <a:endParaRPr sz="3200"/>
          </a:p>
          <a:p>
            <a:pPr indent="-228600" lvl="0" marL="228600" rtl="0" algn="l">
              <a:lnSpc>
                <a:spcPct val="90000"/>
              </a:lnSpc>
              <a:spcBef>
                <a:spcPts val="1000"/>
              </a:spcBef>
              <a:spcAft>
                <a:spcPts val="0"/>
              </a:spcAft>
              <a:buClr>
                <a:srgbClr val="2F5496"/>
              </a:buClr>
              <a:buSzPts val="3200"/>
              <a:buChar char="•"/>
            </a:pPr>
            <a:r>
              <a:rPr b="1" lang="en-US" sz="3200">
                <a:solidFill>
                  <a:srgbClr val="2F5496"/>
                </a:solidFill>
              </a:rPr>
              <a:t>Physical Partition: </a:t>
            </a:r>
            <a:r>
              <a:rPr lang="en-US" sz="3200"/>
              <a:t>When we will have multiple disks operating in a same system then it will be called as physical partition.</a:t>
            </a:r>
            <a:endParaRPr/>
          </a:p>
          <a:p>
            <a:pPr indent="-25400" lvl="0" marL="228600" rtl="0" algn="l">
              <a:lnSpc>
                <a:spcPct val="90000"/>
              </a:lnSpc>
              <a:spcBef>
                <a:spcPts val="1000"/>
              </a:spcBef>
              <a:spcAft>
                <a:spcPts val="0"/>
              </a:spcAft>
              <a:buClr>
                <a:schemeClr val="dk1"/>
              </a:buClr>
              <a:buSzPts val="3200"/>
              <a:buNone/>
            </a:pPr>
            <a:r>
              <a:t/>
            </a:r>
            <a:endParaRPr sz="3200"/>
          </a:p>
        </p:txBody>
      </p:sp>
      <p:sp>
        <p:nvSpPr>
          <p:cNvPr id="148" name="Google Shape;148;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4400"/>
              <a:buFont typeface="Calibri"/>
              <a:buNone/>
            </a:pPr>
            <a:r>
              <a:rPr b="1" lang="en-US">
                <a:solidFill>
                  <a:schemeClr val="accent1"/>
                </a:solidFill>
              </a:rPr>
              <a:t>Bad Sector</a:t>
            </a:r>
            <a:endParaRPr/>
          </a:p>
        </p:txBody>
      </p:sp>
      <p:sp>
        <p:nvSpPr>
          <p:cNvPr id="154" name="Google Shape;154;p10"/>
          <p:cNvSpPr txBox="1"/>
          <p:nvPr>
            <p:ph idx="1" type="body"/>
          </p:nvPr>
        </p:nvSpPr>
        <p:spPr>
          <a:xfrm>
            <a:off x="838200" y="1420837"/>
            <a:ext cx="10515600" cy="4756126"/>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400"/>
              <a:buFont typeface="Noto Sans Symbols"/>
              <a:buChar char="⮚"/>
            </a:pPr>
            <a:r>
              <a:rPr lang="en-US" sz="2400"/>
              <a:t>If for some reason magnetic particles of the disk lost their magnetic property, when we will write or read data from there, they will not be affected by magnetic fields. IF the magnetic particle of disk surface lost its magnetic property, then we can not affect its alignment north- south or south – north. Then it will form bad- sector.</a:t>
            </a:r>
            <a:endParaRPr/>
          </a:p>
          <a:p>
            <a:pPr indent="-228600" lvl="0" marL="228600" rtl="0" algn="l">
              <a:lnSpc>
                <a:spcPct val="90000"/>
              </a:lnSpc>
              <a:spcBef>
                <a:spcPts val="1000"/>
              </a:spcBef>
              <a:spcAft>
                <a:spcPts val="0"/>
              </a:spcAft>
              <a:buClr>
                <a:schemeClr val="dk1"/>
              </a:buClr>
              <a:buSzPts val="2400"/>
              <a:buFont typeface="Noto Sans Symbols"/>
              <a:buChar char="⮚"/>
            </a:pPr>
            <a:r>
              <a:rPr lang="en-US" sz="2400"/>
              <a:t>Reason of bad-sector:</a:t>
            </a:r>
            <a:br>
              <a:rPr lang="en-US" sz="2400"/>
            </a:br>
            <a:endParaRPr sz="2400"/>
          </a:p>
          <a:p>
            <a:pPr indent="-228600" lvl="1" marL="685800" rtl="0" algn="l">
              <a:lnSpc>
                <a:spcPct val="90000"/>
              </a:lnSpc>
              <a:spcBef>
                <a:spcPts val="500"/>
              </a:spcBef>
              <a:spcAft>
                <a:spcPts val="0"/>
              </a:spcAft>
              <a:buClr>
                <a:schemeClr val="dk1"/>
              </a:buClr>
              <a:buSzPts val="2000"/>
              <a:buChar char="•"/>
            </a:pPr>
            <a:r>
              <a:rPr lang="en-US" sz="2000"/>
              <a:t>Spark is taken place on room </a:t>
            </a:r>
            <a:endParaRPr/>
          </a:p>
          <a:p>
            <a:pPr indent="-228600" lvl="1" marL="685800" rtl="0" algn="l">
              <a:lnSpc>
                <a:spcPct val="90000"/>
              </a:lnSpc>
              <a:spcBef>
                <a:spcPts val="500"/>
              </a:spcBef>
              <a:spcAft>
                <a:spcPts val="0"/>
              </a:spcAft>
              <a:buClr>
                <a:schemeClr val="dk1"/>
              </a:buClr>
              <a:buSzPts val="2000"/>
              <a:buChar char="•"/>
            </a:pPr>
            <a:r>
              <a:rPr lang="en-US" sz="2000"/>
              <a:t>Dropping the hard-disk from your hand on the floor</a:t>
            </a:r>
            <a:endParaRPr/>
          </a:p>
          <a:p>
            <a:pPr indent="-228600" lvl="1" marL="685800" rtl="0" algn="l">
              <a:lnSpc>
                <a:spcPct val="90000"/>
              </a:lnSpc>
              <a:spcBef>
                <a:spcPts val="500"/>
              </a:spcBef>
              <a:spcAft>
                <a:spcPts val="0"/>
              </a:spcAft>
              <a:buClr>
                <a:schemeClr val="dk1"/>
              </a:buClr>
              <a:buSzPts val="2000"/>
              <a:buChar char="•"/>
            </a:pPr>
            <a:r>
              <a:rPr lang="en-US" sz="2000"/>
              <a:t>hammering on the disk</a:t>
            </a:r>
            <a:endParaRPr/>
          </a:p>
          <a:p>
            <a:pPr indent="0" lvl="0" marL="0" rtl="0" algn="l">
              <a:lnSpc>
                <a:spcPct val="90000"/>
              </a:lnSpc>
              <a:spcBef>
                <a:spcPts val="1000"/>
              </a:spcBef>
              <a:spcAft>
                <a:spcPts val="0"/>
              </a:spcAft>
              <a:buClr>
                <a:schemeClr val="dk1"/>
              </a:buClr>
              <a:buSzPts val="2400"/>
              <a:buNone/>
            </a:pPr>
            <a:r>
              <a:t/>
            </a:r>
            <a:endParaRPr sz="2400"/>
          </a:p>
          <a:p>
            <a:pPr indent="-228600" lvl="0" marL="228600" rtl="0" algn="l">
              <a:lnSpc>
                <a:spcPct val="90000"/>
              </a:lnSpc>
              <a:spcBef>
                <a:spcPts val="1000"/>
              </a:spcBef>
              <a:spcAft>
                <a:spcPts val="0"/>
              </a:spcAft>
              <a:buClr>
                <a:schemeClr val="dk1"/>
              </a:buClr>
              <a:buSzPts val="2400"/>
              <a:buFont typeface="Noto Sans Symbols"/>
              <a:buChar char="⮚"/>
            </a:pPr>
            <a:r>
              <a:rPr lang="en-US" sz="2400"/>
              <a:t> - in all these cases, the disk can get hurt can be affected and for the reason magnetic property can be lost.</a:t>
            </a:r>
            <a:endParaRPr/>
          </a:p>
          <a:p>
            <a:pPr indent="-25400" lvl="0" marL="228600" rtl="0" algn="l">
              <a:lnSpc>
                <a:spcPct val="90000"/>
              </a:lnSpc>
              <a:spcBef>
                <a:spcPts val="1000"/>
              </a:spcBef>
              <a:spcAft>
                <a:spcPts val="0"/>
              </a:spcAft>
              <a:buClr>
                <a:schemeClr val="dk1"/>
              </a:buClr>
              <a:buSzPts val="3200"/>
              <a:buNone/>
            </a:pPr>
            <a:r>
              <a:t/>
            </a:r>
            <a:endParaRPr sz="3200"/>
          </a:p>
        </p:txBody>
      </p:sp>
      <p:sp>
        <p:nvSpPr>
          <p:cNvPr id="155" name="Google Shape;155;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4400"/>
              <a:buFont typeface="Calibri"/>
              <a:buNone/>
            </a:pPr>
            <a:r>
              <a:rPr b="1" lang="en-US">
                <a:solidFill>
                  <a:schemeClr val="accent1"/>
                </a:solidFill>
              </a:rPr>
              <a:t>Advantages</a:t>
            </a:r>
            <a:endParaRPr/>
          </a:p>
        </p:txBody>
      </p:sp>
      <p:sp>
        <p:nvSpPr>
          <p:cNvPr id="161" name="Google Shape;161;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3B3835"/>
              </a:buClr>
              <a:buSzPts val="2800"/>
              <a:buChar char="•"/>
            </a:pPr>
            <a:r>
              <a:rPr b="0" i="0" lang="en-US">
                <a:solidFill>
                  <a:srgbClr val="3B3835"/>
                </a:solidFill>
                <a:latin typeface="Helvetica Neue"/>
                <a:ea typeface="Helvetica Neue"/>
                <a:cs typeface="Helvetica Neue"/>
                <a:sym typeface="Helvetica Neue"/>
              </a:rPr>
              <a:t>Very fast access to data. </a:t>
            </a:r>
            <a:endParaRPr/>
          </a:p>
          <a:p>
            <a:pPr indent="-228600" lvl="0" marL="228600" rtl="0" algn="l">
              <a:lnSpc>
                <a:spcPct val="90000"/>
              </a:lnSpc>
              <a:spcBef>
                <a:spcPts val="1000"/>
              </a:spcBef>
              <a:spcAft>
                <a:spcPts val="0"/>
              </a:spcAft>
              <a:buClr>
                <a:srgbClr val="3B3835"/>
              </a:buClr>
              <a:buSzPts val="2800"/>
              <a:buChar char="•"/>
            </a:pPr>
            <a:r>
              <a:rPr b="0" i="0" lang="en-US">
                <a:solidFill>
                  <a:srgbClr val="3B3835"/>
                </a:solidFill>
                <a:latin typeface="Helvetica Neue"/>
                <a:ea typeface="Helvetica Neue"/>
                <a:cs typeface="Helvetica Neue"/>
                <a:sym typeface="Helvetica Neue"/>
              </a:rPr>
              <a:t>Data can be read directly from any part of the hard disc. </a:t>
            </a:r>
            <a:endParaRPr/>
          </a:p>
          <a:p>
            <a:pPr indent="-228600" lvl="0" marL="228600" rtl="0" algn="l">
              <a:lnSpc>
                <a:spcPct val="90000"/>
              </a:lnSpc>
              <a:spcBef>
                <a:spcPts val="1000"/>
              </a:spcBef>
              <a:spcAft>
                <a:spcPts val="0"/>
              </a:spcAft>
              <a:buClr>
                <a:srgbClr val="3B3835"/>
              </a:buClr>
              <a:buSzPts val="2800"/>
              <a:buChar char="•"/>
            </a:pPr>
            <a:r>
              <a:rPr b="0" i="0" lang="en-US">
                <a:solidFill>
                  <a:srgbClr val="3B3835"/>
                </a:solidFill>
                <a:latin typeface="Helvetica Neue"/>
                <a:ea typeface="Helvetica Neue"/>
                <a:cs typeface="Helvetica Neue"/>
                <a:sym typeface="Helvetica Neue"/>
              </a:rPr>
              <a:t>In most of the magnetic storage devices the acces speed is about 1000kb/s </a:t>
            </a:r>
            <a:endParaRPr/>
          </a:p>
          <a:p>
            <a:pPr indent="-228600" lvl="0" marL="228600" rtl="0" algn="l">
              <a:lnSpc>
                <a:spcPct val="90000"/>
              </a:lnSpc>
              <a:spcBef>
                <a:spcPts val="1000"/>
              </a:spcBef>
              <a:spcAft>
                <a:spcPts val="0"/>
              </a:spcAft>
              <a:buClr>
                <a:srgbClr val="3B3835"/>
              </a:buClr>
              <a:buSzPts val="2800"/>
              <a:buChar char="•"/>
            </a:pPr>
            <a:r>
              <a:rPr b="0" i="0" lang="en-US">
                <a:solidFill>
                  <a:srgbClr val="3B3835"/>
                </a:solidFill>
                <a:latin typeface="Helvetica Neue"/>
                <a:ea typeface="Helvetica Neue"/>
                <a:cs typeface="Helvetica Neue"/>
                <a:sym typeface="Helvetica Neue"/>
              </a:rPr>
              <a:t>Some of the magnetic storage devices are very cheap for example floppy disks. </a:t>
            </a:r>
            <a:endParaRPr/>
          </a:p>
          <a:p>
            <a:pPr indent="-228600" lvl="0" marL="228600" rtl="0" algn="l">
              <a:lnSpc>
                <a:spcPct val="90000"/>
              </a:lnSpc>
              <a:spcBef>
                <a:spcPts val="1000"/>
              </a:spcBef>
              <a:spcAft>
                <a:spcPts val="0"/>
              </a:spcAft>
              <a:buClr>
                <a:srgbClr val="3B3835"/>
              </a:buClr>
              <a:buSzPts val="2800"/>
              <a:buChar char="•"/>
            </a:pPr>
            <a:r>
              <a:rPr b="0" i="0" lang="en-US">
                <a:solidFill>
                  <a:srgbClr val="3B3835"/>
                </a:solidFill>
                <a:latin typeface="Helvetica Neue"/>
                <a:ea typeface="Helvetica Neue"/>
                <a:cs typeface="Helvetica Neue"/>
                <a:sym typeface="Helvetica Neue"/>
              </a:rPr>
              <a:t>Most of the magnetic storage devices store very large amounts of data.</a:t>
            </a:r>
            <a:endParaRPr/>
          </a:p>
          <a:p>
            <a:pPr indent="0" lvl="0" marL="0" rtl="0" algn="l">
              <a:lnSpc>
                <a:spcPct val="90000"/>
              </a:lnSpc>
              <a:spcBef>
                <a:spcPts val="1000"/>
              </a:spcBef>
              <a:spcAft>
                <a:spcPts val="0"/>
              </a:spcAft>
              <a:buClr>
                <a:schemeClr val="dk1"/>
              </a:buClr>
              <a:buSzPts val="2800"/>
              <a:buNone/>
            </a:pPr>
            <a:r>
              <a:t/>
            </a:r>
            <a:endParaRPr/>
          </a:p>
        </p:txBody>
      </p:sp>
      <p:sp>
        <p:nvSpPr>
          <p:cNvPr id="162" name="Google Shape;162;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4400"/>
              <a:buFont typeface="Calibri"/>
              <a:buNone/>
            </a:pPr>
            <a:r>
              <a:rPr b="1" lang="en-US">
                <a:solidFill>
                  <a:schemeClr val="accent1"/>
                </a:solidFill>
              </a:rPr>
              <a:t>Disadvantages</a:t>
            </a:r>
            <a:endParaRPr/>
          </a:p>
        </p:txBody>
      </p:sp>
      <p:sp>
        <p:nvSpPr>
          <p:cNvPr id="168" name="Google Shape;168;p12"/>
          <p:cNvSpPr txBox="1"/>
          <p:nvPr>
            <p:ph idx="1" type="body"/>
          </p:nvPr>
        </p:nvSpPr>
        <p:spPr>
          <a:xfrm>
            <a:off x="838200" y="1530203"/>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t/>
            </a:r>
            <a:endParaRPr>
              <a:solidFill>
                <a:srgbClr val="3B3835"/>
              </a:solidFill>
              <a:latin typeface="Helvetica Neue"/>
              <a:ea typeface="Helvetica Neue"/>
              <a:cs typeface="Helvetica Neue"/>
              <a:sym typeface="Helvetica Neue"/>
            </a:endParaRPr>
          </a:p>
          <a:p>
            <a:pPr indent="-228600" lvl="0" marL="228600" rtl="0" algn="l">
              <a:lnSpc>
                <a:spcPct val="90000"/>
              </a:lnSpc>
              <a:spcBef>
                <a:spcPts val="1000"/>
              </a:spcBef>
              <a:spcAft>
                <a:spcPts val="0"/>
              </a:spcAft>
              <a:buClr>
                <a:srgbClr val="3B3835"/>
              </a:buClr>
              <a:buSzPts val="2800"/>
              <a:buChar char="•"/>
            </a:pPr>
            <a:r>
              <a:rPr b="0" i="0" lang="en-US">
                <a:solidFill>
                  <a:srgbClr val="3B3835"/>
                </a:solidFill>
                <a:latin typeface="Helvetica Neue"/>
                <a:ea typeface="Helvetica Neue"/>
                <a:cs typeface="Helvetica Neue"/>
                <a:sym typeface="Helvetica Neue"/>
              </a:rPr>
              <a:t>Data can be altered by magnetic fields, dust, mechanical problems </a:t>
            </a:r>
            <a:endParaRPr/>
          </a:p>
          <a:p>
            <a:pPr indent="-228600" lvl="0" marL="228600" rtl="0" algn="l">
              <a:lnSpc>
                <a:spcPct val="90000"/>
              </a:lnSpc>
              <a:spcBef>
                <a:spcPts val="1000"/>
              </a:spcBef>
              <a:spcAft>
                <a:spcPts val="0"/>
              </a:spcAft>
              <a:buClr>
                <a:srgbClr val="3B3835"/>
              </a:buClr>
              <a:buSzPts val="2800"/>
              <a:buChar char="•"/>
            </a:pPr>
            <a:r>
              <a:rPr b="0" i="0" lang="en-US">
                <a:solidFill>
                  <a:srgbClr val="3B3835"/>
                </a:solidFill>
                <a:latin typeface="Helvetica Neue"/>
                <a:ea typeface="Helvetica Neue"/>
                <a:cs typeface="Helvetica Neue"/>
                <a:sym typeface="Helvetica Neue"/>
              </a:rPr>
              <a:t>Gradually lose their charge over time - data lost </a:t>
            </a:r>
            <a:endParaRPr/>
          </a:p>
          <a:p>
            <a:pPr indent="-228600" lvl="0" marL="228600" rtl="0" algn="l">
              <a:lnSpc>
                <a:spcPct val="90000"/>
              </a:lnSpc>
              <a:spcBef>
                <a:spcPts val="1000"/>
              </a:spcBef>
              <a:spcAft>
                <a:spcPts val="0"/>
              </a:spcAft>
              <a:buClr>
                <a:srgbClr val="3B3835"/>
              </a:buClr>
              <a:buSzPts val="2800"/>
              <a:buChar char="•"/>
            </a:pPr>
            <a:r>
              <a:rPr b="0" i="0" lang="en-US">
                <a:solidFill>
                  <a:srgbClr val="3B3835"/>
                </a:solidFill>
                <a:latin typeface="Helvetica Neue"/>
                <a:ea typeface="Helvetica Neue"/>
                <a:cs typeface="Helvetica Neue"/>
                <a:sym typeface="Helvetica Neue"/>
              </a:rPr>
              <a:t>Hard disks eventually fail which stops the computer from working. </a:t>
            </a:r>
            <a:endParaRPr/>
          </a:p>
          <a:p>
            <a:pPr indent="-228600" lvl="0" marL="228600" rtl="0" algn="l">
              <a:lnSpc>
                <a:spcPct val="90000"/>
              </a:lnSpc>
              <a:spcBef>
                <a:spcPts val="1000"/>
              </a:spcBef>
              <a:spcAft>
                <a:spcPts val="0"/>
              </a:spcAft>
              <a:buClr>
                <a:srgbClr val="3B3835"/>
              </a:buClr>
              <a:buSzPts val="2800"/>
              <a:buChar char="•"/>
            </a:pPr>
            <a:r>
              <a:rPr b="0" i="0" lang="en-US">
                <a:solidFill>
                  <a:srgbClr val="3B3835"/>
                </a:solidFill>
                <a:latin typeface="Helvetica Neue"/>
                <a:ea typeface="Helvetica Neue"/>
                <a:cs typeface="Helvetica Neue"/>
                <a:sym typeface="Helvetica Neue"/>
              </a:rPr>
              <a:t>Regular crashes can damage the surface of the disk, leading to loss of data in that sector.</a:t>
            </a:r>
            <a:endParaRPr b="0" i="0">
              <a:solidFill>
                <a:srgbClr val="3B3835"/>
              </a:solidFill>
              <a:latin typeface="Helvetica Neue"/>
              <a:ea typeface="Helvetica Neue"/>
              <a:cs typeface="Helvetica Neue"/>
              <a:sym typeface="Helvetica Neue"/>
            </a:endParaRPr>
          </a:p>
        </p:txBody>
      </p:sp>
      <p:sp>
        <p:nvSpPr>
          <p:cNvPr id="169" name="Google Shape;16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5" name="Google Shape;175;p13"/>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176" name="Google Shape;176;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7030A0"/>
              </a:buClr>
              <a:buSzPts val="8000"/>
              <a:buNone/>
            </a:pPr>
            <a:r>
              <a:rPr lang="en-US" sz="8000">
                <a:solidFill>
                  <a:srgbClr val="7030A0"/>
                </a:solidFill>
              </a:rPr>
              <a:t>Thank You </a:t>
            </a:r>
            <a:br>
              <a:rPr lang="en-US" sz="8000"/>
            </a:br>
            <a:r>
              <a:rPr lang="en-US" sz="6000"/>
              <a:t>For Your Attention</a:t>
            </a:r>
            <a:endParaRPr sz="80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2020-07-24T12:46:01Z</dcterms:created>
  <dc:creator>Nazmus Sakeef</dc:creator>
</cp:coreProperties>
</file>