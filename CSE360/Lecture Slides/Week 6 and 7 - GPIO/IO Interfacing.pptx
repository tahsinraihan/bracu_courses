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9144000"/>
  <p:notesSz cx="6858000" cy="9144000"/>
  <p:embeddedFontLst>
    <p:embeddedFont>
      <p:font typeface="Robot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3" roundtripDataSignature="AMtx7mjh3ZS8d0dJ+j5QvPEpOSmDOCtj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20" Type="http://schemas.openxmlformats.org/officeDocument/2006/relationships/slide" Target="slides/slide15.xml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e86f2a580a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9" name="Google Shape;99;ge86f2a580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e86f2a580a_0_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 b="0"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Text" type="objAndTx">
  <p:cSld name="OBJECT_AND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6"/>
          <p:cNvSpPr txBox="1"/>
          <p:nvPr>
            <p:ph type="title"/>
          </p:nvPr>
        </p:nvSpPr>
        <p:spPr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6"/>
          <p:cNvSpPr txBox="1"/>
          <p:nvPr>
            <p:ph idx="1" type="body"/>
          </p:nvPr>
        </p:nvSpPr>
        <p:spPr>
          <a:xfrm>
            <a:off x="457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36"/>
          <p:cNvSpPr txBox="1"/>
          <p:nvPr>
            <p:ph idx="2" type="body"/>
          </p:nvPr>
        </p:nvSpPr>
        <p:spPr>
          <a:xfrm>
            <a:off x="4648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3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9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0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4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4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9" name="Google Shape;79;p4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0" name="Google Shape;80;p4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1" name="Google Shape;81;p4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2" name="Google Shape;82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8" name="Google Shape;88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3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3" name="Google Shape;13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4" name="Google Shape;14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 cap="none" strike="noStrik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8.jpg"/><Relationship Id="rId5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5" Type="http://schemas.openxmlformats.org/officeDocument/2006/relationships/image" Target="../media/image5.png"/><Relationship Id="rId6" Type="http://schemas.openxmlformats.org/officeDocument/2006/relationships/image" Target="../media/image21.png"/><Relationship Id="rId7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jp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Relationship Id="rId4" Type="http://schemas.openxmlformats.org/officeDocument/2006/relationships/image" Target="../media/image3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jpg"/><Relationship Id="rId4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Relationship Id="rId4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3.jpg"/><Relationship Id="rId4" Type="http://schemas.openxmlformats.org/officeDocument/2006/relationships/image" Target="../media/image23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Purpose IO (GPIO)</a:t>
            </a:r>
            <a:b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(Low level IO)</a:t>
            </a:r>
            <a:endParaRPr/>
          </a:p>
        </p:txBody>
      </p:sp>
      <p:sp>
        <p:nvSpPr>
          <p:cNvPr id="96" name="Google Shape;96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800"/>
              <a:buNone/>
            </a:pPr>
            <a:r>
              <a:rPr b="0" i="0" lang="en-US" sz="2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Md. Khalilur Rhaman PhD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898989"/>
              </a:buClr>
              <a:buSzPts val="2800"/>
              <a:buNone/>
            </a:pPr>
            <a:r>
              <a:rPr b="0" i="0" lang="en-US" sz="2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Associate Professor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898989"/>
              </a:buClr>
              <a:buSzPts val="2800"/>
              <a:buNone/>
            </a:pPr>
            <a:r>
              <a:rPr b="0" i="0" lang="en-US" sz="2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CSE Department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898989"/>
              </a:buClr>
              <a:buSzPts val="2800"/>
              <a:buNone/>
            </a:pPr>
            <a:r>
              <a:rPr b="0" i="0" lang="en-US" sz="2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BRAC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e86f2a580a_0_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Input Output</a:t>
            </a:r>
            <a:endParaRPr/>
          </a:p>
        </p:txBody>
      </p:sp>
      <p:sp>
        <p:nvSpPr>
          <p:cNvPr id="103" name="Google Shape;103;ge86f2a580a_0_6"/>
          <p:cNvSpPr/>
          <p:nvPr/>
        </p:nvSpPr>
        <p:spPr>
          <a:xfrm>
            <a:off x="3802943" y="1691099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094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IO</a:t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e86f2a580a_0_6"/>
          <p:cNvSpPr/>
          <p:nvPr/>
        </p:nvSpPr>
        <p:spPr>
          <a:xfrm>
            <a:off x="5573240" y="2590800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Output</a:t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e86f2a580a_0_6"/>
          <p:cNvSpPr/>
          <p:nvPr/>
        </p:nvSpPr>
        <p:spPr>
          <a:xfrm>
            <a:off x="2032647" y="2590800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Input</a:t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e86f2a580a_0_6"/>
          <p:cNvSpPr/>
          <p:nvPr/>
        </p:nvSpPr>
        <p:spPr>
          <a:xfrm>
            <a:off x="532750" y="3490500"/>
            <a:ext cx="1869600" cy="442500"/>
          </a:xfrm>
          <a:prstGeom prst="roundRect">
            <a:avLst>
              <a:gd fmla="val 50000" name="adj"/>
            </a:avLst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Digital (0/1)</a:t>
            </a:r>
            <a:endParaRPr b="1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e86f2a580a_0_6"/>
          <p:cNvSpPr/>
          <p:nvPr/>
        </p:nvSpPr>
        <p:spPr>
          <a:xfrm>
            <a:off x="2546401" y="3490500"/>
            <a:ext cx="1869600" cy="442500"/>
          </a:xfrm>
          <a:prstGeom prst="roundRect">
            <a:avLst>
              <a:gd fmla="val 50000" name="adj"/>
            </a:avLst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Analog (0~5v)</a:t>
            </a:r>
            <a:endParaRPr b="1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e86f2a580a_0_6"/>
          <p:cNvSpPr/>
          <p:nvPr/>
        </p:nvSpPr>
        <p:spPr>
          <a:xfrm>
            <a:off x="4485825" y="3490501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Digital</a:t>
            </a:r>
            <a:endParaRPr b="1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e86f2a580a_0_6"/>
          <p:cNvSpPr/>
          <p:nvPr/>
        </p:nvSpPr>
        <p:spPr>
          <a:xfrm>
            <a:off x="6093750" y="3490500"/>
            <a:ext cx="2837400" cy="442500"/>
          </a:xfrm>
          <a:prstGeom prst="roundRect">
            <a:avLst>
              <a:gd fmla="val 50000" name="adj"/>
            </a:avLst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Pulse Width Modulation (PWM)</a:t>
            </a:r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ge86f2a580a_0_6"/>
          <p:cNvCxnSpPr>
            <a:stCxn id="103" idx="2"/>
            <a:endCxn id="104" idx="0"/>
          </p:cNvCxnSpPr>
          <p:nvPr/>
        </p:nvCxnSpPr>
        <p:spPr>
          <a:xfrm flipH="1" rot="-5400000">
            <a:off x="5228543" y="1477049"/>
            <a:ext cx="457200" cy="1770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ge86f2a580a_0_6"/>
          <p:cNvCxnSpPr>
            <a:stCxn id="105" idx="0"/>
            <a:endCxn id="103" idx="2"/>
          </p:cNvCxnSpPr>
          <p:nvPr/>
        </p:nvCxnSpPr>
        <p:spPr>
          <a:xfrm rot="-5400000">
            <a:off x="3458247" y="1477050"/>
            <a:ext cx="457200" cy="1770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ge86f2a580a_0_6"/>
          <p:cNvCxnSpPr>
            <a:stCxn id="105" idx="2"/>
            <a:endCxn id="107" idx="0"/>
          </p:cNvCxnSpPr>
          <p:nvPr/>
        </p:nvCxnSpPr>
        <p:spPr>
          <a:xfrm flipH="1" rot="-5400000">
            <a:off x="2912847" y="2922150"/>
            <a:ext cx="457200" cy="67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ge86f2a580a_0_6"/>
          <p:cNvCxnSpPr>
            <a:stCxn id="106" idx="0"/>
            <a:endCxn id="105" idx="2"/>
          </p:cNvCxnSpPr>
          <p:nvPr/>
        </p:nvCxnSpPr>
        <p:spPr>
          <a:xfrm rot="-5400000">
            <a:off x="1906000" y="2594850"/>
            <a:ext cx="457200" cy="1334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ge86f2a580a_0_6"/>
          <p:cNvCxnSpPr>
            <a:stCxn id="104" idx="2"/>
            <a:endCxn id="109" idx="0"/>
          </p:cNvCxnSpPr>
          <p:nvPr/>
        </p:nvCxnSpPr>
        <p:spPr>
          <a:xfrm flipH="1" rot="-5400000">
            <a:off x="6698840" y="2676750"/>
            <a:ext cx="457200" cy="1170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ge86f2a580a_0_6"/>
          <p:cNvCxnSpPr>
            <a:stCxn id="108" idx="0"/>
            <a:endCxn id="104" idx="2"/>
          </p:cNvCxnSpPr>
          <p:nvPr/>
        </p:nvCxnSpPr>
        <p:spPr>
          <a:xfrm rot="-5400000">
            <a:off x="5570025" y="2718151"/>
            <a:ext cx="457200" cy="1087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6" name="Google Shape;116;ge86f2a580a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350" y="4146125"/>
            <a:ext cx="4152475" cy="2300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e86f2a580a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1975" y="4085400"/>
            <a:ext cx="3838901" cy="242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/>
          <p:cNvSpPr txBox="1"/>
          <p:nvPr>
            <p:ph type="title"/>
          </p:nvPr>
        </p:nvSpPr>
        <p:spPr>
          <a:xfrm>
            <a:off x="457200" y="609600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Concepts in I/O Interfacing</a:t>
            </a:r>
            <a:endParaRPr/>
          </a:p>
        </p:txBody>
      </p:sp>
      <p:sp>
        <p:nvSpPr>
          <p:cNvPr id="123" name="Google Shape;123;p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I/O devices (or peripherals) such as LEDs, LCDs, keyboards etc. are essential components of the microprocessor-based or microcontroller-based systems. Those can be classified into two groups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devices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devices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9144_09_01" id="128" name="Google Shape;1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1600200"/>
            <a:ext cx="5715000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Diagram of I/O Interfacing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5181600" y="3352800"/>
            <a:ext cx="609600" cy="381000"/>
          </a:xfrm>
          <a:prstGeom prst="ellipse">
            <a:avLst/>
          </a:prstGeom>
          <a:noFill/>
          <a:ln cap="flat" cmpd="sng" w="9525">
            <a:solidFill>
              <a:srgbClr val="FF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5105400" y="5257800"/>
            <a:ext cx="609600" cy="381000"/>
          </a:xfrm>
          <a:prstGeom prst="ellipse">
            <a:avLst/>
          </a:prstGeom>
          <a:noFill/>
          <a:ln cap="flat" cmpd="sng" w="9525">
            <a:solidFill>
              <a:srgbClr val="FF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5486400" y="3641725"/>
            <a:ext cx="627062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000"/>
              <a:buFont typeface="Verdana"/>
              <a:buNone/>
            </a:pPr>
            <a:r>
              <a:rPr b="1" i="0" lang="en-US" sz="1000" u="none" cap="none" strike="noStrike">
                <a:solidFill>
                  <a:srgbClr val="0066FF"/>
                </a:solidFill>
                <a:latin typeface="Verdana"/>
                <a:ea typeface="Verdana"/>
                <a:cs typeface="Verdana"/>
                <a:sym typeface="Verdana"/>
              </a:rPr>
              <a:t>Buffer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5524500" y="5638800"/>
            <a:ext cx="5715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000"/>
              <a:buFont typeface="Verdana"/>
              <a:buNone/>
            </a:pPr>
            <a:r>
              <a:rPr b="1" i="0" lang="en-US" sz="1000" u="none" cap="none" strike="noStrike">
                <a:solidFill>
                  <a:srgbClr val="0066FF"/>
                </a:solidFill>
                <a:latin typeface="Verdana"/>
                <a:ea typeface="Verdana"/>
                <a:cs typeface="Verdana"/>
                <a:sym typeface="Verdana"/>
              </a:rPr>
              <a:t>Latch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838200" y="6148387"/>
            <a:ext cx="6888162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Buffer keep the level of 0 or 1 (to resolve fan in problem)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Latch hold the value (0/1) until it is cleared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I/O Ports: Interfacing and Addressing</a:t>
            </a:r>
            <a:endParaRPr/>
          </a:p>
        </p:txBody>
      </p:sp>
      <p:sp>
        <p:nvSpPr>
          <p:cNvPr id="140" name="Google Shape;140;p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read (receive) binary data from an input peripheral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MPU </a:t>
            </a:r>
            <a:r>
              <a:rPr b="0" i="0" lang="en-US" sz="24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places the address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an input port on the address bus, </a:t>
            </a:r>
            <a:r>
              <a:rPr b="0" i="0" lang="en-US" sz="24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enables the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input port by asserting the RD signal, and </a:t>
            </a:r>
            <a:r>
              <a:rPr b="0" i="0" lang="en-US" sz="24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reads data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using the data bus.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write (send) binary data to an output peripheral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MPU </a:t>
            </a:r>
            <a:r>
              <a:rPr b="0" i="0" lang="en-US" sz="24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places the address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an output port on the address bus, </a:t>
            </a:r>
            <a:r>
              <a:rPr b="0" i="0" lang="en-US" sz="24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places data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data bus, and </a:t>
            </a:r>
            <a:r>
              <a:rPr b="0" i="0" lang="en-US" sz="24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asserts the WR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signal to enable the output port.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/>
          </a:p>
        </p:txBody>
      </p:sp>
      <p:sp>
        <p:nvSpPr>
          <p:cNvPr id="146" name="Google Shape;146;p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 Emitting Diode (LED)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Seven segment display (Alphanum</a:t>
            </a:r>
            <a:r>
              <a:rPr lang="en-US"/>
              <a:t>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ric)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Matrix Display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Liquid Crystal Display (LCD)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Buzzer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 Motor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Servo Motor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Stepper Motor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0" i="0" lang="en-US" sz="4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Interfacing LED</a:t>
            </a:r>
            <a:endParaRPr/>
          </a:p>
        </p:txBody>
      </p:sp>
      <p:sp>
        <p:nvSpPr>
          <p:cNvPr id="152" name="Google Shape;152;p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ways of connecting LEDs to I/O ports: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Cathode - The current is supplied by the I/O port called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current sourcing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Anode - The current is received by the chip called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current sinking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grpSp>
        <p:nvGrpSpPr>
          <p:cNvPr id="153" name="Google Shape;153;p6"/>
          <p:cNvGrpSpPr/>
          <p:nvPr/>
        </p:nvGrpSpPr>
        <p:grpSpPr>
          <a:xfrm>
            <a:off x="2514600" y="3276600"/>
            <a:ext cx="4648200" cy="3352800"/>
            <a:chOff x="1056" y="1344"/>
            <a:chExt cx="3600" cy="2498"/>
          </a:xfrm>
        </p:grpSpPr>
        <p:pic>
          <p:nvPicPr>
            <p:cNvPr descr="79144_09_04" id="154" name="Google Shape;154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56" y="1344"/>
              <a:ext cx="3600" cy="20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6"/>
            <p:cNvSpPr txBox="1"/>
            <p:nvPr/>
          </p:nvSpPr>
          <p:spPr>
            <a:xfrm>
              <a:off x="1056" y="3553"/>
              <a:ext cx="1584" cy="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Common Cathode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" name="Google Shape;156;p6"/>
          <p:cNvSpPr txBox="1"/>
          <p:nvPr/>
        </p:nvSpPr>
        <p:spPr>
          <a:xfrm>
            <a:off x="4953000" y="6248400"/>
            <a:ext cx="2514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Common Anode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Interfacing Seven-Segment </a:t>
            </a:r>
            <a:endParaRPr/>
          </a:p>
        </p:txBody>
      </p:sp>
      <p:sp>
        <p:nvSpPr>
          <p:cNvPr id="162" name="Google Shape;162;p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Seven-segment LEDs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Often used to display BCD numbers (0 through 9) and a few alphabets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group of eight LEDs physically mounted in the shape of the number eight plus a decimal point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LED is called a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segment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labeled as ‘a’ through ‘g’.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9144_09_05a" id="167" name="Google Shape;16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133600"/>
            <a:ext cx="2474912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Interfacing Seven-Segment</a:t>
            </a:r>
            <a:endParaRPr/>
          </a:p>
        </p:txBody>
      </p:sp>
      <p:sp>
        <p:nvSpPr>
          <p:cNvPr id="169" name="Google Shape;169;p8"/>
          <p:cNvSpPr txBox="1"/>
          <p:nvPr>
            <p:ph idx="1" type="body"/>
          </p:nvPr>
        </p:nvSpPr>
        <p:spPr>
          <a:xfrm>
            <a:off x="4602162" y="1447800"/>
            <a:ext cx="4038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types of seven-segment LEDs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anode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cathode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609600" y="5876925"/>
            <a:ext cx="2438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decimal 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" name="Google Shape;171;p8"/>
          <p:cNvCxnSpPr/>
          <p:nvPr/>
        </p:nvCxnSpPr>
        <p:spPr>
          <a:xfrm flipH="1" rot="10800000">
            <a:off x="1371600" y="5105400"/>
            <a:ext cx="1219200" cy="9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79144_09_05b" id="172" name="Google Shape;172;p8"/>
          <p:cNvPicPr preferRelativeResize="0"/>
          <p:nvPr/>
        </p:nvPicPr>
        <p:blipFill rotWithShape="1">
          <a:blip r:embed="rId4">
            <a:alphaModFix/>
          </a:blip>
          <a:srcRect b="16656" l="0" r="0" t="6667"/>
          <a:stretch/>
        </p:blipFill>
        <p:spPr>
          <a:xfrm>
            <a:off x="4868862" y="3276600"/>
            <a:ext cx="2743200" cy="1582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9144_09_05c" id="173" name="Google Shape;173;p8"/>
          <p:cNvPicPr preferRelativeResize="0"/>
          <p:nvPr/>
        </p:nvPicPr>
        <p:blipFill rotWithShape="1">
          <a:blip r:embed="rId5">
            <a:alphaModFix/>
          </a:blip>
          <a:srcRect b="0" l="0" r="0" t="19058"/>
          <a:stretch/>
        </p:blipFill>
        <p:spPr>
          <a:xfrm>
            <a:off x="4876800" y="5029200"/>
            <a:ext cx="2743200" cy="173513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8"/>
          <p:cNvSpPr txBox="1"/>
          <p:nvPr/>
        </p:nvSpPr>
        <p:spPr>
          <a:xfrm>
            <a:off x="5257800" y="3078162"/>
            <a:ext cx="1665287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anode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9144_09_06" id="179" name="Google Shape;17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989137"/>
            <a:ext cx="6781800" cy="304006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Interfacing Seven-Segment LEDS to PORTs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Seven-Segment Chips</a:t>
            </a:r>
            <a:endParaRPr/>
          </a:p>
        </p:txBody>
      </p:sp>
      <p:pic>
        <p:nvPicPr>
          <p:cNvPr id="186" name="Google Shape;1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4648200"/>
            <a:ext cx="1981200" cy="158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0"/>
          <p:cNvSpPr txBox="1"/>
          <p:nvPr/>
        </p:nvSpPr>
        <p:spPr>
          <a:xfrm>
            <a:off x="228600" y="5181600"/>
            <a:ext cx="25908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ALPHA/NUMERIC DISPLAY</a:t>
            </a: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3000" y="1676400"/>
            <a:ext cx="1557337" cy="1858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3075" y="1524000"/>
            <a:ext cx="2547937" cy="219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447" id="190" name="Google Shape;19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76600" y="1539875"/>
            <a:ext cx="4027487" cy="2117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gital Font From Capital Letters On Green Alphanumeric LED ..." id="191" name="Google Shape;191;p10"/>
          <p:cNvPicPr preferRelativeResize="0"/>
          <p:nvPr/>
        </p:nvPicPr>
        <p:blipFill rotWithShape="1">
          <a:blip r:embed="rId7">
            <a:alphaModFix/>
          </a:blip>
          <a:srcRect b="8332" l="0" r="0" t="0"/>
          <a:stretch/>
        </p:blipFill>
        <p:spPr>
          <a:xfrm>
            <a:off x="4953000" y="3886200"/>
            <a:ext cx="3730625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Interfacing to Multiple 7-Segments</a:t>
            </a:r>
            <a:endParaRPr/>
          </a:p>
        </p:txBody>
      </p:sp>
      <p:pic>
        <p:nvPicPr>
          <p:cNvPr descr="79144_09_17" id="197" name="Google Shape;1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524000"/>
            <a:ext cx="57150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9400" y="5343525"/>
            <a:ext cx="3243262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LED Matrix Display</a:t>
            </a:r>
            <a:endParaRPr/>
          </a:p>
        </p:txBody>
      </p:sp>
      <p:pic>
        <p:nvPicPr>
          <p:cNvPr descr="Diagram of 8X8 LED Matrix using 16 I/O pins" id="204" name="Google Shape;204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162175"/>
            <a:ext cx="3905250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X7219 Display Driver Kit with Red Display" id="205" name="Google Shape;205;p12"/>
          <p:cNvPicPr preferRelativeResize="0"/>
          <p:nvPr/>
        </p:nvPicPr>
        <p:blipFill rotWithShape="1">
          <a:blip r:embed="rId4">
            <a:alphaModFix/>
          </a:blip>
          <a:srcRect b="16666" l="0" r="0" t="8332"/>
          <a:stretch/>
        </p:blipFill>
        <p:spPr>
          <a:xfrm>
            <a:off x="4908550" y="2386012"/>
            <a:ext cx="3625850" cy="2719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LED Matrix Display</a:t>
            </a:r>
            <a:endParaRPr/>
          </a:p>
        </p:txBody>
      </p:sp>
      <p:pic>
        <p:nvPicPr>
          <p:cNvPr descr="LED matrix display: internal structure | Download Scientific Diagram" id="211" name="Google Shape;211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487" y="1747837"/>
            <a:ext cx="7439025" cy="42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LED Matrix Display</a:t>
            </a:r>
            <a:endParaRPr/>
          </a:p>
        </p:txBody>
      </p:sp>
      <p:pic>
        <p:nvPicPr>
          <p:cNvPr descr="How to Easily drive a an LED dot matrix display: 8x8 or 5x7 LEDs." id="217" name="Google Shape;217;p14"/>
          <p:cNvPicPr preferRelativeResize="0"/>
          <p:nvPr/>
        </p:nvPicPr>
        <p:blipFill rotWithShape="1">
          <a:blip r:embed="rId3">
            <a:alphaModFix/>
          </a:blip>
          <a:srcRect b="0" l="0" r="0" t="10525"/>
          <a:stretch/>
        </p:blipFill>
        <p:spPr>
          <a:xfrm>
            <a:off x="533400" y="2438400"/>
            <a:ext cx="3762375" cy="327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 Assembly Tutorial 7 – Graphics on an 8×8 LED Matrix. – [Brads ..." id="218" name="Google Shape;218;p1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9912" y="2438400"/>
            <a:ext cx="4306887" cy="2725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LCD</a:t>
            </a:r>
            <a:endParaRPr/>
          </a:p>
        </p:txBody>
      </p:sp>
      <p:sp>
        <p:nvSpPr>
          <p:cNvPr id="224" name="Google Shape;224;p15"/>
          <p:cNvSpPr txBox="1"/>
          <p:nvPr>
            <p:ph idx="1" type="body"/>
          </p:nvPr>
        </p:nvSpPr>
        <p:spPr>
          <a:xfrm>
            <a:off x="457200" y="3322637"/>
            <a:ext cx="8229600" cy="300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 a 2-line x 16 character LCD module with the built-in controller to I/O ports of the PIC18 microcontroller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LCD has a display Data RAM (registers) that stores data in 8-bit character code in ASCII.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register in Data RAM has its own address that corresponds to its position on the line.</a:t>
            </a:r>
            <a:endParaRPr/>
          </a:p>
        </p:txBody>
      </p:sp>
      <p:pic>
        <p:nvPicPr>
          <p:cNvPr descr="In-Depth Tutorial to Interface 16x2 Character LCD Module with Arduino" id="225" name="Google Shape;2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1308100"/>
            <a:ext cx="3676650" cy="181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LCD</a:t>
            </a:r>
            <a:endParaRPr/>
          </a:p>
        </p:txBody>
      </p:sp>
      <p:sp>
        <p:nvSpPr>
          <p:cNvPr id="231" name="Google Shape;231;p1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 control signals: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RS (Register Select)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RW (Read/Write)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(Enable)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 power connections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</a:t>
            </a:r>
            <a:r>
              <a:rPr lang="en-US" sz="2400"/>
              <a:t>r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(Vcc</a:t>
            </a:r>
            <a:r>
              <a:rPr lang="en-US" sz="2400"/>
              <a:t>)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Ground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register to control the brightness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Driver has two 8-bit internal registers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 Register (IR) to write instructions to set up LCD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Register (DR) to write data (ASCII characters)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LCD can be interfaced either in 8-bit or 4-bit mode</a:t>
            </a:r>
            <a:endParaRPr/>
          </a:p>
        </p:txBody>
      </p:sp>
      <p:pic>
        <p:nvPicPr>
          <p:cNvPr id="237" name="Google Shape;237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7398" l="8331" r="6435" t="18298"/>
          <a:stretch/>
        </p:blipFill>
        <p:spPr>
          <a:xfrm>
            <a:off x="457200" y="1846262"/>
            <a:ext cx="8229600" cy="40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Connection with half byte mode</a:t>
            </a:r>
            <a:endParaRPr/>
          </a:p>
        </p:txBody>
      </p:sp>
      <p:pic>
        <p:nvPicPr>
          <p:cNvPr descr="How to Use an LCD Display - Arduino Tutorial | Trybotics" id="243" name="Google Shape;243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7400" l="0" r="0" t="0"/>
          <a:stretch/>
        </p:blipFill>
        <p:spPr>
          <a:xfrm>
            <a:off x="457200" y="1747837"/>
            <a:ext cx="8229600" cy="4230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Buzzer</a:t>
            </a:r>
            <a:endParaRPr/>
          </a:p>
        </p:txBody>
      </p:sp>
      <p:pic>
        <p:nvPicPr>
          <p:cNvPr descr="Arduino - ToneMelody" id="249" name="Google Shape;249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2687" y="2541587"/>
            <a:ext cx="4238625" cy="2643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 Motor</a:t>
            </a:r>
            <a:endParaRPr/>
          </a:p>
        </p:txBody>
      </p:sp>
      <p:pic>
        <p:nvPicPr>
          <p:cNvPr descr="Arduino DC Motor Control Tutorial - L298N | PWM | H-Bridge ..." id="255" name="Google Shape;255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71637"/>
            <a:ext cx="8229600" cy="4383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Servo Motor</a:t>
            </a:r>
            <a:endParaRPr/>
          </a:p>
        </p:txBody>
      </p:sp>
      <p:pic>
        <p:nvPicPr>
          <p:cNvPr id="261" name="Google Shape;261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762" y="1600200"/>
            <a:ext cx="7610475" cy="4525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Stepper Motor</a:t>
            </a:r>
            <a:endParaRPr/>
          </a:p>
        </p:txBody>
      </p:sp>
      <p:pic>
        <p:nvPicPr>
          <p:cNvPr descr="Stepper Motor with L298N and Arduino Tutorial (4 Examples)" id="267" name="Google Shape;267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349500"/>
            <a:ext cx="8229600" cy="3027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/>
          </a:p>
        </p:txBody>
      </p:sp>
      <p:sp>
        <p:nvSpPr>
          <p:cNvPr id="273" name="Google Shape;273;p23"/>
          <p:cNvSpPr txBox="1"/>
          <p:nvPr>
            <p:ph idx="1" type="body"/>
          </p:nvPr>
        </p:nvSpPr>
        <p:spPr>
          <a:xfrm>
            <a:off x="914400" y="18888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Dip Switch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Push-Button Switch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Matrix Keyboard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Analog Input (Sensors)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DIP switch</a:t>
            </a:r>
            <a:endParaRPr/>
          </a:p>
        </p:txBody>
      </p:sp>
      <p:sp>
        <p:nvSpPr>
          <p:cNvPr id="279" name="Google Shape;279;p24"/>
          <p:cNvSpPr txBox="1"/>
          <p:nvPr>
            <p:ph idx="1" type="body"/>
          </p:nvPr>
        </p:nvSpPr>
        <p:spPr>
          <a:xfrm>
            <a:off x="457200" y="1600200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side of the switch is tied high (to a power supply through a resistor called a pull-up resistor), and the other side is grounded. The logic level changes when the position is switched.</a:t>
            </a:r>
            <a:endParaRPr/>
          </a:p>
        </p:txBody>
      </p:sp>
      <p:pic>
        <p:nvPicPr>
          <p:cNvPr descr="24VDC 8-Position DIP Switch, 25mA" id="280" name="Google Shape;280;p24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13218" l="0" r="0" t="17395"/>
          <a:stretch/>
        </p:blipFill>
        <p:spPr>
          <a:xfrm>
            <a:off x="4800600" y="1371600"/>
            <a:ext cx="37338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P Switch – Physics and Radio-Electronics" id="281" name="Google Shape;281;p24"/>
          <p:cNvPicPr preferRelativeResize="0"/>
          <p:nvPr/>
        </p:nvPicPr>
        <p:blipFill rotWithShape="1">
          <a:blip r:embed="rId4">
            <a:alphaModFix/>
          </a:blip>
          <a:srcRect b="11521" l="0" r="0" t="0"/>
          <a:stretch/>
        </p:blipFill>
        <p:spPr>
          <a:xfrm>
            <a:off x="4743450" y="3962400"/>
            <a:ext cx="379095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9144_09_08" id="286" name="Google Shape;28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2667000"/>
            <a:ext cx="5715000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Interfacing Dip Switches and Interfacing LEDs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Push-button key</a:t>
            </a:r>
            <a:endParaRPr/>
          </a:p>
        </p:txBody>
      </p:sp>
      <p:sp>
        <p:nvSpPr>
          <p:cNvPr id="293" name="Google Shape;293;p26"/>
          <p:cNvSpPr txBox="1"/>
          <p:nvPr>
            <p:ph idx="1" type="body"/>
          </p:nvPr>
        </p:nvSpPr>
        <p:spPr>
          <a:xfrm>
            <a:off x="457200" y="1600200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connection is the same as in the DIP switch except that contact is momentary.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 key is pressed (or released), mechanical metal contact bounces momentarily and can be read.</a:t>
            </a:r>
            <a:endParaRPr/>
          </a:p>
        </p:txBody>
      </p:sp>
      <p:pic>
        <p:nvPicPr>
          <p:cNvPr descr="Good Quality 226 Kls Brand Pcb Push Button Reset Key Switch ..." id="294" name="Google Shape;294;p26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17352" l="11320" r="15093" t="18495"/>
          <a:stretch/>
        </p:blipFill>
        <p:spPr>
          <a:xfrm>
            <a:off x="5562600" y="1397000"/>
            <a:ext cx="2360612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shbutton switches and Types of Switches Instrumentation Tools" id="295" name="Google Shape;295;p26"/>
          <p:cNvPicPr preferRelativeResize="0"/>
          <p:nvPr/>
        </p:nvPicPr>
        <p:blipFill rotWithShape="1">
          <a:blip r:embed="rId4">
            <a:alphaModFix/>
          </a:blip>
          <a:srcRect b="11505" l="19145" r="22048" t="12429"/>
          <a:stretch/>
        </p:blipFill>
        <p:spPr>
          <a:xfrm>
            <a:off x="5029200" y="3916362"/>
            <a:ext cx="327660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Debouncing</a:t>
            </a:r>
            <a:endParaRPr/>
          </a:p>
        </p:txBody>
      </p:sp>
      <p:sp>
        <p:nvSpPr>
          <p:cNvPr id="301" name="Google Shape;301;p27"/>
          <p:cNvSpPr txBox="1"/>
          <p:nvPr>
            <p:ph idx="1" type="body"/>
          </p:nvPr>
        </p:nvSpPr>
        <p:spPr>
          <a:xfrm>
            <a:off x="457200" y="1600200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reading of one contact as multiple inputs can be eliminated by a key-debounce technique, using either hardware or software. </a:t>
            </a:r>
            <a:endParaRPr/>
          </a:p>
        </p:txBody>
      </p:sp>
      <p:sp>
        <p:nvSpPr>
          <p:cNvPr id="302" name="Google Shape;302;p27"/>
          <p:cNvSpPr txBox="1"/>
          <p:nvPr>
            <p:ph idx="2" type="body"/>
          </p:nvPr>
        </p:nvSpPr>
        <p:spPr>
          <a:xfrm>
            <a:off x="4648200" y="1600200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Key Debouncing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 for 20 ms.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the port again.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reading is still less than FFH, it indicates that a key is pressed.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Key Debounce Techniques</a:t>
            </a:r>
            <a:endParaRPr/>
          </a:p>
        </p:txBody>
      </p:sp>
      <p:sp>
        <p:nvSpPr>
          <p:cNvPr id="308" name="Google Shape;308;p2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technique is based on the principles of generating a delay and switching the logic level at a certain threshold level.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S-R latch: The output of the S-R latch is a pulse without a bounce.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Multiplexer that bounces the key internally and provides a steady output.    </a:t>
            </a:r>
            <a:endParaRPr/>
          </a:p>
        </p:txBody>
      </p:sp>
      <p:pic>
        <p:nvPicPr>
          <p:cNvPr descr="79144_09_11a" id="309" name="Google Shape;30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4206875"/>
            <a:ext cx="4191000" cy="255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Illustration: </a:t>
            </a:r>
            <a:b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Interfacing Push-Button Keys</a:t>
            </a: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 of 6)</a:t>
            </a:r>
            <a:endParaRPr/>
          </a:p>
        </p:txBody>
      </p:sp>
      <p:sp>
        <p:nvSpPr>
          <p:cNvPr id="315" name="Google Shape;315;p29"/>
          <p:cNvSpPr txBox="1"/>
          <p:nvPr>
            <p:ph idx="1" type="body"/>
          </p:nvPr>
        </p:nvSpPr>
        <p:spPr>
          <a:xfrm>
            <a:off x="457200" y="1600200"/>
            <a:ext cx="4800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bank of push-button keys are connected as inputs to PORTB.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pull-up resistors are internal to PORTB. 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 program to recognize a key pressed, debounce the key, and identify its location in the key bank with numbers from 0 to 7.  </a:t>
            </a:r>
            <a:endParaRPr/>
          </a:p>
        </p:txBody>
      </p:sp>
      <p:pic>
        <p:nvPicPr>
          <p:cNvPr descr="79144_09_12"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2600" y="1828800"/>
            <a:ext cx="3352800" cy="314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Interfacing a Matrix Keyboard </a:t>
            </a:r>
            <a:endParaRPr/>
          </a:p>
        </p:txBody>
      </p:sp>
      <p:pic>
        <p:nvPicPr>
          <p:cNvPr descr="4x4 Matrix Keypad - Robotech Shop" id="322" name="Google Shape;322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1843087"/>
            <a:ext cx="4038600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9144_09_16" id="323" name="Google Shape;323;p30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843087"/>
            <a:ext cx="4038600" cy="403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4" name="Google Shape;324;p30"/>
          <p:cNvCxnSpPr/>
          <p:nvPr/>
        </p:nvCxnSpPr>
        <p:spPr>
          <a:xfrm>
            <a:off x="1905000" y="1981200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5" name="Google Shape;325;p30"/>
          <p:cNvCxnSpPr/>
          <p:nvPr/>
        </p:nvCxnSpPr>
        <p:spPr>
          <a:xfrm>
            <a:off x="1905000" y="2362200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6" name="Google Shape;326;p30"/>
          <p:cNvCxnSpPr/>
          <p:nvPr/>
        </p:nvCxnSpPr>
        <p:spPr>
          <a:xfrm>
            <a:off x="1905000" y="2743200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7" name="Google Shape;327;p30"/>
          <p:cNvCxnSpPr/>
          <p:nvPr/>
        </p:nvCxnSpPr>
        <p:spPr>
          <a:xfrm>
            <a:off x="1905000" y="3200400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8" name="Google Shape;328;p30"/>
          <p:cNvCxnSpPr/>
          <p:nvPr/>
        </p:nvCxnSpPr>
        <p:spPr>
          <a:xfrm>
            <a:off x="1905000" y="3581400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329" name="Google Shape;329;p30"/>
          <p:cNvCxnSpPr/>
          <p:nvPr/>
        </p:nvCxnSpPr>
        <p:spPr>
          <a:xfrm>
            <a:off x="1905000" y="4038600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330" name="Google Shape;330;p30"/>
          <p:cNvCxnSpPr/>
          <p:nvPr/>
        </p:nvCxnSpPr>
        <p:spPr>
          <a:xfrm>
            <a:off x="1905000" y="4495800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331" name="Google Shape;331;p30"/>
          <p:cNvCxnSpPr/>
          <p:nvPr/>
        </p:nvCxnSpPr>
        <p:spPr>
          <a:xfrm>
            <a:off x="1905000" y="4953000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Interfacing a Matrix Keyboard </a:t>
            </a:r>
            <a:endParaRPr/>
          </a:p>
        </p:txBody>
      </p:sp>
      <p:sp>
        <p:nvSpPr>
          <p:cNvPr id="337" name="Google Shape;337;p31"/>
          <p:cNvSpPr txBox="1"/>
          <p:nvPr>
            <p:ph idx="1" type="body"/>
          </p:nvPr>
        </p:nvSpPr>
        <p:spPr>
          <a:xfrm>
            <a:off x="457200" y="2027237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Ground one column at a time and check all the rows in that column.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a key is identified, it is encoded based on its position in the column.</a:t>
            </a:r>
            <a:endParaRPr/>
          </a:p>
        </p:txBody>
      </p:sp>
      <p:pic>
        <p:nvPicPr>
          <p:cNvPr descr="How the Matrix Keypad works with a Micro controller ..." id="338" name="Google Shape;338;p31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2309812"/>
            <a:ext cx="3276600" cy="31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2"/>
          <p:cNvSpPr txBox="1"/>
          <p:nvPr>
            <p:ph type="title"/>
          </p:nvPr>
        </p:nvSpPr>
        <p:spPr>
          <a:xfrm>
            <a:off x="457200" y="3124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Sensors will be discussed in next session…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MD Khalilur Rhaman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3" name="Version">
    <vt:i4>1</vt:i4>
  </property>
</Properties>
</file>