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y="5143500" cx="9144000"/>
  <p:notesSz cx="6858000" cy="9144000"/>
  <p:embeddedFontLst>
    <p:embeddedFont>
      <p:font typeface="PT Sans Narrow"/>
      <p:regular r:id="rId41"/>
      <p:bold r:id="rId42"/>
    </p:embeddedFont>
    <p:embeddedFont>
      <p:font typeface="Open Sans"/>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47" roundtripDataSignature="AMtx7mjIzQGehcJcLh0Y2L7YOjfMXEohI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font" Target="fonts/PTSansNarrow-bold.fntdata"/><Relationship Id="rId41" Type="http://schemas.openxmlformats.org/officeDocument/2006/relationships/font" Target="fonts/PTSansNarrow-regular.fntdata"/><Relationship Id="rId22" Type="http://schemas.openxmlformats.org/officeDocument/2006/relationships/slide" Target="slides/slide17.xml"/><Relationship Id="rId44" Type="http://schemas.openxmlformats.org/officeDocument/2006/relationships/font" Target="fonts/OpenSans-bold.fntdata"/><Relationship Id="rId21" Type="http://schemas.openxmlformats.org/officeDocument/2006/relationships/slide" Target="slides/slide16.xml"/><Relationship Id="rId43" Type="http://schemas.openxmlformats.org/officeDocument/2006/relationships/font" Target="fonts/OpenSans-regular.fntdata"/><Relationship Id="rId24" Type="http://schemas.openxmlformats.org/officeDocument/2006/relationships/slide" Target="slides/slide19.xml"/><Relationship Id="rId46" Type="http://schemas.openxmlformats.org/officeDocument/2006/relationships/font" Target="fonts/OpenSans-boldItalic.fntdata"/><Relationship Id="rId23" Type="http://schemas.openxmlformats.org/officeDocument/2006/relationships/slide" Target="slides/slide18.xml"/><Relationship Id="rId45" Type="http://schemas.openxmlformats.org/officeDocument/2006/relationships/font" Target="fonts/OpenSans-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47" Type="http://customschemas.google.com/relationships/presentationmetadata" Target="meta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 name="Google Shape;8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 name="Google Shape;12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 name="Google Shape;12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 name="Google Shape;15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 name="Google Shape;166;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7" name="Google Shape;187;p4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3" name="Google Shape;193;p4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6" name="Google Shape;286;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4" name="Google Shape;294;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5" name="Google Shape;305;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9b66c3cbec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9b66c3cbe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9" name="Google Shape;319;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8" name="Google Shape;328;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8" name="Google Shape;338;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7" name="Google Shape;347;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6" name="Google Shape;356;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5" name="Google Shape;365;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4" name="Google Shape;374;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3" name="Google Shape;383;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3" name="Google Shape;393;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4" name="Google Shape;404;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2" name="Google Shape;412;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1" name="Google Shape;421;p4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6" name="Google Shape;426;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32"/>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1" name="Google Shape;11;p32"/>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2" name="Google Shape;12;p32"/>
          <p:cNvGrpSpPr/>
          <p:nvPr/>
        </p:nvGrpSpPr>
        <p:grpSpPr>
          <a:xfrm>
            <a:off x="1004144" y="1022025"/>
            <a:ext cx="7136668" cy="152400"/>
            <a:chOff x="1346429" y="1011300"/>
            <a:chExt cx="6452100" cy="152400"/>
          </a:xfrm>
        </p:grpSpPr>
        <p:cxnSp>
          <p:nvCxnSpPr>
            <p:cNvPr id="13" name="Google Shape;13;p32"/>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 name="Google Shape;14;p32"/>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5" name="Google Shape;15;p32"/>
          <p:cNvGrpSpPr/>
          <p:nvPr/>
        </p:nvGrpSpPr>
        <p:grpSpPr>
          <a:xfrm>
            <a:off x="1004151" y="3969100"/>
            <a:ext cx="7136668" cy="152400"/>
            <a:chOff x="1346435" y="3969088"/>
            <a:chExt cx="6452100" cy="152400"/>
          </a:xfrm>
        </p:grpSpPr>
        <p:cxnSp>
          <p:nvCxnSpPr>
            <p:cNvPr id="16" name="Google Shape;16;p32"/>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7" name="Google Shape;17;p32"/>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8" name="Google Shape;18;p32"/>
          <p:cNvSpPr txBox="1"/>
          <p:nvPr>
            <p:ph type="ctrTitle"/>
          </p:nvPr>
        </p:nvSpPr>
        <p:spPr>
          <a:xfrm>
            <a:off x="1004150" y="1751764"/>
            <a:ext cx="7136700" cy="1022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400"/>
              <a:buNone/>
              <a:defRPr sz="5400"/>
            </a:lvl1pPr>
            <a:lvl2pPr lvl="1" algn="ctr">
              <a:lnSpc>
                <a:spcPct val="100000"/>
              </a:lnSpc>
              <a:spcBef>
                <a:spcPts val="0"/>
              </a:spcBef>
              <a:spcAft>
                <a:spcPts val="0"/>
              </a:spcAft>
              <a:buSzPts val="5400"/>
              <a:buNone/>
              <a:defRPr sz="5400"/>
            </a:lvl2pPr>
            <a:lvl3pPr lvl="2" algn="ctr">
              <a:lnSpc>
                <a:spcPct val="100000"/>
              </a:lnSpc>
              <a:spcBef>
                <a:spcPts val="0"/>
              </a:spcBef>
              <a:spcAft>
                <a:spcPts val="0"/>
              </a:spcAft>
              <a:buSzPts val="5400"/>
              <a:buNone/>
              <a:defRPr sz="5400"/>
            </a:lvl3pPr>
            <a:lvl4pPr lvl="3" algn="ctr">
              <a:lnSpc>
                <a:spcPct val="100000"/>
              </a:lnSpc>
              <a:spcBef>
                <a:spcPts val="0"/>
              </a:spcBef>
              <a:spcAft>
                <a:spcPts val="0"/>
              </a:spcAft>
              <a:buSzPts val="5400"/>
              <a:buNone/>
              <a:defRPr sz="5400"/>
            </a:lvl4pPr>
            <a:lvl5pPr lvl="4" algn="ctr">
              <a:lnSpc>
                <a:spcPct val="100000"/>
              </a:lnSpc>
              <a:spcBef>
                <a:spcPts val="0"/>
              </a:spcBef>
              <a:spcAft>
                <a:spcPts val="0"/>
              </a:spcAft>
              <a:buSzPts val="5400"/>
              <a:buNone/>
              <a:defRPr sz="5400"/>
            </a:lvl5pPr>
            <a:lvl6pPr lvl="5" algn="ctr">
              <a:lnSpc>
                <a:spcPct val="100000"/>
              </a:lnSpc>
              <a:spcBef>
                <a:spcPts val="0"/>
              </a:spcBef>
              <a:spcAft>
                <a:spcPts val="0"/>
              </a:spcAft>
              <a:buSzPts val="5400"/>
              <a:buNone/>
              <a:defRPr sz="5400"/>
            </a:lvl6pPr>
            <a:lvl7pPr lvl="6" algn="ctr">
              <a:lnSpc>
                <a:spcPct val="100000"/>
              </a:lnSpc>
              <a:spcBef>
                <a:spcPts val="0"/>
              </a:spcBef>
              <a:spcAft>
                <a:spcPts val="0"/>
              </a:spcAft>
              <a:buSzPts val="5400"/>
              <a:buNone/>
              <a:defRPr sz="5400"/>
            </a:lvl7pPr>
            <a:lvl8pPr lvl="7" algn="ctr">
              <a:lnSpc>
                <a:spcPct val="100000"/>
              </a:lnSpc>
              <a:spcBef>
                <a:spcPts val="0"/>
              </a:spcBef>
              <a:spcAft>
                <a:spcPts val="0"/>
              </a:spcAft>
              <a:buSzPts val="5400"/>
              <a:buNone/>
              <a:defRPr sz="5400"/>
            </a:lvl8pPr>
            <a:lvl9pPr lvl="8" algn="ctr">
              <a:lnSpc>
                <a:spcPct val="100000"/>
              </a:lnSpc>
              <a:spcBef>
                <a:spcPts val="0"/>
              </a:spcBef>
              <a:spcAft>
                <a:spcPts val="0"/>
              </a:spcAft>
              <a:buSzPts val="5400"/>
              <a:buNone/>
              <a:defRPr sz="5400"/>
            </a:lvl9pPr>
          </a:lstStyle>
          <a:p/>
        </p:txBody>
      </p:sp>
      <p:sp>
        <p:nvSpPr>
          <p:cNvPr id="19" name="Google Shape;19;p32"/>
          <p:cNvSpPr txBox="1"/>
          <p:nvPr>
            <p:ph idx="1" type="subTitle"/>
          </p:nvPr>
        </p:nvSpPr>
        <p:spPr>
          <a:xfrm>
            <a:off x="2137225" y="2850039"/>
            <a:ext cx="48705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 name="Google Shape;20;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sp>
        <p:nvSpPr>
          <p:cNvPr id="22" name="Google Shape;22;p33"/>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33"/>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24" name="Google Shape;24;p33"/>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5" name="Google Shape;25;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6" name="Shape 26"/>
        <p:cNvGrpSpPr/>
        <p:nvPr/>
      </p:nvGrpSpPr>
      <p:grpSpPr>
        <a:xfrm>
          <a:off x="0" y="0"/>
          <a:ext cx="0" cy="0"/>
          <a:chOff x="0" y="0"/>
          <a:chExt cx="0" cy="0"/>
        </a:xfrm>
      </p:grpSpPr>
      <p:sp>
        <p:nvSpPr>
          <p:cNvPr id="27" name="Google Shape;27;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34"/>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34"/>
          <p:cNvSpPr txBox="1"/>
          <p:nvPr>
            <p:ph type="title"/>
          </p:nvPr>
        </p:nvSpPr>
        <p:spPr>
          <a:xfrm>
            <a:off x="311700" y="814800"/>
            <a:ext cx="8571300" cy="9420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a:lvl1pPr>
            <a:lvl2pPr lvl="1" algn="ctr">
              <a:lnSpc>
                <a:spcPct val="100000"/>
              </a:lnSpc>
              <a:spcBef>
                <a:spcPts val="0"/>
              </a:spcBef>
              <a:spcAft>
                <a:spcPts val="0"/>
              </a:spcAft>
              <a:buSzPts val="3600"/>
              <a:buNone/>
              <a:defRPr/>
            </a:lvl2pPr>
            <a:lvl3pPr lvl="2" algn="ctr">
              <a:lnSpc>
                <a:spcPct val="100000"/>
              </a:lnSpc>
              <a:spcBef>
                <a:spcPts val="0"/>
              </a:spcBef>
              <a:spcAft>
                <a:spcPts val="0"/>
              </a:spcAft>
              <a:buSzPts val="3600"/>
              <a:buNone/>
              <a:defRPr/>
            </a:lvl3pPr>
            <a:lvl4pPr lvl="3" algn="ctr">
              <a:lnSpc>
                <a:spcPct val="100000"/>
              </a:lnSpc>
              <a:spcBef>
                <a:spcPts val="0"/>
              </a:spcBef>
              <a:spcAft>
                <a:spcPts val="0"/>
              </a:spcAft>
              <a:buSzPts val="3600"/>
              <a:buNone/>
              <a:defRPr/>
            </a:lvl4pPr>
            <a:lvl5pPr lvl="4" algn="ctr">
              <a:lnSpc>
                <a:spcPct val="100000"/>
              </a:lnSpc>
              <a:spcBef>
                <a:spcPts val="0"/>
              </a:spcBef>
              <a:spcAft>
                <a:spcPts val="0"/>
              </a:spcAft>
              <a:buSzPts val="3600"/>
              <a:buNone/>
              <a:defRPr/>
            </a:lvl5pPr>
            <a:lvl6pPr lvl="5" algn="ctr">
              <a:lnSpc>
                <a:spcPct val="100000"/>
              </a:lnSpc>
              <a:spcBef>
                <a:spcPts val="0"/>
              </a:spcBef>
              <a:spcAft>
                <a:spcPts val="0"/>
              </a:spcAft>
              <a:buSzPts val="3600"/>
              <a:buNone/>
              <a:defRPr/>
            </a:lvl6pPr>
            <a:lvl7pPr lvl="6" algn="ctr">
              <a:lnSpc>
                <a:spcPct val="100000"/>
              </a:lnSpc>
              <a:spcBef>
                <a:spcPts val="0"/>
              </a:spcBef>
              <a:spcAft>
                <a:spcPts val="0"/>
              </a:spcAft>
              <a:buSzPts val="3600"/>
              <a:buNone/>
              <a:defRPr/>
            </a:lvl7pPr>
            <a:lvl8pPr lvl="7" algn="ctr">
              <a:lnSpc>
                <a:spcPct val="100000"/>
              </a:lnSpc>
              <a:spcBef>
                <a:spcPts val="0"/>
              </a:spcBef>
              <a:spcAft>
                <a:spcPts val="0"/>
              </a:spcAft>
              <a:buSzPts val="3600"/>
              <a:buNone/>
              <a:defRPr/>
            </a:lvl8pPr>
            <a:lvl9pPr lvl="8" algn="ctr">
              <a:lnSpc>
                <a:spcPct val="100000"/>
              </a:lnSpc>
              <a:spcBef>
                <a:spcPts val="0"/>
              </a:spcBef>
              <a:spcAft>
                <a:spcPts val="0"/>
              </a:spcAft>
              <a:buSzPts val="3600"/>
              <a:buNone/>
              <a:defRPr/>
            </a:lvl9pPr>
          </a:lstStyle>
          <a:p/>
        </p:txBody>
      </p:sp>
      <p:sp>
        <p:nvSpPr>
          <p:cNvPr id="31" name="Google Shape;31;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2" name="Shape 32"/>
        <p:cNvGrpSpPr/>
        <p:nvPr/>
      </p:nvGrpSpPr>
      <p:grpSpPr>
        <a:xfrm>
          <a:off x="0" y="0"/>
          <a:ext cx="0" cy="0"/>
          <a:chOff x="0" y="0"/>
          <a:chExt cx="0" cy="0"/>
        </a:xfrm>
      </p:grpSpPr>
      <p:sp>
        <p:nvSpPr>
          <p:cNvPr id="33" name="Google Shape;33;p35"/>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34" name="Google Shape;34;p35"/>
          <p:cNvSpPr txBox="1"/>
          <p:nvPr>
            <p:ph idx="1" type="body"/>
          </p:nvPr>
        </p:nvSpPr>
        <p:spPr>
          <a:xfrm>
            <a:off x="311700" y="1266175"/>
            <a:ext cx="3999900" cy="33027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5" name="Google Shape;35;p35"/>
          <p:cNvSpPr txBox="1"/>
          <p:nvPr>
            <p:ph idx="2" type="body"/>
          </p:nvPr>
        </p:nvSpPr>
        <p:spPr>
          <a:xfrm>
            <a:off x="4832400" y="1266175"/>
            <a:ext cx="3999900" cy="33027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6" name="Google Shape;36;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7" name="Shape 37"/>
        <p:cNvGrpSpPr/>
        <p:nvPr/>
      </p:nvGrpSpPr>
      <p:grpSpPr>
        <a:xfrm>
          <a:off x="0" y="0"/>
          <a:ext cx="0" cy="0"/>
          <a:chOff x="0" y="0"/>
          <a:chExt cx="0" cy="0"/>
        </a:xfrm>
      </p:grpSpPr>
      <p:sp>
        <p:nvSpPr>
          <p:cNvPr id="38" name="Google Shape;38;p36"/>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39" name="Google Shape;39;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0" name="Shape 40"/>
        <p:cNvGrpSpPr/>
        <p:nvPr/>
      </p:nvGrpSpPr>
      <p:grpSpPr>
        <a:xfrm>
          <a:off x="0" y="0"/>
          <a:ext cx="0" cy="0"/>
          <a:chOff x="0" y="0"/>
          <a:chExt cx="0" cy="0"/>
        </a:xfrm>
      </p:grpSpPr>
      <p:sp>
        <p:nvSpPr>
          <p:cNvPr id="41" name="Google Shape;41;p3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2" name="Google Shape;42;p3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3" name="Google Shape;43;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44" name="Shape 44"/>
        <p:cNvGrpSpPr/>
        <p:nvPr/>
      </p:nvGrpSpPr>
      <p:grpSpPr>
        <a:xfrm>
          <a:off x="0" y="0"/>
          <a:ext cx="0" cy="0"/>
          <a:chOff x="0" y="0"/>
          <a:chExt cx="0" cy="0"/>
        </a:xfrm>
      </p:grpSpPr>
      <p:sp>
        <p:nvSpPr>
          <p:cNvPr id="45" name="Google Shape;45;p38"/>
          <p:cNvSpPr txBox="1"/>
          <p:nvPr>
            <p:ph type="title"/>
          </p:nvPr>
        </p:nvSpPr>
        <p:spPr>
          <a:xfrm>
            <a:off x="490250" y="526350"/>
            <a:ext cx="56136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dk2"/>
              </a:buClr>
              <a:buSzPts val="5400"/>
              <a:buNone/>
              <a:defRPr b="0" sz="5400">
                <a:solidFill>
                  <a:schemeClr val="dk2"/>
                </a:solidFill>
              </a:defRPr>
            </a:lvl1pPr>
            <a:lvl2pPr lvl="1" algn="l">
              <a:lnSpc>
                <a:spcPct val="100000"/>
              </a:lnSpc>
              <a:spcBef>
                <a:spcPts val="0"/>
              </a:spcBef>
              <a:spcAft>
                <a:spcPts val="0"/>
              </a:spcAft>
              <a:buClr>
                <a:schemeClr val="dk2"/>
              </a:buClr>
              <a:buSzPts val="5400"/>
              <a:buNone/>
              <a:defRPr b="0" sz="5400">
                <a:solidFill>
                  <a:schemeClr val="dk2"/>
                </a:solidFill>
              </a:defRPr>
            </a:lvl2pPr>
            <a:lvl3pPr lvl="2" algn="l">
              <a:lnSpc>
                <a:spcPct val="100000"/>
              </a:lnSpc>
              <a:spcBef>
                <a:spcPts val="0"/>
              </a:spcBef>
              <a:spcAft>
                <a:spcPts val="0"/>
              </a:spcAft>
              <a:buClr>
                <a:schemeClr val="dk2"/>
              </a:buClr>
              <a:buSzPts val="5400"/>
              <a:buNone/>
              <a:defRPr b="0" sz="5400">
                <a:solidFill>
                  <a:schemeClr val="dk2"/>
                </a:solidFill>
              </a:defRPr>
            </a:lvl3pPr>
            <a:lvl4pPr lvl="3" algn="l">
              <a:lnSpc>
                <a:spcPct val="100000"/>
              </a:lnSpc>
              <a:spcBef>
                <a:spcPts val="0"/>
              </a:spcBef>
              <a:spcAft>
                <a:spcPts val="0"/>
              </a:spcAft>
              <a:buClr>
                <a:schemeClr val="dk2"/>
              </a:buClr>
              <a:buSzPts val="5400"/>
              <a:buNone/>
              <a:defRPr b="0" sz="5400">
                <a:solidFill>
                  <a:schemeClr val="dk2"/>
                </a:solidFill>
              </a:defRPr>
            </a:lvl4pPr>
            <a:lvl5pPr lvl="4" algn="l">
              <a:lnSpc>
                <a:spcPct val="100000"/>
              </a:lnSpc>
              <a:spcBef>
                <a:spcPts val="0"/>
              </a:spcBef>
              <a:spcAft>
                <a:spcPts val="0"/>
              </a:spcAft>
              <a:buClr>
                <a:schemeClr val="dk2"/>
              </a:buClr>
              <a:buSzPts val="5400"/>
              <a:buNone/>
              <a:defRPr b="0" sz="5400">
                <a:solidFill>
                  <a:schemeClr val="dk2"/>
                </a:solidFill>
              </a:defRPr>
            </a:lvl5pPr>
            <a:lvl6pPr lvl="5" algn="l">
              <a:lnSpc>
                <a:spcPct val="100000"/>
              </a:lnSpc>
              <a:spcBef>
                <a:spcPts val="0"/>
              </a:spcBef>
              <a:spcAft>
                <a:spcPts val="0"/>
              </a:spcAft>
              <a:buClr>
                <a:schemeClr val="dk2"/>
              </a:buClr>
              <a:buSzPts val="5400"/>
              <a:buNone/>
              <a:defRPr b="0" sz="5400">
                <a:solidFill>
                  <a:schemeClr val="dk2"/>
                </a:solidFill>
              </a:defRPr>
            </a:lvl6pPr>
            <a:lvl7pPr lvl="6" algn="l">
              <a:lnSpc>
                <a:spcPct val="100000"/>
              </a:lnSpc>
              <a:spcBef>
                <a:spcPts val="0"/>
              </a:spcBef>
              <a:spcAft>
                <a:spcPts val="0"/>
              </a:spcAft>
              <a:buClr>
                <a:schemeClr val="dk2"/>
              </a:buClr>
              <a:buSzPts val="5400"/>
              <a:buNone/>
              <a:defRPr b="0" sz="5400">
                <a:solidFill>
                  <a:schemeClr val="dk2"/>
                </a:solidFill>
              </a:defRPr>
            </a:lvl7pPr>
            <a:lvl8pPr lvl="7" algn="l">
              <a:lnSpc>
                <a:spcPct val="100000"/>
              </a:lnSpc>
              <a:spcBef>
                <a:spcPts val="0"/>
              </a:spcBef>
              <a:spcAft>
                <a:spcPts val="0"/>
              </a:spcAft>
              <a:buClr>
                <a:schemeClr val="dk2"/>
              </a:buClr>
              <a:buSzPts val="5400"/>
              <a:buNone/>
              <a:defRPr b="0" sz="5400">
                <a:solidFill>
                  <a:schemeClr val="dk2"/>
                </a:solidFill>
              </a:defRPr>
            </a:lvl8pPr>
            <a:lvl9pPr lvl="8" algn="l">
              <a:lnSpc>
                <a:spcPct val="100000"/>
              </a:lnSpc>
              <a:spcBef>
                <a:spcPts val="0"/>
              </a:spcBef>
              <a:spcAft>
                <a:spcPts val="0"/>
              </a:spcAft>
              <a:buClr>
                <a:schemeClr val="dk2"/>
              </a:buClr>
              <a:buSzPts val="5400"/>
              <a:buNone/>
              <a:defRPr b="0" sz="5400">
                <a:solidFill>
                  <a:schemeClr val="dk2"/>
                </a:solidFill>
              </a:defRPr>
            </a:lvl9pPr>
          </a:lstStyle>
          <a:p/>
        </p:txBody>
      </p:sp>
      <p:sp>
        <p:nvSpPr>
          <p:cNvPr id="46" name="Google Shape;46;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7" name="Shape 47"/>
        <p:cNvGrpSpPr/>
        <p:nvPr/>
      </p:nvGrpSpPr>
      <p:grpSpPr>
        <a:xfrm>
          <a:off x="0" y="0"/>
          <a:ext cx="0" cy="0"/>
          <a:chOff x="0" y="0"/>
          <a:chExt cx="0" cy="0"/>
        </a:xfrm>
      </p:grpSpPr>
      <p:sp>
        <p:nvSpPr>
          <p:cNvPr id="48" name="Google Shape;48;p39"/>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9" name="Google Shape;49;p3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50" name="Google Shape;50;p39"/>
          <p:cNvSpPr txBox="1"/>
          <p:nvPr>
            <p:ph type="title"/>
          </p:nvPr>
        </p:nvSpPr>
        <p:spPr>
          <a:xfrm>
            <a:off x="265500" y="1039675"/>
            <a:ext cx="4045200" cy="16758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51" name="Google Shape;51;p39"/>
          <p:cNvSpPr txBox="1"/>
          <p:nvPr>
            <p:ph idx="1" type="subTitle"/>
          </p:nvPr>
        </p:nvSpPr>
        <p:spPr>
          <a:xfrm>
            <a:off x="265500" y="27268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2" name="Google Shape;52;p39"/>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53" name="Google Shape;53;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4" name="Shape 54"/>
        <p:cNvGrpSpPr/>
        <p:nvPr/>
      </p:nvGrpSpPr>
      <p:grpSpPr>
        <a:xfrm>
          <a:off x="0" y="0"/>
          <a:ext cx="0" cy="0"/>
          <a:chOff x="0" y="0"/>
          <a:chExt cx="0" cy="0"/>
        </a:xfrm>
      </p:grpSpPr>
      <p:sp>
        <p:nvSpPr>
          <p:cNvPr id="55" name="Google Shape;55;p40"/>
          <p:cNvSpPr txBox="1"/>
          <p:nvPr>
            <p:ph idx="1" type="body"/>
          </p:nvPr>
        </p:nvSpPr>
        <p:spPr>
          <a:xfrm>
            <a:off x="311700" y="423072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56" name="Google Shape;56;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7" name="Shape 57"/>
        <p:cNvGrpSpPr/>
        <p:nvPr/>
      </p:nvGrpSpPr>
      <p:grpSpPr>
        <a:xfrm>
          <a:off x="0" y="0"/>
          <a:ext cx="0" cy="0"/>
          <a:chOff x="0" y="0"/>
          <a:chExt cx="0" cy="0"/>
        </a:xfrm>
      </p:grpSpPr>
      <p:sp>
        <p:nvSpPr>
          <p:cNvPr id="58" name="Google Shape;58;p41"/>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41"/>
          <p:cNvSpPr txBox="1"/>
          <p:nvPr>
            <p:ph hasCustomPrompt="1" type="title"/>
          </p:nvPr>
        </p:nvSpPr>
        <p:spPr>
          <a:xfrm>
            <a:off x="311700" y="1304850"/>
            <a:ext cx="8520600" cy="15384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3"/>
              </a:buClr>
              <a:buSzPts val="13000"/>
              <a:buNone/>
              <a:defRPr sz="13000">
                <a:solidFill>
                  <a:schemeClr val="accent3"/>
                </a:solidFill>
              </a:defRPr>
            </a:lvl1pPr>
            <a:lvl2pPr lvl="1" algn="ctr">
              <a:lnSpc>
                <a:spcPct val="100000"/>
              </a:lnSpc>
              <a:spcBef>
                <a:spcPts val="0"/>
              </a:spcBef>
              <a:spcAft>
                <a:spcPts val="0"/>
              </a:spcAft>
              <a:buClr>
                <a:schemeClr val="accent3"/>
              </a:buClr>
              <a:buSzPts val="13000"/>
              <a:buNone/>
              <a:defRPr sz="13000">
                <a:solidFill>
                  <a:schemeClr val="accent3"/>
                </a:solidFill>
              </a:defRPr>
            </a:lvl2pPr>
            <a:lvl3pPr lvl="2" algn="ctr">
              <a:lnSpc>
                <a:spcPct val="100000"/>
              </a:lnSpc>
              <a:spcBef>
                <a:spcPts val="0"/>
              </a:spcBef>
              <a:spcAft>
                <a:spcPts val="0"/>
              </a:spcAft>
              <a:buClr>
                <a:schemeClr val="accent3"/>
              </a:buClr>
              <a:buSzPts val="13000"/>
              <a:buNone/>
              <a:defRPr sz="13000">
                <a:solidFill>
                  <a:schemeClr val="accent3"/>
                </a:solidFill>
              </a:defRPr>
            </a:lvl3pPr>
            <a:lvl4pPr lvl="3" algn="ctr">
              <a:lnSpc>
                <a:spcPct val="100000"/>
              </a:lnSpc>
              <a:spcBef>
                <a:spcPts val="0"/>
              </a:spcBef>
              <a:spcAft>
                <a:spcPts val="0"/>
              </a:spcAft>
              <a:buClr>
                <a:schemeClr val="accent3"/>
              </a:buClr>
              <a:buSzPts val="13000"/>
              <a:buNone/>
              <a:defRPr sz="13000">
                <a:solidFill>
                  <a:schemeClr val="accent3"/>
                </a:solidFill>
              </a:defRPr>
            </a:lvl4pPr>
            <a:lvl5pPr lvl="4" algn="ctr">
              <a:lnSpc>
                <a:spcPct val="100000"/>
              </a:lnSpc>
              <a:spcBef>
                <a:spcPts val="0"/>
              </a:spcBef>
              <a:spcAft>
                <a:spcPts val="0"/>
              </a:spcAft>
              <a:buClr>
                <a:schemeClr val="accent3"/>
              </a:buClr>
              <a:buSzPts val="13000"/>
              <a:buNone/>
              <a:defRPr sz="13000">
                <a:solidFill>
                  <a:schemeClr val="accent3"/>
                </a:solidFill>
              </a:defRPr>
            </a:lvl5pPr>
            <a:lvl6pPr lvl="5" algn="ctr">
              <a:lnSpc>
                <a:spcPct val="100000"/>
              </a:lnSpc>
              <a:spcBef>
                <a:spcPts val="0"/>
              </a:spcBef>
              <a:spcAft>
                <a:spcPts val="0"/>
              </a:spcAft>
              <a:buClr>
                <a:schemeClr val="accent3"/>
              </a:buClr>
              <a:buSzPts val="13000"/>
              <a:buNone/>
              <a:defRPr sz="13000">
                <a:solidFill>
                  <a:schemeClr val="accent3"/>
                </a:solidFill>
              </a:defRPr>
            </a:lvl6pPr>
            <a:lvl7pPr lvl="6" algn="ctr">
              <a:lnSpc>
                <a:spcPct val="100000"/>
              </a:lnSpc>
              <a:spcBef>
                <a:spcPts val="0"/>
              </a:spcBef>
              <a:spcAft>
                <a:spcPts val="0"/>
              </a:spcAft>
              <a:buClr>
                <a:schemeClr val="accent3"/>
              </a:buClr>
              <a:buSzPts val="13000"/>
              <a:buNone/>
              <a:defRPr sz="13000">
                <a:solidFill>
                  <a:schemeClr val="accent3"/>
                </a:solidFill>
              </a:defRPr>
            </a:lvl7pPr>
            <a:lvl8pPr lvl="7" algn="ctr">
              <a:lnSpc>
                <a:spcPct val="100000"/>
              </a:lnSpc>
              <a:spcBef>
                <a:spcPts val="0"/>
              </a:spcBef>
              <a:spcAft>
                <a:spcPts val="0"/>
              </a:spcAft>
              <a:buClr>
                <a:schemeClr val="accent3"/>
              </a:buClr>
              <a:buSzPts val="13000"/>
              <a:buNone/>
              <a:defRPr sz="13000">
                <a:solidFill>
                  <a:schemeClr val="accent3"/>
                </a:solidFill>
              </a:defRPr>
            </a:lvl8pPr>
            <a:lvl9pPr lvl="8" algn="ctr">
              <a:lnSpc>
                <a:spcPct val="100000"/>
              </a:lnSpc>
              <a:spcBef>
                <a:spcPts val="0"/>
              </a:spcBef>
              <a:spcAft>
                <a:spcPts val="0"/>
              </a:spcAft>
              <a:buClr>
                <a:schemeClr val="accent3"/>
              </a:buClr>
              <a:buSzPts val="13000"/>
              <a:buNone/>
              <a:defRPr sz="13000">
                <a:solidFill>
                  <a:schemeClr val="accent3"/>
                </a:solidFill>
              </a:defRPr>
            </a:lvl9pPr>
          </a:lstStyle>
          <a:p>
            <a:r>
              <a:t>xx%</a:t>
            </a:r>
          </a:p>
        </p:txBody>
      </p:sp>
      <p:sp>
        <p:nvSpPr>
          <p:cNvPr id="60" name="Google Shape;60;p41"/>
          <p:cNvSpPr txBox="1"/>
          <p:nvPr>
            <p:ph idx="1" type="body"/>
          </p:nvPr>
        </p:nvSpPr>
        <p:spPr>
          <a:xfrm>
            <a:off x="311700" y="2995650"/>
            <a:ext cx="8520600" cy="10716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61" name="Google Shape;61;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3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1pPr>
            <a:lvl2pPr lvl="1"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2pPr>
            <a:lvl3pPr lvl="2"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3pPr>
            <a:lvl4pPr lvl="3"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4pPr>
            <a:lvl5pPr lvl="4"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5pPr>
            <a:lvl6pPr lvl="5"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6pPr>
            <a:lvl7pPr lvl="6"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7pPr>
            <a:lvl8pPr lvl="7"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8pPr>
            <a:lvl9pPr lvl="8"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9pPr>
          </a:lstStyle>
          <a:p/>
        </p:txBody>
      </p:sp>
      <p:sp>
        <p:nvSpPr>
          <p:cNvPr id="7" name="Google Shape;7;p31"/>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Open Sans"/>
              <a:buChar char="●"/>
              <a:defRPr b="0" i="0" sz="1800" u="none" cap="none" strike="noStrike">
                <a:solidFill>
                  <a:schemeClr val="dk2"/>
                </a:solidFill>
                <a:latin typeface="Open Sans"/>
                <a:ea typeface="Open Sans"/>
                <a:cs typeface="Open Sans"/>
                <a:sym typeface="Open Sans"/>
              </a:defRPr>
            </a:lvl1pPr>
            <a:lvl2pPr indent="-317500" lvl="1" marL="9144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2pPr>
            <a:lvl3pPr indent="-317500" lvl="2" marL="13716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3pPr>
            <a:lvl4pPr indent="-317500" lvl="3" marL="18288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4pPr>
            <a:lvl5pPr indent="-317500" lvl="4" marL="22860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5pPr>
            <a:lvl6pPr indent="-317500" lvl="5" marL="27432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6pPr>
            <a:lvl7pPr indent="-317500" lvl="6" marL="32004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7pPr>
            <a:lvl8pPr indent="-317500" lvl="7" marL="36576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8pPr>
            <a:lvl9pPr indent="-317500" lvl="8" marL="41148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9pPr>
          </a:lstStyle>
          <a:p/>
        </p:txBody>
      </p:sp>
      <p:sp>
        <p:nvSpPr>
          <p:cNvPr id="8" name="Google Shape;8;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0.jpg"/><Relationship Id="rId4" Type="http://schemas.openxmlformats.org/officeDocument/2006/relationships/image" Target="../media/image5.jpg"/><Relationship Id="rId5"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0.jp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hyperlink" Target="https://drive.google.com/file/d/1hJ-F8HwJ_YOwnl5IxlV9EgWILGGgVTU4/view?usp=sharing" TargetMode="External"/><Relationship Id="rId5"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8.pn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8.png"/><Relationship Id="rId4" Type="http://schemas.openxmlformats.org/officeDocument/2006/relationships/image" Target="../media/image18.png"/><Relationship Id="rId5" Type="http://schemas.openxmlformats.org/officeDocument/2006/relationships/image" Target="../media/image24.png"/><Relationship Id="rId6"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7.png"/><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5.png"/><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0.png"/><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3.png"/><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png"/><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2.png"/><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1.png"/><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6.png"/><Relationship Id="rId4"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png"/><Relationship Id="rId4" Type="http://schemas.openxmlformats.org/officeDocument/2006/relationships/image" Target="../media/image1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png"/><Relationship Id="rId4" Type="http://schemas.openxmlformats.org/officeDocument/2006/relationships/image" Target="../media/image29.png"/><Relationship Id="rId5" Type="http://schemas.openxmlformats.org/officeDocument/2006/relationships/image" Target="../media/image2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
          <p:cNvSpPr txBox="1"/>
          <p:nvPr>
            <p:ph type="ctrTitle"/>
          </p:nvPr>
        </p:nvSpPr>
        <p:spPr>
          <a:xfrm>
            <a:off x="1066738" y="1340900"/>
            <a:ext cx="7143600" cy="9237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400"/>
              <a:buNone/>
            </a:pPr>
            <a:r>
              <a:rPr lang="en" sz="4600"/>
              <a:t>STM32 Microcontroller</a:t>
            </a:r>
            <a:endParaRPr sz="4600"/>
          </a:p>
        </p:txBody>
      </p:sp>
      <p:sp>
        <p:nvSpPr>
          <p:cNvPr id="67" name="Google Shape;67;p1"/>
          <p:cNvSpPr txBox="1"/>
          <p:nvPr>
            <p:ph idx="1" type="subTitle"/>
          </p:nvPr>
        </p:nvSpPr>
        <p:spPr>
          <a:xfrm>
            <a:off x="422275" y="3960700"/>
            <a:ext cx="8520600" cy="792600"/>
          </a:xfrm>
          <a:prstGeom prst="rect">
            <a:avLst/>
          </a:prstGeom>
          <a:noFill/>
          <a:ln>
            <a:noFill/>
          </a:ln>
        </p:spPr>
        <p:txBody>
          <a:bodyPr anchorCtr="0" anchor="t" bIns="91425" lIns="91425" spcFirstLastPara="1" rIns="91425" wrap="square" tIns="91425">
            <a:normAutofit lnSpcReduction="10000"/>
          </a:bodyPr>
          <a:lstStyle/>
          <a:p>
            <a:pPr indent="0" lvl="0" marL="0" rtl="0" algn="ctr">
              <a:lnSpc>
                <a:spcPct val="80000"/>
              </a:lnSpc>
              <a:spcBef>
                <a:spcPts val="0"/>
              </a:spcBef>
              <a:spcAft>
                <a:spcPts val="0"/>
              </a:spcAft>
              <a:buSzPts val="1824"/>
              <a:buNone/>
            </a:pPr>
            <a:r>
              <a:t/>
            </a:r>
            <a:endParaRPr sz="1040"/>
          </a:p>
          <a:p>
            <a:pPr indent="0" lvl="0" marL="0" rtl="0" algn="ctr">
              <a:lnSpc>
                <a:spcPct val="80000"/>
              </a:lnSpc>
              <a:spcBef>
                <a:spcPts val="0"/>
              </a:spcBef>
              <a:spcAft>
                <a:spcPts val="0"/>
              </a:spcAft>
              <a:buSzPts val="1824"/>
              <a:buNone/>
            </a:pPr>
            <a:r>
              <a:t/>
            </a:r>
            <a:endParaRPr sz="1040"/>
          </a:p>
          <a:p>
            <a:pPr indent="0" lvl="0" marL="0" rtl="0" algn="ctr">
              <a:lnSpc>
                <a:spcPct val="80000"/>
              </a:lnSpc>
              <a:spcBef>
                <a:spcPts val="0"/>
              </a:spcBef>
              <a:spcAft>
                <a:spcPts val="0"/>
              </a:spcAft>
              <a:buSzPts val="1824"/>
              <a:buNone/>
            </a:pPr>
            <a:r>
              <a:rPr lang="en" sz="1040"/>
              <a:t>Prepared by Umme Jannat Taposhi, Lecturer</a:t>
            </a:r>
            <a:br>
              <a:rPr lang="en" sz="1040"/>
            </a:br>
            <a:br>
              <a:rPr lang="en" sz="1040"/>
            </a:br>
            <a:r>
              <a:rPr lang="en" sz="1040"/>
              <a:t>Department of Computer Science and Engineering, BRAC University</a:t>
            </a:r>
            <a:endParaRPr sz="1040"/>
          </a:p>
        </p:txBody>
      </p:sp>
      <p:pic>
        <p:nvPicPr>
          <p:cNvPr id="68" name="Google Shape;68;p1"/>
          <p:cNvPicPr preferRelativeResize="0"/>
          <p:nvPr/>
        </p:nvPicPr>
        <p:blipFill rotWithShape="1">
          <a:blip r:embed="rId3">
            <a:alphaModFix/>
          </a:blip>
          <a:srcRect b="0" l="0" r="0" t="0"/>
          <a:stretch/>
        </p:blipFill>
        <p:spPr>
          <a:xfrm>
            <a:off x="2528650" y="2335900"/>
            <a:ext cx="2228175" cy="1419975"/>
          </a:xfrm>
          <a:prstGeom prst="rect">
            <a:avLst/>
          </a:prstGeom>
          <a:noFill/>
          <a:ln>
            <a:noFill/>
          </a:ln>
        </p:spPr>
      </p:pic>
      <p:pic>
        <p:nvPicPr>
          <p:cNvPr id="69" name="Google Shape;69;p1"/>
          <p:cNvPicPr preferRelativeResize="0"/>
          <p:nvPr/>
        </p:nvPicPr>
        <p:blipFill rotWithShape="1">
          <a:blip r:embed="rId4">
            <a:alphaModFix/>
          </a:blip>
          <a:srcRect b="0" l="0" r="0" t="0"/>
          <a:stretch/>
        </p:blipFill>
        <p:spPr>
          <a:xfrm>
            <a:off x="8054275" y="4027150"/>
            <a:ext cx="988350" cy="988350"/>
          </a:xfrm>
          <a:prstGeom prst="rect">
            <a:avLst/>
          </a:prstGeom>
          <a:noFill/>
          <a:ln>
            <a:noFill/>
          </a:ln>
        </p:spPr>
      </p:pic>
      <p:pic>
        <p:nvPicPr>
          <p:cNvPr id="70" name="Google Shape;70;p1"/>
          <p:cNvPicPr preferRelativeResize="0"/>
          <p:nvPr/>
        </p:nvPicPr>
        <p:blipFill rotWithShape="1">
          <a:blip r:embed="rId5">
            <a:alphaModFix/>
          </a:blip>
          <a:srcRect b="0" l="0" r="0" t="0"/>
          <a:stretch/>
        </p:blipFill>
        <p:spPr>
          <a:xfrm>
            <a:off x="4858875" y="2469425"/>
            <a:ext cx="1803225" cy="11931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2"/>
          <p:cNvSpPr txBox="1"/>
          <p:nvPr>
            <p:ph type="title"/>
          </p:nvPr>
        </p:nvSpPr>
        <p:spPr>
          <a:xfrm>
            <a:off x="260675" y="291950"/>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86956"/>
              <a:buNone/>
            </a:pPr>
            <a:r>
              <a:rPr lang="en" sz="4600"/>
              <a:t>STM32 Nucleo Board</a:t>
            </a:r>
            <a:endParaRPr/>
          </a:p>
        </p:txBody>
      </p:sp>
      <p:sp>
        <p:nvSpPr>
          <p:cNvPr id="76" name="Google Shape;76;p2"/>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144 pin board</a:t>
            </a:r>
            <a:endParaRPr/>
          </a:p>
        </p:txBody>
      </p:sp>
      <p:pic>
        <p:nvPicPr>
          <p:cNvPr id="77" name="Google Shape;77;p2"/>
          <p:cNvPicPr preferRelativeResize="0"/>
          <p:nvPr/>
        </p:nvPicPr>
        <p:blipFill rotWithShape="1">
          <a:blip r:embed="rId3">
            <a:alphaModFix/>
          </a:blip>
          <a:srcRect b="0" l="0" r="0" t="0"/>
          <a:stretch/>
        </p:blipFill>
        <p:spPr>
          <a:xfrm rot="-5400000">
            <a:off x="3257550" y="714350"/>
            <a:ext cx="2628900" cy="4666125"/>
          </a:xfrm>
          <a:prstGeom prst="rect">
            <a:avLst/>
          </a:prstGeom>
          <a:noFill/>
          <a:ln>
            <a:noFill/>
          </a:ln>
        </p:spPr>
      </p:pic>
      <p:pic>
        <p:nvPicPr>
          <p:cNvPr id="78" name="Google Shape;78;p2"/>
          <p:cNvPicPr preferRelativeResize="0"/>
          <p:nvPr/>
        </p:nvPicPr>
        <p:blipFill rotWithShape="1">
          <a:blip r:embed="rId4">
            <a:alphaModFix/>
          </a:blip>
          <a:srcRect b="0" l="0" r="0" t="0"/>
          <a:stretch/>
        </p:blipFill>
        <p:spPr>
          <a:xfrm>
            <a:off x="8054275" y="4027150"/>
            <a:ext cx="988350" cy="9883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3"/>
          <p:cNvSpPr txBox="1"/>
          <p:nvPr>
            <p:ph type="title"/>
          </p:nvPr>
        </p:nvSpPr>
        <p:spPr>
          <a:xfrm>
            <a:off x="260675" y="291950"/>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86956"/>
              <a:buNone/>
            </a:pPr>
            <a:r>
              <a:rPr lang="en" sz="4600"/>
              <a:t>STM32 Nucleo Board</a:t>
            </a:r>
            <a:endParaRPr/>
          </a:p>
        </p:txBody>
      </p:sp>
      <p:sp>
        <p:nvSpPr>
          <p:cNvPr id="84" name="Google Shape;84;p3"/>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64 pin board</a:t>
            </a:r>
            <a:endParaRPr/>
          </a:p>
        </p:txBody>
      </p:sp>
      <p:pic>
        <p:nvPicPr>
          <p:cNvPr id="85" name="Google Shape;85;p3"/>
          <p:cNvPicPr preferRelativeResize="0"/>
          <p:nvPr/>
        </p:nvPicPr>
        <p:blipFill rotWithShape="1">
          <a:blip r:embed="rId3">
            <a:alphaModFix/>
          </a:blip>
          <a:srcRect b="0" l="0" r="0" t="0"/>
          <a:stretch/>
        </p:blipFill>
        <p:spPr>
          <a:xfrm>
            <a:off x="3002020" y="999350"/>
            <a:ext cx="3464231" cy="3957050"/>
          </a:xfrm>
          <a:prstGeom prst="rect">
            <a:avLst/>
          </a:prstGeom>
          <a:noFill/>
          <a:ln>
            <a:noFill/>
          </a:ln>
        </p:spPr>
      </p:pic>
      <p:pic>
        <p:nvPicPr>
          <p:cNvPr id="86" name="Google Shape;86;p3"/>
          <p:cNvPicPr preferRelativeResize="0"/>
          <p:nvPr/>
        </p:nvPicPr>
        <p:blipFill rotWithShape="1">
          <a:blip r:embed="rId4">
            <a:alphaModFix/>
          </a:blip>
          <a:srcRect b="0" l="0" r="0" t="0"/>
          <a:stretch/>
        </p:blipFill>
        <p:spPr>
          <a:xfrm>
            <a:off x="8054275" y="4027150"/>
            <a:ext cx="988350" cy="9883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4"/>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STM32F446RE </a:t>
            </a:r>
            <a:endParaRPr/>
          </a:p>
        </p:txBody>
      </p:sp>
      <p:sp>
        <p:nvSpPr>
          <p:cNvPr id="92" name="Google Shape;92;p4"/>
          <p:cNvSpPr txBox="1"/>
          <p:nvPr>
            <p:ph idx="1" type="body"/>
          </p:nvPr>
        </p:nvSpPr>
        <p:spPr>
          <a:xfrm>
            <a:off x="5157300" y="4169550"/>
            <a:ext cx="3196500" cy="651300"/>
          </a:xfrm>
          <a:prstGeom prst="rect">
            <a:avLst/>
          </a:prstGeom>
          <a:noFill/>
          <a:ln>
            <a:noFill/>
          </a:ln>
        </p:spPr>
        <p:txBody>
          <a:bodyPr anchorCtr="0" anchor="t" bIns="91425" lIns="91425" spcFirstLastPara="1" rIns="91425" wrap="square" tIns="91425">
            <a:normAutofit fontScale="85000" lnSpcReduction="10000"/>
          </a:bodyPr>
          <a:lstStyle/>
          <a:p>
            <a:pPr indent="0" lvl="0" marL="0" rtl="0" algn="l">
              <a:lnSpc>
                <a:spcPct val="115000"/>
              </a:lnSpc>
              <a:spcBef>
                <a:spcPts val="0"/>
              </a:spcBef>
              <a:spcAft>
                <a:spcPts val="1200"/>
              </a:spcAft>
              <a:buSzPct val="117647"/>
              <a:buNone/>
            </a:pPr>
            <a:r>
              <a:rPr lang="en"/>
              <a:t>ARM Cortex-M4 Microcontroller </a:t>
            </a:r>
            <a:endParaRPr/>
          </a:p>
        </p:txBody>
      </p:sp>
      <p:pic>
        <p:nvPicPr>
          <p:cNvPr id="93" name="Google Shape;93;p4"/>
          <p:cNvPicPr preferRelativeResize="0"/>
          <p:nvPr/>
        </p:nvPicPr>
        <p:blipFill rotWithShape="1">
          <a:blip r:embed="rId3">
            <a:alphaModFix/>
          </a:blip>
          <a:srcRect b="0" l="0" r="0" t="0"/>
          <a:stretch/>
        </p:blipFill>
        <p:spPr>
          <a:xfrm>
            <a:off x="5785750" y="1974750"/>
            <a:ext cx="2219276" cy="2052399"/>
          </a:xfrm>
          <a:prstGeom prst="rect">
            <a:avLst/>
          </a:prstGeom>
          <a:noFill/>
          <a:ln>
            <a:noFill/>
          </a:ln>
        </p:spPr>
      </p:pic>
      <p:pic>
        <p:nvPicPr>
          <p:cNvPr id="94" name="Google Shape;94;p4"/>
          <p:cNvPicPr preferRelativeResize="0"/>
          <p:nvPr/>
        </p:nvPicPr>
        <p:blipFill rotWithShape="1">
          <a:blip r:embed="rId4">
            <a:alphaModFix/>
          </a:blip>
          <a:srcRect b="0" l="0" r="0" t="0"/>
          <a:stretch/>
        </p:blipFill>
        <p:spPr>
          <a:xfrm>
            <a:off x="605075" y="965324"/>
            <a:ext cx="3686275" cy="3346175"/>
          </a:xfrm>
          <a:prstGeom prst="rect">
            <a:avLst/>
          </a:prstGeom>
          <a:noFill/>
          <a:ln>
            <a:noFill/>
          </a:ln>
        </p:spPr>
      </p:pic>
      <p:sp>
        <p:nvSpPr>
          <p:cNvPr id="95" name="Google Shape;95;p4"/>
          <p:cNvSpPr txBox="1"/>
          <p:nvPr/>
        </p:nvSpPr>
        <p:spPr>
          <a:xfrm>
            <a:off x="1244788" y="4235850"/>
            <a:ext cx="2628000" cy="518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Open Sans"/>
                <a:ea typeface="Open Sans"/>
                <a:cs typeface="Open Sans"/>
                <a:sym typeface="Open Sans"/>
              </a:rPr>
              <a:t>STM32F446RE Board</a:t>
            </a:r>
            <a:endParaRPr b="0" i="0" sz="1800" u="none" cap="none" strike="noStrike">
              <a:solidFill>
                <a:schemeClr val="dk2"/>
              </a:solidFill>
              <a:latin typeface="Open Sans"/>
              <a:ea typeface="Open Sans"/>
              <a:cs typeface="Open Sans"/>
              <a:sym typeface="Open Sans"/>
            </a:endParaRPr>
          </a:p>
        </p:txBody>
      </p:sp>
      <p:sp>
        <p:nvSpPr>
          <p:cNvPr id="96" name="Google Shape;96;p4"/>
          <p:cNvSpPr/>
          <p:nvPr/>
        </p:nvSpPr>
        <p:spPr>
          <a:xfrm flipH="1" rot="10800000">
            <a:off x="2673250" y="3101350"/>
            <a:ext cx="3112500" cy="323100"/>
          </a:xfrm>
          <a:prstGeom prst="rightArrow">
            <a:avLst>
              <a:gd fmla="val 50000" name="adj1"/>
              <a:gd fmla="val 50000" name="adj2"/>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pic>
        <p:nvPicPr>
          <p:cNvPr id="97" name="Google Shape;97;p4"/>
          <p:cNvPicPr preferRelativeResize="0"/>
          <p:nvPr/>
        </p:nvPicPr>
        <p:blipFill rotWithShape="1">
          <a:blip r:embed="rId5">
            <a:alphaModFix/>
          </a:blip>
          <a:srcRect b="0" l="0" r="0" t="0"/>
          <a:stretch/>
        </p:blipFill>
        <p:spPr>
          <a:xfrm>
            <a:off x="8054275" y="4027150"/>
            <a:ext cx="988350" cy="9883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5"/>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Why ARM processor?</a:t>
            </a:r>
            <a:endParaRPr/>
          </a:p>
        </p:txBody>
      </p:sp>
      <p:sp>
        <p:nvSpPr>
          <p:cNvPr id="103" name="Google Shape;103;p5"/>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Engineering</a:t>
            </a:r>
            <a:endParaRPr/>
          </a:p>
          <a:p>
            <a:pPr indent="-342900" lvl="0" marL="457200" rtl="0" algn="l">
              <a:lnSpc>
                <a:spcPct val="115000"/>
              </a:lnSpc>
              <a:spcBef>
                <a:spcPts val="0"/>
              </a:spcBef>
              <a:spcAft>
                <a:spcPts val="0"/>
              </a:spcAft>
              <a:buSzPts val="1800"/>
              <a:buChar char="●"/>
            </a:pPr>
            <a:r>
              <a:rPr lang="en"/>
              <a:t>IoT research</a:t>
            </a:r>
            <a:endParaRPr/>
          </a:p>
          <a:p>
            <a:pPr indent="-342900" lvl="0" marL="457200" rtl="0" algn="l">
              <a:lnSpc>
                <a:spcPct val="115000"/>
              </a:lnSpc>
              <a:spcBef>
                <a:spcPts val="0"/>
              </a:spcBef>
              <a:spcAft>
                <a:spcPts val="0"/>
              </a:spcAft>
              <a:buSzPts val="1800"/>
              <a:buChar char="●"/>
            </a:pPr>
            <a:r>
              <a:rPr lang="en"/>
              <a:t>Economy of Bangladesh</a:t>
            </a:r>
            <a:endParaRPr/>
          </a:p>
          <a:p>
            <a:pPr indent="-342900" lvl="0" marL="457200" rtl="0" algn="l">
              <a:lnSpc>
                <a:spcPct val="115000"/>
              </a:lnSpc>
              <a:spcBef>
                <a:spcPts val="0"/>
              </a:spcBef>
              <a:spcAft>
                <a:spcPts val="0"/>
              </a:spcAft>
              <a:buSzPts val="1800"/>
              <a:buChar char="●"/>
            </a:pPr>
            <a:r>
              <a:rPr lang="en"/>
              <a:t>Industry machinery</a:t>
            </a:r>
            <a:endParaRPr/>
          </a:p>
          <a:p>
            <a:pPr indent="-342900" lvl="0" marL="457200" rtl="0" algn="l">
              <a:lnSpc>
                <a:spcPct val="115000"/>
              </a:lnSpc>
              <a:spcBef>
                <a:spcPts val="0"/>
              </a:spcBef>
              <a:spcAft>
                <a:spcPts val="0"/>
              </a:spcAft>
              <a:buSzPts val="1800"/>
              <a:buChar char="●"/>
            </a:pPr>
            <a:r>
              <a:rPr lang="en"/>
              <a:t>Program almost all machine around us </a:t>
            </a:r>
            <a:endParaRPr/>
          </a:p>
          <a:p>
            <a:pPr indent="-342900" lvl="0" marL="457200" rtl="0" algn="l">
              <a:lnSpc>
                <a:spcPct val="115000"/>
              </a:lnSpc>
              <a:spcBef>
                <a:spcPts val="0"/>
              </a:spcBef>
              <a:spcAft>
                <a:spcPts val="0"/>
              </a:spcAft>
              <a:buSzPts val="1800"/>
              <a:buChar char="●"/>
            </a:pPr>
            <a:r>
              <a:rPr lang="en"/>
              <a:t>High level hardware (ARM processor building - Trillion $ market)</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1200"/>
              </a:spcAft>
              <a:buSzPts val="1800"/>
              <a:buNone/>
            </a:pPr>
            <a:r>
              <a:t/>
            </a:r>
            <a:endParaRPr/>
          </a:p>
        </p:txBody>
      </p:sp>
      <p:pic>
        <p:nvPicPr>
          <p:cNvPr id="104" name="Google Shape;104;p5"/>
          <p:cNvPicPr preferRelativeResize="0"/>
          <p:nvPr/>
        </p:nvPicPr>
        <p:blipFill rotWithShape="1">
          <a:blip r:embed="rId3">
            <a:alphaModFix/>
          </a:blip>
          <a:srcRect b="0" l="0" r="0" t="0"/>
          <a:stretch/>
        </p:blipFill>
        <p:spPr>
          <a:xfrm>
            <a:off x="8054275" y="4027150"/>
            <a:ext cx="988350" cy="9883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6"/>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ARM Cortex-M4 </a:t>
            </a:r>
            <a:endParaRPr/>
          </a:p>
        </p:txBody>
      </p:sp>
      <p:sp>
        <p:nvSpPr>
          <p:cNvPr id="110" name="Google Shape;110;p6"/>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fontScale="92500" lnSpcReduction="10000"/>
          </a:bodyPr>
          <a:lstStyle/>
          <a:p>
            <a:pPr indent="-317182" lvl="0" marL="457200" rtl="0" algn="l">
              <a:lnSpc>
                <a:spcPct val="115000"/>
              </a:lnSpc>
              <a:spcBef>
                <a:spcPts val="0"/>
              </a:spcBef>
              <a:spcAft>
                <a:spcPts val="0"/>
              </a:spcAft>
              <a:buSzPct val="100000"/>
              <a:buChar char="●"/>
            </a:pPr>
            <a:r>
              <a:rPr lang="en"/>
              <a:t>32 bit microprocessor with FPU [Floating Point Unit] core </a:t>
            </a:r>
            <a:endParaRPr/>
          </a:p>
          <a:p>
            <a:pPr indent="-317182" lvl="0" marL="457200" rtl="0" algn="l">
              <a:lnSpc>
                <a:spcPct val="115000"/>
              </a:lnSpc>
              <a:spcBef>
                <a:spcPts val="0"/>
              </a:spcBef>
              <a:spcAft>
                <a:spcPts val="0"/>
              </a:spcAft>
              <a:buSzPct val="100000"/>
              <a:buChar char="●"/>
            </a:pPr>
            <a:r>
              <a:rPr lang="en"/>
              <a:t>Flash Memory &amp; RAM (on-board)</a:t>
            </a:r>
            <a:endParaRPr/>
          </a:p>
          <a:p>
            <a:pPr indent="-317182" lvl="0" marL="457200" rtl="0" algn="l">
              <a:lnSpc>
                <a:spcPct val="115000"/>
              </a:lnSpc>
              <a:spcBef>
                <a:spcPts val="0"/>
              </a:spcBef>
              <a:spcAft>
                <a:spcPts val="0"/>
              </a:spcAft>
              <a:buSzPct val="100000"/>
              <a:buChar char="●"/>
            </a:pPr>
            <a:r>
              <a:rPr lang="en"/>
              <a:t>Peripheral port/devices </a:t>
            </a:r>
            <a:endParaRPr/>
          </a:p>
          <a:p>
            <a:pPr indent="0" lvl="0" marL="0" rtl="0" algn="l">
              <a:lnSpc>
                <a:spcPct val="115000"/>
              </a:lnSpc>
              <a:spcBef>
                <a:spcPts val="1200"/>
              </a:spcBef>
              <a:spcAft>
                <a:spcPts val="0"/>
              </a:spcAft>
              <a:buSzPct val="129031"/>
              <a:buNone/>
            </a:pPr>
            <a:r>
              <a:t/>
            </a:r>
            <a:endParaRPr/>
          </a:p>
          <a:p>
            <a:pPr indent="0" lvl="0" marL="0" rtl="0" algn="l">
              <a:lnSpc>
                <a:spcPct val="115000"/>
              </a:lnSpc>
              <a:spcBef>
                <a:spcPts val="1200"/>
              </a:spcBef>
              <a:spcAft>
                <a:spcPts val="0"/>
              </a:spcAft>
              <a:buSzPct val="129031"/>
              <a:buNone/>
            </a:pPr>
            <a:r>
              <a:rPr lang="en"/>
              <a:t>   Word: data of 32-bit length.</a:t>
            </a:r>
            <a:endParaRPr/>
          </a:p>
          <a:p>
            <a:pPr indent="0" lvl="0" marL="0" rtl="0" algn="l">
              <a:lnSpc>
                <a:spcPct val="115000"/>
              </a:lnSpc>
              <a:spcBef>
                <a:spcPts val="1200"/>
              </a:spcBef>
              <a:spcAft>
                <a:spcPts val="0"/>
              </a:spcAft>
              <a:buSzPct val="129031"/>
              <a:buNone/>
            </a:pPr>
            <a:r>
              <a:rPr lang="en"/>
              <a:t>   Half-word: data of 16-bit length.</a:t>
            </a:r>
            <a:endParaRPr/>
          </a:p>
          <a:p>
            <a:pPr indent="0" lvl="0" marL="0" rtl="0" algn="l">
              <a:lnSpc>
                <a:spcPct val="115000"/>
              </a:lnSpc>
              <a:spcBef>
                <a:spcPts val="1200"/>
              </a:spcBef>
              <a:spcAft>
                <a:spcPts val="0"/>
              </a:spcAft>
              <a:buSzPct val="129031"/>
              <a:buNone/>
            </a:pPr>
            <a:r>
              <a:rPr lang="en"/>
              <a:t>   Byte: data of 8-bit length.</a:t>
            </a:r>
            <a:endParaRPr/>
          </a:p>
          <a:p>
            <a:pPr indent="0" lvl="0" marL="0" rtl="0" algn="l">
              <a:lnSpc>
                <a:spcPct val="115000"/>
              </a:lnSpc>
              <a:spcBef>
                <a:spcPts val="1200"/>
              </a:spcBef>
              <a:spcAft>
                <a:spcPts val="0"/>
              </a:spcAft>
              <a:buSzPct val="129031"/>
              <a:buNone/>
            </a:pPr>
            <a:r>
              <a:rPr lang="en"/>
              <a:t>   Double word: data of 64-bit length.</a:t>
            </a:r>
            <a:endParaRPr/>
          </a:p>
          <a:p>
            <a:pPr indent="0" lvl="0" marL="0" rtl="0" algn="l">
              <a:lnSpc>
                <a:spcPct val="115000"/>
              </a:lnSpc>
              <a:spcBef>
                <a:spcPts val="1200"/>
              </a:spcBef>
              <a:spcAft>
                <a:spcPts val="0"/>
              </a:spcAft>
              <a:buSzPct val="129031"/>
              <a:buNone/>
            </a:pPr>
            <a:r>
              <a:t/>
            </a:r>
            <a:endParaRPr/>
          </a:p>
          <a:p>
            <a:pPr indent="0" lvl="0" marL="457200" rtl="0" algn="l">
              <a:lnSpc>
                <a:spcPct val="115000"/>
              </a:lnSpc>
              <a:spcBef>
                <a:spcPts val="1200"/>
              </a:spcBef>
              <a:spcAft>
                <a:spcPts val="1200"/>
              </a:spcAft>
              <a:buSzPct val="129031"/>
              <a:buNone/>
            </a:pPr>
            <a:r>
              <a:t/>
            </a:r>
            <a:endParaRPr/>
          </a:p>
        </p:txBody>
      </p:sp>
      <p:pic>
        <p:nvPicPr>
          <p:cNvPr id="111" name="Google Shape;111;p6"/>
          <p:cNvPicPr preferRelativeResize="0"/>
          <p:nvPr/>
        </p:nvPicPr>
        <p:blipFill rotWithShape="1">
          <a:blip r:embed="rId3">
            <a:alphaModFix/>
          </a:blip>
          <a:srcRect b="0" l="0" r="0" t="0"/>
          <a:stretch/>
        </p:blipFill>
        <p:spPr>
          <a:xfrm>
            <a:off x="6083475" y="1695225"/>
            <a:ext cx="2219276" cy="2052399"/>
          </a:xfrm>
          <a:prstGeom prst="rect">
            <a:avLst/>
          </a:prstGeom>
          <a:noFill/>
          <a:ln>
            <a:noFill/>
          </a:ln>
        </p:spPr>
      </p:pic>
      <p:pic>
        <p:nvPicPr>
          <p:cNvPr id="112" name="Google Shape;112;p6"/>
          <p:cNvPicPr preferRelativeResize="0"/>
          <p:nvPr/>
        </p:nvPicPr>
        <p:blipFill rotWithShape="1">
          <a:blip r:embed="rId4">
            <a:alphaModFix/>
          </a:blip>
          <a:srcRect b="0" l="0" r="0" t="0"/>
          <a:stretch/>
        </p:blipFill>
        <p:spPr>
          <a:xfrm>
            <a:off x="8054275" y="4027150"/>
            <a:ext cx="988350" cy="9883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7"/>
          <p:cNvSpPr txBox="1"/>
          <p:nvPr>
            <p:ph type="title"/>
          </p:nvPr>
        </p:nvSpPr>
        <p:spPr>
          <a:xfrm>
            <a:off x="242400" y="436500"/>
            <a:ext cx="8901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Key Features of the ARM Cortex-M4 Core in STM32F446RE</a:t>
            </a:r>
            <a:endParaRPr/>
          </a:p>
        </p:txBody>
      </p:sp>
      <p:sp>
        <p:nvSpPr>
          <p:cNvPr id="118" name="Google Shape;118;p7"/>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AutoNum type="arabicPeriod"/>
            </a:pPr>
            <a:r>
              <a:rPr b="1" lang="en" sz="1600" u="sng"/>
              <a:t>Core Architecture</a:t>
            </a:r>
            <a:endParaRPr b="1" sz="1600" u="sng"/>
          </a:p>
          <a:p>
            <a:pPr indent="0" lvl="0" marL="0" rtl="0" algn="l">
              <a:lnSpc>
                <a:spcPct val="115000"/>
              </a:lnSpc>
              <a:spcBef>
                <a:spcPts val="1200"/>
              </a:spcBef>
              <a:spcAft>
                <a:spcPts val="0"/>
              </a:spcAft>
              <a:buSzPts val="1800"/>
              <a:buNone/>
            </a:pPr>
            <a:r>
              <a:rPr b="1" lang="en" sz="1400"/>
              <a:t>ARM Cortex-M4:</a:t>
            </a:r>
            <a:r>
              <a:rPr lang="en" sz="1400"/>
              <a:t> A 32-bit RISC processor core designed for high performance and low power consumption.</a:t>
            </a:r>
            <a:endParaRPr sz="1400"/>
          </a:p>
          <a:p>
            <a:pPr indent="0" lvl="0" marL="0" rtl="0" algn="l">
              <a:lnSpc>
                <a:spcPct val="115000"/>
              </a:lnSpc>
              <a:spcBef>
                <a:spcPts val="1200"/>
              </a:spcBef>
              <a:spcAft>
                <a:spcPts val="0"/>
              </a:spcAft>
              <a:buSzPts val="1800"/>
              <a:buNone/>
            </a:pPr>
            <a:r>
              <a:rPr b="1" lang="en" sz="1400"/>
              <a:t>DSP Instructions: </a:t>
            </a:r>
            <a:r>
              <a:rPr lang="en" sz="1400"/>
              <a:t>The Cortex-M4 includes a set of digital signal processing (DSP) instructions that enhance its performance in applications requiring complex mathematical computations.</a:t>
            </a:r>
            <a:endParaRPr sz="1400"/>
          </a:p>
          <a:p>
            <a:pPr indent="0" lvl="0" marL="0" rtl="0" algn="l">
              <a:lnSpc>
                <a:spcPct val="115000"/>
              </a:lnSpc>
              <a:spcBef>
                <a:spcPts val="1200"/>
              </a:spcBef>
              <a:spcAft>
                <a:spcPts val="0"/>
              </a:spcAft>
              <a:buSzPts val="1800"/>
              <a:buNone/>
            </a:pPr>
            <a:r>
              <a:rPr b="1" lang="en" sz="1400"/>
              <a:t>Floating Point Unit (FPU): </a:t>
            </a:r>
            <a:r>
              <a:rPr lang="en" sz="1400"/>
              <a:t>Supports single-precision floating-point operations, which is beneficial for applications involving arithmetic operations with real numbers.</a:t>
            </a:r>
            <a:endParaRPr sz="1400"/>
          </a:p>
          <a:p>
            <a:pPr indent="0" lvl="0" marL="0" rtl="0" algn="l">
              <a:lnSpc>
                <a:spcPct val="115000"/>
              </a:lnSpc>
              <a:spcBef>
                <a:spcPts val="1200"/>
              </a:spcBef>
              <a:spcAft>
                <a:spcPts val="1200"/>
              </a:spcAft>
              <a:buSzPts val="1800"/>
              <a:buNone/>
            </a:pPr>
            <a:r>
              <a:t/>
            </a:r>
            <a:endParaRPr/>
          </a:p>
        </p:txBody>
      </p:sp>
      <p:pic>
        <p:nvPicPr>
          <p:cNvPr id="119" name="Google Shape;119;p7"/>
          <p:cNvPicPr preferRelativeResize="0"/>
          <p:nvPr/>
        </p:nvPicPr>
        <p:blipFill rotWithShape="1">
          <a:blip r:embed="rId3">
            <a:alphaModFix/>
          </a:blip>
          <a:srcRect b="0" l="0" r="0" t="0"/>
          <a:stretch/>
        </p:blipFill>
        <p:spPr>
          <a:xfrm>
            <a:off x="8054275" y="4027150"/>
            <a:ext cx="988350" cy="9883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8"/>
          <p:cNvSpPr txBox="1"/>
          <p:nvPr>
            <p:ph type="title"/>
          </p:nvPr>
        </p:nvSpPr>
        <p:spPr>
          <a:xfrm>
            <a:off x="311700" y="445025"/>
            <a:ext cx="88323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Key Features of the ARM Cortex-M4 Core in STM32F446RE</a:t>
            </a:r>
            <a:endParaRPr/>
          </a:p>
        </p:txBody>
      </p:sp>
      <p:sp>
        <p:nvSpPr>
          <p:cNvPr id="125" name="Google Shape;125;p8"/>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15000"/>
              </a:lnSpc>
              <a:spcBef>
                <a:spcPts val="0"/>
              </a:spcBef>
              <a:spcAft>
                <a:spcPts val="0"/>
              </a:spcAft>
              <a:buSzPct val="112941"/>
              <a:buNone/>
            </a:pPr>
            <a:r>
              <a:rPr b="1" lang="en" sz="2550" u="sng"/>
              <a:t>2. Performance</a:t>
            </a:r>
            <a:endParaRPr sz="2550"/>
          </a:p>
          <a:p>
            <a:pPr indent="0" lvl="0" marL="0" rtl="0" algn="l">
              <a:lnSpc>
                <a:spcPct val="115000"/>
              </a:lnSpc>
              <a:spcBef>
                <a:spcPts val="1200"/>
              </a:spcBef>
              <a:spcAft>
                <a:spcPts val="0"/>
              </a:spcAft>
              <a:buSzPct val="144000"/>
              <a:buNone/>
            </a:pPr>
            <a:r>
              <a:rPr b="1" lang="en" sz="2000"/>
              <a:t>Clock Speed:</a:t>
            </a:r>
            <a:r>
              <a:rPr lang="en" sz="2000"/>
              <a:t> Can operate at up to 180 MHz, providing high processing power for complex applications.</a:t>
            </a:r>
            <a:endParaRPr sz="2000"/>
          </a:p>
          <a:p>
            <a:pPr indent="0" lvl="0" marL="0" rtl="0" algn="l">
              <a:lnSpc>
                <a:spcPct val="115000"/>
              </a:lnSpc>
              <a:spcBef>
                <a:spcPts val="1200"/>
              </a:spcBef>
              <a:spcAft>
                <a:spcPts val="0"/>
              </a:spcAft>
              <a:buSzPct val="144000"/>
              <a:buNone/>
            </a:pPr>
            <a:r>
              <a:rPr b="1" lang="en" sz="2000"/>
              <a:t>Harvard Architecture:</a:t>
            </a:r>
            <a:r>
              <a:rPr lang="en" sz="2000"/>
              <a:t> Features separate instruction and data buses, allowing simultaneous access to memory and instructions.</a:t>
            </a:r>
            <a:endParaRPr sz="2000"/>
          </a:p>
          <a:p>
            <a:pPr indent="0" lvl="0" marL="0" rtl="0" algn="l">
              <a:lnSpc>
                <a:spcPct val="115000"/>
              </a:lnSpc>
              <a:spcBef>
                <a:spcPts val="1200"/>
              </a:spcBef>
              <a:spcAft>
                <a:spcPts val="0"/>
              </a:spcAft>
              <a:buSzPct val="112941"/>
              <a:buNone/>
            </a:pPr>
            <a:r>
              <a:rPr b="1" lang="en" sz="2550" u="sng"/>
              <a:t>3. Memory</a:t>
            </a:r>
            <a:endParaRPr b="1" sz="2550"/>
          </a:p>
          <a:p>
            <a:pPr indent="0" lvl="0" marL="0" rtl="0" algn="l">
              <a:lnSpc>
                <a:spcPct val="115000"/>
              </a:lnSpc>
              <a:spcBef>
                <a:spcPts val="1200"/>
              </a:spcBef>
              <a:spcAft>
                <a:spcPts val="0"/>
              </a:spcAft>
              <a:buSzPct val="144000"/>
              <a:buNone/>
            </a:pPr>
            <a:r>
              <a:rPr b="1" lang="en" sz="2000"/>
              <a:t>Flash Memory: </a:t>
            </a:r>
            <a:r>
              <a:rPr lang="en" sz="2000"/>
              <a:t>512 KB of on-chip Flash memory for program storage.</a:t>
            </a:r>
            <a:endParaRPr sz="2000"/>
          </a:p>
          <a:p>
            <a:pPr indent="0" lvl="0" marL="0" rtl="0" algn="l">
              <a:lnSpc>
                <a:spcPct val="115000"/>
              </a:lnSpc>
              <a:spcBef>
                <a:spcPts val="1200"/>
              </a:spcBef>
              <a:spcAft>
                <a:spcPts val="0"/>
              </a:spcAft>
              <a:buSzPct val="144000"/>
              <a:buNone/>
            </a:pPr>
            <a:r>
              <a:rPr b="1" lang="en" sz="2000"/>
              <a:t>SRAM:</a:t>
            </a:r>
            <a:r>
              <a:rPr lang="en" sz="2000"/>
              <a:t> 128 KB of SRAM for data storage.</a:t>
            </a:r>
            <a:endParaRPr sz="2000"/>
          </a:p>
          <a:p>
            <a:pPr indent="0" lvl="0" marL="0" rtl="0" algn="l">
              <a:lnSpc>
                <a:spcPct val="115000"/>
              </a:lnSpc>
              <a:spcBef>
                <a:spcPts val="1200"/>
              </a:spcBef>
              <a:spcAft>
                <a:spcPts val="0"/>
              </a:spcAft>
              <a:buSzPct val="144000"/>
              <a:buNone/>
            </a:pPr>
            <a:r>
              <a:rPr b="1" lang="en" sz="2000"/>
              <a:t>Memory Protection Unit (MPU): </a:t>
            </a:r>
            <a:r>
              <a:rPr lang="en" sz="2000"/>
              <a:t>Enhances security by allowing control over memory access permissions.</a:t>
            </a:r>
            <a:endParaRPr sz="2000"/>
          </a:p>
          <a:p>
            <a:pPr indent="0" lvl="0" marL="0" rtl="0" algn="l">
              <a:lnSpc>
                <a:spcPct val="115000"/>
              </a:lnSpc>
              <a:spcBef>
                <a:spcPts val="1200"/>
              </a:spcBef>
              <a:spcAft>
                <a:spcPts val="1200"/>
              </a:spcAft>
              <a:buSzPct val="159999"/>
              <a:buNone/>
            </a:pPr>
            <a:r>
              <a:t/>
            </a:r>
            <a:endParaRPr/>
          </a:p>
        </p:txBody>
      </p:sp>
      <p:pic>
        <p:nvPicPr>
          <p:cNvPr id="126" name="Google Shape;126;p8"/>
          <p:cNvPicPr preferRelativeResize="0"/>
          <p:nvPr/>
        </p:nvPicPr>
        <p:blipFill rotWithShape="1">
          <a:blip r:embed="rId3">
            <a:alphaModFix/>
          </a:blip>
          <a:srcRect b="0" l="0" r="0" t="0"/>
          <a:stretch/>
        </p:blipFill>
        <p:spPr>
          <a:xfrm>
            <a:off x="8054275" y="4027150"/>
            <a:ext cx="988350" cy="9883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9"/>
          <p:cNvSpPr txBox="1"/>
          <p:nvPr>
            <p:ph type="title"/>
          </p:nvPr>
        </p:nvSpPr>
        <p:spPr>
          <a:xfrm>
            <a:off x="311700" y="445025"/>
            <a:ext cx="88323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Key Features of the ARM Cortex-M4 Core in STM32F446RE</a:t>
            </a:r>
            <a:endParaRPr/>
          </a:p>
        </p:txBody>
      </p:sp>
      <p:sp>
        <p:nvSpPr>
          <p:cNvPr id="132" name="Google Shape;132;p9"/>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 sz="1600" u="sng"/>
              <a:t>4. Interrupt System</a:t>
            </a:r>
            <a:endParaRPr b="1" sz="1600" u="sng"/>
          </a:p>
          <a:p>
            <a:pPr indent="0" lvl="0" marL="0" rtl="0" algn="l">
              <a:lnSpc>
                <a:spcPct val="115000"/>
              </a:lnSpc>
              <a:spcBef>
                <a:spcPts val="1200"/>
              </a:spcBef>
              <a:spcAft>
                <a:spcPts val="0"/>
              </a:spcAft>
              <a:buSzPts val="1800"/>
              <a:buNone/>
            </a:pPr>
            <a:r>
              <a:rPr b="1" lang="en" sz="1400"/>
              <a:t>Nested Vectored Interrupt Controller (NVIC): </a:t>
            </a:r>
            <a:r>
              <a:rPr lang="en" sz="1400"/>
              <a:t>Supports efficient handling of interrupts with 16 levels of priority.</a:t>
            </a:r>
            <a:endParaRPr sz="1400"/>
          </a:p>
          <a:p>
            <a:pPr indent="0" lvl="0" marL="0" rtl="0" algn="l">
              <a:lnSpc>
                <a:spcPct val="115000"/>
              </a:lnSpc>
              <a:spcBef>
                <a:spcPts val="1200"/>
              </a:spcBef>
              <a:spcAft>
                <a:spcPts val="0"/>
              </a:spcAft>
              <a:buSzPts val="1800"/>
              <a:buNone/>
            </a:pPr>
            <a:r>
              <a:rPr b="1" lang="en" sz="1400"/>
              <a:t>SysTick Timer:</a:t>
            </a:r>
            <a:r>
              <a:rPr lang="en" sz="1400"/>
              <a:t> A dedicated timer for generating system ticks, useful for real-time operating systems.</a:t>
            </a:r>
            <a:endParaRPr sz="1400"/>
          </a:p>
          <a:p>
            <a:pPr indent="0" lvl="0" marL="0" rtl="0" algn="l">
              <a:lnSpc>
                <a:spcPct val="115000"/>
              </a:lnSpc>
              <a:spcBef>
                <a:spcPts val="1200"/>
              </a:spcBef>
              <a:spcAft>
                <a:spcPts val="0"/>
              </a:spcAft>
              <a:buSzPts val="1800"/>
              <a:buNone/>
            </a:pPr>
            <a:r>
              <a:rPr b="1" lang="en" sz="1600" u="sng"/>
              <a:t>5. Peripherals</a:t>
            </a:r>
            <a:endParaRPr b="1" sz="1600" u="sng"/>
          </a:p>
          <a:p>
            <a:pPr indent="0" lvl="0" marL="0" rtl="0" algn="l">
              <a:lnSpc>
                <a:spcPct val="115000"/>
              </a:lnSpc>
              <a:spcBef>
                <a:spcPts val="1200"/>
              </a:spcBef>
              <a:spcAft>
                <a:spcPts val="0"/>
              </a:spcAft>
              <a:buSzPts val="1800"/>
              <a:buNone/>
            </a:pPr>
            <a:r>
              <a:rPr b="1" lang="en" sz="1400"/>
              <a:t>Timers: </a:t>
            </a:r>
            <a:r>
              <a:rPr lang="en" sz="1400"/>
              <a:t>Multiple general-purpose timers, advanced-control timers, and basic timers for timing and counting applications.</a:t>
            </a:r>
            <a:endParaRPr sz="1400"/>
          </a:p>
          <a:p>
            <a:pPr indent="0" lvl="0" marL="0" rtl="0" algn="l">
              <a:lnSpc>
                <a:spcPct val="115000"/>
              </a:lnSpc>
              <a:spcBef>
                <a:spcPts val="1200"/>
              </a:spcBef>
              <a:spcAft>
                <a:spcPts val="0"/>
              </a:spcAft>
              <a:buSzPts val="1800"/>
              <a:buNone/>
            </a:pPr>
            <a:r>
              <a:rPr b="1" lang="en" sz="1400"/>
              <a:t>Analog Peripherals: </a:t>
            </a:r>
            <a:r>
              <a:rPr lang="en" sz="1400"/>
              <a:t>Includes ADCs (Analog-to-Digital Converters), DACs (Digital-to-Analog Converters), and comparators.</a:t>
            </a:r>
            <a:endParaRPr sz="1400"/>
          </a:p>
          <a:p>
            <a:pPr indent="0" lvl="0" marL="0" rtl="0" algn="l">
              <a:lnSpc>
                <a:spcPct val="115000"/>
              </a:lnSpc>
              <a:spcBef>
                <a:spcPts val="1200"/>
              </a:spcBef>
              <a:spcAft>
                <a:spcPts val="0"/>
              </a:spcAft>
              <a:buSzPts val="1800"/>
              <a:buNone/>
            </a:pPr>
            <a:r>
              <a:t/>
            </a:r>
            <a:endParaRPr b="1" sz="1400"/>
          </a:p>
          <a:p>
            <a:pPr indent="0" lvl="0" marL="0" rtl="0" algn="l">
              <a:lnSpc>
                <a:spcPct val="115000"/>
              </a:lnSpc>
              <a:spcBef>
                <a:spcPts val="1200"/>
              </a:spcBef>
              <a:spcAft>
                <a:spcPts val="0"/>
              </a:spcAft>
              <a:buSzPts val="1800"/>
              <a:buNone/>
            </a:pPr>
            <a:r>
              <a:t/>
            </a:r>
            <a:endParaRPr b="1" sz="1400" u="sng"/>
          </a:p>
          <a:p>
            <a:pPr indent="0" lvl="0" marL="0" rtl="0" algn="l">
              <a:lnSpc>
                <a:spcPct val="115000"/>
              </a:lnSpc>
              <a:spcBef>
                <a:spcPts val="1200"/>
              </a:spcBef>
              <a:spcAft>
                <a:spcPts val="0"/>
              </a:spcAft>
              <a:buSzPts val="1800"/>
              <a:buNone/>
            </a:pPr>
            <a:r>
              <a:t/>
            </a:r>
            <a:endParaRPr b="1" sz="1400" u="sng"/>
          </a:p>
          <a:p>
            <a:pPr indent="0" lvl="0" marL="0" rtl="0" algn="l">
              <a:lnSpc>
                <a:spcPct val="115000"/>
              </a:lnSpc>
              <a:spcBef>
                <a:spcPts val="1200"/>
              </a:spcBef>
              <a:spcAft>
                <a:spcPts val="1200"/>
              </a:spcAft>
              <a:buSzPts val="1800"/>
              <a:buNone/>
            </a:pPr>
            <a:r>
              <a:t/>
            </a:r>
            <a:endParaRPr sz="1400"/>
          </a:p>
        </p:txBody>
      </p:sp>
      <p:pic>
        <p:nvPicPr>
          <p:cNvPr id="133" name="Google Shape;133;p9"/>
          <p:cNvPicPr preferRelativeResize="0"/>
          <p:nvPr/>
        </p:nvPicPr>
        <p:blipFill rotWithShape="1">
          <a:blip r:embed="rId3">
            <a:alphaModFix/>
          </a:blip>
          <a:srcRect b="0" l="0" r="0" t="0"/>
          <a:stretch/>
        </p:blipFill>
        <p:spPr>
          <a:xfrm>
            <a:off x="8054275" y="4027150"/>
            <a:ext cx="988350" cy="9883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0"/>
          <p:cNvSpPr txBox="1"/>
          <p:nvPr>
            <p:ph type="title"/>
          </p:nvPr>
        </p:nvSpPr>
        <p:spPr>
          <a:xfrm>
            <a:off x="311700" y="445025"/>
            <a:ext cx="88323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Key Features of the ARM Cortex-M4 Core in STM32F446RE</a:t>
            </a:r>
            <a:endParaRPr/>
          </a:p>
        </p:txBody>
      </p:sp>
      <p:sp>
        <p:nvSpPr>
          <p:cNvPr id="139" name="Google Shape;139;p10"/>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 sz="1600" u="sng"/>
              <a:t>7. Communication Interfaces:</a:t>
            </a:r>
            <a:endParaRPr b="1" sz="1600" u="sng"/>
          </a:p>
          <a:p>
            <a:pPr indent="0" lvl="0" marL="0" rtl="0" algn="l">
              <a:lnSpc>
                <a:spcPct val="115000"/>
              </a:lnSpc>
              <a:spcBef>
                <a:spcPts val="1200"/>
              </a:spcBef>
              <a:spcAft>
                <a:spcPts val="0"/>
              </a:spcAft>
              <a:buSzPts val="1800"/>
              <a:buNone/>
            </a:pPr>
            <a:r>
              <a:rPr b="1" lang="en" sz="1400"/>
              <a:t>UART/USART: </a:t>
            </a:r>
            <a:r>
              <a:rPr lang="en" sz="1400"/>
              <a:t>For asynchronous and synchronous serial communication.</a:t>
            </a:r>
            <a:endParaRPr sz="1400"/>
          </a:p>
          <a:p>
            <a:pPr indent="0" lvl="0" marL="0" rtl="0" algn="l">
              <a:lnSpc>
                <a:spcPct val="115000"/>
              </a:lnSpc>
              <a:spcBef>
                <a:spcPts val="1200"/>
              </a:spcBef>
              <a:spcAft>
                <a:spcPts val="0"/>
              </a:spcAft>
              <a:buSzPts val="1800"/>
              <a:buNone/>
            </a:pPr>
            <a:r>
              <a:rPr b="1" lang="en" sz="1400"/>
              <a:t>SPI: </a:t>
            </a:r>
            <a:r>
              <a:rPr lang="en" sz="1400"/>
              <a:t>For synchronous serial communication with peripherals like sensors and memory devices.</a:t>
            </a:r>
            <a:endParaRPr sz="1400"/>
          </a:p>
          <a:p>
            <a:pPr indent="0" lvl="0" marL="0" rtl="0" algn="l">
              <a:lnSpc>
                <a:spcPct val="115000"/>
              </a:lnSpc>
              <a:spcBef>
                <a:spcPts val="1200"/>
              </a:spcBef>
              <a:spcAft>
                <a:spcPts val="0"/>
              </a:spcAft>
              <a:buSzPts val="1800"/>
              <a:buNone/>
            </a:pPr>
            <a:r>
              <a:rPr b="1" lang="en" sz="1400"/>
              <a:t>I2C: </a:t>
            </a:r>
            <a:r>
              <a:rPr lang="en" sz="1400"/>
              <a:t>For communication with low-speed peripherals.</a:t>
            </a:r>
            <a:endParaRPr sz="1400"/>
          </a:p>
          <a:p>
            <a:pPr indent="0" lvl="0" marL="0" rtl="0" algn="l">
              <a:lnSpc>
                <a:spcPct val="115000"/>
              </a:lnSpc>
              <a:spcBef>
                <a:spcPts val="1200"/>
              </a:spcBef>
              <a:spcAft>
                <a:spcPts val="0"/>
              </a:spcAft>
              <a:buSzPts val="1800"/>
              <a:buNone/>
            </a:pPr>
            <a:r>
              <a:rPr b="1" lang="en" sz="1400"/>
              <a:t>CAN: </a:t>
            </a:r>
            <a:r>
              <a:rPr lang="en" sz="1400"/>
              <a:t>For automotive and industrial communication networks.</a:t>
            </a:r>
            <a:endParaRPr sz="1400"/>
          </a:p>
          <a:p>
            <a:pPr indent="0" lvl="0" marL="0" rtl="0" algn="l">
              <a:lnSpc>
                <a:spcPct val="115000"/>
              </a:lnSpc>
              <a:spcBef>
                <a:spcPts val="1200"/>
              </a:spcBef>
              <a:spcAft>
                <a:spcPts val="0"/>
              </a:spcAft>
              <a:buSzPts val="1800"/>
              <a:buNone/>
            </a:pPr>
            <a:r>
              <a:rPr b="1" lang="en" sz="1400"/>
              <a:t>USB: </a:t>
            </a:r>
            <a:r>
              <a:rPr lang="en" sz="1400"/>
              <a:t>Supports both Host and Device modes.</a:t>
            </a:r>
            <a:endParaRPr sz="1400"/>
          </a:p>
          <a:p>
            <a:pPr indent="0" lvl="0" marL="0" rtl="0" algn="l">
              <a:lnSpc>
                <a:spcPct val="115000"/>
              </a:lnSpc>
              <a:spcBef>
                <a:spcPts val="1200"/>
              </a:spcBef>
              <a:spcAft>
                <a:spcPts val="0"/>
              </a:spcAft>
              <a:buSzPts val="1800"/>
              <a:buNone/>
            </a:pPr>
            <a:r>
              <a:rPr b="1" lang="en" sz="1400"/>
              <a:t>GPIO: </a:t>
            </a:r>
            <a:r>
              <a:rPr lang="en" sz="1400"/>
              <a:t>General-purpose input/output pins for interfacing with external components.</a:t>
            </a:r>
            <a:endParaRPr sz="1400"/>
          </a:p>
          <a:p>
            <a:pPr indent="0" lvl="0" marL="0" rtl="0" algn="l">
              <a:lnSpc>
                <a:spcPct val="115000"/>
              </a:lnSpc>
              <a:spcBef>
                <a:spcPts val="1200"/>
              </a:spcBef>
              <a:spcAft>
                <a:spcPts val="1200"/>
              </a:spcAft>
              <a:buSzPts val="1800"/>
              <a:buNone/>
            </a:pPr>
            <a:r>
              <a:t/>
            </a:r>
            <a:endParaRPr/>
          </a:p>
        </p:txBody>
      </p:sp>
      <p:pic>
        <p:nvPicPr>
          <p:cNvPr id="140" name="Google Shape;140;p10"/>
          <p:cNvPicPr preferRelativeResize="0"/>
          <p:nvPr/>
        </p:nvPicPr>
        <p:blipFill rotWithShape="1">
          <a:blip r:embed="rId3">
            <a:alphaModFix/>
          </a:blip>
          <a:srcRect b="0" l="0" r="0" t="0"/>
          <a:stretch/>
        </p:blipFill>
        <p:spPr>
          <a:xfrm>
            <a:off x="8054275" y="4027150"/>
            <a:ext cx="988350" cy="9883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1"/>
          <p:cNvSpPr txBox="1"/>
          <p:nvPr>
            <p:ph type="title"/>
          </p:nvPr>
        </p:nvSpPr>
        <p:spPr>
          <a:xfrm>
            <a:off x="311700" y="445025"/>
            <a:ext cx="88323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Key Features of the ARM Cortex-M4 Core in STM32F446RE</a:t>
            </a:r>
            <a:endParaRPr/>
          </a:p>
        </p:txBody>
      </p:sp>
      <p:sp>
        <p:nvSpPr>
          <p:cNvPr id="146" name="Google Shape;146;p11"/>
          <p:cNvSpPr txBox="1"/>
          <p:nvPr>
            <p:ph idx="1" type="body"/>
          </p:nvPr>
        </p:nvSpPr>
        <p:spPr>
          <a:xfrm>
            <a:off x="270000" y="1241300"/>
            <a:ext cx="8520600" cy="330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 sz="1600" u="sng"/>
              <a:t>8. Debug and Trace</a:t>
            </a:r>
            <a:endParaRPr b="1" sz="1600" u="sng"/>
          </a:p>
          <a:p>
            <a:pPr indent="0" lvl="0" marL="0" rtl="0" algn="l">
              <a:lnSpc>
                <a:spcPct val="115000"/>
              </a:lnSpc>
              <a:spcBef>
                <a:spcPts val="1200"/>
              </a:spcBef>
              <a:spcAft>
                <a:spcPts val="0"/>
              </a:spcAft>
              <a:buSzPts val="1800"/>
              <a:buNone/>
            </a:pPr>
            <a:r>
              <a:rPr b="1" lang="en" sz="1400"/>
              <a:t>Embedded Trace Macrocell (ETM): </a:t>
            </a:r>
            <a:r>
              <a:rPr lang="en" sz="1400"/>
              <a:t>Provides real-time trace capabilities for debugging complex applications.</a:t>
            </a:r>
            <a:endParaRPr sz="1400"/>
          </a:p>
          <a:p>
            <a:pPr indent="0" lvl="0" marL="0" rtl="0" algn="l">
              <a:lnSpc>
                <a:spcPct val="115000"/>
              </a:lnSpc>
              <a:spcBef>
                <a:spcPts val="1200"/>
              </a:spcBef>
              <a:spcAft>
                <a:spcPts val="0"/>
              </a:spcAft>
              <a:buSzPts val="1800"/>
              <a:buNone/>
            </a:pPr>
            <a:r>
              <a:rPr b="1" lang="en" sz="1400"/>
              <a:t>Serial Wire Debug (SWD):</a:t>
            </a:r>
            <a:r>
              <a:rPr b="1" lang="en" sz="1400" u="sng"/>
              <a:t> </a:t>
            </a:r>
            <a:r>
              <a:rPr lang="en" sz="1400"/>
              <a:t>A two-pin protocol for debugging, offering a reduced pin count compared to JTAG.</a:t>
            </a:r>
            <a:endParaRPr sz="1400"/>
          </a:p>
          <a:p>
            <a:pPr indent="0" lvl="0" marL="0" rtl="0" algn="l">
              <a:lnSpc>
                <a:spcPct val="115000"/>
              </a:lnSpc>
              <a:spcBef>
                <a:spcPts val="1200"/>
              </a:spcBef>
              <a:spcAft>
                <a:spcPts val="0"/>
              </a:spcAft>
              <a:buSzPts val="1800"/>
              <a:buNone/>
            </a:pPr>
            <a:r>
              <a:t/>
            </a:r>
            <a:endParaRPr b="1" sz="1400" u="sng"/>
          </a:p>
          <a:p>
            <a:pPr indent="0" lvl="0" marL="0" rtl="0" algn="l">
              <a:lnSpc>
                <a:spcPct val="115000"/>
              </a:lnSpc>
              <a:spcBef>
                <a:spcPts val="1200"/>
              </a:spcBef>
              <a:spcAft>
                <a:spcPts val="1200"/>
              </a:spcAft>
              <a:buSzPts val="1800"/>
              <a:buNone/>
            </a:pPr>
            <a:r>
              <a:t/>
            </a:r>
            <a:endParaRPr/>
          </a:p>
        </p:txBody>
      </p:sp>
      <p:pic>
        <p:nvPicPr>
          <p:cNvPr id="147" name="Google Shape;147;p11"/>
          <p:cNvPicPr preferRelativeResize="0"/>
          <p:nvPr/>
        </p:nvPicPr>
        <p:blipFill rotWithShape="1">
          <a:blip r:embed="rId3">
            <a:alphaModFix/>
          </a:blip>
          <a:srcRect b="0" l="0" r="0" t="0"/>
          <a:stretch/>
        </p:blipFill>
        <p:spPr>
          <a:xfrm>
            <a:off x="8054275" y="4027150"/>
            <a:ext cx="988350" cy="9883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2"/>
          <p:cNvSpPr txBox="1"/>
          <p:nvPr>
            <p:ph type="title"/>
          </p:nvPr>
        </p:nvSpPr>
        <p:spPr>
          <a:xfrm>
            <a:off x="311700" y="2749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STM32F446RE Block Diagram of the System Architecture</a:t>
            </a:r>
            <a:endParaRPr/>
          </a:p>
        </p:txBody>
      </p:sp>
      <p:pic>
        <p:nvPicPr>
          <p:cNvPr id="153" name="Google Shape;153;p12"/>
          <p:cNvPicPr preferRelativeResize="0"/>
          <p:nvPr/>
        </p:nvPicPr>
        <p:blipFill rotWithShape="1">
          <a:blip r:embed="rId3">
            <a:alphaModFix/>
          </a:blip>
          <a:srcRect b="0" l="0" r="0" t="0"/>
          <a:stretch/>
        </p:blipFill>
        <p:spPr>
          <a:xfrm>
            <a:off x="744275" y="982325"/>
            <a:ext cx="3947500" cy="3963100"/>
          </a:xfrm>
          <a:prstGeom prst="rect">
            <a:avLst/>
          </a:prstGeom>
          <a:noFill/>
          <a:ln>
            <a:noFill/>
          </a:ln>
        </p:spPr>
      </p:pic>
      <p:sp>
        <p:nvSpPr>
          <p:cNvPr id="154" name="Google Shape;154;p12"/>
          <p:cNvSpPr txBox="1"/>
          <p:nvPr/>
        </p:nvSpPr>
        <p:spPr>
          <a:xfrm>
            <a:off x="5403175" y="2327400"/>
            <a:ext cx="2296200" cy="94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Open Sans"/>
                <a:ea typeface="Open Sans"/>
                <a:cs typeface="Open Sans"/>
                <a:sym typeface="Open Sans"/>
              </a:rPr>
              <a:t>For better view click on </a:t>
            </a:r>
            <a:r>
              <a:rPr b="0" i="0" lang="en" sz="1800" u="sng" cap="none" strike="noStrike">
                <a:solidFill>
                  <a:schemeClr val="hlink"/>
                </a:solidFill>
                <a:latin typeface="Open Sans"/>
                <a:ea typeface="Open Sans"/>
                <a:cs typeface="Open Sans"/>
                <a:sym typeface="Open Sans"/>
                <a:hlinkClick r:id="rId4"/>
              </a:rPr>
              <a:t>this</a:t>
            </a:r>
            <a:r>
              <a:rPr b="0" i="0" lang="en" sz="1800" u="none" cap="none" strike="noStrike">
                <a:solidFill>
                  <a:schemeClr val="dk2"/>
                </a:solidFill>
                <a:latin typeface="Open Sans"/>
                <a:ea typeface="Open Sans"/>
                <a:cs typeface="Open Sans"/>
                <a:sym typeface="Open Sans"/>
              </a:rPr>
              <a:t>.</a:t>
            </a:r>
            <a:endParaRPr b="0" i="0" sz="1800" u="none" cap="none" strike="noStrike">
              <a:solidFill>
                <a:schemeClr val="dk2"/>
              </a:solidFill>
              <a:latin typeface="Open Sans"/>
              <a:ea typeface="Open Sans"/>
              <a:cs typeface="Open Sans"/>
              <a:sym typeface="Open Sans"/>
            </a:endParaRPr>
          </a:p>
        </p:txBody>
      </p:sp>
      <p:pic>
        <p:nvPicPr>
          <p:cNvPr id="155" name="Google Shape;155;p12"/>
          <p:cNvPicPr preferRelativeResize="0"/>
          <p:nvPr/>
        </p:nvPicPr>
        <p:blipFill rotWithShape="1">
          <a:blip r:embed="rId5">
            <a:alphaModFix/>
          </a:blip>
          <a:srcRect b="0" l="0" r="0" t="0"/>
          <a:stretch/>
        </p:blipFill>
        <p:spPr>
          <a:xfrm>
            <a:off x="8054275" y="4027150"/>
            <a:ext cx="988350" cy="9883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3"/>
          <p:cNvSpPr txBox="1"/>
          <p:nvPr>
            <p:ph type="title"/>
          </p:nvPr>
        </p:nvSpPr>
        <p:spPr>
          <a:xfrm>
            <a:off x="289100" y="19237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System Architecture [Simplified - Only AHB1]</a:t>
            </a:r>
            <a:endParaRPr/>
          </a:p>
        </p:txBody>
      </p:sp>
      <p:pic>
        <p:nvPicPr>
          <p:cNvPr id="161" name="Google Shape;161;p13"/>
          <p:cNvPicPr preferRelativeResize="0"/>
          <p:nvPr/>
        </p:nvPicPr>
        <p:blipFill rotWithShape="1">
          <a:blip r:embed="rId3">
            <a:alphaModFix/>
          </a:blip>
          <a:srcRect b="0" l="0" r="0" t="0"/>
          <a:stretch/>
        </p:blipFill>
        <p:spPr>
          <a:xfrm>
            <a:off x="33205" y="894670"/>
            <a:ext cx="6285401" cy="4132876"/>
          </a:xfrm>
          <a:prstGeom prst="rect">
            <a:avLst/>
          </a:prstGeom>
          <a:noFill/>
          <a:ln>
            <a:noFill/>
          </a:ln>
        </p:spPr>
      </p:pic>
      <p:pic>
        <p:nvPicPr>
          <p:cNvPr id="162" name="Google Shape;162;p13"/>
          <p:cNvPicPr preferRelativeResize="0"/>
          <p:nvPr/>
        </p:nvPicPr>
        <p:blipFill rotWithShape="1">
          <a:blip r:embed="rId4">
            <a:alphaModFix/>
          </a:blip>
          <a:srcRect b="0" l="0" r="0" t="0"/>
          <a:stretch/>
        </p:blipFill>
        <p:spPr>
          <a:xfrm>
            <a:off x="8054275" y="4027150"/>
            <a:ext cx="988350" cy="988350"/>
          </a:xfrm>
          <a:prstGeom prst="rect">
            <a:avLst/>
          </a:prstGeom>
          <a:noFill/>
          <a:ln>
            <a:noFill/>
          </a:ln>
        </p:spPr>
      </p:pic>
      <p:sp>
        <p:nvSpPr>
          <p:cNvPr id="163" name="Google Shape;163;p13"/>
          <p:cNvSpPr txBox="1"/>
          <p:nvPr/>
        </p:nvSpPr>
        <p:spPr>
          <a:xfrm>
            <a:off x="5189220" y="998220"/>
            <a:ext cx="3825240" cy="3337560"/>
          </a:xfrm>
          <a:prstGeom prst="rect">
            <a:avLst/>
          </a:prstGeom>
          <a:noFill/>
          <a:ln>
            <a:noFill/>
          </a:ln>
        </p:spPr>
        <p:txBody>
          <a:bodyPr anchorCtr="0" anchor="t" bIns="91425" lIns="91425" spcFirstLastPara="1" rIns="91425" wrap="square" tIns="91425">
            <a:noAutofit/>
          </a:bodyPr>
          <a:lstStyle/>
          <a:p>
            <a:pPr indent="-285750" lvl="0" marL="285750" marR="0" rtl="0" algn="l">
              <a:lnSpc>
                <a:spcPct val="100000"/>
              </a:lnSpc>
              <a:spcBef>
                <a:spcPts val="600"/>
              </a:spcBef>
              <a:spcAft>
                <a:spcPts val="0"/>
              </a:spcAft>
              <a:buClr>
                <a:srgbClr val="000000"/>
              </a:buClr>
              <a:buSzPts val="1800"/>
              <a:buFont typeface="Arial"/>
              <a:buChar char="•"/>
            </a:pPr>
            <a:r>
              <a:rPr b="0" i="0" lang="en" sz="1400" u="none" cap="none" strike="noStrike">
                <a:solidFill>
                  <a:schemeClr val="dk2"/>
                </a:solidFill>
                <a:latin typeface="Open Sans"/>
                <a:ea typeface="Open Sans"/>
                <a:cs typeface="Open Sans"/>
                <a:sym typeface="Open Sans"/>
              </a:rPr>
              <a:t>DMA: Direct Memory Access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600"/>
              </a:spcBef>
              <a:spcAft>
                <a:spcPts val="0"/>
              </a:spcAft>
              <a:buClr>
                <a:srgbClr val="000000"/>
              </a:buClr>
              <a:buSzPts val="1800"/>
              <a:buFont typeface="Arial"/>
              <a:buChar char="•"/>
            </a:pPr>
            <a:r>
              <a:rPr b="0" i="0" lang="en" sz="1400" u="none" cap="none" strike="noStrike">
                <a:solidFill>
                  <a:schemeClr val="dk2"/>
                </a:solidFill>
                <a:latin typeface="Open Sans"/>
                <a:ea typeface="Open Sans"/>
                <a:cs typeface="Open Sans"/>
                <a:sym typeface="Open Sans"/>
              </a:rPr>
              <a:t>AHB: Advanced High-performance Bus</a:t>
            </a:r>
            <a:endParaRPr b="0" i="0" sz="1400" u="none" cap="none" strike="noStrike">
              <a:solidFill>
                <a:schemeClr val="dk2"/>
              </a:solidFill>
              <a:latin typeface="Open Sans"/>
              <a:ea typeface="Open Sans"/>
              <a:cs typeface="Open Sans"/>
              <a:sym typeface="Open Sans"/>
            </a:endParaRPr>
          </a:p>
          <a:p>
            <a:pPr indent="-285750" lvl="0" marL="285750" marR="0" rtl="0" algn="l">
              <a:lnSpc>
                <a:spcPct val="100000"/>
              </a:lnSpc>
              <a:spcBef>
                <a:spcPts val="600"/>
              </a:spcBef>
              <a:spcAft>
                <a:spcPts val="0"/>
              </a:spcAft>
              <a:buClr>
                <a:srgbClr val="000000"/>
              </a:buClr>
              <a:buSzPts val="1800"/>
              <a:buFont typeface="Arial"/>
              <a:buChar char="•"/>
            </a:pPr>
            <a:r>
              <a:rPr b="0" i="0" lang="en" sz="1400" u="none" cap="none" strike="noStrike">
                <a:solidFill>
                  <a:schemeClr val="dk2"/>
                </a:solidFill>
                <a:latin typeface="Open Sans"/>
                <a:ea typeface="Open Sans"/>
                <a:cs typeface="Open Sans"/>
                <a:sym typeface="Open Sans"/>
              </a:rPr>
              <a:t>APB: Advanced Peripheral Bus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600"/>
              </a:spcBef>
              <a:spcAft>
                <a:spcPts val="0"/>
              </a:spcAft>
              <a:buClr>
                <a:srgbClr val="000000"/>
              </a:buClr>
              <a:buSzPts val="1800"/>
              <a:buFont typeface="Arial"/>
              <a:buChar char="•"/>
            </a:pPr>
            <a:r>
              <a:rPr b="0" i="0" lang="en" sz="1400" u="none" cap="none" strike="noStrike">
                <a:solidFill>
                  <a:schemeClr val="dk2"/>
                </a:solidFill>
                <a:latin typeface="Open Sans"/>
                <a:ea typeface="Open Sans"/>
                <a:cs typeface="Open Sans"/>
                <a:sym typeface="Open Sans"/>
              </a:rPr>
              <a:t>RCC: Reset and Clock Control </a:t>
            </a:r>
            <a:endParaRPr b="0" i="0" sz="1400" u="none" cap="none" strike="noStrike">
              <a:solidFill>
                <a:schemeClr val="dk2"/>
              </a:solidFill>
              <a:latin typeface="Open Sans"/>
              <a:ea typeface="Open Sans"/>
              <a:cs typeface="Open Sans"/>
              <a:sym typeface="Open Sans"/>
            </a:endParaRPr>
          </a:p>
          <a:p>
            <a:pPr indent="-285750" lvl="0" marL="285750" marR="0" rtl="0" algn="l">
              <a:lnSpc>
                <a:spcPct val="100000"/>
              </a:lnSpc>
              <a:spcBef>
                <a:spcPts val="600"/>
              </a:spcBef>
              <a:spcAft>
                <a:spcPts val="0"/>
              </a:spcAft>
              <a:buClr>
                <a:srgbClr val="000000"/>
              </a:buClr>
              <a:buSzPts val="1800"/>
              <a:buFont typeface="Arial"/>
              <a:buChar char="•"/>
            </a:pPr>
            <a:r>
              <a:rPr b="0" i="0" lang="en" sz="1400" u="none" cap="none" strike="noStrike">
                <a:solidFill>
                  <a:schemeClr val="dk2"/>
                </a:solidFill>
                <a:latin typeface="Open Sans"/>
                <a:ea typeface="Open Sans"/>
                <a:cs typeface="Open Sans"/>
                <a:sym typeface="Open Sans"/>
              </a:rPr>
              <a:t>CRC: Cyclic Redundancy Check </a:t>
            </a:r>
            <a:endParaRPr b="0" i="0" sz="1400" u="none" cap="none" strike="noStrike">
              <a:solidFill>
                <a:schemeClr val="dk2"/>
              </a:solidFill>
              <a:latin typeface="Open Sans"/>
              <a:ea typeface="Open Sans"/>
              <a:cs typeface="Open Sans"/>
              <a:sym typeface="Open Sans"/>
            </a:endParaRPr>
          </a:p>
          <a:p>
            <a:pPr indent="-285750" lvl="0" marL="285750" marR="0" rtl="0" algn="l">
              <a:lnSpc>
                <a:spcPct val="100000"/>
              </a:lnSpc>
              <a:spcBef>
                <a:spcPts val="600"/>
              </a:spcBef>
              <a:spcAft>
                <a:spcPts val="0"/>
              </a:spcAft>
              <a:buClr>
                <a:srgbClr val="000000"/>
              </a:buClr>
              <a:buSzPts val="1800"/>
              <a:buFont typeface="Arial"/>
              <a:buChar char="•"/>
            </a:pPr>
            <a:r>
              <a:rPr b="0" i="0" lang="en" sz="1400" u="none" cap="none" strike="noStrike">
                <a:solidFill>
                  <a:schemeClr val="dk2"/>
                </a:solidFill>
                <a:latin typeface="Open Sans"/>
                <a:ea typeface="Open Sans"/>
                <a:cs typeface="Open Sans"/>
                <a:sym typeface="Open Sans"/>
              </a:rPr>
              <a:t>PWM: Pulse with Modulation</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600"/>
              </a:spcBef>
              <a:spcAft>
                <a:spcPts val="0"/>
              </a:spcAft>
              <a:buClr>
                <a:srgbClr val="000000"/>
              </a:buClr>
              <a:buSzPts val="1800"/>
              <a:buFont typeface="Arial"/>
              <a:buChar char="•"/>
            </a:pPr>
            <a:r>
              <a:rPr b="0" i="0" lang="en" sz="1400" u="none" cap="none" strike="noStrike">
                <a:solidFill>
                  <a:schemeClr val="dk2"/>
                </a:solidFill>
                <a:latin typeface="Open Sans"/>
                <a:ea typeface="Open Sans"/>
                <a:cs typeface="Open Sans"/>
                <a:sym typeface="Open Sans"/>
              </a:rPr>
              <a:t>USART: universal synchronous/ asynchronous receiver/transmitter</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600"/>
              </a:spcBef>
              <a:spcAft>
                <a:spcPts val="0"/>
              </a:spcAft>
              <a:buClr>
                <a:srgbClr val="000000"/>
              </a:buClr>
              <a:buSzPts val="1800"/>
              <a:buFont typeface="Arial"/>
              <a:buChar char="•"/>
            </a:pPr>
            <a:r>
              <a:rPr b="0" i="0" lang="en" sz="1400" u="none" cap="none" strike="noStrike">
                <a:solidFill>
                  <a:schemeClr val="dk2"/>
                </a:solidFill>
                <a:latin typeface="Open Sans"/>
                <a:ea typeface="Open Sans"/>
                <a:cs typeface="Open Sans"/>
                <a:sym typeface="Open Sans"/>
              </a:rPr>
              <a:t>SPI: Serial Peripheral Interface</a:t>
            </a:r>
            <a:endParaRPr b="0" i="0" sz="1400" u="none" cap="none" strike="noStrike">
              <a:solidFill>
                <a:schemeClr val="dk2"/>
              </a:solidFill>
              <a:latin typeface="Open Sans"/>
              <a:ea typeface="Open Sans"/>
              <a:cs typeface="Open Sans"/>
              <a:sym typeface="Open Sans"/>
            </a:endParaRPr>
          </a:p>
          <a:p>
            <a:pPr indent="-285750" lvl="0" marL="285750" marR="0" rtl="0" algn="l">
              <a:lnSpc>
                <a:spcPct val="100000"/>
              </a:lnSpc>
              <a:spcBef>
                <a:spcPts val="600"/>
              </a:spcBef>
              <a:spcAft>
                <a:spcPts val="0"/>
              </a:spcAft>
              <a:buClr>
                <a:srgbClr val="000000"/>
              </a:buClr>
              <a:buSzPts val="1800"/>
              <a:buFont typeface="Arial"/>
              <a:buChar char="•"/>
            </a:pPr>
            <a:r>
              <a:rPr b="0" i="0" lang="en" sz="1400" u="none" cap="none" strike="noStrike">
                <a:solidFill>
                  <a:schemeClr val="dk2"/>
                </a:solidFill>
                <a:latin typeface="Open Sans"/>
                <a:ea typeface="Open Sans"/>
                <a:cs typeface="Open Sans"/>
                <a:sym typeface="Open Sans"/>
              </a:rPr>
              <a:t>I2C: Inter-Integrated Circuit</a:t>
            </a:r>
            <a:endParaRPr b="0" i="0" sz="1400" u="none" cap="none" strike="noStrike">
              <a:solidFill>
                <a:schemeClr val="dk2"/>
              </a:solidFill>
              <a:latin typeface="Open Sans"/>
              <a:ea typeface="Open Sans"/>
              <a:cs typeface="Open Sans"/>
              <a:sym typeface="Open Sans"/>
            </a:endParaRPr>
          </a:p>
          <a:p>
            <a:pPr indent="-285750" lvl="0" marL="285750" marR="0" rtl="0" algn="l">
              <a:lnSpc>
                <a:spcPct val="100000"/>
              </a:lnSpc>
              <a:spcBef>
                <a:spcPts val="600"/>
              </a:spcBef>
              <a:spcAft>
                <a:spcPts val="0"/>
              </a:spcAft>
              <a:buClr>
                <a:srgbClr val="000000"/>
              </a:buClr>
              <a:buSzPts val="1800"/>
              <a:buFont typeface="Arial"/>
              <a:buChar char="•"/>
            </a:pPr>
            <a:r>
              <a:rPr b="0" i="0" lang="en" sz="1400" u="none" cap="none" strike="noStrike">
                <a:solidFill>
                  <a:schemeClr val="dk2"/>
                </a:solidFill>
                <a:latin typeface="Open Sans"/>
                <a:ea typeface="Open Sans"/>
                <a:cs typeface="Open Sans"/>
                <a:sym typeface="Open Sans"/>
              </a:rPr>
              <a:t>ADC: Analog to Digital Converter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Open Sans"/>
              <a:ea typeface="Open Sans"/>
              <a:cs typeface="Open Sans"/>
              <a:sym typeface="Open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4"/>
          <p:cNvSpPr txBox="1"/>
          <p:nvPr>
            <p:ph type="title"/>
          </p:nvPr>
        </p:nvSpPr>
        <p:spPr>
          <a:xfrm>
            <a:off x="252175" y="445025"/>
            <a:ext cx="8952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Memory &amp; Bus Architecture</a:t>
            </a:r>
            <a:endParaRPr/>
          </a:p>
        </p:txBody>
      </p:sp>
      <p:sp>
        <p:nvSpPr>
          <p:cNvPr id="169" name="Google Shape;169;p14"/>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fontScale="32500" lnSpcReduction="20000"/>
          </a:bodyPr>
          <a:lstStyle/>
          <a:p>
            <a:pPr indent="-329816" lvl="0" marL="457200" rtl="0" algn="l">
              <a:lnSpc>
                <a:spcPct val="115000"/>
              </a:lnSpc>
              <a:spcBef>
                <a:spcPts val="0"/>
              </a:spcBef>
              <a:spcAft>
                <a:spcPts val="0"/>
              </a:spcAft>
              <a:buSzPct val="100000"/>
              <a:buChar char="●"/>
            </a:pPr>
            <a:r>
              <a:rPr b="1" lang="en" sz="4900"/>
              <a:t>I-bus: </a:t>
            </a:r>
            <a:r>
              <a:rPr lang="en" sz="4900"/>
              <a:t>This bus connects the Instruction bus of the Cortex M4 with FPU core to the Bus Matrix. This bus is used by the core to fetch instructions.</a:t>
            </a:r>
            <a:endParaRPr sz="4900"/>
          </a:p>
          <a:p>
            <a:pPr indent="0" lvl="0" marL="457200" rtl="0" algn="l">
              <a:lnSpc>
                <a:spcPct val="115000"/>
              </a:lnSpc>
              <a:spcBef>
                <a:spcPts val="1200"/>
              </a:spcBef>
              <a:spcAft>
                <a:spcPts val="0"/>
              </a:spcAft>
              <a:buSzPct val="113029"/>
              <a:buNone/>
            </a:pPr>
            <a:r>
              <a:t/>
            </a:r>
            <a:endParaRPr sz="4900"/>
          </a:p>
          <a:p>
            <a:pPr indent="-329816" lvl="0" marL="457200" rtl="0" algn="l">
              <a:lnSpc>
                <a:spcPct val="115000"/>
              </a:lnSpc>
              <a:spcBef>
                <a:spcPts val="1200"/>
              </a:spcBef>
              <a:spcAft>
                <a:spcPts val="0"/>
              </a:spcAft>
              <a:buSzPct val="100000"/>
              <a:buChar char="●"/>
            </a:pPr>
            <a:r>
              <a:rPr b="1" lang="en" sz="4900"/>
              <a:t>D-bus: </a:t>
            </a:r>
            <a:r>
              <a:rPr lang="en" sz="4900"/>
              <a:t>This bus connects the databus of the Cortex M4 with FPU core to the Bus Matrix. This bus is used by the core for literal load and debug access. The target of this bus is a memory containing code or data.</a:t>
            </a:r>
            <a:endParaRPr sz="4900"/>
          </a:p>
          <a:p>
            <a:pPr indent="0" lvl="0" marL="457200" rtl="0" algn="l">
              <a:lnSpc>
                <a:spcPct val="115000"/>
              </a:lnSpc>
              <a:spcBef>
                <a:spcPts val="1200"/>
              </a:spcBef>
              <a:spcAft>
                <a:spcPts val="0"/>
              </a:spcAft>
              <a:buSzPct val="113029"/>
              <a:buNone/>
            </a:pPr>
            <a:r>
              <a:t/>
            </a:r>
            <a:endParaRPr sz="4900"/>
          </a:p>
          <a:p>
            <a:pPr indent="-329816" lvl="0" marL="457200" rtl="0" algn="l">
              <a:lnSpc>
                <a:spcPct val="115000"/>
              </a:lnSpc>
              <a:spcBef>
                <a:spcPts val="1200"/>
              </a:spcBef>
              <a:spcAft>
                <a:spcPts val="0"/>
              </a:spcAft>
              <a:buSzPct val="100000"/>
              <a:buChar char="●"/>
            </a:pPr>
            <a:r>
              <a:rPr b="1" lang="en" sz="4900"/>
              <a:t>S-bus:</a:t>
            </a:r>
            <a:r>
              <a:rPr lang="en" sz="4900"/>
              <a:t> This bus connects the system bus of the Cortex M4 with FPU core to the Bus Matrix. This bus is used to access data located in a peripheral or in SRAM. Instructions may also be fetch on this bus (less efficient than I-bus). </a:t>
            </a:r>
            <a:endParaRPr/>
          </a:p>
        </p:txBody>
      </p:sp>
      <p:pic>
        <p:nvPicPr>
          <p:cNvPr id="170" name="Google Shape;170;p14"/>
          <p:cNvPicPr preferRelativeResize="0"/>
          <p:nvPr/>
        </p:nvPicPr>
        <p:blipFill rotWithShape="1">
          <a:blip r:embed="rId3">
            <a:alphaModFix/>
          </a:blip>
          <a:srcRect b="0" l="0" r="0" t="0"/>
          <a:stretch/>
        </p:blipFill>
        <p:spPr>
          <a:xfrm>
            <a:off x="8054275" y="4027150"/>
            <a:ext cx="988350" cy="9883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5"/>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Memory &amp; Bus Architecture</a:t>
            </a:r>
            <a:endParaRPr/>
          </a:p>
        </p:txBody>
      </p:sp>
      <p:sp>
        <p:nvSpPr>
          <p:cNvPr id="176" name="Google Shape;176;p15"/>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p>
            <a:pPr indent="-317500" lvl="0" marL="457200" rtl="0" algn="l">
              <a:lnSpc>
                <a:spcPct val="115000"/>
              </a:lnSpc>
              <a:spcBef>
                <a:spcPts val="0"/>
              </a:spcBef>
              <a:spcAft>
                <a:spcPts val="0"/>
              </a:spcAft>
              <a:buSzPts val="1400"/>
              <a:buChar char="●"/>
            </a:pPr>
            <a:r>
              <a:rPr b="1" lang="en" sz="1400"/>
              <a:t>DMA, Flash MEM, External MEM, SRAM</a:t>
            </a:r>
            <a:endParaRPr b="1" sz="1400"/>
          </a:p>
          <a:p>
            <a:pPr indent="-317500" lvl="0" marL="457200" rtl="0" algn="l">
              <a:lnSpc>
                <a:spcPct val="115000"/>
              </a:lnSpc>
              <a:spcBef>
                <a:spcPts val="0"/>
              </a:spcBef>
              <a:spcAft>
                <a:spcPts val="0"/>
              </a:spcAft>
              <a:buSzPts val="1400"/>
              <a:buChar char="●"/>
            </a:pPr>
            <a:r>
              <a:rPr b="1" lang="en" sz="1400"/>
              <a:t>AHB Bus Matrix</a:t>
            </a:r>
            <a:endParaRPr b="1" sz="1400"/>
          </a:p>
          <a:p>
            <a:pPr indent="-317500" lvl="0" marL="457200" rtl="0" algn="l">
              <a:lnSpc>
                <a:spcPct val="115000"/>
              </a:lnSpc>
              <a:spcBef>
                <a:spcPts val="0"/>
              </a:spcBef>
              <a:spcAft>
                <a:spcPts val="0"/>
              </a:spcAft>
              <a:buSzPts val="1400"/>
              <a:buChar char="●"/>
            </a:pPr>
            <a:r>
              <a:rPr b="1" lang="en" sz="1400"/>
              <a:t>APB Buses:</a:t>
            </a:r>
            <a:r>
              <a:rPr lang="en" sz="1400"/>
              <a:t> The two APB bridges, APB1 and APB2, provide full synchronous connections between the AHB and the two APB buses, allowing flexible selection of the peripheral frequency. After each device reset, all peripheral clocks are disabled (except for the SRAM and Flash memory interface). Before using a peripheral you have to enable its clock in the RCC_AHBxENR or RCC_APBxENR register.</a:t>
            </a:r>
            <a:endParaRPr sz="1400"/>
          </a:p>
          <a:p>
            <a:pPr indent="0" lvl="0" marL="457200" rtl="0" algn="l">
              <a:lnSpc>
                <a:spcPct val="115000"/>
              </a:lnSpc>
              <a:spcBef>
                <a:spcPts val="1200"/>
              </a:spcBef>
              <a:spcAft>
                <a:spcPts val="1200"/>
              </a:spcAft>
              <a:buSzPts val="1800"/>
              <a:buNone/>
            </a:pPr>
            <a:r>
              <a:t/>
            </a:r>
            <a:endParaRPr/>
          </a:p>
        </p:txBody>
      </p:sp>
      <p:pic>
        <p:nvPicPr>
          <p:cNvPr id="177" name="Google Shape;177;p15"/>
          <p:cNvPicPr preferRelativeResize="0"/>
          <p:nvPr/>
        </p:nvPicPr>
        <p:blipFill rotWithShape="1">
          <a:blip r:embed="rId3">
            <a:alphaModFix/>
          </a:blip>
          <a:srcRect b="0" l="0" r="0" t="0"/>
          <a:stretch/>
        </p:blipFill>
        <p:spPr>
          <a:xfrm>
            <a:off x="8054275" y="4027150"/>
            <a:ext cx="988350" cy="9883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6"/>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CRC &amp; RCC</a:t>
            </a:r>
            <a:endParaRPr/>
          </a:p>
        </p:txBody>
      </p:sp>
      <p:sp>
        <p:nvSpPr>
          <p:cNvPr id="183" name="Google Shape;183;p16"/>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fontScale="92500" lnSpcReduction="10000"/>
          </a:bodyPr>
          <a:lstStyle/>
          <a:p>
            <a:pPr indent="0" lvl="0" marL="0" rtl="0" algn="l">
              <a:lnSpc>
                <a:spcPct val="115000"/>
              </a:lnSpc>
              <a:spcBef>
                <a:spcPts val="0"/>
              </a:spcBef>
              <a:spcAft>
                <a:spcPts val="0"/>
              </a:spcAft>
              <a:buSzPct val="117647"/>
              <a:buNone/>
            </a:pPr>
            <a:r>
              <a:rPr b="1" lang="en">
                <a:solidFill>
                  <a:schemeClr val="accent1"/>
                </a:solidFill>
              </a:rPr>
              <a:t>Cyclic Redundancy Check (CRC)</a:t>
            </a:r>
            <a:endParaRPr b="1">
              <a:solidFill>
                <a:schemeClr val="accent1"/>
              </a:solidFill>
            </a:endParaRPr>
          </a:p>
          <a:p>
            <a:pPr indent="0" lvl="0" marL="0" rtl="0" algn="l">
              <a:lnSpc>
                <a:spcPct val="115000"/>
              </a:lnSpc>
              <a:spcBef>
                <a:spcPts val="1200"/>
              </a:spcBef>
              <a:spcAft>
                <a:spcPts val="0"/>
              </a:spcAft>
              <a:buSzPct val="117647"/>
              <a:buNone/>
            </a:pPr>
            <a:r>
              <a:rPr lang="en"/>
              <a:t>The CRC calculation unit is used to get a CRC code from a 32-bit data word and a fixed generator polynomial. Among other applications, CRC-based techniques are used to verify data transmission or storage integrity.</a:t>
            </a:r>
            <a:endParaRPr/>
          </a:p>
          <a:p>
            <a:pPr indent="0" lvl="0" marL="0" rtl="0" algn="l">
              <a:lnSpc>
                <a:spcPct val="115000"/>
              </a:lnSpc>
              <a:spcBef>
                <a:spcPts val="1200"/>
              </a:spcBef>
              <a:spcAft>
                <a:spcPts val="0"/>
              </a:spcAft>
              <a:buSzPct val="117647"/>
              <a:buNone/>
            </a:pPr>
            <a:r>
              <a:rPr b="1" lang="en">
                <a:solidFill>
                  <a:schemeClr val="accent1"/>
                </a:solidFill>
              </a:rPr>
              <a:t>Reset and Clock Control (RCC)</a:t>
            </a:r>
            <a:endParaRPr b="1">
              <a:solidFill>
                <a:schemeClr val="accent1"/>
              </a:solidFill>
            </a:endParaRPr>
          </a:p>
          <a:p>
            <a:pPr indent="0" lvl="0" marL="0" rtl="0" algn="l">
              <a:lnSpc>
                <a:spcPct val="115000"/>
              </a:lnSpc>
              <a:spcBef>
                <a:spcPts val="1200"/>
              </a:spcBef>
              <a:spcAft>
                <a:spcPts val="0"/>
              </a:spcAft>
              <a:buSzPct val="117647"/>
              <a:buNone/>
            </a:pPr>
            <a:r>
              <a:rPr lang="en"/>
              <a:t>There are three types of reset</a:t>
            </a:r>
            <a:endParaRPr/>
          </a:p>
          <a:p>
            <a:pPr indent="-325755" lvl="0" marL="457200" rtl="0" algn="l">
              <a:lnSpc>
                <a:spcPct val="115000"/>
              </a:lnSpc>
              <a:spcBef>
                <a:spcPts val="1200"/>
              </a:spcBef>
              <a:spcAft>
                <a:spcPts val="0"/>
              </a:spcAft>
              <a:buSzPct val="100000"/>
              <a:buAutoNum type="arabicPeriod"/>
            </a:pPr>
            <a:r>
              <a:rPr lang="en"/>
              <a:t>System Reset</a:t>
            </a:r>
            <a:endParaRPr/>
          </a:p>
          <a:p>
            <a:pPr indent="-325755" lvl="0" marL="457200" rtl="0" algn="l">
              <a:lnSpc>
                <a:spcPct val="115000"/>
              </a:lnSpc>
              <a:spcBef>
                <a:spcPts val="0"/>
              </a:spcBef>
              <a:spcAft>
                <a:spcPts val="0"/>
              </a:spcAft>
              <a:buSzPct val="100000"/>
              <a:buAutoNum type="arabicPeriod"/>
            </a:pPr>
            <a:r>
              <a:rPr lang="en"/>
              <a:t>Power Reset </a:t>
            </a:r>
            <a:endParaRPr/>
          </a:p>
          <a:p>
            <a:pPr indent="-325755" lvl="0" marL="457200" rtl="0" algn="l">
              <a:lnSpc>
                <a:spcPct val="115000"/>
              </a:lnSpc>
              <a:spcBef>
                <a:spcPts val="0"/>
              </a:spcBef>
              <a:spcAft>
                <a:spcPts val="0"/>
              </a:spcAft>
              <a:buSzPct val="100000"/>
              <a:buAutoNum type="arabicPeriod"/>
            </a:pPr>
            <a:r>
              <a:rPr lang="en"/>
              <a:t>Backup domain Reset</a:t>
            </a:r>
            <a:endParaRPr/>
          </a:p>
          <a:p>
            <a:pPr indent="0" lvl="0" marL="0" rtl="0" algn="l">
              <a:lnSpc>
                <a:spcPct val="115000"/>
              </a:lnSpc>
              <a:spcBef>
                <a:spcPts val="1200"/>
              </a:spcBef>
              <a:spcAft>
                <a:spcPts val="1200"/>
              </a:spcAft>
              <a:buSzPct val="117647"/>
              <a:buNone/>
            </a:pPr>
            <a:r>
              <a:t/>
            </a:r>
            <a:endParaRPr b="1">
              <a:solidFill>
                <a:schemeClr val="accent1"/>
              </a:solidFill>
            </a:endParaRPr>
          </a:p>
        </p:txBody>
      </p:sp>
      <p:pic>
        <p:nvPicPr>
          <p:cNvPr id="184" name="Google Shape;184;p16"/>
          <p:cNvPicPr preferRelativeResize="0"/>
          <p:nvPr/>
        </p:nvPicPr>
        <p:blipFill rotWithShape="1">
          <a:blip r:embed="rId3">
            <a:alphaModFix/>
          </a:blip>
          <a:srcRect b="0" l="0" r="0" t="0"/>
          <a:stretch/>
        </p:blipFill>
        <p:spPr>
          <a:xfrm>
            <a:off x="8054275" y="4027150"/>
            <a:ext cx="988350" cy="9883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43"/>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48148"/>
              <a:buNone/>
            </a:pPr>
            <a:r>
              <a:rPr lang="en" sz="2700"/>
              <a:t>To use different I/O ports, NEED TO CONFIGURE DIFFERENT REGISTERS</a:t>
            </a:r>
            <a:r>
              <a:rPr lang="en"/>
              <a:t> </a:t>
            </a:r>
            <a:endParaRPr/>
          </a:p>
        </p:txBody>
      </p:sp>
      <p:sp>
        <p:nvSpPr>
          <p:cNvPr id="190" name="Google Shape;190;p43"/>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RCC AHB Peripheral Clock Enable Register</a:t>
            </a:r>
            <a:endParaRPr/>
          </a:p>
          <a:p>
            <a:pPr indent="-342900" lvl="0" marL="457200" rtl="0" algn="l">
              <a:lnSpc>
                <a:spcPct val="115000"/>
              </a:lnSpc>
              <a:spcBef>
                <a:spcPts val="0"/>
              </a:spcBef>
              <a:spcAft>
                <a:spcPts val="0"/>
              </a:spcAft>
              <a:buSzPts val="1800"/>
              <a:buChar char="●"/>
            </a:pPr>
            <a:r>
              <a:rPr lang="en"/>
              <a:t>GPIO Registers</a:t>
            </a:r>
            <a:endParaRPr/>
          </a:p>
          <a:p>
            <a:pPr indent="-317500" lvl="1" marL="914400" rtl="0" algn="l">
              <a:lnSpc>
                <a:spcPct val="115000"/>
              </a:lnSpc>
              <a:spcBef>
                <a:spcPts val="0"/>
              </a:spcBef>
              <a:spcAft>
                <a:spcPts val="0"/>
              </a:spcAft>
              <a:buSzPts val="1400"/>
              <a:buChar char="○"/>
            </a:pPr>
            <a:r>
              <a:rPr lang="en"/>
              <a:t>Four configuration registers </a:t>
            </a:r>
            <a:endParaRPr/>
          </a:p>
          <a:p>
            <a:pPr indent="-317500" lvl="1" marL="914400" rtl="0" algn="l">
              <a:lnSpc>
                <a:spcPct val="115000"/>
              </a:lnSpc>
              <a:spcBef>
                <a:spcPts val="0"/>
              </a:spcBef>
              <a:spcAft>
                <a:spcPts val="0"/>
              </a:spcAft>
              <a:buSzPts val="1400"/>
              <a:buChar char="○"/>
            </a:pPr>
            <a:r>
              <a:rPr lang="en"/>
              <a:t>Two data registers </a:t>
            </a:r>
            <a:endParaRPr/>
          </a:p>
          <a:p>
            <a:pPr indent="-317500" lvl="1" marL="914400" rtl="0" algn="l">
              <a:lnSpc>
                <a:spcPct val="115000"/>
              </a:lnSpc>
              <a:spcBef>
                <a:spcPts val="0"/>
              </a:spcBef>
              <a:spcAft>
                <a:spcPts val="0"/>
              </a:spcAft>
              <a:buSzPts val="1400"/>
              <a:buChar char="○"/>
            </a:pPr>
            <a:r>
              <a:rPr lang="en"/>
              <a:t>Set/reset register</a:t>
            </a:r>
            <a:endParaRPr/>
          </a:p>
          <a:p>
            <a:pPr indent="-317500" lvl="1" marL="914400" rtl="0" algn="l">
              <a:lnSpc>
                <a:spcPct val="115000"/>
              </a:lnSpc>
              <a:spcBef>
                <a:spcPts val="0"/>
              </a:spcBef>
              <a:spcAft>
                <a:spcPts val="0"/>
              </a:spcAft>
              <a:buSzPts val="1400"/>
              <a:buChar char="○"/>
            </a:pPr>
            <a:r>
              <a:rPr lang="en"/>
              <a:t>Locking register</a:t>
            </a:r>
            <a:endParaRPr/>
          </a:p>
          <a:p>
            <a:pPr indent="-317500" lvl="1" marL="914400" rtl="0" algn="l">
              <a:lnSpc>
                <a:spcPct val="115000"/>
              </a:lnSpc>
              <a:spcBef>
                <a:spcPts val="0"/>
              </a:spcBef>
              <a:spcAft>
                <a:spcPts val="0"/>
              </a:spcAft>
              <a:buSzPts val="1400"/>
              <a:buChar char="○"/>
            </a:pPr>
            <a:r>
              <a:rPr lang="en"/>
              <a:t>Two alternate function selection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grpSp>
        <p:nvGrpSpPr>
          <p:cNvPr id="195" name="Google Shape;195;p44"/>
          <p:cNvGrpSpPr/>
          <p:nvPr/>
        </p:nvGrpSpPr>
        <p:grpSpPr>
          <a:xfrm>
            <a:off x="58229" y="334573"/>
            <a:ext cx="8890518" cy="4384129"/>
            <a:chOff x="4889" y="334573"/>
            <a:chExt cx="8890518" cy="4384129"/>
          </a:xfrm>
        </p:grpSpPr>
        <p:sp>
          <p:nvSpPr>
            <p:cNvPr id="196" name="Google Shape;196;p44"/>
            <p:cNvSpPr/>
            <p:nvPr/>
          </p:nvSpPr>
          <p:spPr>
            <a:xfrm>
              <a:off x="7398420" y="1608937"/>
              <a:ext cx="498900" cy="237600"/>
            </a:xfrm>
            <a:custGeom>
              <a:rect b="b" l="l" r="r" t="t"/>
              <a:pathLst>
                <a:path extrusionOk="0" h="120000" w="120000">
                  <a:moveTo>
                    <a:pt x="0" y="0"/>
                  </a:moveTo>
                  <a:lnTo>
                    <a:pt x="0" y="81777"/>
                  </a:lnTo>
                  <a:lnTo>
                    <a:pt x="120000" y="81777"/>
                  </a:lnTo>
                  <a:lnTo>
                    <a:pt x="120000" y="120000"/>
                  </a:lnTo>
                </a:path>
              </a:pathLst>
            </a:custGeom>
            <a:noFill/>
            <a:ln cap="flat" cmpd="sng" w="25400">
              <a:solidFill>
                <a:srgbClr val="D76100"/>
              </a:solidFill>
              <a:prstDash val="solid"/>
              <a:round/>
              <a:headEnd len="sm" w="sm" type="none"/>
              <a:tailEnd len="sm" w="sm" type="none"/>
            </a:ln>
          </p:spPr>
        </p:sp>
        <p:sp>
          <p:nvSpPr>
            <p:cNvPr id="197" name="Google Shape;197;p44"/>
            <p:cNvSpPr/>
            <p:nvPr/>
          </p:nvSpPr>
          <p:spPr>
            <a:xfrm>
              <a:off x="6899470" y="2364846"/>
              <a:ext cx="1497000" cy="237600"/>
            </a:xfrm>
            <a:custGeom>
              <a:rect b="b" l="l" r="r" t="t"/>
              <a:pathLst>
                <a:path extrusionOk="0" h="120000" w="120000">
                  <a:moveTo>
                    <a:pt x="0" y="0"/>
                  </a:moveTo>
                  <a:lnTo>
                    <a:pt x="0" y="81777"/>
                  </a:lnTo>
                  <a:lnTo>
                    <a:pt x="120000" y="81777"/>
                  </a:lnTo>
                  <a:lnTo>
                    <a:pt x="120000" y="120000"/>
                  </a:lnTo>
                </a:path>
              </a:pathLst>
            </a:custGeom>
            <a:noFill/>
            <a:ln cap="flat" cmpd="sng" w="25400">
              <a:solidFill>
                <a:srgbClr val="D76100"/>
              </a:solidFill>
              <a:prstDash val="solid"/>
              <a:round/>
              <a:headEnd len="sm" w="sm" type="none"/>
              <a:tailEnd len="sm" w="sm" type="none"/>
            </a:ln>
          </p:spPr>
        </p:sp>
        <p:sp>
          <p:nvSpPr>
            <p:cNvPr id="198" name="Google Shape;198;p44"/>
            <p:cNvSpPr/>
            <p:nvPr/>
          </p:nvSpPr>
          <p:spPr>
            <a:xfrm>
              <a:off x="6899470" y="2364846"/>
              <a:ext cx="498900" cy="237600"/>
            </a:xfrm>
            <a:custGeom>
              <a:rect b="b" l="l" r="r" t="t"/>
              <a:pathLst>
                <a:path extrusionOk="0" h="120000" w="120000">
                  <a:moveTo>
                    <a:pt x="0" y="0"/>
                  </a:moveTo>
                  <a:lnTo>
                    <a:pt x="0" y="81777"/>
                  </a:lnTo>
                  <a:lnTo>
                    <a:pt x="120000" y="81777"/>
                  </a:lnTo>
                  <a:lnTo>
                    <a:pt x="120000" y="120000"/>
                  </a:lnTo>
                </a:path>
              </a:pathLst>
            </a:custGeom>
            <a:noFill/>
            <a:ln cap="flat" cmpd="sng" w="25400">
              <a:solidFill>
                <a:srgbClr val="D76100"/>
              </a:solidFill>
              <a:prstDash val="solid"/>
              <a:round/>
              <a:headEnd len="sm" w="sm" type="none"/>
              <a:tailEnd len="sm" w="sm" type="none"/>
            </a:ln>
          </p:spPr>
        </p:sp>
        <p:sp>
          <p:nvSpPr>
            <p:cNvPr id="199" name="Google Shape;199;p44"/>
            <p:cNvSpPr/>
            <p:nvPr/>
          </p:nvSpPr>
          <p:spPr>
            <a:xfrm>
              <a:off x="6400520" y="2364846"/>
              <a:ext cx="498900" cy="237600"/>
            </a:xfrm>
            <a:custGeom>
              <a:rect b="b" l="l" r="r" t="t"/>
              <a:pathLst>
                <a:path extrusionOk="0" h="120000" w="120000">
                  <a:moveTo>
                    <a:pt x="120000" y="0"/>
                  </a:moveTo>
                  <a:lnTo>
                    <a:pt x="120000" y="81777"/>
                  </a:lnTo>
                  <a:lnTo>
                    <a:pt x="0" y="81777"/>
                  </a:lnTo>
                  <a:lnTo>
                    <a:pt x="0" y="120000"/>
                  </a:lnTo>
                </a:path>
              </a:pathLst>
            </a:custGeom>
            <a:noFill/>
            <a:ln cap="flat" cmpd="sng" w="25400">
              <a:solidFill>
                <a:srgbClr val="D76100"/>
              </a:solidFill>
              <a:prstDash val="solid"/>
              <a:round/>
              <a:headEnd len="sm" w="sm" type="none"/>
              <a:tailEnd len="sm" w="sm" type="none"/>
            </a:ln>
          </p:spPr>
        </p:sp>
        <p:sp>
          <p:nvSpPr>
            <p:cNvPr id="200" name="Google Shape;200;p44"/>
            <p:cNvSpPr/>
            <p:nvPr/>
          </p:nvSpPr>
          <p:spPr>
            <a:xfrm>
              <a:off x="5402620" y="2364846"/>
              <a:ext cx="1497000" cy="237600"/>
            </a:xfrm>
            <a:custGeom>
              <a:rect b="b" l="l" r="r" t="t"/>
              <a:pathLst>
                <a:path extrusionOk="0" h="120000" w="120000">
                  <a:moveTo>
                    <a:pt x="120000" y="0"/>
                  </a:moveTo>
                  <a:lnTo>
                    <a:pt x="120000" y="81777"/>
                  </a:lnTo>
                  <a:lnTo>
                    <a:pt x="0" y="81777"/>
                  </a:lnTo>
                  <a:lnTo>
                    <a:pt x="0" y="120000"/>
                  </a:lnTo>
                </a:path>
              </a:pathLst>
            </a:custGeom>
            <a:noFill/>
            <a:ln cap="flat" cmpd="sng" w="25400">
              <a:solidFill>
                <a:srgbClr val="D76100"/>
              </a:solidFill>
              <a:prstDash val="solid"/>
              <a:round/>
              <a:headEnd len="sm" w="sm" type="none"/>
              <a:tailEnd len="sm" w="sm" type="none"/>
            </a:ln>
          </p:spPr>
        </p:sp>
        <p:sp>
          <p:nvSpPr>
            <p:cNvPr id="201" name="Google Shape;201;p44"/>
            <p:cNvSpPr/>
            <p:nvPr/>
          </p:nvSpPr>
          <p:spPr>
            <a:xfrm>
              <a:off x="6899470" y="1608937"/>
              <a:ext cx="498900" cy="237600"/>
            </a:xfrm>
            <a:custGeom>
              <a:rect b="b" l="l" r="r" t="t"/>
              <a:pathLst>
                <a:path extrusionOk="0" h="120000" w="120000">
                  <a:moveTo>
                    <a:pt x="120000" y="0"/>
                  </a:moveTo>
                  <a:lnTo>
                    <a:pt x="120000" y="81777"/>
                  </a:lnTo>
                  <a:lnTo>
                    <a:pt x="0" y="81777"/>
                  </a:lnTo>
                  <a:lnTo>
                    <a:pt x="0" y="120000"/>
                  </a:lnTo>
                </a:path>
              </a:pathLst>
            </a:custGeom>
            <a:noFill/>
            <a:ln cap="flat" cmpd="sng" w="25400">
              <a:solidFill>
                <a:srgbClr val="D76100"/>
              </a:solidFill>
              <a:prstDash val="solid"/>
              <a:round/>
              <a:headEnd len="sm" w="sm" type="none"/>
              <a:tailEnd len="sm" w="sm" type="none"/>
            </a:ln>
          </p:spPr>
        </p:sp>
        <p:sp>
          <p:nvSpPr>
            <p:cNvPr id="202" name="Google Shape;202;p44"/>
            <p:cNvSpPr/>
            <p:nvPr/>
          </p:nvSpPr>
          <p:spPr>
            <a:xfrm>
              <a:off x="4903670" y="853027"/>
              <a:ext cx="2494800" cy="237600"/>
            </a:xfrm>
            <a:custGeom>
              <a:rect b="b" l="l" r="r" t="t"/>
              <a:pathLst>
                <a:path extrusionOk="0" h="120000" w="120000">
                  <a:moveTo>
                    <a:pt x="0" y="0"/>
                  </a:moveTo>
                  <a:lnTo>
                    <a:pt x="0" y="81777"/>
                  </a:lnTo>
                  <a:lnTo>
                    <a:pt x="120000" y="81777"/>
                  </a:lnTo>
                  <a:lnTo>
                    <a:pt x="120000" y="120000"/>
                  </a:lnTo>
                </a:path>
              </a:pathLst>
            </a:custGeom>
            <a:noFill/>
            <a:ln cap="flat" cmpd="sng" w="25400">
              <a:solidFill>
                <a:srgbClr val="BD5500"/>
              </a:solidFill>
              <a:prstDash val="solid"/>
              <a:round/>
              <a:headEnd len="sm" w="sm" type="none"/>
              <a:tailEnd len="sm" w="sm" type="none"/>
            </a:ln>
          </p:spPr>
        </p:sp>
        <p:sp>
          <p:nvSpPr>
            <p:cNvPr id="203" name="Google Shape;203;p44"/>
            <p:cNvSpPr/>
            <p:nvPr/>
          </p:nvSpPr>
          <p:spPr>
            <a:xfrm>
              <a:off x="4404720" y="3120755"/>
              <a:ext cx="498900" cy="237600"/>
            </a:xfrm>
            <a:custGeom>
              <a:rect b="b" l="l" r="r" t="t"/>
              <a:pathLst>
                <a:path extrusionOk="0" h="120000" w="120000">
                  <a:moveTo>
                    <a:pt x="0" y="0"/>
                  </a:moveTo>
                  <a:lnTo>
                    <a:pt x="0" y="81777"/>
                  </a:lnTo>
                  <a:lnTo>
                    <a:pt x="120000" y="81777"/>
                  </a:lnTo>
                  <a:lnTo>
                    <a:pt x="120000" y="120000"/>
                  </a:lnTo>
                </a:path>
              </a:pathLst>
            </a:custGeom>
            <a:noFill/>
            <a:ln cap="flat" cmpd="sng" w="25400">
              <a:solidFill>
                <a:srgbClr val="D76100"/>
              </a:solidFill>
              <a:prstDash val="solid"/>
              <a:round/>
              <a:headEnd len="sm" w="sm" type="none"/>
              <a:tailEnd len="sm" w="sm" type="none"/>
            </a:ln>
          </p:spPr>
        </p:sp>
        <p:sp>
          <p:nvSpPr>
            <p:cNvPr id="204" name="Google Shape;204;p44"/>
            <p:cNvSpPr/>
            <p:nvPr/>
          </p:nvSpPr>
          <p:spPr>
            <a:xfrm>
              <a:off x="3905770" y="3876664"/>
              <a:ext cx="997800" cy="237600"/>
            </a:xfrm>
            <a:custGeom>
              <a:rect b="b" l="l" r="r" t="t"/>
              <a:pathLst>
                <a:path extrusionOk="0" h="120000" w="120000">
                  <a:moveTo>
                    <a:pt x="0" y="0"/>
                  </a:moveTo>
                  <a:lnTo>
                    <a:pt x="0" y="81777"/>
                  </a:lnTo>
                  <a:lnTo>
                    <a:pt x="120000" y="81777"/>
                  </a:lnTo>
                  <a:lnTo>
                    <a:pt x="120000" y="120000"/>
                  </a:lnTo>
                </a:path>
              </a:pathLst>
            </a:custGeom>
            <a:noFill/>
            <a:ln cap="flat" cmpd="sng" w="25400">
              <a:solidFill>
                <a:srgbClr val="D76100"/>
              </a:solidFill>
              <a:prstDash val="solid"/>
              <a:round/>
              <a:headEnd len="sm" w="sm" type="none"/>
              <a:tailEnd len="sm" w="sm" type="none"/>
            </a:ln>
          </p:spPr>
        </p:sp>
        <p:sp>
          <p:nvSpPr>
            <p:cNvPr id="205" name="Google Shape;205;p44"/>
            <p:cNvSpPr/>
            <p:nvPr/>
          </p:nvSpPr>
          <p:spPr>
            <a:xfrm>
              <a:off x="3860050" y="3876664"/>
              <a:ext cx="91500" cy="237600"/>
            </a:xfrm>
            <a:custGeom>
              <a:rect b="b" l="l" r="r" t="t"/>
              <a:pathLst>
                <a:path extrusionOk="0" h="120000" w="120000">
                  <a:moveTo>
                    <a:pt x="60000" y="0"/>
                  </a:moveTo>
                  <a:lnTo>
                    <a:pt x="60000" y="120000"/>
                  </a:lnTo>
                </a:path>
              </a:pathLst>
            </a:custGeom>
            <a:noFill/>
            <a:ln cap="flat" cmpd="sng" w="25400">
              <a:solidFill>
                <a:srgbClr val="D76100"/>
              </a:solidFill>
              <a:prstDash val="solid"/>
              <a:round/>
              <a:headEnd len="sm" w="sm" type="none"/>
              <a:tailEnd len="sm" w="sm" type="none"/>
            </a:ln>
          </p:spPr>
        </p:sp>
        <p:sp>
          <p:nvSpPr>
            <p:cNvPr id="206" name="Google Shape;206;p44"/>
            <p:cNvSpPr/>
            <p:nvPr/>
          </p:nvSpPr>
          <p:spPr>
            <a:xfrm>
              <a:off x="2907870" y="3876664"/>
              <a:ext cx="997800" cy="237600"/>
            </a:xfrm>
            <a:custGeom>
              <a:rect b="b" l="l" r="r" t="t"/>
              <a:pathLst>
                <a:path extrusionOk="0" h="120000" w="120000">
                  <a:moveTo>
                    <a:pt x="120000" y="0"/>
                  </a:moveTo>
                  <a:lnTo>
                    <a:pt x="120000" y="81777"/>
                  </a:lnTo>
                  <a:lnTo>
                    <a:pt x="0" y="81777"/>
                  </a:lnTo>
                  <a:lnTo>
                    <a:pt x="0" y="120000"/>
                  </a:lnTo>
                </a:path>
              </a:pathLst>
            </a:custGeom>
            <a:noFill/>
            <a:ln cap="flat" cmpd="sng" w="25400">
              <a:solidFill>
                <a:srgbClr val="D76100"/>
              </a:solidFill>
              <a:prstDash val="solid"/>
              <a:round/>
              <a:headEnd len="sm" w="sm" type="none"/>
              <a:tailEnd len="sm" w="sm" type="none"/>
            </a:ln>
          </p:spPr>
        </p:sp>
        <p:sp>
          <p:nvSpPr>
            <p:cNvPr id="207" name="Google Shape;207;p44"/>
            <p:cNvSpPr/>
            <p:nvPr/>
          </p:nvSpPr>
          <p:spPr>
            <a:xfrm>
              <a:off x="3905770" y="3120755"/>
              <a:ext cx="498900" cy="237600"/>
            </a:xfrm>
            <a:custGeom>
              <a:rect b="b" l="l" r="r" t="t"/>
              <a:pathLst>
                <a:path extrusionOk="0" h="120000" w="120000">
                  <a:moveTo>
                    <a:pt x="120000" y="0"/>
                  </a:moveTo>
                  <a:lnTo>
                    <a:pt x="120000" y="81777"/>
                  </a:lnTo>
                  <a:lnTo>
                    <a:pt x="0" y="81777"/>
                  </a:lnTo>
                  <a:lnTo>
                    <a:pt x="0" y="120000"/>
                  </a:lnTo>
                </a:path>
              </a:pathLst>
            </a:custGeom>
            <a:noFill/>
            <a:ln cap="flat" cmpd="sng" w="25400">
              <a:solidFill>
                <a:srgbClr val="D76100"/>
              </a:solidFill>
              <a:prstDash val="solid"/>
              <a:round/>
              <a:headEnd len="sm" w="sm" type="none"/>
              <a:tailEnd len="sm" w="sm" type="none"/>
            </a:ln>
          </p:spPr>
        </p:sp>
        <p:sp>
          <p:nvSpPr>
            <p:cNvPr id="208" name="Google Shape;208;p44"/>
            <p:cNvSpPr/>
            <p:nvPr/>
          </p:nvSpPr>
          <p:spPr>
            <a:xfrm>
              <a:off x="4359000" y="2364846"/>
              <a:ext cx="91500" cy="237600"/>
            </a:xfrm>
            <a:custGeom>
              <a:rect b="b" l="l" r="r" t="t"/>
              <a:pathLst>
                <a:path extrusionOk="0" h="120000" w="120000">
                  <a:moveTo>
                    <a:pt x="60000" y="0"/>
                  </a:moveTo>
                  <a:lnTo>
                    <a:pt x="60000" y="120000"/>
                  </a:lnTo>
                </a:path>
              </a:pathLst>
            </a:custGeom>
            <a:noFill/>
            <a:ln cap="flat" cmpd="sng" w="25400">
              <a:solidFill>
                <a:srgbClr val="D76100"/>
              </a:solidFill>
              <a:prstDash val="solid"/>
              <a:round/>
              <a:headEnd len="sm" w="sm" type="none"/>
              <a:tailEnd len="sm" w="sm" type="none"/>
            </a:ln>
          </p:spPr>
        </p:sp>
        <p:sp>
          <p:nvSpPr>
            <p:cNvPr id="209" name="Google Shape;209;p44"/>
            <p:cNvSpPr/>
            <p:nvPr/>
          </p:nvSpPr>
          <p:spPr>
            <a:xfrm>
              <a:off x="4359000" y="1608937"/>
              <a:ext cx="91500" cy="237600"/>
            </a:xfrm>
            <a:custGeom>
              <a:rect b="b" l="l" r="r" t="t"/>
              <a:pathLst>
                <a:path extrusionOk="0" h="120000" w="120000">
                  <a:moveTo>
                    <a:pt x="60000" y="0"/>
                  </a:moveTo>
                  <a:lnTo>
                    <a:pt x="60000" y="120000"/>
                  </a:lnTo>
                </a:path>
              </a:pathLst>
            </a:custGeom>
            <a:noFill/>
            <a:ln cap="flat" cmpd="sng" w="25400">
              <a:solidFill>
                <a:srgbClr val="D76100"/>
              </a:solidFill>
              <a:prstDash val="solid"/>
              <a:round/>
              <a:headEnd len="sm" w="sm" type="none"/>
              <a:tailEnd len="sm" w="sm" type="none"/>
            </a:ln>
          </p:spPr>
        </p:sp>
        <p:sp>
          <p:nvSpPr>
            <p:cNvPr id="210" name="Google Shape;210;p44"/>
            <p:cNvSpPr/>
            <p:nvPr/>
          </p:nvSpPr>
          <p:spPr>
            <a:xfrm>
              <a:off x="4404720" y="853027"/>
              <a:ext cx="498900" cy="237600"/>
            </a:xfrm>
            <a:custGeom>
              <a:rect b="b" l="l" r="r" t="t"/>
              <a:pathLst>
                <a:path extrusionOk="0" h="120000" w="120000">
                  <a:moveTo>
                    <a:pt x="120000" y="0"/>
                  </a:moveTo>
                  <a:lnTo>
                    <a:pt x="120000" y="81777"/>
                  </a:lnTo>
                  <a:lnTo>
                    <a:pt x="0" y="81777"/>
                  </a:lnTo>
                  <a:lnTo>
                    <a:pt x="0" y="120000"/>
                  </a:lnTo>
                </a:path>
              </a:pathLst>
            </a:custGeom>
            <a:noFill/>
            <a:ln cap="flat" cmpd="sng" w="25400">
              <a:solidFill>
                <a:srgbClr val="BD5500"/>
              </a:solidFill>
              <a:prstDash val="solid"/>
              <a:round/>
              <a:headEnd len="sm" w="sm" type="none"/>
              <a:tailEnd len="sm" w="sm" type="none"/>
            </a:ln>
          </p:spPr>
        </p:sp>
        <p:sp>
          <p:nvSpPr>
            <p:cNvPr id="211" name="Google Shape;211;p44"/>
            <p:cNvSpPr/>
            <p:nvPr/>
          </p:nvSpPr>
          <p:spPr>
            <a:xfrm>
              <a:off x="2408920" y="1608937"/>
              <a:ext cx="997800" cy="237600"/>
            </a:xfrm>
            <a:custGeom>
              <a:rect b="b" l="l" r="r" t="t"/>
              <a:pathLst>
                <a:path extrusionOk="0" h="120000" w="120000">
                  <a:moveTo>
                    <a:pt x="0" y="0"/>
                  </a:moveTo>
                  <a:lnTo>
                    <a:pt x="0" y="81777"/>
                  </a:lnTo>
                  <a:lnTo>
                    <a:pt x="120000" y="81777"/>
                  </a:lnTo>
                  <a:lnTo>
                    <a:pt x="120000" y="120000"/>
                  </a:lnTo>
                </a:path>
              </a:pathLst>
            </a:custGeom>
            <a:noFill/>
            <a:ln cap="flat" cmpd="sng" w="25400">
              <a:solidFill>
                <a:srgbClr val="D76100"/>
              </a:solidFill>
              <a:prstDash val="solid"/>
              <a:round/>
              <a:headEnd len="sm" w="sm" type="none"/>
              <a:tailEnd len="sm" w="sm" type="none"/>
            </a:ln>
          </p:spPr>
        </p:sp>
        <p:sp>
          <p:nvSpPr>
            <p:cNvPr id="212" name="Google Shape;212;p44"/>
            <p:cNvSpPr/>
            <p:nvPr/>
          </p:nvSpPr>
          <p:spPr>
            <a:xfrm>
              <a:off x="2408905" y="1608927"/>
              <a:ext cx="45900" cy="193200"/>
            </a:xfrm>
            <a:custGeom>
              <a:rect b="b" l="l" r="r" t="t"/>
              <a:pathLst>
                <a:path extrusionOk="0" h="120000" w="120000">
                  <a:moveTo>
                    <a:pt x="60000" y="0"/>
                  </a:moveTo>
                  <a:lnTo>
                    <a:pt x="60000" y="120000"/>
                  </a:lnTo>
                </a:path>
              </a:pathLst>
            </a:custGeom>
            <a:noFill/>
            <a:ln cap="flat" cmpd="sng" w="25400">
              <a:solidFill>
                <a:srgbClr val="D76100"/>
              </a:solidFill>
              <a:prstDash val="solid"/>
              <a:round/>
              <a:headEnd len="sm" w="sm" type="none"/>
              <a:tailEnd len="sm" w="sm" type="none"/>
            </a:ln>
          </p:spPr>
        </p:sp>
        <p:sp>
          <p:nvSpPr>
            <p:cNvPr id="213" name="Google Shape;213;p44"/>
            <p:cNvSpPr/>
            <p:nvPr/>
          </p:nvSpPr>
          <p:spPr>
            <a:xfrm>
              <a:off x="1411020" y="2364846"/>
              <a:ext cx="997800" cy="237600"/>
            </a:xfrm>
            <a:custGeom>
              <a:rect b="b" l="l" r="r" t="t"/>
              <a:pathLst>
                <a:path extrusionOk="0" h="120000" w="120000">
                  <a:moveTo>
                    <a:pt x="0" y="0"/>
                  </a:moveTo>
                  <a:lnTo>
                    <a:pt x="0" y="81777"/>
                  </a:lnTo>
                  <a:lnTo>
                    <a:pt x="120000" y="81777"/>
                  </a:lnTo>
                  <a:lnTo>
                    <a:pt x="120000" y="120000"/>
                  </a:lnTo>
                </a:path>
              </a:pathLst>
            </a:custGeom>
            <a:noFill/>
            <a:ln cap="flat" cmpd="sng" w="25400">
              <a:solidFill>
                <a:srgbClr val="D76100"/>
              </a:solidFill>
              <a:prstDash val="solid"/>
              <a:round/>
              <a:headEnd len="sm" w="sm" type="none"/>
              <a:tailEnd len="sm" w="sm" type="none"/>
            </a:ln>
          </p:spPr>
        </p:sp>
        <p:sp>
          <p:nvSpPr>
            <p:cNvPr id="214" name="Google Shape;214;p44"/>
            <p:cNvSpPr/>
            <p:nvPr/>
          </p:nvSpPr>
          <p:spPr>
            <a:xfrm>
              <a:off x="1365300" y="2364846"/>
              <a:ext cx="91500" cy="237600"/>
            </a:xfrm>
            <a:custGeom>
              <a:rect b="b" l="l" r="r" t="t"/>
              <a:pathLst>
                <a:path extrusionOk="0" h="120000" w="120000">
                  <a:moveTo>
                    <a:pt x="60000" y="0"/>
                  </a:moveTo>
                  <a:lnTo>
                    <a:pt x="60000" y="120000"/>
                  </a:lnTo>
                </a:path>
              </a:pathLst>
            </a:custGeom>
            <a:noFill/>
            <a:ln cap="flat" cmpd="sng" w="25400">
              <a:solidFill>
                <a:srgbClr val="D76100"/>
              </a:solidFill>
              <a:prstDash val="solid"/>
              <a:round/>
              <a:headEnd len="sm" w="sm" type="none"/>
              <a:tailEnd len="sm" w="sm" type="none"/>
            </a:ln>
          </p:spPr>
        </p:sp>
        <p:sp>
          <p:nvSpPr>
            <p:cNvPr id="215" name="Google Shape;215;p44"/>
            <p:cNvSpPr/>
            <p:nvPr/>
          </p:nvSpPr>
          <p:spPr>
            <a:xfrm>
              <a:off x="413120" y="2364846"/>
              <a:ext cx="997800" cy="237600"/>
            </a:xfrm>
            <a:custGeom>
              <a:rect b="b" l="l" r="r" t="t"/>
              <a:pathLst>
                <a:path extrusionOk="0" h="120000" w="120000">
                  <a:moveTo>
                    <a:pt x="120000" y="0"/>
                  </a:moveTo>
                  <a:lnTo>
                    <a:pt x="120000" y="81777"/>
                  </a:lnTo>
                  <a:lnTo>
                    <a:pt x="0" y="81777"/>
                  </a:lnTo>
                  <a:lnTo>
                    <a:pt x="0" y="120000"/>
                  </a:lnTo>
                </a:path>
              </a:pathLst>
            </a:custGeom>
            <a:noFill/>
            <a:ln cap="flat" cmpd="sng" w="25400">
              <a:solidFill>
                <a:srgbClr val="D76100"/>
              </a:solidFill>
              <a:prstDash val="solid"/>
              <a:round/>
              <a:headEnd len="sm" w="sm" type="none"/>
              <a:tailEnd len="sm" w="sm" type="none"/>
            </a:ln>
          </p:spPr>
        </p:sp>
        <p:sp>
          <p:nvSpPr>
            <p:cNvPr id="216" name="Google Shape;216;p44"/>
            <p:cNvSpPr/>
            <p:nvPr/>
          </p:nvSpPr>
          <p:spPr>
            <a:xfrm>
              <a:off x="1411020" y="1608937"/>
              <a:ext cx="997800" cy="237600"/>
            </a:xfrm>
            <a:custGeom>
              <a:rect b="b" l="l" r="r" t="t"/>
              <a:pathLst>
                <a:path extrusionOk="0" h="120000" w="120000">
                  <a:moveTo>
                    <a:pt x="120000" y="0"/>
                  </a:moveTo>
                  <a:lnTo>
                    <a:pt x="120000" y="81777"/>
                  </a:lnTo>
                  <a:lnTo>
                    <a:pt x="0" y="81777"/>
                  </a:lnTo>
                  <a:lnTo>
                    <a:pt x="0" y="120000"/>
                  </a:lnTo>
                </a:path>
              </a:pathLst>
            </a:custGeom>
            <a:noFill/>
            <a:ln cap="flat" cmpd="sng" w="25400">
              <a:solidFill>
                <a:srgbClr val="D76100"/>
              </a:solidFill>
              <a:prstDash val="solid"/>
              <a:round/>
              <a:headEnd len="sm" w="sm" type="none"/>
              <a:tailEnd len="sm" w="sm" type="none"/>
            </a:ln>
          </p:spPr>
        </p:sp>
        <p:sp>
          <p:nvSpPr>
            <p:cNvPr id="217" name="Google Shape;217;p44"/>
            <p:cNvSpPr/>
            <p:nvPr/>
          </p:nvSpPr>
          <p:spPr>
            <a:xfrm>
              <a:off x="2408920" y="853027"/>
              <a:ext cx="2494800" cy="237600"/>
            </a:xfrm>
            <a:custGeom>
              <a:rect b="b" l="l" r="r" t="t"/>
              <a:pathLst>
                <a:path extrusionOk="0" h="120000" w="120000">
                  <a:moveTo>
                    <a:pt x="120000" y="0"/>
                  </a:moveTo>
                  <a:lnTo>
                    <a:pt x="120000" y="81777"/>
                  </a:lnTo>
                  <a:lnTo>
                    <a:pt x="0" y="81777"/>
                  </a:lnTo>
                  <a:lnTo>
                    <a:pt x="0" y="120000"/>
                  </a:lnTo>
                </a:path>
              </a:pathLst>
            </a:custGeom>
            <a:noFill/>
            <a:ln cap="flat" cmpd="sng" w="25400">
              <a:solidFill>
                <a:srgbClr val="BD5500"/>
              </a:solidFill>
              <a:prstDash val="solid"/>
              <a:round/>
              <a:headEnd len="sm" w="sm" type="none"/>
              <a:tailEnd len="sm" w="sm" type="none"/>
            </a:ln>
          </p:spPr>
        </p:sp>
        <p:sp>
          <p:nvSpPr>
            <p:cNvPr id="218" name="Google Shape;218;p44"/>
            <p:cNvSpPr/>
            <p:nvPr/>
          </p:nvSpPr>
          <p:spPr>
            <a:xfrm>
              <a:off x="4495439" y="334573"/>
              <a:ext cx="816600" cy="518400"/>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44"/>
            <p:cNvSpPr/>
            <p:nvPr/>
          </p:nvSpPr>
          <p:spPr>
            <a:xfrm>
              <a:off x="4586157" y="420755"/>
              <a:ext cx="816600" cy="518400"/>
            </a:xfrm>
            <a:prstGeom prst="roundRect">
              <a:avLst>
                <a:gd fmla="val 10000" name="adj"/>
              </a:avLst>
            </a:prstGeom>
            <a:solidFill>
              <a:schemeClr val="lt1">
                <a:alpha val="89410"/>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44"/>
            <p:cNvSpPr txBox="1"/>
            <p:nvPr/>
          </p:nvSpPr>
          <p:spPr>
            <a:xfrm>
              <a:off x="4601342" y="435940"/>
              <a:ext cx="786000" cy="488100"/>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Clr>
                  <a:srgbClr val="000000"/>
                </a:buClr>
                <a:buSzPts val="1000"/>
                <a:buFont typeface="Arial"/>
                <a:buNone/>
              </a:pPr>
              <a:r>
                <a:rPr b="1" i="0" lang="en" sz="1000" u="none" cap="none" strike="noStrike">
                  <a:solidFill>
                    <a:schemeClr val="dk2"/>
                  </a:solidFill>
                  <a:latin typeface="Arial"/>
                  <a:ea typeface="Arial"/>
                  <a:cs typeface="Arial"/>
                  <a:sym typeface="Arial"/>
                </a:rPr>
                <a:t>GPIO</a:t>
              </a:r>
              <a:endParaRPr b="1" i="0" sz="1000" u="none" cap="none" strike="noStrike">
                <a:solidFill>
                  <a:schemeClr val="dk2"/>
                </a:solidFill>
                <a:latin typeface="Arial"/>
                <a:ea typeface="Arial"/>
                <a:cs typeface="Arial"/>
                <a:sym typeface="Arial"/>
              </a:endParaRPr>
            </a:p>
          </p:txBody>
        </p:sp>
        <p:sp>
          <p:nvSpPr>
            <p:cNvPr id="221" name="Google Shape;221;p44"/>
            <p:cNvSpPr/>
            <p:nvPr/>
          </p:nvSpPr>
          <p:spPr>
            <a:xfrm>
              <a:off x="2000689" y="1090482"/>
              <a:ext cx="816600" cy="518400"/>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44"/>
            <p:cNvSpPr/>
            <p:nvPr/>
          </p:nvSpPr>
          <p:spPr>
            <a:xfrm>
              <a:off x="2091407" y="1176665"/>
              <a:ext cx="816600" cy="518400"/>
            </a:xfrm>
            <a:prstGeom prst="roundRect">
              <a:avLst>
                <a:gd fmla="val 10000" name="adj"/>
              </a:avLst>
            </a:prstGeom>
            <a:solidFill>
              <a:schemeClr val="lt1">
                <a:alpha val="89410"/>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44"/>
            <p:cNvSpPr txBox="1"/>
            <p:nvPr/>
          </p:nvSpPr>
          <p:spPr>
            <a:xfrm>
              <a:off x="2106592" y="1191850"/>
              <a:ext cx="786000" cy="488100"/>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Clr>
                  <a:srgbClr val="000000"/>
                </a:buClr>
                <a:buSzPts val="1000"/>
                <a:buFont typeface="Arial"/>
                <a:buNone/>
              </a:pPr>
              <a:r>
                <a:rPr b="1" i="0" lang="en" sz="1000" u="none" cap="none" strike="noStrike">
                  <a:solidFill>
                    <a:schemeClr val="dk2"/>
                  </a:solidFill>
                  <a:latin typeface="Arial"/>
                  <a:ea typeface="Arial"/>
                  <a:cs typeface="Arial"/>
                  <a:sym typeface="Arial"/>
                </a:rPr>
                <a:t>Input</a:t>
              </a:r>
              <a:endParaRPr b="1" i="0" sz="1000" u="none" cap="none" strike="noStrike">
                <a:solidFill>
                  <a:schemeClr val="dk2"/>
                </a:solidFill>
                <a:latin typeface="Arial"/>
                <a:ea typeface="Arial"/>
                <a:cs typeface="Arial"/>
                <a:sym typeface="Arial"/>
              </a:endParaRPr>
            </a:p>
          </p:txBody>
        </p:sp>
        <p:sp>
          <p:nvSpPr>
            <p:cNvPr id="224" name="Google Shape;224;p44"/>
            <p:cNvSpPr/>
            <p:nvPr/>
          </p:nvSpPr>
          <p:spPr>
            <a:xfrm>
              <a:off x="1002789" y="1846392"/>
              <a:ext cx="816600" cy="518400"/>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44"/>
            <p:cNvSpPr/>
            <p:nvPr/>
          </p:nvSpPr>
          <p:spPr>
            <a:xfrm>
              <a:off x="1093507" y="1932574"/>
              <a:ext cx="816600" cy="518400"/>
            </a:xfrm>
            <a:prstGeom prst="roundRect">
              <a:avLst>
                <a:gd fmla="val 10000" name="adj"/>
              </a:avLst>
            </a:prstGeom>
            <a:solidFill>
              <a:schemeClr val="lt1">
                <a:alpha val="89410"/>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44"/>
            <p:cNvSpPr txBox="1"/>
            <p:nvPr/>
          </p:nvSpPr>
          <p:spPr>
            <a:xfrm>
              <a:off x="1108692" y="1947759"/>
              <a:ext cx="786000" cy="488100"/>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Clr>
                  <a:srgbClr val="000000"/>
                </a:buClr>
                <a:buSzPts val="1000"/>
                <a:buFont typeface="Arial"/>
                <a:buNone/>
              </a:pPr>
              <a:r>
                <a:rPr b="1" i="0" lang="en" sz="1000" u="none" cap="none" strike="noStrike">
                  <a:solidFill>
                    <a:schemeClr val="dk2"/>
                  </a:solidFill>
                  <a:latin typeface="Arial"/>
                  <a:ea typeface="Arial"/>
                  <a:cs typeface="Arial"/>
                  <a:sym typeface="Arial"/>
                </a:rPr>
                <a:t>Digital Input</a:t>
              </a:r>
              <a:endParaRPr b="1" i="0" sz="1000" u="none" cap="none" strike="noStrike">
                <a:solidFill>
                  <a:schemeClr val="dk2"/>
                </a:solidFill>
                <a:latin typeface="Arial"/>
                <a:ea typeface="Arial"/>
                <a:cs typeface="Arial"/>
                <a:sym typeface="Arial"/>
              </a:endParaRPr>
            </a:p>
          </p:txBody>
        </p:sp>
        <p:sp>
          <p:nvSpPr>
            <p:cNvPr id="227" name="Google Shape;227;p44"/>
            <p:cNvSpPr/>
            <p:nvPr/>
          </p:nvSpPr>
          <p:spPr>
            <a:xfrm>
              <a:off x="4889" y="2602301"/>
              <a:ext cx="816600" cy="518400"/>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44"/>
            <p:cNvSpPr/>
            <p:nvPr/>
          </p:nvSpPr>
          <p:spPr>
            <a:xfrm>
              <a:off x="95607" y="2688483"/>
              <a:ext cx="816600" cy="518400"/>
            </a:xfrm>
            <a:prstGeom prst="roundRect">
              <a:avLst>
                <a:gd fmla="val 10000" name="adj"/>
              </a:avLst>
            </a:prstGeom>
            <a:solidFill>
              <a:schemeClr val="lt1">
                <a:alpha val="89410"/>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44"/>
            <p:cNvSpPr txBox="1"/>
            <p:nvPr/>
          </p:nvSpPr>
          <p:spPr>
            <a:xfrm>
              <a:off x="110792" y="2703668"/>
              <a:ext cx="786000" cy="488100"/>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Clr>
                  <a:srgbClr val="000000"/>
                </a:buClr>
                <a:buSzPts val="1000"/>
                <a:buFont typeface="Arial"/>
                <a:buNone/>
              </a:pPr>
              <a:r>
                <a:rPr b="1" i="0" lang="en" sz="1000" u="none" cap="none" strike="noStrike">
                  <a:solidFill>
                    <a:schemeClr val="dk2"/>
                  </a:solidFill>
                  <a:latin typeface="Arial"/>
                  <a:ea typeface="Arial"/>
                  <a:cs typeface="Arial"/>
                  <a:sym typeface="Arial"/>
                </a:rPr>
                <a:t>Input floating</a:t>
              </a:r>
              <a:endParaRPr b="1" i="0" sz="1000" u="none" cap="none" strike="noStrike">
                <a:solidFill>
                  <a:schemeClr val="dk2"/>
                </a:solidFill>
                <a:latin typeface="Arial"/>
                <a:ea typeface="Arial"/>
                <a:cs typeface="Arial"/>
                <a:sym typeface="Arial"/>
              </a:endParaRPr>
            </a:p>
          </p:txBody>
        </p:sp>
        <p:sp>
          <p:nvSpPr>
            <p:cNvPr id="230" name="Google Shape;230;p44"/>
            <p:cNvSpPr/>
            <p:nvPr/>
          </p:nvSpPr>
          <p:spPr>
            <a:xfrm>
              <a:off x="1002789" y="2602301"/>
              <a:ext cx="816600" cy="518400"/>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44"/>
            <p:cNvSpPr/>
            <p:nvPr/>
          </p:nvSpPr>
          <p:spPr>
            <a:xfrm>
              <a:off x="1093507" y="2688483"/>
              <a:ext cx="816600" cy="518400"/>
            </a:xfrm>
            <a:prstGeom prst="roundRect">
              <a:avLst>
                <a:gd fmla="val 10000" name="adj"/>
              </a:avLst>
            </a:prstGeom>
            <a:solidFill>
              <a:schemeClr val="lt1">
                <a:alpha val="89410"/>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44"/>
            <p:cNvSpPr txBox="1"/>
            <p:nvPr/>
          </p:nvSpPr>
          <p:spPr>
            <a:xfrm>
              <a:off x="1108692" y="2703668"/>
              <a:ext cx="786000" cy="488100"/>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Clr>
                  <a:srgbClr val="000000"/>
                </a:buClr>
                <a:buSzPts val="1000"/>
                <a:buFont typeface="Arial"/>
                <a:buNone/>
              </a:pPr>
              <a:r>
                <a:rPr b="1" i="0" lang="en" sz="1000" u="none" cap="none" strike="noStrike">
                  <a:solidFill>
                    <a:schemeClr val="dk2"/>
                  </a:solidFill>
                  <a:latin typeface="Arial"/>
                  <a:ea typeface="Arial"/>
                  <a:cs typeface="Arial"/>
                  <a:sym typeface="Arial"/>
                </a:rPr>
                <a:t>Input pull-up</a:t>
              </a:r>
              <a:endParaRPr b="1" i="0" sz="1000" u="none" cap="none" strike="noStrike">
                <a:solidFill>
                  <a:schemeClr val="dk2"/>
                </a:solidFill>
                <a:latin typeface="Arial"/>
                <a:ea typeface="Arial"/>
                <a:cs typeface="Arial"/>
                <a:sym typeface="Arial"/>
              </a:endParaRPr>
            </a:p>
          </p:txBody>
        </p:sp>
        <p:sp>
          <p:nvSpPr>
            <p:cNvPr id="233" name="Google Shape;233;p44"/>
            <p:cNvSpPr/>
            <p:nvPr/>
          </p:nvSpPr>
          <p:spPr>
            <a:xfrm>
              <a:off x="2000689" y="2602301"/>
              <a:ext cx="816600" cy="518400"/>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44"/>
            <p:cNvSpPr/>
            <p:nvPr/>
          </p:nvSpPr>
          <p:spPr>
            <a:xfrm>
              <a:off x="2091407" y="2688483"/>
              <a:ext cx="816600" cy="518400"/>
            </a:xfrm>
            <a:prstGeom prst="roundRect">
              <a:avLst>
                <a:gd fmla="val 10000" name="adj"/>
              </a:avLst>
            </a:prstGeom>
            <a:solidFill>
              <a:schemeClr val="lt1">
                <a:alpha val="89410"/>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44"/>
            <p:cNvSpPr txBox="1"/>
            <p:nvPr/>
          </p:nvSpPr>
          <p:spPr>
            <a:xfrm>
              <a:off x="2106585" y="2703675"/>
              <a:ext cx="671100" cy="488100"/>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Clr>
                  <a:srgbClr val="000000"/>
                </a:buClr>
                <a:buSzPts val="1000"/>
                <a:buFont typeface="Arial"/>
                <a:buNone/>
              </a:pPr>
              <a:r>
                <a:rPr b="1" i="0" lang="en" sz="1000" u="none" cap="none" strike="noStrike">
                  <a:solidFill>
                    <a:schemeClr val="dk2"/>
                  </a:solidFill>
                  <a:latin typeface="Arial"/>
                  <a:ea typeface="Arial"/>
                  <a:cs typeface="Arial"/>
                  <a:sym typeface="Arial"/>
                </a:rPr>
                <a:t>Input-pull-down</a:t>
              </a:r>
              <a:endParaRPr b="1" i="0" sz="1000" u="none" cap="none" strike="noStrike">
                <a:solidFill>
                  <a:schemeClr val="dk2"/>
                </a:solidFill>
                <a:latin typeface="Arial"/>
                <a:ea typeface="Arial"/>
                <a:cs typeface="Arial"/>
                <a:sym typeface="Arial"/>
              </a:endParaRPr>
            </a:p>
          </p:txBody>
        </p:sp>
        <p:sp>
          <p:nvSpPr>
            <p:cNvPr id="236" name="Google Shape;236;p44"/>
            <p:cNvSpPr/>
            <p:nvPr/>
          </p:nvSpPr>
          <p:spPr>
            <a:xfrm>
              <a:off x="2998589" y="1846392"/>
              <a:ext cx="816600" cy="518400"/>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44"/>
            <p:cNvSpPr/>
            <p:nvPr/>
          </p:nvSpPr>
          <p:spPr>
            <a:xfrm>
              <a:off x="3089307" y="1932574"/>
              <a:ext cx="816600" cy="518400"/>
            </a:xfrm>
            <a:prstGeom prst="roundRect">
              <a:avLst>
                <a:gd fmla="val 10000" name="adj"/>
              </a:avLst>
            </a:prstGeom>
            <a:solidFill>
              <a:schemeClr val="lt1">
                <a:alpha val="89410"/>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44"/>
            <p:cNvSpPr txBox="1"/>
            <p:nvPr/>
          </p:nvSpPr>
          <p:spPr>
            <a:xfrm>
              <a:off x="3104492" y="1947759"/>
              <a:ext cx="786000" cy="488100"/>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Clr>
                  <a:srgbClr val="000000"/>
                </a:buClr>
                <a:buSzPts val="1000"/>
                <a:buFont typeface="Arial"/>
                <a:buNone/>
              </a:pPr>
              <a:r>
                <a:rPr b="1" i="0" lang="en" sz="1000" u="none" cap="none" strike="noStrike">
                  <a:solidFill>
                    <a:schemeClr val="dk2"/>
                  </a:solidFill>
                  <a:latin typeface="Arial"/>
                  <a:ea typeface="Arial"/>
                  <a:cs typeface="Arial"/>
                  <a:sym typeface="Arial"/>
                </a:rPr>
                <a:t>Analog Input</a:t>
              </a:r>
              <a:endParaRPr b="1" i="0" sz="1000" u="none" cap="none" strike="noStrike">
                <a:solidFill>
                  <a:schemeClr val="dk2"/>
                </a:solidFill>
                <a:latin typeface="Arial"/>
                <a:ea typeface="Arial"/>
                <a:cs typeface="Arial"/>
                <a:sym typeface="Arial"/>
              </a:endParaRPr>
            </a:p>
          </p:txBody>
        </p:sp>
        <p:sp>
          <p:nvSpPr>
            <p:cNvPr id="239" name="Google Shape;239;p44"/>
            <p:cNvSpPr/>
            <p:nvPr/>
          </p:nvSpPr>
          <p:spPr>
            <a:xfrm>
              <a:off x="3996489" y="1090482"/>
              <a:ext cx="816600" cy="518400"/>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44"/>
            <p:cNvSpPr/>
            <p:nvPr/>
          </p:nvSpPr>
          <p:spPr>
            <a:xfrm>
              <a:off x="4087207" y="1176665"/>
              <a:ext cx="816600" cy="518400"/>
            </a:xfrm>
            <a:prstGeom prst="roundRect">
              <a:avLst>
                <a:gd fmla="val 10000" name="adj"/>
              </a:avLst>
            </a:prstGeom>
            <a:solidFill>
              <a:schemeClr val="lt1">
                <a:alpha val="89410"/>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44"/>
            <p:cNvSpPr txBox="1"/>
            <p:nvPr/>
          </p:nvSpPr>
          <p:spPr>
            <a:xfrm>
              <a:off x="4102392" y="1191850"/>
              <a:ext cx="786000" cy="488100"/>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Clr>
                  <a:srgbClr val="000000"/>
                </a:buClr>
                <a:buSzPts val="1000"/>
                <a:buFont typeface="Arial"/>
                <a:buNone/>
              </a:pPr>
              <a:r>
                <a:rPr b="1" i="0" lang="en" sz="1000" u="none" cap="none" strike="noStrike">
                  <a:solidFill>
                    <a:schemeClr val="dk2"/>
                  </a:solidFill>
                  <a:latin typeface="Arial"/>
                  <a:ea typeface="Arial"/>
                  <a:cs typeface="Arial"/>
                  <a:sym typeface="Arial"/>
                </a:rPr>
                <a:t>Output</a:t>
              </a:r>
              <a:endParaRPr b="1" i="0" sz="1000" u="none" cap="none" strike="noStrike">
                <a:solidFill>
                  <a:schemeClr val="dk2"/>
                </a:solidFill>
                <a:latin typeface="Arial"/>
                <a:ea typeface="Arial"/>
                <a:cs typeface="Arial"/>
                <a:sym typeface="Arial"/>
              </a:endParaRPr>
            </a:p>
          </p:txBody>
        </p:sp>
        <p:sp>
          <p:nvSpPr>
            <p:cNvPr id="242" name="Google Shape;242;p44"/>
            <p:cNvSpPr/>
            <p:nvPr/>
          </p:nvSpPr>
          <p:spPr>
            <a:xfrm>
              <a:off x="3996489" y="1846392"/>
              <a:ext cx="816600" cy="518400"/>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44"/>
            <p:cNvSpPr/>
            <p:nvPr/>
          </p:nvSpPr>
          <p:spPr>
            <a:xfrm>
              <a:off x="4087207" y="1932574"/>
              <a:ext cx="816600" cy="518400"/>
            </a:xfrm>
            <a:prstGeom prst="roundRect">
              <a:avLst>
                <a:gd fmla="val 10000" name="adj"/>
              </a:avLst>
            </a:prstGeom>
            <a:solidFill>
              <a:schemeClr val="lt1">
                <a:alpha val="89410"/>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44"/>
            <p:cNvSpPr txBox="1"/>
            <p:nvPr/>
          </p:nvSpPr>
          <p:spPr>
            <a:xfrm>
              <a:off x="4102392" y="1947759"/>
              <a:ext cx="786000" cy="488100"/>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Clr>
                  <a:srgbClr val="000000"/>
                </a:buClr>
                <a:buSzPts val="1000"/>
                <a:buFont typeface="Arial"/>
                <a:buNone/>
              </a:pPr>
              <a:r>
                <a:rPr b="1" i="0" lang="en" sz="1000" u="none" cap="none" strike="noStrike">
                  <a:solidFill>
                    <a:schemeClr val="dk2"/>
                  </a:solidFill>
                  <a:latin typeface="Arial"/>
                  <a:ea typeface="Arial"/>
                  <a:cs typeface="Arial"/>
                  <a:sym typeface="Arial"/>
                </a:rPr>
                <a:t>Digital Output</a:t>
              </a:r>
              <a:endParaRPr b="1" i="0" sz="1000" u="none" cap="none" strike="noStrike">
                <a:solidFill>
                  <a:schemeClr val="dk2"/>
                </a:solidFill>
                <a:latin typeface="Arial"/>
                <a:ea typeface="Arial"/>
                <a:cs typeface="Arial"/>
                <a:sym typeface="Arial"/>
              </a:endParaRPr>
            </a:p>
          </p:txBody>
        </p:sp>
        <p:sp>
          <p:nvSpPr>
            <p:cNvPr id="245" name="Google Shape;245;p44"/>
            <p:cNvSpPr/>
            <p:nvPr/>
          </p:nvSpPr>
          <p:spPr>
            <a:xfrm>
              <a:off x="3996489" y="2602301"/>
              <a:ext cx="816600" cy="518400"/>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44"/>
            <p:cNvSpPr/>
            <p:nvPr/>
          </p:nvSpPr>
          <p:spPr>
            <a:xfrm>
              <a:off x="4087207" y="2688483"/>
              <a:ext cx="816600" cy="518400"/>
            </a:xfrm>
            <a:prstGeom prst="roundRect">
              <a:avLst>
                <a:gd fmla="val 10000" name="adj"/>
              </a:avLst>
            </a:prstGeom>
            <a:solidFill>
              <a:schemeClr val="lt1">
                <a:alpha val="89410"/>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44"/>
            <p:cNvSpPr txBox="1"/>
            <p:nvPr/>
          </p:nvSpPr>
          <p:spPr>
            <a:xfrm>
              <a:off x="4102392" y="2703668"/>
              <a:ext cx="786000" cy="488100"/>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Clr>
                  <a:srgbClr val="000000"/>
                </a:buClr>
                <a:buSzPts val="1000"/>
                <a:buFont typeface="Arial"/>
                <a:buNone/>
              </a:pPr>
              <a:r>
                <a:rPr b="1" i="0" lang="en" sz="1000" u="none" cap="none" strike="noStrike">
                  <a:solidFill>
                    <a:schemeClr val="dk2"/>
                  </a:solidFill>
                  <a:latin typeface="Arial"/>
                  <a:ea typeface="Arial"/>
                  <a:cs typeface="Arial"/>
                  <a:sym typeface="Arial"/>
                </a:rPr>
                <a:t>Speed (Low, Medium, Fast, High)</a:t>
              </a:r>
              <a:endParaRPr b="1" i="0" sz="1000" u="none" cap="none" strike="noStrike">
                <a:solidFill>
                  <a:schemeClr val="dk2"/>
                </a:solidFill>
                <a:latin typeface="Arial"/>
                <a:ea typeface="Arial"/>
                <a:cs typeface="Arial"/>
                <a:sym typeface="Arial"/>
              </a:endParaRPr>
            </a:p>
          </p:txBody>
        </p:sp>
        <p:sp>
          <p:nvSpPr>
            <p:cNvPr id="248" name="Google Shape;248;p44"/>
            <p:cNvSpPr/>
            <p:nvPr/>
          </p:nvSpPr>
          <p:spPr>
            <a:xfrm>
              <a:off x="3497539" y="3358210"/>
              <a:ext cx="816600" cy="518400"/>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44"/>
            <p:cNvSpPr/>
            <p:nvPr/>
          </p:nvSpPr>
          <p:spPr>
            <a:xfrm>
              <a:off x="3588257" y="3444392"/>
              <a:ext cx="816600" cy="518400"/>
            </a:xfrm>
            <a:prstGeom prst="roundRect">
              <a:avLst>
                <a:gd fmla="val 10000" name="adj"/>
              </a:avLst>
            </a:prstGeom>
            <a:solidFill>
              <a:schemeClr val="lt1">
                <a:alpha val="89410"/>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44"/>
            <p:cNvSpPr txBox="1"/>
            <p:nvPr/>
          </p:nvSpPr>
          <p:spPr>
            <a:xfrm>
              <a:off x="3603442" y="3459577"/>
              <a:ext cx="786000" cy="488100"/>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Clr>
                  <a:srgbClr val="000000"/>
                </a:buClr>
                <a:buSzPts val="1000"/>
                <a:buFont typeface="Arial"/>
                <a:buNone/>
              </a:pPr>
              <a:r>
                <a:rPr b="1" i="0" lang="en" sz="1000" u="none" cap="none" strike="noStrike">
                  <a:solidFill>
                    <a:schemeClr val="dk2"/>
                  </a:solidFill>
                  <a:latin typeface="Arial"/>
                  <a:ea typeface="Arial"/>
                  <a:cs typeface="Arial"/>
                  <a:sym typeface="Arial"/>
                </a:rPr>
                <a:t>Push Pull</a:t>
              </a:r>
              <a:endParaRPr b="1" i="0" sz="1000" u="none" cap="none" strike="noStrike">
                <a:solidFill>
                  <a:schemeClr val="dk2"/>
                </a:solidFill>
                <a:latin typeface="Arial"/>
                <a:ea typeface="Arial"/>
                <a:cs typeface="Arial"/>
                <a:sym typeface="Arial"/>
              </a:endParaRPr>
            </a:p>
          </p:txBody>
        </p:sp>
        <p:sp>
          <p:nvSpPr>
            <p:cNvPr id="251" name="Google Shape;251;p44"/>
            <p:cNvSpPr/>
            <p:nvPr/>
          </p:nvSpPr>
          <p:spPr>
            <a:xfrm>
              <a:off x="2499639" y="4114119"/>
              <a:ext cx="816600" cy="518400"/>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44"/>
            <p:cNvSpPr/>
            <p:nvPr/>
          </p:nvSpPr>
          <p:spPr>
            <a:xfrm>
              <a:off x="2590357" y="4200302"/>
              <a:ext cx="816600" cy="518400"/>
            </a:xfrm>
            <a:prstGeom prst="roundRect">
              <a:avLst>
                <a:gd fmla="val 10000" name="adj"/>
              </a:avLst>
            </a:prstGeom>
            <a:solidFill>
              <a:schemeClr val="lt1">
                <a:alpha val="89410"/>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44"/>
            <p:cNvSpPr txBox="1"/>
            <p:nvPr/>
          </p:nvSpPr>
          <p:spPr>
            <a:xfrm>
              <a:off x="2605542" y="4215487"/>
              <a:ext cx="786000" cy="488100"/>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Clr>
                  <a:srgbClr val="000000"/>
                </a:buClr>
                <a:buSzPts val="1000"/>
                <a:buFont typeface="Arial"/>
                <a:buNone/>
              </a:pPr>
              <a:r>
                <a:rPr b="1" i="0" lang="en" sz="1000" u="none" cap="none" strike="noStrike">
                  <a:solidFill>
                    <a:schemeClr val="dk2"/>
                  </a:solidFill>
                  <a:latin typeface="Arial"/>
                  <a:ea typeface="Arial"/>
                  <a:cs typeface="Arial"/>
                  <a:sym typeface="Arial"/>
                </a:rPr>
                <a:t>No pull up/down</a:t>
              </a:r>
              <a:endParaRPr b="1" i="0" sz="1000" u="none" cap="none" strike="noStrike">
                <a:solidFill>
                  <a:schemeClr val="dk2"/>
                </a:solidFill>
                <a:latin typeface="Arial"/>
                <a:ea typeface="Arial"/>
                <a:cs typeface="Arial"/>
                <a:sym typeface="Arial"/>
              </a:endParaRPr>
            </a:p>
          </p:txBody>
        </p:sp>
        <p:sp>
          <p:nvSpPr>
            <p:cNvPr id="254" name="Google Shape;254;p44"/>
            <p:cNvSpPr/>
            <p:nvPr/>
          </p:nvSpPr>
          <p:spPr>
            <a:xfrm>
              <a:off x="3497539" y="4114119"/>
              <a:ext cx="816600" cy="518400"/>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44"/>
            <p:cNvSpPr/>
            <p:nvPr/>
          </p:nvSpPr>
          <p:spPr>
            <a:xfrm>
              <a:off x="3588257" y="4200302"/>
              <a:ext cx="816600" cy="518400"/>
            </a:xfrm>
            <a:prstGeom prst="roundRect">
              <a:avLst>
                <a:gd fmla="val 10000" name="adj"/>
              </a:avLst>
            </a:prstGeom>
            <a:solidFill>
              <a:schemeClr val="lt1">
                <a:alpha val="89410"/>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44"/>
            <p:cNvSpPr txBox="1"/>
            <p:nvPr/>
          </p:nvSpPr>
          <p:spPr>
            <a:xfrm>
              <a:off x="3603442" y="4215487"/>
              <a:ext cx="786000" cy="488100"/>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Clr>
                  <a:srgbClr val="000000"/>
                </a:buClr>
                <a:buSzPts val="1000"/>
                <a:buFont typeface="Arial"/>
                <a:buNone/>
              </a:pPr>
              <a:r>
                <a:rPr b="1" i="0" lang="en" sz="1000" u="none" cap="none" strike="noStrike">
                  <a:solidFill>
                    <a:schemeClr val="dk2"/>
                  </a:solidFill>
                  <a:latin typeface="Arial"/>
                  <a:ea typeface="Arial"/>
                  <a:cs typeface="Arial"/>
                  <a:sym typeface="Arial"/>
                </a:rPr>
                <a:t>Pull-up</a:t>
              </a:r>
              <a:endParaRPr b="1" i="0" sz="1000" u="none" cap="none" strike="noStrike">
                <a:solidFill>
                  <a:schemeClr val="dk2"/>
                </a:solidFill>
                <a:latin typeface="Arial"/>
                <a:ea typeface="Arial"/>
                <a:cs typeface="Arial"/>
                <a:sym typeface="Arial"/>
              </a:endParaRPr>
            </a:p>
          </p:txBody>
        </p:sp>
        <p:sp>
          <p:nvSpPr>
            <p:cNvPr id="257" name="Google Shape;257;p44"/>
            <p:cNvSpPr/>
            <p:nvPr/>
          </p:nvSpPr>
          <p:spPr>
            <a:xfrm>
              <a:off x="4495439" y="4114119"/>
              <a:ext cx="816600" cy="518400"/>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44"/>
            <p:cNvSpPr/>
            <p:nvPr/>
          </p:nvSpPr>
          <p:spPr>
            <a:xfrm>
              <a:off x="4586157" y="4200302"/>
              <a:ext cx="816600" cy="518400"/>
            </a:xfrm>
            <a:prstGeom prst="roundRect">
              <a:avLst>
                <a:gd fmla="val 10000" name="adj"/>
              </a:avLst>
            </a:prstGeom>
            <a:solidFill>
              <a:schemeClr val="lt1">
                <a:alpha val="89410"/>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44"/>
            <p:cNvSpPr txBox="1"/>
            <p:nvPr/>
          </p:nvSpPr>
          <p:spPr>
            <a:xfrm>
              <a:off x="4601342" y="4215487"/>
              <a:ext cx="786000" cy="488100"/>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Clr>
                  <a:srgbClr val="000000"/>
                </a:buClr>
                <a:buSzPts val="1000"/>
                <a:buFont typeface="Arial"/>
                <a:buNone/>
              </a:pPr>
              <a:r>
                <a:rPr b="1" i="0" lang="en" sz="1000" u="none" cap="none" strike="noStrike">
                  <a:solidFill>
                    <a:schemeClr val="dk2"/>
                  </a:solidFill>
                  <a:latin typeface="Arial"/>
                  <a:ea typeface="Arial"/>
                  <a:cs typeface="Arial"/>
                  <a:sym typeface="Arial"/>
                </a:rPr>
                <a:t>Pull-down</a:t>
              </a:r>
              <a:endParaRPr b="1" i="0" sz="1000" u="none" cap="none" strike="noStrike">
                <a:solidFill>
                  <a:schemeClr val="dk2"/>
                </a:solidFill>
                <a:latin typeface="Arial"/>
                <a:ea typeface="Arial"/>
                <a:cs typeface="Arial"/>
                <a:sym typeface="Arial"/>
              </a:endParaRPr>
            </a:p>
          </p:txBody>
        </p:sp>
        <p:sp>
          <p:nvSpPr>
            <p:cNvPr id="260" name="Google Shape;260;p44"/>
            <p:cNvSpPr/>
            <p:nvPr/>
          </p:nvSpPr>
          <p:spPr>
            <a:xfrm>
              <a:off x="4495439" y="3358210"/>
              <a:ext cx="816600" cy="518400"/>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44"/>
            <p:cNvSpPr/>
            <p:nvPr/>
          </p:nvSpPr>
          <p:spPr>
            <a:xfrm>
              <a:off x="4586157" y="3444392"/>
              <a:ext cx="816600" cy="518400"/>
            </a:xfrm>
            <a:prstGeom prst="roundRect">
              <a:avLst>
                <a:gd fmla="val 10000" name="adj"/>
              </a:avLst>
            </a:prstGeom>
            <a:solidFill>
              <a:schemeClr val="lt1">
                <a:alpha val="89410"/>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44"/>
            <p:cNvSpPr txBox="1"/>
            <p:nvPr/>
          </p:nvSpPr>
          <p:spPr>
            <a:xfrm>
              <a:off x="4601342" y="3459577"/>
              <a:ext cx="786000" cy="488100"/>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Clr>
                  <a:srgbClr val="000000"/>
                </a:buClr>
                <a:buSzPts val="1000"/>
                <a:buFont typeface="Arial"/>
                <a:buNone/>
              </a:pPr>
              <a:r>
                <a:rPr b="1" i="0" lang="en" sz="1000" u="none" cap="none" strike="noStrike">
                  <a:solidFill>
                    <a:schemeClr val="dk2"/>
                  </a:solidFill>
                  <a:latin typeface="Arial"/>
                  <a:ea typeface="Arial"/>
                  <a:cs typeface="Arial"/>
                  <a:sym typeface="Arial"/>
                </a:rPr>
                <a:t>Open Drain</a:t>
              </a:r>
              <a:endParaRPr b="1" i="0" sz="1000" u="none" cap="none" strike="noStrike">
                <a:solidFill>
                  <a:schemeClr val="dk2"/>
                </a:solidFill>
                <a:latin typeface="Arial"/>
                <a:ea typeface="Arial"/>
                <a:cs typeface="Arial"/>
                <a:sym typeface="Arial"/>
              </a:endParaRPr>
            </a:p>
          </p:txBody>
        </p:sp>
        <p:sp>
          <p:nvSpPr>
            <p:cNvPr id="263" name="Google Shape;263;p44"/>
            <p:cNvSpPr/>
            <p:nvPr/>
          </p:nvSpPr>
          <p:spPr>
            <a:xfrm>
              <a:off x="6990189" y="1090482"/>
              <a:ext cx="816600" cy="518400"/>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44"/>
            <p:cNvSpPr/>
            <p:nvPr/>
          </p:nvSpPr>
          <p:spPr>
            <a:xfrm>
              <a:off x="7080907" y="1176665"/>
              <a:ext cx="816600" cy="518400"/>
            </a:xfrm>
            <a:prstGeom prst="roundRect">
              <a:avLst>
                <a:gd fmla="val 10000" name="adj"/>
              </a:avLst>
            </a:prstGeom>
            <a:solidFill>
              <a:schemeClr val="lt1">
                <a:alpha val="89410"/>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44"/>
            <p:cNvSpPr txBox="1"/>
            <p:nvPr/>
          </p:nvSpPr>
          <p:spPr>
            <a:xfrm>
              <a:off x="7096092" y="1191850"/>
              <a:ext cx="786000" cy="488100"/>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Clr>
                  <a:srgbClr val="000000"/>
                </a:buClr>
                <a:buSzPts val="1000"/>
                <a:buFont typeface="Arial"/>
                <a:buNone/>
              </a:pPr>
              <a:r>
                <a:rPr b="1" i="0" lang="en" sz="1000" u="none" cap="none" strike="noStrike">
                  <a:solidFill>
                    <a:schemeClr val="dk2"/>
                  </a:solidFill>
                  <a:latin typeface="Arial"/>
                  <a:ea typeface="Arial"/>
                  <a:cs typeface="Arial"/>
                  <a:sym typeface="Arial"/>
                </a:rPr>
                <a:t>Alternate Function</a:t>
              </a:r>
              <a:endParaRPr b="1" i="0" sz="1000" u="none" cap="none" strike="noStrike">
                <a:solidFill>
                  <a:schemeClr val="dk2"/>
                </a:solidFill>
                <a:latin typeface="Arial"/>
                <a:ea typeface="Arial"/>
                <a:cs typeface="Arial"/>
                <a:sym typeface="Arial"/>
              </a:endParaRPr>
            </a:p>
          </p:txBody>
        </p:sp>
        <p:sp>
          <p:nvSpPr>
            <p:cNvPr id="266" name="Google Shape;266;p44"/>
            <p:cNvSpPr/>
            <p:nvPr/>
          </p:nvSpPr>
          <p:spPr>
            <a:xfrm>
              <a:off x="6491239" y="1846392"/>
              <a:ext cx="816600" cy="518400"/>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44"/>
            <p:cNvSpPr/>
            <p:nvPr/>
          </p:nvSpPr>
          <p:spPr>
            <a:xfrm>
              <a:off x="6581957" y="1932574"/>
              <a:ext cx="816600" cy="518400"/>
            </a:xfrm>
            <a:prstGeom prst="roundRect">
              <a:avLst>
                <a:gd fmla="val 10000" name="adj"/>
              </a:avLst>
            </a:prstGeom>
            <a:solidFill>
              <a:schemeClr val="lt1">
                <a:alpha val="89410"/>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44"/>
            <p:cNvSpPr txBox="1"/>
            <p:nvPr/>
          </p:nvSpPr>
          <p:spPr>
            <a:xfrm>
              <a:off x="6597142" y="1947759"/>
              <a:ext cx="786000" cy="488100"/>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Clr>
                  <a:srgbClr val="000000"/>
                </a:buClr>
                <a:buSzPts val="1000"/>
                <a:buFont typeface="Arial"/>
                <a:buNone/>
              </a:pPr>
              <a:r>
                <a:rPr b="1" i="0" lang="en" sz="1000" u="none" cap="none" strike="noStrike">
                  <a:solidFill>
                    <a:schemeClr val="dk2"/>
                  </a:solidFill>
                  <a:latin typeface="Arial"/>
                  <a:ea typeface="Arial"/>
                  <a:cs typeface="Arial"/>
                  <a:sym typeface="Arial"/>
                </a:rPr>
                <a:t>Communication Protocol</a:t>
              </a:r>
              <a:endParaRPr b="1" i="0" sz="1000" u="none" cap="none" strike="noStrike">
                <a:solidFill>
                  <a:schemeClr val="dk2"/>
                </a:solidFill>
                <a:latin typeface="Arial"/>
                <a:ea typeface="Arial"/>
                <a:cs typeface="Arial"/>
                <a:sym typeface="Arial"/>
              </a:endParaRPr>
            </a:p>
          </p:txBody>
        </p:sp>
        <p:sp>
          <p:nvSpPr>
            <p:cNvPr id="269" name="Google Shape;269;p44"/>
            <p:cNvSpPr/>
            <p:nvPr/>
          </p:nvSpPr>
          <p:spPr>
            <a:xfrm>
              <a:off x="4994389" y="2602301"/>
              <a:ext cx="816600" cy="518400"/>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44"/>
            <p:cNvSpPr/>
            <p:nvPr/>
          </p:nvSpPr>
          <p:spPr>
            <a:xfrm>
              <a:off x="5085107" y="2688483"/>
              <a:ext cx="816600" cy="518400"/>
            </a:xfrm>
            <a:prstGeom prst="roundRect">
              <a:avLst>
                <a:gd fmla="val 10000" name="adj"/>
              </a:avLst>
            </a:prstGeom>
            <a:solidFill>
              <a:schemeClr val="lt1">
                <a:alpha val="89410"/>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44"/>
            <p:cNvSpPr txBox="1"/>
            <p:nvPr/>
          </p:nvSpPr>
          <p:spPr>
            <a:xfrm>
              <a:off x="5100292" y="2703668"/>
              <a:ext cx="786000" cy="488100"/>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Clr>
                  <a:srgbClr val="000000"/>
                </a:buClr>
                <a:buSzPts val="1000"/>
                <a:buFont typeface="Arial"/>
                <a:buNone/>
              </a:pPr>
              <a:r>
                <a:rPr b="1" i="0" lang="en" sz="1000" u="none" cap="none" strike="noStrike">
                  <a:solidFill>
                    <a:schemeClr val="dk2"/>
                  </a:solidFill>
                  <a:latin typeface="Arial"/>
                  <a:ea typeface="Arial"/>
                  <a:cs typeface="Arial"/>
                  <a:sym typeface="Arial"/>
                </a:rPr>
                <a:t>USART</a:t>
              </a:r>
              <a:endParaRPr b="1" i="0" sz="1000" u="none" cap="none" strike="noStrike">
                <a:solidFill>
                  <a:schemeClr val="dk2"/>
                </a:solidFill>
                <a:latin typeface="Arial"/>
                <a:ea typeface="Arial"/>
                <a:cs typeface="Arial"/>
                <a:sym typeface="Arial"/>
              </a:endParaRPr>
            </a:p>
          </p:txBody>
        </p:sp>
        <p:sp>
          <p:nvSpPr>
            <p:cNvPr id="272" name="Google Shape;272;p44"/>
            <p:cNvSpPr/>
            <p:nvPr/>
          </p:nvSpPr>
          <p:spPr>
            <a:xfrm>
              <a:off x="5992289" y="2602301"/>
              <a:ext cx="816600" cy="518400"/>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44"/>
            <p:cNvSpPr/>
            <p:nvPr/>
          </p:nvSpPr>
          <p:spPr>
            <a:xfrm>
              <a:off x="6083007" y="2688483"/>
              <a:ext cx="816600" cy="518400"/>
            </a:xfrm>
            <a:prstGeom prst="roundRect">
              <a:avLst>
                <a:gd fmla="val 10000" name="adj"/>
              </a:avLst>
            </a:prstGeom>
            <a:solidFill>
              <a:schemeClr val="lt1">
                <a:alpha val="89410"/>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44"/>
            <p:cNvSpPr txBox="1"/>
            <p:nvPr/>
          </p:nvSpPr>
          <p:spPr>
            <a:xfrm>
              <a:off x="6098192" y="2703668"/>
              <a:ext cx="786000" cy="488100"/>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Clr>
                  <a:srgbClr val="000000"/>
                </a:buClr>
                <a:buSzPts val="1000"/>
                <a:buFont typeface="Arial"/>
                <a:buNone/>
              </a:pPr>
              <a:r>
                <a:rPr b="1" i="0" lang="en" sz="1000" u="none" cap="none" strike="noStrike">
                  <a:solidFill>
                    <a:schemeClr val="dk2"/>
                  </a:solidFill>
                  <a:latin typeface="Arial"/>
                  <a:ea typeface="Arial"/>
                  <a:cs typeface="Arial"/>
                  <a:sym typeface="Arial"/>
                </a:rPr>
                <a:t>SPI</a:t>
              </a:r>
              <a:endParaRPr b="1" i="0" sz="1000" u="none" cap="none" strike="noStrike">
                <a:solidFill>
                  <a:schemeClr val="dk2"/>
                </a:solidFill>
                <a:latin typeface="Arial"/>
                <a:ea typeface="Arial"/>
                <a:cs typeface="Arial"/>
                <a:sym typeface="Arial"/>
              </a:endParaRPr>
            </a:p>
          </p:txBody>
        </p:sp>
        <p:sp>
          <p:nvSpPr>
            <p:cNvPr id="275" name="Google Shape;275;p44"/>
            <p:cNvSpPr/>
            <p:nvPr/>
          </p:nvSpPr>
          <p:spPr>
            <a:xfrm>
              <a:off x="6990189" y="2602301"/>
              <a:ext cx="816600" cy="518400"/>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44"/>
            <p:cNvSpPr/>
            <p:nvPr/>
          </p:nvSpPr>
          <p:spPr>
            <a:xfrm>
              <a:off x="7080907" y="2688483"/>
              <a:ext cx="816600" cy="518400"/>
            </a:xfrm>
            <a:prstGeom prst="roundRect">
              <a:avLst>
                <a:gd fmla="val 10000" name="adj"/>
              </a:avLst>
            </a:prstGeom>
            <a:solidFill>
              <a:schemeClr val="lt1">
                <a:alpha val="89410"/>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44"/>
            <p:cNvSpPr txBox="1"/>
            <p:nvPr/>
          </p:nvSpPr>
          <p:spPr>
            <a:xfrm>
              <a:off x="7096092" y="2703668"/>
              <a:ext cx="786000" cy="488100"/>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Clr>
                  <a:srgbClr val="000000"/>
                </a:buClr>
                <a:buSzPts val="1000"/>
                <a:buFont typeface="Arial"/>
                <a:buNone/>
              </a:pPr>
              <a:r>
                <a:rPr b="1" i="0" lang="en" sz="1000" u="none" cap="none" strike="noStrike">
                  <a:solidFill>
                    <a:schemeClr val="dk2"/>
                  </a:solidFill>
                  <a:latin typeface="Arial"/>
                  <a:ea typeface="Arial"/>
                  <a:cs typeface="Arial"/>
                  <a:sym typeface="Arial"/>
                </a:rPr>
                <a:t>I2C</a:t>
              </a:r>
              <a:endParaRPr b="1" i="0" sz="1000" u="none" cap="none" strike="noStrike">
                <a:solidFill>
                  <a:schemeClr val="dk2"/>
                </a:solidFill>
                <a:latin typeface="Arial"/>
                <a:ea typeface="Arial"/>
                <a:cs typeface="Arial"/>
                <a:sym typeface="Arial"/>
              </a:endParaRPr>
            </a:p>
          </p:txBody>
        </p:sp>
        <p:sp>
          <p:nvSpPr>
            <p:cNvPr id="278" name="Google Shape;278;p44"/>
            <p:cNvSpPr/>
            <p:nvPr/>
          </p:nvSpPr>
          <p:spPr>
            <a:xfrm>
              <a:off x="7988089" y="2602301"/>
              <a:ext cx="816600" cy="518400"/>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44"/>
            <p:cNvSpPr/>
            <p:nvPr/>
          </p:nvSpPr>
          <p:spPr>
            <a:xfrm>
              <a:off x="8078807" y="2688483"/>
              <a:ext cx="816600" cy="518400"/>
            </a:xfrm>
            <a:prstGeom prst="roundRect">
              <a:avLst>
                <a:gd fmla="val 10000" name="adj"/>
              </a:avLst>
            </a:prstGeom>
            <a:solidFill>
              <a:schemeClr val="lt1">
                <a:alpha val="89410"/>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44"/>
            <p:cNvSpPr txBox="1"/>
            <p:nvPr/>
          </p:nvSpPr>
          <p:spPr>
            <a:xfrm>
              <a:off x="8093992" y="2703668"/>
              <a:ext cx="786000" cy="488100"/>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Clr>
                  <a:srgbClr val="000000"/>
                </a:buClr>
                <a:buSzPts val="1000"/>
                <a:buFont typeface="Arial"/>
                <a:buNone/>
              </a:pPr>
              <a:r>
                <a:rPr b="1" i="0" lang="en" sz="1000" u="none" cap="none" strike="noStrike">
                  <a:solidFill>
                    <a:schemeClr val="dk2"/>
                  </a:solidFill>
                  <a:latin typeface="Arial"/>
                  <a:ea typeface="Arial"/>
                  <a:cs typeface="Arial"/>
                  <a:sym typeface="Arial"/>
                </a:rPr>
                <a:t>CAN</a:t>
              </a:r>
              <a:endParaRPr b="1" i="0" sz="1000" u="none" cap="none" strike="noStrike">
                <a:solidFill>
                  <a:schemeClr val="dk2"/>
                </a:solidFill>
                <a:latin typeface="Arial"/>
                <a:ea typeface="Arial"/>
                <a:cs typeface="Arial"/>
                <a:sym typeface="Arial"/>
              </a:endParaRPr>
            </a:p>
          </p:txBody>
        </p:sp>
        <p:sp>
          <p:nvSpPr>
            <p:cNvPr id="281" name="Google Shape;281;p44"/>
            <p:cNvSpPr/>
            <p:nvPr/>
          </p:nvSpPr>
          <p:spPr>
            <a:xfrm>
              <a:off x="7489139" y="1846392"/>
              <a:ext cx="816600" cy="518400"/>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44"/>
            <p:cNvSpPr/>
            <p:nvPr/>
          </p:nvSpPr>
          <p:spPr>
            <a:xfrm>
              <a:off x="7579857" y="1932574"/>
              <a:ext cx="816600" cy="518400"/>
            </a:xfrm>
            <a:prstGeom prst="roundRect">
              <a:avLst>
                <a:gd fmla="val 10000" name="adj"/>
              </a:avLst>
            </a:prstGeom>
            <a:solidFill>
              <a:schemeClr val="lt1">
                <a:alpha val="89410"/>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44"/>
            <p:cNvSpPr txBox="1"/>
            <p:nvPr/>
          </p:nvSpPr>
          <p:spPr>
            <a:xfrm>
              <a:off x="7595042" y="1947759"/>
              <a:ext cx="786000" cy="488100"/>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Clr>
                  <a:srgbClr val="000000"/>
                </a:buClr>
                <a:buSzPts val="1000"/>
                <a:buFont typeface="Arial"/>
                <a:buNone/>
              </a:pPr>
              <a:r>
                <a:rPr b="1" i="0" lang="en" sz="1000" u="none" cap="none" strike="noStrike">
                  <a:solidFill>
                    <a:schemeClr val="dk2"/>
                  </a:solidFill>
                  <a:latin typeface="Arial"/>
                  <a:ea typeface="Arial"/>
                  <a:cs typeface="Arial"/>
                  <a:sym typeface="Arial"/>
                </a:rPr>
                <a:t>Time (PWM)</a:t>
              </a:r>
              <a:endParaRPr b="1" i="0" sz="1000" u="none" cap="none" strike="noStrike">
                <a:solidFill>
                  <a:schemeClr val="dk2"/>
                </a:solidFill>
                <a:latin typeface="Arial"/>
                <a:ea typeface="Arial"/>
                <a:cs typeface="Arial"/>
                <a:sym typeface="Arial"/>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17"/>
          <p:cNvSpPr txBox="1"/>
          <p:nvPr>
            <p:ph type="title"/>
          </p:nvPr>
        </p:nvSpPr>
        <p:spPr>
          <a:xfrm>
            <a:off x="193125" y="450675"/>
            <a:ext cx="88815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RCC AHB Peripheral Clock Enable Register [RCC-&gt;AHB1ENR]</a:t>
            </a:r>
            <a:endParaRPr/>
          </a:p>
        </p:txBody>
      </p:sp>
      <p:pic>
        <p:nvPicPr>
          <p:cNvPr id="289" name="Google Shape;289;p17"/>
          <p:cNvPicPr preferRelativeResize="0"/>
          <p:nvPr/>
        </p:nvPicPr>
        <p:blipFill rotWithShape="1">
          <a:blip r:embed="rId3">
            <a:alphaModFix/>
          </a:blip>
          <a:srcRect b="0" l="0" r="0" t="0"/>
          <a:stretch/>
        </p:blipFill>
        <p:spPr>
          <a:xfrm>
            <a:off x="454675" y="2462575"/>
            <a:ext cx="8153400" cy="1714500"/>
          </a:xfrm>
          <a:prstGeom prst="rect">
            <a:avLst/>
          </a:prstGeom>
          <a:noFill/>
          <a:ln>
            <a:noFill/>
          </a:ln>
        </p:spPr>
      </p:pic>
      <p:sp>
        <p:nvSpPr>
          <p:cNvPr id="290" name="Google Shape;290;p17"/>
          <p:cNvSpPr txBox="1"/>
          <p:nvPr/>
        </p:nvSpPr>
        <p:spPr>
          <a:xfrm>
            <a:off x="588600" y="1250775"/>
            <a:ext cx="5076900" cy="11754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00000"/>
              </a:lnSpc>
              <a:spcBef>
                <a:spcPts val="0"/>
              </a:spcBef>
              <a:spcAft>
                <a:spcPts val="0"/>
              </a:spcAft>
              <a:buClr>
                <a:schemeClr val="dk2"/>
              </a:buClr>
              <a:buSzPts val="1800"/>
              <a:buFont typeface="Open Sans"/>
              <a:buChar char="●"/>
            </a:pPr>
            <a:r>
              <a:rPr b="0" i="0" lang="en" sz="1800" u="none" cap="none" strike="noStrike">
                <a:solidFill>
                  <a:schemeClr val="dk2"/>
                </a:solidFill>
                <a:latin typeface="Open Sans"/>
                <a:ea typeface="Open Sans"/>
                <a:cs typeface="Open Sans"/>
                <a:sym typeface="Open Sans"/>
              </a:rPr>
              <a:t>32 bit register</a:t>
            </a:r>
            <a:endParaRPr b="0" i="0" sz="1800" u="none" cap="none" strike="noStrike">
              <a:solidFill>
                <a:schemeClr val="dk2"/>
              </a:solidFill>
              <a:latin typeface="Open Sans"/>
              <a:ea typeface="Open Sans"/>
              <a:cs typeface="Open Sans"/>
              <a:sym typeface="Open Sans"/>
            </a:endParaRPr>
          </a:p>
          <a:p>
            <a:pPr indent="-342900" lvl="0" marL="457200" marR="0" rtl="0" algn="l">
              <a:lnSpc>
                <a:spcPct val="100000"/>
              </a:lnSpc>
              <a:spcBef>
                <a:spcPts val="0"/>
              </a:spcBef>
              <a:spcAft>
                <a:spcPts val="0"/>
              </a:spcAft>
              <a:buClr>
                <a:schemeClr val="dk2"/>
              </a:buClr>
              <a:buSzPts val="1800"/>
              <a:buFont typeface="Open Sans"/>
              <a:buChar char="●"/>
            </a:pPr>
            <a:r>
              <a:rPr b="0" i="0" lang="en" sz="1800" u="none" cap="none" strike="noStrike">
                <a:solidFill>
                  <a:schemeClr val="dk2"/>
                </a:solidFill>
                <a:latin typeface="Open Sans"/>
                <a:ea typeface="Open Sans"/>
                <a:cs typeface="Open Sans"/>
                <a:sym typeface="Open Sans"/>
              </a:rPr>
              <a:t>Can enable port any digital I/O port [A-H]</a:t>
            </a:r>
            <a:endParaRPr b="0" i="0" sz="1800" u="none" cap="none" strike="noStrike">
              <a:solidFill>
                <a:schemeClr val="dk2"/>
              </a:solidFill>
              <a:latin typeface="Open Sans"/>
              <a:ea typeface="Open Sans"/>
              <a:cs typeface="Open Sans"/>
              <a:sym typeface="Open Sans"/>
            </a:endParaRPr>
          </a:p>
          <a:p>
            <a:pPr indent="-342900" lvl="0" marL="457200" marR="0" rtl="0" algn="l">
              <a:lnSpc>
                <a:spcPct val="100000"/>
              </a:lnSpc>
              <a:spcBef>
                <a:spcPts val="0"/>
              </a:spcBef>
              <a:spcAft>
                <a:spcPts val="0"/>
              </a:spcAft>
              <a:buClr>
                <a:schemeClr val="dk2"/>
              </a:buClr>
              <a:buSzPts val="1800"/>
              <a:buFont typeface="Open Sans"/>
              <a:buChar char="●"/>
            </a:pPr>
            <a:r>
              <a:rPr b="0" i="0" lang="en" sz="1800" u="none" cap="none" strike="noStrike">
                <a:solidFill>
                  <a:schemeClr val="dk2"/>
                </a:solidFill>
                <a:latin typeface="Open Sans"/>
                <a:ea typeface="Open Sans"/>
                <a:cs typeface="Open Sans"/>
                <a:sym typeface="Open Sans"/>
              </a:rPr>
              <a:t>Can enable DMAs</a:t>
            </a:r>
            <a:endParaRPr b="0" i="0" sz="1800" u="none" cap="none" strike="noStrike">
              <a:solidFill>
                <a:schemeClr val="dk2"/>
              </a:solidFill>
              <a:latin typeface="Open Sans"/>
              <a:ea typeface="Open Sans"/>
              <a:cs typeface="Open Sans"/>
              <a:sym typeface="Open Sans"/>
            </a:endParaRPr>
          </a:p>
          <a:p>
            <a:pPr indent="-342900" lvl="0" marL="457200" marR="0" rtl="0" algn="l">
              <a:lnSpc>
                <a:spcPct val="100000"/>
              </a:lnSpc>
              <a:spcBef>
                <a:spcPts val="0"/>
              </a:spcBef>
              <a:spcAft>
                <a:spcPts val="0"/>
              </a:spcAft>
              <a:buClr>
                <a:schemeClr val="dk2"/>
              </a:buClr>
              <a:buSzPts val="1800"/>
              <a:buFont typeface="Open Sans"/>
              <a:buChar char="●"/>
            </a:pPr>
            <a:r>
              <a:rPr b="0" i="0" lang="en" sz="1800" u="none" cap="none" strike="noStrike">
                <a:solidFill>
                  <a:schemeClr val="dk2"/>
                </a:solidFill>
                <a:latin typeface="Open Sans"/>
                <a:ea typeface="Open Sans"/>
                <a:cs typeface="Open Sans"/>
                <a:sym typeface="Open Sans"/>
              </a:rPr>
              <a:t>Can enable CRC</a:t>
            </a:r>
            <a:endParaRPr b="0" i="0" sz="1800" u="none" cap="none" strike="noStrike">
              <a:solidFill>
                <a:schemeClr val="dk2"/>
              </a:solidFill>
              <a:latin typeface="Open Sans"/>
              <a:ea typeface="Open Sans"/>
              <a:cs typeface="Open Sans"/>
              <a:sym typeface="Open Sans"/>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Open Sans"/>
              <a:ea typeface="Open Sans"/>
              <a:cs typeface="Open Sans"/>
              <a:sym typeface="Open Sans"/>
            </a:endParaRPr>
          </a:p>
        </p:txBody>
      </p:sp>
      <p:pic>
        <p:nvPicPr>
          <p:cNvPr id="291" name="Google Shape;291;p17"/>
          <p:cNvPicPr preferRelativeResize="0"/>
          <p:nvPr/>
        </p:nvPicPr>
        <p:blipFill rotWithShape="1">
          <a:blip r:embed="rId4">
            <a:alphaModFix/>
          </a:blip>
          <a:srcRect b="0" l="0" r="0" t="0"/>
          <a:stretch/>
        </p:blipFill>
        <p:spPr>
          <a:xfrm>
            <a:off x="8054325" y="4087600"/>
            <a:ext cx="988350" cy="9883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18"/>
          <p:cNvSpPr txBox="1"/>
          <p:nvPr>
            <p:ph type="title"/>
          </p:nvPr>
        </p:nvSpPr>
        <p:spPr>
          <a:xfrm>
            <a:off x="193125" y="450675"/>
            <a:ext cx="88815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RCC AHB Peripheral Clock Enable Register [RCC-&gt;AHB1ENR]</a:t>
            </a:r>
            <a:endParaRPr/>
          </a:p>
        </p:txBody>
      </p:sp>
      <p:pic>
        <p:nvPicPr>
          <p:cNvPr id="297" name="Google Shape;297;p18"/>
          <p:cNvPicPr preferRelativeResize="0"/>
          <p:nvPr/>
        </p:nvPicPr>
        <p:blipFill rotWithShape="1">
          <a:blip r:embed="rId3">
            <a:alphaModFix/>
          </a:blip>
          <a:srcRect b="0" l="0" r="0" t="0"/>
          <a:stretch/>
        </p:blipFill>
        <p:spPr>
          <a:xfrm>
            <a:off x="495300" y="1324925"/>
            <a:ext cx="8153400" cy="1714500"/>
          </a:xfrm>
          <a:prstGeom prst="rect">
            <a:avLst/>
          </a:prstGeom>
          <a:noFill/>
          <a:ln>
            <a:noFill/>
          </a:ln>
        </p:spPr>
      </p:pic>
      <p:sp>
        <p:nvSpPr>
          <p:cNvPr id="298" name="Google Shape;298;p18"/>
          <p:cNvSpPr txBox="1"/>
          <p:nvPr/>
        </p:nvSpPr>
        <p:spPr>
          <a:xfrm>
            <a:off x="569175" y="3002925"/>
            <a:ext cx="3931500" cy="158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2"/>
                </a:solidFill>
                <a:latin typeface="Open Sans"/>
                <a:ea typeface="Open Sans"/>
                <a:cs typeface="Open Sans"/>
                <a:sym typeface="Open Sans"/>
              </a:rPr>
              <a:t>BIT 0 -</a:t>
            </a:r>
            <a:r>
              <a:rPr b="0" i="0" lang="en" sz="1400" u="none" cap="none" strike="noStrike">
                <a:solidFill>
                  <a:schemeClr val="dk2"/>
                </a:solidFill>
                <a:latin typeface="Open Sans"/>
                <a:ea typeface="Open Sans"/>
                <a:cs typeface="Open Sans"/>
                <a:sym typeface="Open Sans"/>
              </a:rPr>
              <a:t> </a:t>
            </a:r>
            <a:r>
              <a:rPr b="1" i="0" lang="en" sz="1400" u="none" cap="none" strike="noStrike">
                <a:solidFill>
                  <a:schemeClr val="dk2"/>
                </a:solidFill>
                <a:latin typeface="Open Sans"/>
                <a:ea typeface="Open Sans"/>
                <a:cs typeface="Open Sans"/>
                <a:sym typeface="Open Sans"/>
              </a:rPr>
              <a:t>GPIOA EN:</a:t>
            </a:r>
            <a:r>
              <a:rPr b="0" i="0" lang="en" sz="1400" u="none" cap="none" strike="noStrike">
                <a:solidFill>
                  <a:schemeClr val="dk2"/>
                </a:solidFill>
                <a:latin typeface="Open Sans"/>
                <a:ea typeface="Open Sans"/>
                <a:cs typeface="Open Sans"/>
                <a:sym typeface="Open Sans"/>
              </a:rPr>
              <a:t> I/O port A clock enable</a:t>
            </a:r>
            <a:endParaRPr b="0" i="0" sz="1400" u="none" cap="none" strike="noStrike">
              <a:solidFill>
                <a:schemeClr val="dk2"/>
              </a:solidFill>
              <a:latin typeface="Open Sans"/>
              <a:ea typeface="Open Sans"/>
              <a:cs typeface="Open Sans"/>
              <a:sym typeface="Open Sans"/>
            </a:endParaRPr>
          </a:p>
          <a:p>
            <a:pPr indent="0" lvl="0" marL="457200" marR="0" rtl="0" algn="l">
              <a:lnSpc>
                <a:spcPct val="100000"/>
              </a:lnSpc>
              <a:spcBef>
                <a:spcPts val="0"/>
              </a:spcBef>
              <a:spcAft>
                <a:spcPts val="0"/>
              </a:spcAft>
              <a:buClr>
                <a:srgbClr val="000000"/>
              </a:buClr>
              <a:buSzPts val="1400"/>
              <a:buFont typeface="Arial"/>
              <a:buNone/>
            </a:pPr>
            <a:r>
              <a:rPr b="0" i="0" lang="en" sz="1400" u="none" cap="none" strike="noStrike">
                <a:solidFill>
                  <a:schemeClr val="dk2"/>
                </a:solidFill>
                <a:latin typeface="Open Sans"/>
                <a:ea typeface="Open Sans"/>
                <a:cs typeface="Open Sans"/>
                <a:sym typeface="Open Sans"/>
              </a:rPr>
              <a:t>   </a:t>
            </a:r>
            <a:r>
              <a:rPr b="1" i="0" lang="en" sz="1400" u="none" cap="none" strike="noStrike">
                <a:solidFill>
                  <a:schemeClr val="dk2"/>
                </a:solidFill>
                <a:latin typeface="Open Sans"/>
                <a:ea typeface="Open Sans"/>
                <a:cs typeface="Open Sans"/>
                <a:sym typeface="Open Sans"/>
              </a:rPr>
              <a:t>0:</a:t>
            </a:r>
            <a:r>
              <a:rPr b="0" i="0" lang="en" sz="1400" u="none" cap="none" strike="noStrike">
                <a:solidFill>
                  <a:schemeClr val="dk2"/>
                </a:solidFill>
                <a:latin typeface="Open Sans"/>
                <a:ea typeface="Open Sans"/>
                <a:cs typeface="Open Sans"/>
                <a:sym typeface="Open Sans"/>
              </a:rPr>
              <a:t> IO port A clock disabled</a:t>
            </a:r>
            <a:endParaRPr b="0" i="0" sz="14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2"/>
                </a:solidFill>
                <a:latin typeface="Open Sans"/>
                <a:ea typeface="Open Sans"/>
                <a:cs typeface="Open Sans"/>
                <a:sym typeface="Open Sans"/>
              </a:rPr>
              <a:t>           </a:t>
            </a:r>
            <a:r>
              <a:rPr b="1" i="0" lang="en" sz="1400" u="none" cap="none" strike="noStrike">
                <a:solidFill>
                  <a:schemeClr val="dk2"/>
                </a:solidFill>
                <a:latin typeface="Open Sans"/>
                <a:ea typeface="Open Sans"/>
                <a:cs typeface="Open Sans"/>
                <a:sym typeface="Open Sans"/>
              </a:rPr>
              <a:t> 1:</a:t>
            </a:r>
            <a:r>
              <a:rPr b="0" i="0" lang="en" sz="1400" u="none" cap="none" strike="noStrike">
                <a:solidFill>
                  <a:schemeClr val="dk2"/>
                </a:solidFill>
                <a:latin typeface="Open Sans"/>
                <a:ea typeface="Open Sans"/>
                <a:cs typeface="Open Sans"/>
                <a:sym typeface="Open Sans"/>
              </a:rPr>
              <a:t> IO port A clock enabled</a:t>
            </a:r>
            <a:endParaRPr b="0" i="0" sz="14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2"/>
                </a:solidFill>
                <a:latin typeface="Open Sans"/>
                <a:ea typeface="Open Sans"/>
                <a:cs typeface="Open Sans"/>
                <a:sym typeface="Open Sans"/>
              </a:rPr>
              <a:t>BIT 1 -</a:t>
            </a:r>
            <a:r>
              <a:rPr b="0" i="0" lang="en" sz="1400" u="none" cap="none" strike="noStrike">
                <a:solidFill>
                  <a:schemeClr val="dk2"/>
                </a:solidFill>
                <a:latin typeface="Open Sans"/>
                <a:ea typeface="Open Sans"/>
                <a:cs typeface="Open Sans"/>
                <a:sym typeface="Open Sans"/>
              </a:rPr>
              <a:t> </a:t>
            </a:r>
            <a:r>
              <a:rPr b="1" i="0" lang="en" sz="1400" u="none" cap="none" strike="noStrike">
                <a:solidFill>
                  <a:schemeClr val="dk2"/>
                </a:solidFill>
                <a:latin typeface="Open Sans"/>
                <a:ea typeface="Open Sans"/>
                <a:cs typeface="Open Sans"/>
                <a:sym typeface="Open Sans"/>
              </a:rPr>
              <a:t>GPIOB EN:</a:t>
            </a:r>
            <a:r>
              <a:rPr b="0" i="0" lang="en" sz="1400" u="none" cap="none" strike="noStrike">
                <a:solidFill>
                  <a:schemeClr val="dk2"/>
                </a:solidFill>
                <a:latin typeface="Open Sans"/>
                <a:ea typeface="Open Sans"/>
                <a:cs typeface="Open Sans"/>
                <a:sym typeface="Open Sans"/>
              </a:rPr>
              <a:t> I/O port B clock enable</a:t>
            </a:r>
            <a:endParaRPr b="0" i="0" sz="1400" u="none" cap="none" strike="noStrike">
              <a:solidFill>
                <a:schemeClr val="dk2"/>
              </a:solidFill>
              <a:latin typeface="Open Sans"/>
              <a:ea typeface="Open Sans"/>
              <a:cs typeface="Open Sans"/>
              <a:sym typeface="Open Sans"/>
            </a:endParaRPr>
          </a:p>
          <a:p>
            <a:pPr indent="0" lvl="0" marL="457200" marR="0" rtl="0" algn="l">
              <a:lnSpc>
                <a:spcPct val="100000"/>
              </a:lnSpc>
              <a:spcBef>
                <a:spcPts val="0"/>
              </a:spcBef>
              <a:spcAft>
                <a:spcPts val="0"/>
              </a:spcAft>
              <a:buClr>
                <a:srgbClr val="000000"/>
              </a:buClr>
              <a:buSzPts val="1400"/>
              <a:buFont typeface="Arial"/>
              <a:buNone/>
            </a:pPr>
            <a:r>
              <a:rPr b="0" i="0" lang="en" sz="1400" u="none" cap="none" strike="noStrike">
                <a:solidFill>
                  <a:schemeClr val="dk2"/>
                </a:solidFill>
                <a:latin typeface="Open Sans"/>
                <a:ea typeface="Open Sans"/>
                <a:cs typeface="Open Sans"/>
                <a:sym typeface="Open Sans"/>
              </a:rPr>
              <a:t>  </a:t>
            </a:r>
            <a:r>
              <a:rPr b="1" i="0" lang="en" sz="1400" u="none" cap="none" strike="noStrike">
                <a:solidFill>
                  <a:schemeClr val="dk2"/>
                </a:solidFill>
                <a:latin typeface="Open Sans"/>
                <a:ea typeface="Open Sans"/>
                <a:cs typeface="Open Sans"/>
                <a:sym typeface="Open Sans"/>
              </a:rPr>
              <a:t>0:</a:t>
            </a:r>
            <a:r>
              <a:rPr b="0" i="0" lang="en" sz="1400" u="none" cap="none" strike="noStrike">
                <a:solidFill>
                  <a:schemeClr val="dk2"/>
                </a:solidFill>
                <a:latin typeface="Open Sans"/>
                <a:ea typeface="Open Sans"/>
                <a:cs typeface="Open Sans"/>
                <a:sym typeface="Open Sans"/>
              </a:rPr>
              <a:t> IO port B clock disabled</a:t>
            </a:r>
            <a:endParaRPr b="0" i="0" sz="14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2"/>
                </a:solidFill>
                <a:latin typeface="Open Sans"/>
                <a:ea typeface="Open Sans"/>
                <a:cs typeface="Open Sans"/>
                <a:sym typeface="Open Sans"/>
              </a:rPr>
              <a:t>           </a:t>
            </a:r>
            <a:r>
              <a:rPr b="1" i="0" lang="en" sz="1400" u="none" cap="none" strike="noStrike">
                <a:solidFill>
                  <a:schemeClr val="dk2"/>
                </a:solidFill>
                <a:latin typeface="Open Sans"/>
                <a:ea typeface="Open Sans"/>
                <a:cs typeface="Open Sans"/>
                <a:sym typeface="Open Sans"/>
              </a:rPr>
              <a:t> 1:</a:t>
            </a:r>
            <a:r>
              <a:rPr b="0" i="0" lang="en" sz="1400" u="none" cap="none" strike="noStrike">
                <a:solidFill>
                  <a:schemeClr val="dk2"/>
                </a:solidFill>
                <a:latin typeface="Open Sans"/>
                <a:ea typeface="Open Sans"/>
                <a:cs typeface="Open Sans"/>
                <a:sym typeface="Open Sans"/>
              </a:rPr>
              <a:t> IO port B clock enabled</a:t>
            </a:r>
            <a:endParaRPr b="0" i="0" sz="14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rPr b="0" i="1" lang="en" sz="1400" u="none" cap="none" strike="noStrike">
                <a:solidFill>
                  <a:schemeClr val="dk2"/>
                </a:solidFill>
                <a:latin typeface="Open Sans"/>
                <a:ea typeface="Open Sans"/>
                <a:cs typeface="Open Sans"/>
                <a:sym typeface="Open Sans"/>
              </a:rPr>
              <a:t>…….. and so on</a:t>
            </a:r>
            <a:endParaRPr b="0" i="1" sz="14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Open Sans"/>
              <a:ea typeface="Open Sans"/>
              <a:cs typeface="Open Sans"/>
              <a:sym typeface="Open Sans"/>
            </a:endParaRPr>
          </a:p>
        </p:txBody>
      </p:sp>
      <p:sp>
        <p:nvSpPr>
          <p:cNvPr id="299" name="Google Shape;299;p18"/>
          <p:cNvSpPr txBox="1"/>
          <p:nvPr/>
        </p:nvSpPr>
        <p:spPr>
          <a:xfrm>
            <a:off x="4762675" y="3039425"/>
            <a:ext cx="3991800" cy="1935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2"/>
                </a:solidFill>
                <a:latin typeface="Open Sans"/>
                <a:ea typeface="Open Sans"/>
                <a:cs typeface="Open Sans"/>
                <a:sym typeface="Open Sans"/>
              </a:rPr>
              <a:t>Example:</a:t>
            </a:r>
            <a:endParaRPr b="1" i="0" sz="16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0000FF"/>
                </a:solidFill>
                <a:highlight>
                  <a:srgbClr val="FFFFFF"/>
                </a:highlight>
                <a:latin typeface="Courier New"/>
                <a:ea typeface="Courier New"/>
                <a:cs typeface="Courier New"/>
                <a:sym typeface="Courier New"/>
              </a:rPr>
              <a:t>RCC-&gt;AHB1EN |= 1&lt;&lt;0 </a:t>
            </a:r>
            <a:r>
              <a:rPr b="1" i="0" lang="en" sz="1200" u="none" cap="none" strike="noStrike">
                <a:solidFill>
                  <a:srgbClr val="0000FF"/>
                </a:solidFill>
                <a:highlight>
                  <a:schemeClr val="lt1"/>
                </a:highlight>
                <a:latin typeface="Courier New"/>
                <a:ea typeface="Courier New"/>
                <a:cs typeface="Courier New"/>
                <a:sym typeface="Courier New"/>
              </a:rPr>
              <a:t>[Port A activated]</a:t>
            </a:r>
            <a:endParaRPr b="1" i="0" sz="1200" u="none" cap="none" strike="noStrike">
              <a:solidFill>
                <a:srgbClr val="0000FF"/>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FF"/>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0000FF"/>
                </a:solidFill>
                <a:highlight>
                  <a:srgbClr val="FFFFFF"/>
                </a:highlight>
                <a:latin typeface="Courier New"/>
                <a:ea typeface="Courier New"/>
                <a:cs typeface="Courier New"/>
                <a:sym typeface="Courier New"/>
              </a:rPr>
              <a:t> </a:t>
            </a:r>
            <a:endParaRPr b="1" i="0" sz="1200" u="none" cap="none" strike="noStrike">
              <a:solidFill>
                <a:srgbClr val="0000FF"/>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FF"/>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0000FF"/>
                </a:solidFill>
                <a:highlight>
                  <a:srgbClr val="FFFFFF"/>
                </a:highlight>
                <a:latin typeface="Courier New"/>
                <a:ea typeface="Courier New"/>
                <a:cs typeface="Courier New"/>
                <a:sym typeface="Courier New"/>
              </a:rPr>
              <a:t>RCC-&gt;AHB1EN |= 1&lt;&lt;3 [Port D activated]</a:t>
            </a:r>
            <a:endParaRPr b="1" i="0" sz="1200" u="none" cap="none" strike="noStrike">
              <a:solidFill>
                <a:srgbClr val="0000FF"/>
              </a:solidFill>
              <a:highlight>
                <a:srgbClr val="FFFFFF"/>
              </a:highlight>
              <a:latin typeface="Courier New"/>
              <a:ea typeface="Courier New"/>
              <a:cs typeface="Courier New"/>
              <a:sym typeface="Courier New"/>
            </a:endParaRPr>
          </a:p>
        </p:txBody>
      </p:sp>
      <p:pic>
        <p:nvPicPr>
          <p:cNvPr id="300" name="Google Shape;300;p18"/>
          <p:cNvPicPr preferRelativeResize="0"/>
          <p:nvPr/>
        </p:nvPicPr>
        <p:blipFill rotWithShape="1">
          <a:blip r:embed="rId4">
            <a:alphaModFix/>
          </a:blip>
          <a:srcRect b="0" l="0" r="0" t="0"/>
          <a:stretch/>
        </p:blipFill>
        <p:spPr>
          <a:xfrm>
            <a:off x="5575975" y="3547125"/>
            <a:ext cx="2329400" cy="492275"/>
          </a:xfrm>
          <a:prstGeom prst="rect">
            <a:avLst/>
          </a:prstGeom>
          <a:noFill/>
          <a:ln>
            <a:noFill/>
          </a:ln>
        </p:spPr>
      </p:pic>
      <p:pic>
        <p:nvPicPr>
          <p:cNvPr id="301" name="Google Shape;301;p18"/>
          <p:cNvPicPr preferRelativeResize="0"/>
          <p:nvPr/>
        </p:nvPicPr>
        <p:blipFill rotWithShape="1">
          <a:blip r:embed="rId5">
            <a:alphaModFix/>
          </a:blip>
          <a:srcRect b="0" l="0" r="0" t="0"/>
          <a:stretch/>
        </p:blipFill>
        <p:spPr>
          <a:xfrm>
            <a:off x="5575975" y="4319375"/>
            <a:ext cx="2412700" cy="575050"/>
          </a:xfrm>
          <a:prstGeom prst="rect">
            <a:avLst/>
          </a:prstGeom>
          <a:noFill/>
          <a:ln>
            <a:noFill/>
          </a:ln>
        </p:spPr>
      </p:pic>
      <p:pic>
        <p:nvPicPr>
          <p:cNvPr id="302" name="Google Shape;302;p18"/>
          <p:cNvPicPr preferRelativeResize="0"/>
          <p:nvPr/>
        </p:nvPicPr>
        <p:blipFill rotWithShape="1">
          <a:blip r:embed="rId6">
            <a:alphaModFix/>
          </a:blip>
          <a:srcRect b="0" l="0" r="0" t="0"/>
          <a:stretch/>
        </p:blipFill>
        <p:spPr>
          <a:xfrm>
            <a:off x="8115050" y="4039400"/>
            <a:ext cx="988350" cy="9883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9"/>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General Purpose I/0 [GPIO]</a:t>
            </a:r>
            <a:endParaRPr/>
          </a:p>
        </p:txBody>
      </p:sp>
      <p:sp>
        <p:nvSpPr>
          <p:cNvPr id="308" name="Google Shape;308;p19"/>
          <p:cNvSpPr txBox="1"/>
          <p:nvPr>
            <p:ph idx="1" type="body"/>
          </p:nvPr>
        </p:nvSpPr>
        <p:spPr>
          <a:xfrm>
            <a:off x="311700" y="1273945"/>
            <a:ext cx="7039800" cy="33027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15000"/>
              </a:lnSpc>
              <a:spcBef>
                <a:spcPts val="0"/>
              </a:spcBef>
              <a:spcAft>
                <a:spcPts val="0"/>
              </a:spcAft>
              <a:buSzPct val="108107"/>
              <a:buNone/>
            </a:pPr>
            <a:r>
              <a:rPr lang="en"/>
              <a:t>Each general-purpose I/O port has -</a:t>
            </a:r>
            <a:endParaRPr/>
          </a:p>
          <a:p>
            <a:pPr indent="-342900" lvl="0" marL="457200" rtl="0" algn="l">
              <a:lnSpc>
                <a:spcPct val="115000"/>
              </a:lnSpc>
              <a:spcBef>
                <a:spcPts val="0"/>
              </a:spcBef>
              <a:spcAft>
                <a:spcPts val="0"/>
              </a:spcAft>
              <a:buSzPct val="108107"/>
              <a:buChar char="●"/>
            </a:pPr>
            <a:r>
              <a:rPr lang="en"/>
              <a:t>A four 32-bit </a:t>
            </a:r>
            <a:r>
              <a:rPr b="1" lang="en"/>
              <a:t>configuration </a:t>
            </a:r>
            <a:r>
              <a:rPr lang="en"/>
              <a:t>registers </a:t>
            </a:r>
            <a:endParaRPr/>
          </a:p>
          <a:p>
            <a:pPr indent="-342900" lvl="1" marL="914400" rtl="0" algn="l">
              <a:lnSpc>
                <a:spcPct val="115000"/>
              </a:lnSpc>
              <a:spcBef>
                <a:spcPts val="0"/>
              </a:spcBef>
              <a:spcAft>
                <a:spcPts val="0"/>
              </a:spcAft>
              <a:buSzPct val="138996"/>
              <a:buChar char="●"/>
            </a:pPr>
            <a:r>
              <a:rPr lang="en"/>
              <a:t>GPIOx_MODER: Mode Register</a:t>
            </a:r>
            <a:endParaRPr/>
          </a:p>
          <a:p>
            <a:pPr indent="-342900" lvl="1" marL="914400" rtl="0" algn="l">
              <a:lnSpc>
                <a:spcPct val="115000"/>
              </a:lnSpc>
              <a:spcBef>
                <a:spcPts val="0"/>
              </a:spcBef>
              <a:spcAft>
                <a:spcPts val="0"/>
              </a:spcAft>
              <a:buSzPct val="138996"/>
              <a:buChar char="●"/>
            </a:pPr>
            <a:r>
              <a:rPr lang="en"/>
              <a:t>GPIOx_OTYPER : Output Type Register</a:t>
            </a:r>
            <a:endParaRPr/>
          </a:p>
          <a:p>
            <a:pPr indent="-342900" lvl="1" marL="914400" rtl="0" algn="l">
              <a:lnSpc>
                <a:spcPct val="115000"/>
              </a:lnSpc>
              <a:spcBef>
                <a:spcPts val="0"/>
              </a:spcBef>
              <a:spcAft>
                <a:spcPts val="0"/>
              </a:spcAft>
              <a:buSzPct val="138996"/>
              <a:buChar char="●"/>
            </a:pPr>
            <a:r>
              <a:rPr lang="en"/>
              <a:t>GPIOx_OSPEEDR : Output Speed Register</a:t>
            </a:r>
            <a:endParaRPr/>
          </a:p>
          <a:p>
            <a:pPr indent="-342900" lvl="1" marL="914400" rtl="0" algn="l">
              <a:lnSpc>
                <a:spcPct val="115000"/>
              </a:lnSpc>
              <a:spcBef>
                <a:spcPts val="0"/>
              </a:spcBef>
              <a:spcAft>
                <a:spcPts val="0"/>
              </a:spcAft>
              <a:buSzPct val="138996"/>
              <a:buChar char="●"/>
            </a:pPr>
            <a:r>
              <a:rPr lang="en"/>
              <a:t>GPIOx_PUPDR) : Pull-up, Pull-Down Register</a:t>
            </a:r>
            <a:endParaRPr/>
          </a:p>
          <a:p>
            <a:pPr indent="-342900" lvl="0" marL="457200" rtl="0" algn="l">
              <a:lnSpc>
                <a:spcPct val="115000"/>
              </a:lnSpc>
              <a:spcBef>
                <a:spcPts val="0"/>
              </a:spcBef>
              <a:spcAft>
                <a:spcPts val="0"/>
              </a:spcAft>
              <a:buSzPct val="108107"/>
              <a:buChar char="●"/>
            </a:pPr>
            <a:r>
              <a:rPr lang="en"/>
              <a:t>Two 32-bit </a:t>
            </a:r>
            <a:r>
              <a:rPr b="1" lang="en"/>
              <a:t>data</a:t>
            </a:r>
            <a:r>
              <a:rPr lang="en"/>
              <a:t> registers </a:t>
            </a:r>
            <a:endParaRPr/>
          </a:p>
          <a:p>
            <a:pPr indent="-342900" lvl="1" marL="914400" rtl="0" algn="l">
              <a:lnSpc>
                <a:spcPct val="115000"/>
              </a:lnSpc>
              <a:spcBef>
                <a:spcPts val="0"/>
              </a:spcBef>
              <a:spcAft>
                <a:spcPts val="0"/>
              </a:spcAft>
              <a:buSzPct val="138996"/>
              <a:buChar char="●"/>
            </a:pPr>
            <a:r>
              <a:rPr lang="en"/>
              <a:t>GPIOx_IDR: Input Data Register</a:t>
            </a:r>
            <a:endParaRPr/>
          </a:p>
          <a:p>
            <a:pPr indent="-342900" lvl="1" marL="914400" rtl="0" algn="l">
              <a:lnSpc>
                <a:spcPct val="115000"/>
              </a:lnSpc>
              <a:spcBef>
                <a:spcPts val="0"/>
              </a:spcBef>
              <a:spcAft>
                <a:spcPts val="0"/>
              </a:spcAft>
              <a:buSzPct val="138996"/>
              <a:buChar char="●"/>
            </a:pPr>
            <a:r>
              <a:rPr lang="en"/>
              <a:t>GPIOx_ODR: Output Data Register</a:t>
            </a:r>
            <a:endParaRPr/>
          </a:p>
          <a:p>
            <a:pPr indent="-342900" lvl="0" marL="457200" rtl="0" algn="l">
              <a:lnSpc>
                <a:spcPct val="115000"/>
              </a:lnSpc>
              <a:spcBef>
                <a:spcPts val="0"/>
              </a:spcBef>
              <a:spcAft>
                <a:spcPts val="0"/>
              </a:spcAft>
              <a:buSzPct val="108107"/>
              <a:buChar char="●"/>
            </a:pPr>
            <a:r>
              <a:rPr lang="en"/>
              <a:t>A 32-</a:t>
            </a:r>
            <a:r>
              <a:rPr b="1" lang="en"/>
              <a:t>bit set/reset</a:t>
            </a:r>
            <a:r>
              <a:rPr lang="en"/>
              <a:t> register (GPIOx_BSRR), </a:t>
            </a:r>
            <a:endParaRPr/>
          </a:p>
          <a:p>
            <a:pPr indent="-342900" lvl="0" marL="457200" rtl="0" algn="l">
              <a:lnSpc>
                <a:spcPct val="115000"/>
              </a:lnSpc>
              <a:spcBef>
                <a:spcPts val="0"/>
              </a:spcBef>
              <a:spcAft>
                <a:spcPts val="0"/>
              </a:spcAft>
              <a:buSzPct val="108107"/>
              <a:buChar char="●"/>
            </a:pPr>
            <a:r>
              <a:rPr lang="en"/>
              <a:t>A 32-bit</a:t>
            </a:r>
            <a:r>
              <a:rPr b="1" lang="en"/>
              <a:t> locking</a:t>
            </a:r>
            <a:r>
              <a:rPr lang="en"/>
              <a:t> register (GPIOx_LCKR) </a:t>
            </a:r>
            <a:endParaRPr/>
          </a:p>
          <a:p>
            <a:pPr indent="-342900" lvl="0" marL="457200" rtl="0" algn="l">
              <a:lnSpc>
                <a:spcPct val="115000"/>
              </a:lnSpc>
              <a:spcBef>
                <a:spcPts val="0"/>
              </a:spcBef>
              <a:spcAft>
                <a:spcPts val="0"/>
              </a:spcAft>
              <a:buSzPct val="108107"/>
              <a:buChar char="●"/>
            </a:pPr>
            <a:r>
              <a:rPr lang="en"/>
              <a:t>Two 32-bit </a:t>
            </a:r>
            <a:r>
              <a:rPr b="1" lang="en"/>
              <a:t>alternate function selection</a:t>
            </a:r>
            <a:endParaRPr/>
          </a:p>
          <a:p>
            <a:pPr indent="-342900" lvl="1" marL="914400" rtl="0" algn="l">
              <a:lnSpc>
                <a:spcPct val="115000"/>
              </a:lnSpc>
              <a:spcBef>
                <a:spcPts val="0"/>
              </a:spcBef>
              <a:spcAft>
                <a:spcPts val="0"/>
              </a:spcAft>
              <a:buSzPct val="138996"/>
              <a:buChar char="●"/>
            </a:pPr>
            <a:r>
              <a:rPr lang="en"/>
              <a:t>GPIOx_AFRH: Alternetive Register High</a:t>
            </a:r>
            <a:endParaRPr/>
          </a:p>
          <a:p>
            <a:pPr indent="-342900" lvl="1" marL="914400" rtl="0" algn="l">
              <a:lnSpc>
                <a:spcPct val="115000"/>
              </a:lnSpc>
              <a:spcBef>
                <a:spcPts val="0"/>
              </a:spcBef>
              <a:spcAft>
                <a:spcPts val="0"/>
              </a:spcAft>
              <a:buSzPct val="138996"/>
              <a:buChar char="●"/>
            </a:pPr>
            <a:r>
              <a:rPr lang="en"/>
              <a:t>GPIOx_AFRL : Alternetive Register Low</a:t>
            </a:r>
            <a:endParaRPr/>
          </a:p>
          <a:p>
            <a:pPr indent="0" lvl="0" marL="0" rtl="0" algn="l">
              <a:lnSpc>
                <a:spcPct val="115000"/>
              </a:lnSpc>
              <a:spcBef>
                <a:spcPts val="1200"/>
              </a:spcBef>
              <a:spcAft>
                <a:spcPts val="1200"/>
              </a:spcAft>
              <a:buSzPct val="108107"/>
              <a:buNone/>
            </a:pPr>
            <a:r>
              <a:t/>
            </a:r>
            <a:endParaRPr/>
          </a:p>
        </p:txBody>
      </p:sp>
      <p:pic>
        <p:nvPicPr>
          <p:cNvPr id="309" name="Google Shape;309;p19"/>
          <p:cNvPicPr preferRelativeResize="0"/>
          <p:nvPr/>
        </p:nvPicPr>
        <p:blipFill rotWithShape="1">
          <a:blip r:embed="rId3">
            <a:alphaModFix/>
          </a:blip>
          <a:srcRect b="0" l="0" r="0" t="0"/>
          <a:stretch/>
        </p:blipFill>
        <p:spPr>
          <a:xfrm>
            <a:off x="8054275" y="4027150"/>
            <a:ext cx="988350" cy="988350"/>
          </a:xfrm>
          <a:prstGeom prst="rect">
            <a:avLst/>
          </a:prstGeom>
          <a:noFill/>
          <a:ln>
            <a:noFill/>
          </a:ln>
        </p:spPr>
      </p:pic>
      <p:pic>
        <p:nvPicPr>
          <p:cNvPr id="310" name="Google Shape;310;p19"/>
          <p:cNvPicPr preferRelativeResize="0"/>
          <p:nvPr/>
        </p:nvPicPr>
        <p:blipFill rotWithShape="1">
          <a:blip r:embed="rId4">
            <a:alphaModFix/>
          </a:blip>
          <a:srcRect b="0" l="0" r="0" t="0"/>
          <a:stretch/>
        </p:blipFill>
        <p:spPr>
          <a:xfrm>
            <a:off x="5254495" y="744404"/>
            <a:ext cx="3335599" cy="337039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g39b66c3cbec_1_0"/>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Internal Interfacing Unit of each GPIO PORT </a:t>
            </a:r>
            <a:endParaRPr/>
          </a:p>
        </p:txBody>
      </p:sp>
      <p:pic>
        <p:nvPicPr>
          <p:cNvPr id="316" name="Google Shape;316;g39b66c3cbec_1_0"/>
          <p:cNvPicPr preferRelativeResize="0"/>
          <p:nvPr/>
        </p:nvPicPr>
        <p:blipFill>
          <a:blip r:embed="rId3">
            <a:alphaModFix/>
          </a:blip>
          <a:stretch>
            <a:fillRect/>
          </a:stretch>
        </p:blipFill>
        <p:spPr>
          <a:xfrm>
            <a:off x="1093012" y="1094775"/>
            <a:ext cx="6957975" cy="37659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5"/>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General Purpose I/0 [GPIO]</a:t>
            </a:r>
            <a:endParaRPr/>
          </a:p>
        </p:txBody>
      </p:sp>
      <p:sp>
        <p:nvSpPr>
          <p:cNvPr id="322" name="Google Shape;322;p45"/>
          <p:cNvSpPr txBox="1"/>
          <p:nvPr>
            <p:ph idx="1" type="body"/>
          </p:nvPr>
        </p:nvSpPr>
        <p:spPr>
          <a:xfrm>
            <a:off x="311700" y="1273945"/>
            <a:ext cx="7039800" cy="33027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15000"/>
              </a:lnSpc>
              <a:spcBef>
                <a:spcPts val="0"/>
              </a:spcBef>
              <a:spcAft>
                <a:spcPts val="0"/>
              </a:spcAft>
              <a:buSzPct val="108107"/>
              <a:buNone/>
            </a:pPr>
            <a:r>
              <a:rPr lang="en"/>
              <a:t>Each general-purpose I/O port has -</a:t>
            </a:r>
            <a:endParaRPr/>
          </a:p>
          <a:p>
            <a:pPr indent="-342900" lvl="0" marL="457200" rtl="0" algn="l">
              <a:lnSpc>
                <a:spcPct val="115000"/>
              </a:lnSpc>
              <a:spcBef>
                <a:spcPts val="0"/>
              </a:spcBef>
              <a:spcAft>
                <a:spcPts val="0"/>
              </a:spcAft>
              <a:buSzPct val="108107"/>
              <a:buFont typeface="Arial"/>
              <a:buAutoNum type="arabicPeriod"/>
            </a:pPr>
            <a:r>
              <a:rPr lang="en"/>
              <a:t>A four 32-bit </a:t>
            </a:r>
            <a:r>
              <a:rPr b="1" lang="en"/>
              <a:t>configuration </a:t>
            </a:r>
            <a:r>
              <a:rPr lang="en"/>
              <a:t>registers </a:t>
            </a:r>
            <a:endParaRPr/>
          </a:p>
          <a:p>
            <a:pPr indent="-342900" lvl="1" marL="914400" rtl="0" algn="l">
              <a:lnSpc>
                <a:spcPct val="115000"/>
              </a:lnSpc>
              <a:spcBef>
                <a:spcPts val="0"/>
              </a:spcBef>
              <a:spcAft>
                <a:spcPts val="0"/>
              </a:spcAft>
              <a:buSzPct val="138996"/>
              <a:buChar char="●"/>
            </a:pPr>
            <a:r>
              <a:rPr lang="en"/>
              <a:t>GPIOx_MODER: Mode Register</a:t>
            </a:r>
            <a:endParaRPr/>
          </a:p>
          <a:p>
            <a:pPr indent="-342900" lvl="1" marL="914400" rtl="0" algn="l">
              <a:lnSpc>
                <a:spcPct val="115000"/>
              </a:lnSpc>
              <a:spcBef>
                <a:spcPts val="0"/>
              </a:spcBef>
              <a:spcAft>
                <a:spcPts val="0"/>
              </a:spcAft>
              <a:buSzPct val="138996"/>
              <a:buChar char="●"/>
            </a:pPr>
            <a:r>
              <a:rPr lang="en"/>
              <a:t>GPIOx_OTYPER : Output Type Register</a:t>
            </a:r>
            <a:endParaRPr/>
          </a:p>
          <a:p>
            <a:pPr indent="-342900" lvl="1" marL="914400" rtl="0" algn="l">
              <a:lnSpc>
                <a:spcPct val="115000"/>
              </a:lnSpc>
              <a:spcBef>
                <a:spcPts val="0"/>
              </a:spcBef>
              <a:spcAft>
                <a:spcPts val="0"/>
              </a:spcAft>
              <a:buSzPct val="138996"/>
              <a:buChar char="●"/>
            </a:pPr>
            <a:r>
              <a:rPr lang="en"/>
              <a:t>GPIOx_OSPEEDR : Output Speed Register</a:t>
            </a:r>
            <a:endParaRPr/>
          </a:p>
          <a:p>
            <a:pPr indent="-342900" lvl="1" marL="914400" rtl="0" algn="l">
              <a:lnSpc>
                <a:spcPct val="115000"/>
              </a:lnSpc>
              <a:spcBef>
                <a:spcPts val="0"/>
              </a:spcBef>
              <a:spcAft>
                <a:spcPts val="0"/>
              </a:spcAft>
              <a:buSzPct val="138996"/>
              <a:buChar char="●"/>
            </a:pPr>
            <a:r>
              <a:rPr lang="en"/>
              <a:t>GPIOx_PUPDR) : Pull-up, Pull-Down Register</a:t>
            </a:r>
            <a:endParaRPr/>
          </a:p>
          <a:p>
            <a:pPr indent="-342900" lvl="0" marL="457200" rtl="0" algn="l">
              <a:lnSpc>
                <a:spcPct val="115000"/>
              </a:lnSpc>
              <a:spcBef>
                <a:spcPts val="0"/>
              </a:spcBef>
              <a:spcAft>
                <a:spcPts val="0"/>
              </a:spcAft>
              <a:buSzPct val="108107"/>
              <a:buFont typeface="Arial"/>
              <a:buAutoNum type="arabicPeriod"/>
            </a:pPr>
            <a:r>
              <a:rPr lang="en"/>
              <a:t>Two 32-bit </a:t>
            </a:r>
            <a:r>
              <a:rPr b="1" lang="en"/>
              <a:t>data</a:t>
            </a:r>
            <a:r>
              <a:rPr lang="en"/>
              <a:t> registers </a:t>
            </a:r>
            <a:endParaRPr/>
          </a:p>
          <a:p>
            <a:pPr indent="-342900" lvl="1" marL="914400" rtl="0" algn="l">
              <a:lnSpc>
                <a:spcPct val="115000"/>
              </a:lnSpc>
              <a:spcBef>
                <a:spcPts val="0"/>
              </a:spcBef>
              <a:spcAft>
                <a:spcPts val="0"/>
              </a:spcAft>
              <a:buSzPct val="138996"/>
              <a:buChar char="●"/>
            </a:pPr>
            <a:r>
              <a:rPr lang="en"/>
              <a:t>GPIOx_IDR: Input Data Register</a:t>
            </a:r>
            <a:endParaRPr/>
          </a:p>
          <a:p>
            <a:pPr indent="-342900" lvl="1" marL="914400" rtl="0" algn="l">
              <a:lnSpc>
                <a:spcPct val="115000"/>
              </a:lnSpc>
              <a:spcBef>
                <a:spcPts val="0"/>
              </a:spcBef>
              <a:spcAft>
                <a:spcPts val="0"/>
              </a:spcAft>
              <a:buSzPct val="138996"/>
              <a:buChar char="●"/>
            </a:pPr>
            <a:r>
              <a:rPr lang="en"/>
              <a:t>GPIOx_ODR: Output Data Register</a:t>
            </a:r>
            <a:endParaRPr/>
          </a:p>
          <a:p>
            <a:pPr indent="-342900" lvl="0" marL="457200" rtl="0" algn="l">
              <a:lnSpc>
                <a:spcPct val="115000"/>
              </a:lnSpc>
              <a:spcBef>
                <a:spcPts val="0"/>
              </a:spcBef>
              <a:spcAft>
                <a:spcPts val="0"/>
              </a:spcAft>
              <a:buSzPct val="108107"/>
              <a:buFont typeface="Arial"/>
              <a:buAutoNum type="arabicPeriod"/>
            </a:pPr>
            <a:r>
              <a:rPr lang="en"/>
              <a:t>A 32-</a:t>
            </a:r>
            <a:r>
              <a:rPr b="1" lang="en"/>
              <a:t>bit set/reset</a:t>
            </a:r>
            <a:r>
              <a:rPr lang="en"/>
              <a:t> register (GPIOx_BSRR), </a:t>
            </a:r>
            <a:endParaRPr/>
          </a:p>
          <a:p>
            <a:pPr indent="-342900" lvl="0" marL="457200" rtl="0" algn="l">
              <a:lnSpc>
                <a:spcPct val="115000"/>
              </a:lnSpc>
              <a:spcBef>
                <a:spcPts val="0"/>
              </a:spcBef>
              <a:spcAft>
                <a:spcPts val="0"/>
              </a:spcAft>
              <a:buSzPct val="108107"/>
              <a:buFont typeface="Arial"/>
              <a:buAutoNum type="arabicPeriod"/>
            </a:pPr>
            <a:r>
              <a:rPr lang="en"/>
              <a:t>A 32-bit</a:t>
            </a:r>
            <a:r>
              <a:rPr b="1" lang="en"/>
              <a:t> locking</a:t>
            </a:r>
            <a:r>
              <a:rPr lang="en"/>
              <a:t> register (GPIOx_LCKR) </a:t>
            </a:r>
            <a:endParaRPr/>
          </a:p>
          <a:p>
            <a:pPr indent="-342900" lvl="0" marL="457200" rtl="0" algn="l">
              <a:lnSpc>
                <a:spcPct val="115000"/>
              </a:lnSpc>
              <a:spcBef>
                <a:spcPts val="0"/>
              </a:spcBef>
              <a:spcAft>
                <a:spcPts val="0"/>
              </a:spcAft>
              <a:buSzPct val="108107"/>
              <a:buFont typeface="Arial"/>
              <a:buAutoNum type="arabicPeriod"/>
            </a:pPr>
            <a:r>
              <a:rPr lang="en"/>
              <a:t>Two 32-bit </a:t>
            </a:r>
            <a:r>
              <a:rPr b="1" lang="en"/>
              <a:t>alternate function selection</a:t>
            </a:r>
            <a:endParaRPr/>
          </a:p>
          <a:p>
            <a:pPr indent="-342900" lvl="1" marL="914400" rtl="0" algn="l">
              <a:lnSpc>
                <a:spcPct val="115000"/>
              </a:lnSpc>
              <a:spcBef>
                <a:spcPts val="0"/>
              </a:spcBef>
              <a:spcAft>
                <a:spcPts val="0"/>
              </a:spcAft>
              <a:buSzPct val="138996"/>
              <a:buChar char="●"/>
            </a:pPr>
            <a:r>
              <a:rPr lang="en"/>
              <a:t>GPIOx_AFRH: Alternetive Register High</a:t>
            </a:r>
            <a:endParaRPr/>
          </a:p>
          <a:p>
            <a:pPr indent="-342900" lvl="1" marL="914400" rtl="0" algn="l">
              <a:lnSpc>
                <a:spcPct val="115000"/>
              </a:lnSpc>
              <a:spcBef>
                <a:spcPts val="0"/>
              </a:spcBef>
              <a:spcAft>
                <a:spcPts val="0"/>
              </a:spcAft>
              <a:buSzPct val="138996"/>
              <a:buChar char="●"/>
            </a:pPr>
            <a:r>
              <a:rPr lang="en"/>
              <a:t>GPIOx_AFRL : Alternetive Register Low</a:t>
            </a:r>
            <a:endParaRPr/>
          </a:p>
          <a:p>
            <a:pPr indent="0" lvl="0" marL="0" rtl="0" algn="l">
              <a:lnSpc>
                <a:spcPct val="115000"/>
              </a:lnSpc>
              <a:spcBef>
                <a:spcPts val="1200"/>
              </a:spcBef>
              <a:spcAft>
                <a:spcPts val="1200"/>
              </a:spcAft>
              <a:buSzPct val="108107"/>
              <a:buNone/>
            </a:pPr>
            <a:r>
              <a:t/>
            </a:r>
            <a:endParaRPr/>
          </a:p>
        </p:txBody>
      </p:sp>
      <p:pic>
        <p:nvPicPr>
          <p:cNvPr id="323" name="Google Shape;323;p45"/>
          <p:cNvPicPr preferRelativeResize="0"/>
          <p:nvPr/>
        </p:nvPicPr>
        <p:blipFill rotWithShape="1">
          <a:blip r:embed="rId3">
            <a:alphaModFix/>
          </a:blip>
          <a:srcRect b="0" l="0" r="0" t="0"/>
          <a:stretch/>
        </p:blipFill>
        <p:spPr>
          <a:xfrm>
            <a:off x="8054275" y="4027150"/>
            <a:ext cx="988350" cy="988350"/>
          </a:xfrm>
          <a:prstGeom prst="rect">
            <a:avLst/>
          </a:prstGeom>
          <a:noFill/>
          <a:ln>
            <a:noFill/>
          </a:ln>
        </p:spPr>
      </p:pic>
      <p:pic>
        <p:nvPicPr>
          <p:cNvPr id="324" name="Google Shape;324;p45"/>
          <p:cNvPicPr preferRelativeResize="0"/>
          <p:nvPr/>
        </p:nvPicPr>
        <p:blipFill rotWithShape="1">
          <a:blip r:embed="rId4">
            <a:alphaModFix/>
          </a:blip>
          <a:srcRect b="0" l="0" r="0" t="0"/>
          <a:stretch/>
        </p:blipFill>
        <p:spPr>
          <a:xfrm>
            <a:off x="5254495" y="744404"/>
            <a:ext cx="3335599" cy="3370396"/>
          </a:xfrm>
          <a:prstGeom prst="rect">
            <a:avLst/>
          </a:prstGeom>
          <a:noFill/>
          <a:ln>
            <a:noFill/>
          </a:ln>
        </p:spPr>
      </p:pic>
      <p:sp>
        <p:nvSpPr>
          <p:cNvPr id="325" name="Google Shape;325;p45"/>
          <p:cNvSpPr/>
          <p:nvPr/>
        </p:nvSpPr>
        <p:spPr>
          <a:xfrm>
            <a:off x="520475" y="1637950"/>
            <a:ext cx="4539300" cy="1285800"/>
          </a:xfrm>
          <a:prstGeom prst="roundRect">
            <a:avLst>
              <a:gd fmla="val 16667" name="adj"/>
            </a:avLst>
          </a:prstGeom>
          <a:noFill/>
          <a:ln cap="flat" cmpd="sng" w="57150">
            <a:solidFill>
              <a:srgbClr val="AE4E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23"/>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434340" lvl="0" marL="457200" rtl="0" algn="l">
              <a:lnSpc>
                <a:spcPct val="100000"/>
              </a:lnSpc>
              <a:spcBef>
                <a:spcPts val="0"/>
              </a:spcBef>
              <a:spcAft>
                <a:spcPts val="0"/>
              </a:spcAft>
              <a:buSzPct val="100000"/>
              <a:buAutoNum type="arabicPeriod"/>
            </a:pPr>
            <a:r>
              <a:rPr lang="en"/>
              <a:t>GPIO Configuration Registers (IO Mode Register) </a:t>
            </a:r>
            <a:endParaRPr/>
          </a:p>
        </p:txBody>
      </p:sp>
      <p:sp>
        <p:nvSpPr>
          <p:cNvPr id="331" name="Google Shape;331;p23"/>
          <p:cNvSpPr txBox="1"/>
          <p:nvPr>
            <p:ph idx="1" type="body"/>
          </p:nvPr>
        </p:nvSpPr>
        <p:spPr>
          <a:xfrm>
            <a:off x="311700" y="1104200"/>
            <a:ext cx="8520600" cy="330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 sz="1400">
                <a:solidFill>
                  <a:schemeClr val="accent1"/>
                </a:solidFill>
              </a:rPr>
              <a:t>GPIOx_MODER ( x = A..H ) :</a:t>
            </a:r>
            <a:r>
              <a:rPr lang="en" sz="1400"/>
              <a:t> These bits configure the I/O direction mode.</a:t>
            </a:r>
            <a:endParaRPr/>
          </a:p>
          <a:p>
            <a:pPr indent="0" lvl="0" marL="0" rtl="0" algn="l">
              <a:lnSpc>
                <a:spcPct val="100000"/>
              </a:lnSpc>
              <a:spcBef>
                <a:spcPts val="0"/>
              </a:spcBef>
              <a:spcAft>
                <a:spcPts val="0"/>
              </a:spcAft>
              <a:buClr>
                <a:srgbClr val="000000"/>
              </a:buClr>
              <a:buSzPts val="1400"/>
              <a:buNone/>
            </a:pPr>
            <a:r>
              <a:t/>
            </a:r>
            <a:endParaRPr sz="1400"/>
          </a:p>
          <a:p>
            <a:pPr indent="-285750" lvl="0" marL="285750" rtl="0" algn="l">
              <a:lnSpc>
                <a:spcPct val="115000"/>
              </a:lnSpc>
              <a:spcBef>
                <a:spcPts val="0"/>
              </a:spcBef>
              <a:spcAft>
                <a:spcPts val="0"/>
              </a:spcAft>
              <a:buSzPts val="1400"/>
              <a:buFont typeface="Arial"/>
              <a:buChar char="•"/>
            </a:pPr>
            <a:r>
              <a:rPr b="1" lang="en" sz="1400"/>
              <a:t>00: Input (reset state)</a:t>
            </a:r>
            <a:endParaRPr/>
          </a:p>
          <a:p>
            <a:pPr indent="-285750" lvl="0" marL="285750" rtl="0" algn="l">
              <a:lnSpc>
                <a:spcPct val="100000"/>
              </a:lnSpc>
              <a:spcBef>
                <a:spcPts val="0"/>
              </a:spcBef>
              <a:spcAft>
                <a:spcPts val="0"/>
              </a:spcAft>
              <a:buClr>
                <a:srgbClr val="000000"/>
              </a:buClr>
              <a:buSzPts val="1400"/>
              <a:buFont typeface="Arial"/>
              <a:buChar char="•"/>
            </a:pPr>
            <a:r>
              <a:rPr b="1" lang="en" sz="1400"/>
              <a:t>01: General purpose output mode</a:t>
            </a:r>
            <a:endParaRPr/>
          </a:p>
          <a:p>
            <a:pPr indent="-285750" lvl="0" marL="285750" rtl="0" algn="l">
              <a:lnSpc>
                <a:spcPct val="100000"/>
              </a:lnSpc>
              <a:spcBef>
                <a:spcPts val="0"/>
              </a:spcBef>
              <a:spcAft>
                <a:spcPts val="0"/>
              </a:spcAft>
              <a:buClr>
                <a:srgbClr val="000000"/>
              </a:buClr>
              <a:buSzPts val="1400"/>
              <a:buFont typeface="Arial"/>
              <a:buChar char="•"/>
            </a:pPr>
            <a:r>
              <a:rPr b="1" lang="en" sz="1400"/>
              <a:t>10: Alternate function mode</a:t>
            </a:r>
            <a:endParaRPr/>
          </a:p>
          <a:p>
            <a:pPr indent="-285750" lvl="0" marL="285750" rtl="0" algn="l">
              <a:lnSpc>
                <a:spcPct val="100000"/>
              </a:lnSpc>
              <a:spcBef>
                <a:spcPts val="0"/>
              </a:spcBef>
              <a:spcAft>
                <a:spcPts val="0"/>
              </a:spcAft>
              <a:buClr>
                <a:srgbClr val="000000"/>
              </a:buClr>
              <a:buSzPts val="1400"/>
              <a:buFont typeface="Arial"/>
              <a:buChar char="•"/>
            </a:pPr>
            <a:r>
              <a:rPr b="1" lang="en" sz="1400"/>
              <a:t>11: Analog mode</a:t>
            </a:r>
            <a:endParaRPr/>
          </a:p>
          <a:p>
            <a:pPr indent="-171450" lvl="0" marL="285750" rtl="0" algn="l">
              <a:lnSpc>
                <a:spcPct val="100000"/>
              </a:lnSpc>
              <a:spcBef>
                <a:spcPts val="0"/>
              </a:spcBef>
              <a:spcAft>
                <a:spcPts val="0"/>
              </a:spcAft>
              <a:buClr>
                <a:srgbClr val="000000"/>
              </a:buClr>
              <a:buSzPts val="1800"/>
              <a:buFont typeface="Arial"/>
              <a:buNone/>
            </a:pPr>
            <a:r>
              <a:t/>
            </a:r>
            <a:endParaRPr b="1"/>
          </a:p>
          <a:p>
            <a:pPr indent="0" lvl="0" marL="0" rtl="0" algn="l">
              <a:lnSpc>
                <a:spcPct val="115000"/>
              </a:lnSpc>
              <a:spcBef>
                <a:spcPts val="0"/>
              </a:spcBef>
              <a:spcAft>
                <a:spcPts val="0"/>
              </a:spcAft>
              <a:buSzPts val="1800"/>
              <a:buNone/>
            </a:pPr>
            <a:r>
              <a:t/>
            </a:r>
            <a:endParaRPr sz="1400"/>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1200"/>
              </a:spcAft>
              <a:buSzPts val="1800"/>
              <a:buNone/>
            </a:pPr>
            <a:r>
              <a:t/>
            </a:r>
            <a:endParaRPr b="1" sz="3600">
              <a:solidFill>
                <a:schemeClr val="accent1"/>
              </a:solidFill>
              <a:latin typeface="PT Sans Narrow"/>
              <a:ea typeface="PT Sans Narrow"/>
              <a:cs typeface="PT Sans Narrow"/>
              <a:sym typeface="PT Sans Narrow"/>
            </a:endParaRPr>
          </a:p>
        </p:txBody>
      </p:sp>
      <p:pic>
        <p:nvPicPr>
          <p:cNvPr id="332" name="Google Shape;332;p23"/>
          <p:cNvPicPr preferRelativeResize="0"/>
          <p:nvPr/>
        </p:nvPicPr>
        <p:blipFill rotWithShape="1">
          <a:blip r:embed="rId3">
            <a:alphaModFix/>
          </a:blip>
          <a:srcRect b="0" l="0" r="0" t="0"/>
          <a:stretch/>
        </p:blipFill>
        <p:spPr>
          <a:xfrm>
            <a:off x="512435" y="2633631"/>
            <a:ext cx="7783851" cy="1573925"/>
          </a:xfrm>
          <a:prstGeom prst="rect">
            <a:avLst/>
          </a:prstGeom>
          <a:noFill/>
          <a:ln>
            <a:noFill/>
          </a:ln>
        </p:spPr>
      </p:pic>
      <p:sp>
        <p:nvSpPr>
          <p:cNvPr id="333" name="Google Shape;333;p23"/>
          <p:cNvSpPr txBox="1"/>
          <p:nvPr/>
        </p:nvSpPr>
        <p:spPr>
          <a:xfrm>
            <a:off x="778575" y="4328160"/>
            <a:ext cx="7241100" cy="471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2"/>
                </a:solidFill>
                <a:latin typeface="Open Sans"/>
                <a:ea typeface="Open Sans"/>
                <a:cs typeface="Open Sans"/>
                <a:sym typeface="Open Sans"/>
              </a:rPr>
              <a:t>Bit [0..31]:</a:t>
            </a:r>
            <a:r>
              <a:rPr b="0" i="0" lang="en" sz="1400" u="none" cap="none" strike="noStrike">
                <a:solidFill>
                  <a:schemeClr val="dk2"/>
                </a:solidFill>
                <a:latin typeface="Open Sans"/>
                <a:ea typeface="Open Sans"/>
                <a:cs typeface="Open Sans"/>
                <a:sym typeface="Open Sans"/>
              </a:rPr>
              <a:t> </a:t>
            </a:r>
            <a:r>
              <a:rPr b="1" i="0" lang="en" sz="1400" u="none" cap="none" strike="noStrike">
                <a:solidFill>
                  <a:schemeClr val="dk2"/>
                </a:solidFill>
                <a:latin typeface="Open Sans"/>
                <a:ea typeface="Open Sans"/>
                <a:cs typeface="Open Sans"/>
                <a:sym typeface="Open Sans"/>
              </a:rPr>
              <a:t>MODERy[1:0]:</a:t>
            </a:r>
            <a:r>
              <a:rPr b="0" i="0" lang="en" sz="1400" u="none" cap="none" strike="noStrike">
                <a:solidFill>
                  <a:schemeClr val="dk2"/>
                </a:solidFill>
                <a:latin typeface="Open Sans"/>
                <a:ea typeface="Open Sans"/>
                <a:cs typeface="Open Sans"/>
                <a:sym typeface="Open Sans"/>
              </a:rPr>
              <a:t> Port x configuration bits (y = pin = 0...15)</a:t>
            </a:r>
            <a:endParaRPr b="0" i="0" sz="1400" u="none" cap="none" strike="noStrike">
              <a:solidFill>
                <a:schemeClr val="dk2"/>
              </a:solidFill>
              <a:latin typeface="Open Sans"/>
              <a:ea typeface="Open Sans"/>
              <a:cs typeface="Open Sans"/>
              <a:sym typeface="Open Sans"/>
            </a:endParaRPr>
          </a:p>
        </p:txBody>
      </p:sp>
      <p:sp>
        <p:nvSpPr>
          <p:cNvPr id="334" name="Google Shape;334;p23"/>
          <p:cNvSpPr txBox="1"/>
          <p:nvPr/>
        </p:nvSpPr>
        <p:spPr>
          <a:xfrm>
            <a:off x="6886500" y="3743000"/>
            <a:ext cx="811800" cy="735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Open Sans"/>
                <a:ea typeface="Open Sans"/>
                <a:cs typeface="Open Sans"/>
                <a:sym typeface="Open Sans"/>
              </a:rPr>
              <a:t> </a:t>
            </a:r>
            <a:endParaRPr b="0" i="0" sz="1800" u="none" cap="none" strike="noStrike">
              <a:solidFill>
                <a:schemeClr val="dk2"/>
              </a:solidFill>
              <a:latin typeface="Open Sans"/>
              <a:ea typeface="Open Sans"/>
              <a:cs typeface="Open Sans"/>
              <a:sym typeface="Open Sans"/>
            </a:endParaRPr>
          </a:p>
        </p:txBody>
      </p:sp>
      <p:pic>
        <p:nvPicPr>
          <p:cNvPr id="335" name="Google Shape;335;p23"/>
          <p:cNvPicPr preferRelativeResize="0"/>
          <p:nvPr/>
        </p:nvPicPr>
        <p:blipFill rotWithShape="1">
          <a:blip r:embed="rId4">
            <a:alphaModFix/>
          </a:blip>
          <a:srcRect b="0" l="0" r="0" t="0"/>
          <a:stretch/>
        </p:blipFill>
        <p:spPr>
          <a:xfrm>
            <a:off x="8054275" y="4027150"/>
            <a:ext cx="988350" cy="9883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24"/>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434340" lvl="0" marL="457200" rtl="0" algn="l">
              <a:lnSpc>
                <a:spcPct val="100000"/>
              </a:lnSpc>
              <a:spcBef>
                <a:spcPts val="0"/>
              </a:spcBef>
              <a:spcAft>
                <a:spcPts val="0"/>
              </a:spcAft>
              <a:buSzPct val="100000"/>
              <a:buAutoNum type="arabicPeriod"/>
            </a:pPr>
            <a:r>
              <a:rPr lang="en"/>
              <a:t>GPIO Configuration Registers (Output Type Register)</a:t>
            </a:r>
            <a:endParaRPr/>
          </a:p>
        </p:txBody>
      </p:sp>
      <p:sp>
        <p:nvSpPr>
          <p:cNvPr id="341" name="Google Shape;341;p24"/>
          <p:cNvSpPr txBox="1"/>
          <p:nvPr>
            <p:ph idx="1" type="body"/>
          </p:nvPr>
        </p:nvSpPr>
        <p:spPr>
          <a:xfrm>
            <a:off x="375625" y="1266325"/>
            <a:ext cx="8520600" cy="330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 sz="1400">
                <a:solidFill>
                  <a:schemeClr val="accent1"/>
                </a:solidFill>
              </a:rPr>
              <a:t>GPIOx_OTYPER (x=A..H):</a:t>
            </a:r>
            <a:r>
              <a:rPr lang="en" sz="1200"/>
              <a:t>These bits are written by software to configure the output type of the I/O port.</a:t>
            </a:r>
            <a:endParaRPr/>
          </a:p>
          <a:p>
            <a:pPr indent="-95250" lvl="0" marL="171450" rtl="0" algn="l">
              <a:lnSpc>
                <a:spcPct val="100000"/>
              </a:lnSpc>
              <a:spcBef>
                <a:spcPts val="0"/>
              </a:spcBef>
              <a:spcAft>
                <a:spcPts val="0"/>
              </a:spcAft>
              <a:buClr>
                <a:srgbClr val="000000"/>
              </a:buClr>
              <a:buSzPts val="1200"/>
              <a:buNone/>
            </a:pPr>
            <a:r>
              <a:t/>
            </a:r>
            <a:endParaRPr b="1" sz="1200"/>
          </a:p>
          <a:p>
            <a:pPr indent="-171450" lvl="0" marL="171450" rtl="0" algn="l">
              <a:lnSpc>
                <a:spcPct val="100000"/>
              </a:lnSpc>
              <a:spcBef>
                <a:spcPts val="0"/>
              </a:spcBef>
              <a:spcAft>
                <a:spcPts val="0"/>
              </a:spcAft>
              <a:buClr>
                <a:srgbClr val="000000"/>
              </a:buClr>
              <a:buSzPts val="1200"/>
              <a:buChar char="●"/>
            </a:pPr>
            <a:r>
              <a:rPr b="1" lang="en" sz="1400"/>
              <a:t>0: Output push-pull (reset state)</a:t>
            </a:r>
            <a:endParaRPr/>
          </a:p>
          <a:p>
            <a:pPr indent="-171450" lvl="0" marL="171450" rtl="0" algn="l">
              <a:lnSpc>
                <a:spcPct val="100000"/>
              </a:lnSpc>
              <a:spcBef>
                <a:spcPts val="0"/>
              </a:spcBef>
              <a:spcAft>
                <a:spcPts val="0"/>
              </a:spcAft>
              <a:buClr>
                <a:srgbClr val="000000"/>
              </a:buClr>
              <a:buSzPts val="1200"/>
              <a:buChar char="●"/>
            </a:pPr>
            <a:r>
              <a:rPr b="1" lang="en" sz="1400"/>
              <a:t>1: Output open-drain</a:t>
            </a:r>
            <a:endParaRPr b="1" sz="1400"/>
          </a:p>
          <a:p>
            <a:pPr indent="0" lvl="0" marL="0" rtl="0" algn="l">
              <a:lnSpc>
                <a:spcPct val="115000"/>
              </a:lnSpc>
              <a:spcBef>
                <a:spcPts val="1200"/>
              </a:spcBef>
              <a:spcAft>
                <a:spcPts val="1200"/>
              </a:spcAft>
              <a:buSzPts val="1800"/>
              <a:buNone/>
            </a:pPr>
            <a:r>
              <a:t/>
            </a:r>
            <a:endParaRPr b="1" sz="3600">
              <a:solidFill>
                <a:schemeClr val="accent1"/>
              </a:solidFill>
              <a:latin typeface="PT Sans Narrow"/>
              <a:ea typeface="PT Sans Narrow"/>
              <a:cs typeface="PT Sans Narrow"/>
              <a:sym typeface="PT Sans Narrow"/>
            </a:endParaRPr>
          </a:p>
        </p:txBody>
      </p:sp>
      <p:pic>
        <p:nvPicPr>
          <p:cNvPr id="342" name="Google Shape;342;p24"/>
          <p:cNvPicPr preferRelativeResize="0"/>
          <p:nvPr/>
        </p:nvPicPr>
        <p:blipFill rotWithShape="1">
          <a:blip r:embed="rId3">
            <a:alphaModFix/>
          </a:blip>
          <a:srcRect b="0" l="0" r="0" t="0"/>
          <a:stretch/>
        </p:blipFill>
        <p:spPr>
          <a:xfrm>
            <a:off x="284048" y="2491740"/>
            <a:ext cx="8257972" cy="1457480"/>
          </a:xfrm>
          <a:prstGeom prst="rect">
            <a:avLst/>
          </a:prstGeom>
          <a:noFill/>
          <a:ln>
            <a:noFill/>
          </a:ln>
        </p:spPr>
      </p:pic>
      <p:pic>
        <p:nvPicPr>
          <p:cNvPr id="343" name="Google Shape;343;p24"/>
          <p:cNvPicPr preferRelativeResize="0"/>
          <p:nvPr/>
        </p:nvPicPr>
        <p:blipFill rotWithShape="1">
          <a:blip r:embed="rId4">
            <a:alphaModFix/>
          </a:blip>
          <a:srcRect b="0" l="0" r="0" t="0"/>
          <a:stretch/>
        </p:blipFill>
        <p:spPr>
          <a:xfrm>
            <a:off x="8054275" y="4027150"/>
            <a:ext cx="988350" cy="988350"/>
          </a:xfrm>
          <a:prstGeom prst="rect">
            <a:avLst/>
          </a:prstGeom>
          <a:noFill/>
          <a:ln>
            <a:noFill/>
          </a:ln>
        </p:spPr>
      </p:pic>
      <p:sp>
        <p:nvSpPr>
          <p:cNvPr id="344" name="Google Shape;344;p24"/>
          <p:cNvSpPr txBox="1"/>
          <p:nvPr/>
        </p:nvSpPr>
        <p:spPr>
          <a:xfrm>
            <a:off x="749575" y="3817619"/>
            <a:ext cx="5043900" cy="602905"/>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2"/>
                </a:solidFill>
                <a:latin typeface="Open Sans"/>
                <a:ea typeface="Open Sans"/>
                <a:cs typeface="Open Sans"/>
                <a:sym typeface="Open Sans"/>
              </a:rPr>
              <a:t>Bits 31:16</a:t>
            </a:r>
            <a:r>
              <a:rPr b="0" i="0" lang="en" sz="1200" u="none" cap="none" strike="noStrike">
                <a:solidFill>
                  <a:schemeClr val="dk2"/>
                </a:solidFill>
                <a:latin typeface="Open Sans"/>
                <a:ea typeface="Open Sans"/>
                <a:cs typeface="Open Sans"/>
                <a:sym typeface="Open Sans"/>
              </a:rPr>
              <a:t> - Reserved</a:t>
            </a:r>
            <a:endParaRPr b="0" i="0" sz="12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2"/>
                </a:solidFill>
                <a:latin typeface="Open Sans"/>
                <a:ea typeface="Open Sans"/>
                <a:cs typeface="Open Sans"/>
                <a:sym typeface="Open Sans"/>
              </a:rPr>
              <a:t>Bits 15:0 -</a:t>
            </a:r>
            <a:r>
              <a:rPr b="0" i="0" lang="en" sz="1200" u="none" cap="none" strike="noStrike">
                <a:solidFill>
                  <a:schemeClr val="dk2"/>
                </a:solidFill>
                <a:latin typeface="Open Sans"/>
                <a:ea typeface="Open Sans"/>
                <a:cs typeface="Open Sans"/>
                <a:sym typeface="Open Sans"/>
              </a:rPr>
              <a:t> </a:t>
            </a:r>
            <a:r>
              <a:rPr b="1" i="0" lang="en" sz="1200" u="none" cap="none" strike="noStrike">
                <a:solidFill>
                  <a:schemeClr val="dk2"/>
                </a:solidFill>
                <a:latin typeface="Open Sans"/>
                <a:ea typeface="Open Sans"/>
                <a:cs typeface="Open Sans"/>
                <a:sym typeface="Open Sans"/>
              </a:rPr>
              <a:t>OTy:</a:t>
            </a:r>
            <a:r>
              <a:rPr b="0" i="0" lang="en" sz="1200" u="none" cap="none" strike="noStrike">
                <a:solidFill>
                  <a:schemeClr val="dk2"/>
                </a:solidFill>
                <a:latin typeface="Open Sans"/>
                <a:ea typeface="Open Sans"/>
                <a:cs typeface="Open Sans"/>
                <a:sym typeface="Open Sans"/>
              </a:rPr>
              <a:t> Port x configuration bits (y = 0..15)</a:t>
            </a:r>
            <a:endParaRPr b="0" i="0" sz="1200" u="none" cap="none" strike="noStrike">
              <a:solidFill>
                <a:schemeClr val="dk2"/>
              </a:solidFill>
              <a:latin typeface="Open Sans"/>
              <a:ea typeface="Open Sans"/>
              <a:cs typeface="Open Sans"/>
              <a:sym typeface="Open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25"/>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434340" lvl="0" marL="457200" rtl="0" algn="l">
              <a:lnSpc>
                <a:spcPct val="100000"/>
              </a:lnSpc>
              <a:spcBef>
                <a:spcPts val="0"/>
              </a:spcBef>
              <a:spcAft>
                <a:spcPts val="0"/>
              </a:spcAft>
              <a:buSzPct val="100000"/>
              <a:buAutoNum type="arabicPeriod"/>
            </a:pPr>
            <a:r>
              <a:rPr lang="en"/>
              <a:t>GPIO Configuration Registers (Output Speed Register)</a:t>
            </a:r>
            <a:endParaRPr/>
          </a:p>
        </p:txBody>
      </p:sp>
      <p:pic>
        <p:nvPicPr>
          <p:cNvPr id="350" name="Google Shape;350;p25"/>
          <p:cNvPicPr preferRelativeResize="0"/>
          <p:nvPr/>
        </p:nvPicPr>
        <p:blipFill rotWithShape="1">
          <a:blip r:embed="rId3">
            <a:alphaModFix/>
          </a:blip>
          <a:srcRect b="0" l="0" r="0" t="0"/>
          <a:stretch/>
        </p:blipFill>
        <p:spPr>
          <a:xfrm>
            <a:off x="464805" y="2688723"/>
            <a:ext cx="8359874" cy="1792975"/>
          </a:xfrm>
          <a:prstGeom prst="rect">
            <a:avLst/>
          </a:prstGeom>
          <a:noFill/>
          <a:ln>
            <a:noFill/>
          </a:ln>
        </p:spPr>
      </p:pic>
      <p:sp>
        <p:nvSpPr>
          <p:cNvPr id="351" name="Google Shape;351;p25"/>
          <p:cNvSpPr txBox="1"/>
          <p:nvPr>
            <p:ph idx="1" type="body"/>
          </p:nvPr>
        </p:nvSpPr>
        <p:spPr>
          <a:xfrm>
            <a:off x="311700" y="1266325"/>
            <a:ext cx="8520600" cy="1515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 sz="1400">
                <a:solidFill>
                  <a:schemeClr val="accent1"/>
                </a:solidFill>
              </a:rPr>
              <a:t>GPIOx_OSPEEDR (x=A..H): </a:t>
            </a:r>
            <a:r>
              <a:rPr lang="en" sz="1200">
                <a:solidFill>
                  <a:srgbClr val="666666"/>
                </a:solidFill>
              </a:rPr>
              <a:t>These bits are to configure the I/O output speed.</a:t>
            </a:r>
            <a:endParaRPr/>
          </a:p>
          <a:p>
            <a:pPr indent="0" lvl="0" marL="0" rtl="0" algn="l">
              <a:lnSpc>
                <a:spcPct val="115000"/>
              </a:lnSpc>
              <a:spcBef>
                <a:spcPts val="0"/>
              </a:spcBef>
              <a:spcAft>
                <a:spcPts val="0"/>
              </a:spcAft>
              <a:buSzPts val="1800"/>
              <a:buNone/>
            </a:pPr>
            <a:r>
              <a:t/>
            </a:r>
            <a:endParaRPr sz="1200">
              <a:solidFill>
                <a:srgbClr val="666666"/>
              </a:solidFill>
            </a:endParaRPr>
          </a:p>
          <a:p>
            <a:pPr indent="-171450" lvl="0" marL="171450" rtl="0" algn="l">
              <a:lnSpc>
                <a:spcPct val="100000"/>
              </a:lnSpc>
              <a:spcBef>
                <a:spcPts val="0"/>
              </a:spcBef>
              <a:spcAft>
                <a:spcPts val="0"/>
              </a:spcAft>
              <a:buClr>
                <a:srgbClr val="000000"/>
              </a:buClr>
              <a:buSzPts val="1200"/>
              <a:buChar char="●"/>
            </a:pPr>
            <a:r>
              <a:rPr b="1" lang="en" sz="1400"/>
              <a:t>00: Low speed</a:t>
            </a:r>
            <a:endParaRPr/>
          </a:p>
          <a:p>
            <a:pPr indent="-171450" lvl="0" marL="171450" rtl="0" algn="l">
              <a:lnSpc>
                <a:spcPct val="100000"/>
              </a:lnSpc>
              <a:spcBef>
                <a:spcPts val="0"/>
              </a:spcBef>
              <a:spcAft>
                <a:spcPts val="0"/>
              </a:spcAft>
              <a:buClr>
                <a:srgbClr val="000000"/>
              </a:buClr>
              <a:buSzPts val="1200"/>
              <a:buChar char="●"/>
            </a:pPr>
            <a:r>
              <a:rPr b="1" lang="en" sz="1400"/>
              <a:t>01: Medium speed</a:t>
            </a:r>
            <a:endParaRPr/>
          </a:p>
          <a:p>
            <a:pPr indent="-171450" lvl="0" marL="171450" rtl="0" algn="l">
              <a:lnSpc>
                <a:spcPct val="100000"/>
              </a:lnSpc>
              <a:spcBef>
                <a:spcPts val="0"/>
              </a:spcBef>
              <a:spcAft>
                <a:spcPts val="0"/>
              </a:spcAft>
              <a:buClr>
                <a:srgbClr val="000000"/>
              </a:buClr>
              <a:buSzPts val="1200"/>
              <a:buChar char="●"/>
            </a:pPr>
            <a:r>
              <a:rPr b="1" lang="en" sz="1400"/>
              <a:t>10: Fast speed</a:t>
            </a:r>
            <a:endParaRPr/>
          </a:p>
          <a:p>
            <a:pPr indent="-171450" lvl="0" marL="171450" rtl="0" algn="l">
              <a:lnSpc>
                <a:spcPct val="100000"/>
              </a:lnSpc>
              <a:spcBef>
                <a:spcPts val="0"/>
              </a:spcBef>
              <a:spcAft>
                <a:spcPts val="0"/>
              </a:spcAft>
              <a:buClr>
                <a:srgbClr val="000000"/>
              </a:buClr>
              <a:buSzPts val="1200"/>
              <a:buChar char="●"/>
            </a:pPr>
            <a:r>
              <a:rPr b="1" lang="en" sz="1400"/>
              <a:t>11: High speed</a:t>
            </a:r>
            <a:endParaRPr b="1" sz="1400"/>
          </a:p>
        </p:txBody>
      </p:sp>
      <p:pic>
        <p:nvPicPr>
          <p:cNvPr id="352" name="Google Shape;352;p25"/>
          <p:cNvPicPr preferRelativeResize="0"/>
          <p:nvPr/>
        </p:nvPicPr>
        <p:blipFill rotWithShape="1">
          <a:blip r:embed="rId4">
            <a:alphaModFix/>
          </a:blip>
          <a:srcRect b="0" l="0" r="0" t="0"/>
          <a:stretch/>
        </p:blipFill>
        <p:spPr>
          <a:xfrm>
            <a:off x="8054275" y="4027150"/>
            <a:ext cx="988350" cy="988350"/>
          </a:xfrm>
          <a:prstGeom prst="rect">
            <a:avLst/>
          </a:prstGeom>
          <a:noFill/>
          <a:ln>
            <a:noFill/>
          </a:ln>
        </p:spPr>
      </p:pic>
      <p:sp>
        <p:nvSpPr>
          <p:cNvPr id="353" name="Google Shape;353;p25"/>
          <p:cNvSpPr txBox="1"/>
          <p:nvPr/>
        </p:nvSpPr>
        <p:spPr>
          <a:xfrm>
            <a:off x="701165" y="4442459"/>
            <a:ext cx="6009000" cy="414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2"/>
                </a:solidFill>
                <a:latin typeface="Open Sans"/>
                <a:ea typeface="Open Sans"/>
                <a:cs typeface="Open Sans"/>
                <a:sym typeface="Open Sans"/>
              </a:rPr>
              <a:t>OSPEEDRy[1:0]:</a:t>
            </a:r>
            <a:r>
              <a:rPr b="0" i="0" lang="en" sz="1200" u="none" cap="none" strike="noStrike">
                <a:solidFill>
                  <a:schemeClr val="dk2"/>
                </a:solidFill>
                <a:latin typeface="Open Sans"/>
                <a:ea typeface="Open Sans"/>
                <a:cs typeface="Open Sans"/>
                <a:sym typeface="Open Sans"/>
              </a:rPr>
              <a:t> Port x configuration bits (y = 0..15)</a:t>
            </a:r>
            <a:endParaRPr b="0" i="0" sz="12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Open Sans"/>
                <a:ea typeface="Open Sans"/>
                <a:cs typeface="Open Sans"/>
                <a:sym typeface="Open Sans"/>
              </a:rPr>
              <a:t>                           </a:t>
            </a:r>
            <a:endParaRPr b="0" i="0" sz="1800" u="none" cap="none" strike="noStrike">
              <a:solidFill>
                <a:schemeClr val="dk2"/>
              </a:solidFill>
              <a:latin typeface="Open Sans"/>
              <a:ea typeface="Open Sans"/>
              <a:cs typeface="Open Sans"/>
              <a:sym typeface="Open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26"/>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p>
            <a:pPr indent="-434340" lvl="0" marL="457200" rtl="0" algn="l">
              <a:lnSpc>
                <a:spcPct val="100000"/>
              </a:lnSpc>
              <a:spcBef>
                <a:spcPts val="0"/>
              </a:spcBef>
              <a:spcAft>
                <a:spcPts val="0"/>
              </a:spcAft>
              <a:buSzPts val="2800"/>
              <a:buAutoNum type="arabicPeriod"/>
            </a:pPr>
            <a:r>
              <a:rPr lang="en" sz="2800"/>
              <a:t>GPIO Configuration Registers (Pull-up Pull-down Register) </a:t>
            </a:r>
            <a:endParaRPr sz="2800"/>
          </a:p>
        </p:txBody>
      </p:sp>
      <p:sp>
        <p:nvSpPr>
          <p:cNvPr id="359" name="Google Shape;359;p26"/>
          <p:cNvSpPr txBox="1"/>
          <p:nvPr>
            <p:ph idx="1" type="body"/>
          </p:nvPr>
        </p:nvSpPr>
        <p:spPr>
          <a:xfrm>
            <a:off x="311700" y="1159645"/>
            <a:ext cx="8520600" cy="330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 sz="1400">
                <a:solidFill>
                  <a:schemeClr val="accent1"/>
                </a:solidFill>
              </a:rPr>
              <a:t>GPIOx_PUPDR (x=A..H): </a:t>
            </a:r>
            <a:r>
              <a:rPr lang="en" sz="1200"/>
              <a:t>These bits are written to configure the I/O input pull-up or pull-down</a:t>
            </a:r>
            <a:endParaRPr/>
          </a:p>
          <a:p>
            <a:pPr indent="-171450" lvl="0" marL="285750" rtl="0" algn="l">
              <a:lnSpc>
                <a:spcPct val="115000"/>
              </a:lnSpc>
              <a:spcBef>
                <a:spcPts val="0"/>
              </a:spcBef>
              <a:spcAft>
                <a:spcPts val="0"/>
              </a:spcAft>
              <a:buSzPts val="1800"/>
              <a:buNone/>
            </a:pPr>
            <a:r>
              <a:t/>
            </a:r>
            <a:endParaRPr b="1" sz="1400">
              <a:latin typeface="PT Sans Narrow"/>
              <a:ea typeface="PT Sans Narrow"/>
              <a:cs typeface="PT Sans Narrow"/>
              <a:sym typeface="PT Sans Narrow"/>
            </a:endParaRPr>
          </a:p>
          <a:p>
            <a:pPr indent="-285750" lvl="0" marL="285750" rtl="0" algn="l">
              <a:lnSpc>
                <a:spcPct val="100000"/>
              </a:lnSpc>
              <a:spcBef>
                <a:spcPts val="0"/>
              </a:spcBef>
              <a:spcAft>
                <a:spcPts val="0"/>
              </a:spcAft>
              <a:buClr>
                <a:srgbClr val="000000"/>
              </a:buClr>
              <a:buSzPts val="1200"/>
              <a:buChar char="●"/>
            </a:pPr>
            <a:r>
              <a:rPr b="1" lang="en" sz="1400"/>
              <a:t>00: No pull-up, pull-down</a:t>
            </a:r>
            <a:endParaRPr/>
          </a:p>
          <a:p>
            <a:pPr indent="-285750" lvl="0" marL="285750" rtl="0" algn="l">
              <a:lnSpc>
                <a:spcPct val="100000"/>
              </a:lnSpc>
              <a:spcBef>
                <a:spcPts val="0"/>
              </a:spcBef>
              <a:spcAft>
                <a:spcPts val="0"/>
              </a:spcAft>
              <a:buClr>
                <a:srgbClr val="000000"/>
              </a:buClr>
              <a:buSzPts val="1200"/>
              <a:buChar char="●"/>
            </a:pPr>
            <a:r>
              <a:rPr b="1" lang="en" sz="1400"/>
              <a:t>01: Pull-up</a:t>
            </a:r>
            <a:endParaRPr/>
          </a:p>
          <a:p>
            <a:pPr indent="-285750" lvl="0" marL="285750" rtl="0" algn="l">
              <a:lnSpc>
                <a:spcPct val="100000"/>
              </a:lnSpc>
              <a:spcBef>
                <a:spcPts val="0"/>
              </a:spcBef>
              <a:spcAft>
                <a:spcPts val="0"/>
              </a:spcAft>
              <a:buClr>
                <a:srgbClr val="000000"/>
              </a:buClr>
              <a:buSzPts val="1200"/>
              <a:buChar char="●"/>
            </a:pPr>
            <a:r>
              <a:rPr b="1" lang="en" sz="1400"/>
              <a:t>10: Pull-down</a:t>
            </a:r>
            <a:endParaRPr/>
          </a:p>
          <a:p>
            <a:pPr indent="-285750" lvl="0" marL="285750" rtl="0" algn="l">
              <a:lnSpc>
                <a:spcPct val="100000"/>
              </a:lnSpc>
              <a:spcBef>
                <a:spcPts val="0"/>
              </a:spcBef>
              <a:spcAft>
                <a:spcPts val="0"/>
              </a:spcAft>
              <a:buClr>
                <a:srgbClr val="000000"/>
              </a:buClr>
              <a:buSzPts val="1200"/>
              <a:buChar char="●"/>
            </a:pPr>
            <a:r>
              <a:rPr b="1" lang="en" sz="1400"/>
              <a:t>11: Reserved</a:t>
            </a:r>
            <a:endParaRPr b="1" sz="1400"/>
          </a:p>
        </p:txBody>
      </p:sp>
      <p:pic>
        <p:nvPicPr>
          <p:cNvPr id="360" name="Google Shape;360;p26"/>
          <p:cNvPicPr preferRelativeResize="0"/>
          <p:nvPr/>
        </p:nvPicPr>
        <p:blipFill rotWithShape="1">
          <a:blip r:embed="rId3">
            <a:alphaModFix/>
          </a:blip>
          <a:srcRect b="0" l="0" r="0" t="0"/>
          <a:stretch/>
        </p:blipFill>
        <p:spPr>
          <a:xfrm>
            <a:off x="260825" y="2669375"/>
            <a:ext cx="8083075" cy="1445425"/>
          </a:xfrm>
          <a:prstGeom prst="rect">
            <a:avLst/>
          </a:prstGeom>
          <a:noFill/>
          <a:ln>
            <a:noFill/>
          </a:ln>
        </p:spPr>
      </p:pic>
      <p:pic>
        <p:nvPicPr>
          <p:cNvPr id="361" name="Google Shape;361;p26"/>
          <p:cNvPicPr preferRelativeResize="0"/>
          <p:nvPr/>
        </p:nvPicPr>
        <p:blipFill rotWithShape="1">
          <a:blip r:embed="rId4">
            <a:alphaModFix/>
          </a:blip>
          <a:srcRect b="0" l="0" r="0" t="0"/>
          <a:stretch/>
        </p:blipFill>
        <p:spPr>
          <a:xfrm>
            <a:off x="8054275" y="4027150"/>
            <a:ext cx="988350" cy="988350"/>
          </a:xfrm>
          <a:prstGeom prst="rect">
            <a:avLst/>
          </a:prstGeom>
          <a:noFill/>
          <a:ln>
            <a:noFill/>
          </a:ln>
        </p:spPr>
      </p:pic>
      <p:sp>
        <p:nvSpPr>
          <p:cNvPr id="362" name="Google Shape;362;p26"/>
          <p:cNvSpPr txBox="1"/>
          <p:nvPr/>
        </p:nvSpPr>
        <p:spPr>
          <a:xfrm>
            <a:off x="672875" y="4427220"/>
            <a:ext cx="5446500" cy="40551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2"/>
                </a:solidFill>
                <a:latin typeface="Open Sans"/>
                <a:ea typeface="Open Sans"/>
                <a:cs typeface="Open Sans"/>
                <a:sym typeface="Open Sans"/>
              </a:rPr>
              <a:t>Bits[0..31] -</a:t>
            </a:r>
            <a:r>
              <a:rPr b="0" i="0" lang="en" sz="1200" u="none" cap="none" strike="noStrike">
                <a:solidFill>
                  <a:schemeClr val="dk2"/>
                </a:solidFill>
                <a:latin typeface="Open Sans"/>
                <a:ea typeface="Open Sans"/>
                <a:cs typeface="Open Sans"/>
                <a:sym typeface="Open Sans"/>
              </a:rPr>
              <a:t> </a:t>
            </a:r>
            <a:r>
              <a:rPr b="1" i="0" lang="en" sz="1200" u="none" cap="none" strike="noStrike">
                <a:solidFill>
                  <a:schemeClr val="dk2"/>
                </a:solidFill>
                <a:latin typeface="Open Sans"/>
                <a:ea typeface="Open Sans"/>
                <a:cs typeface="Open Sans"/>
                <a:sym typeface="Open Sans"/>
              </a:rPr>
              <a:t>PUPDRy[1:0]:</a:t>
            </a:r>
            <a:r>
              <a:rPr b="0" i="0" lang="en" sz="1200" u="none" cap="none" strike="noStrike">
                <a:solidFill>
                  <a:schemeClr val="dk2"/>
                </a:solidFill>
                <a:latin typeface="Open Sans"/>
                <a:ea typeface="Open Sans"/>
                <a:cs typeface="Open Sans"/>
                <a:sym typeface="Open Sans"/>
              </a:rPr>
              <a:t> Port x configuration bits (y = 0..15)</a:t>
            </a:r>
            <a:endParaRPr b="0" i="0" sz="12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Open Sans"/>
                <a:ea typeface="Open Sans"/>
                <a:cs typeface="Open Sans"/>
                <a:sym typeface="Open Sans"/>
              </a:rPr>
              <a:t>                              </a:t>
            </a:r>
            <a:endParaRPr b="0" i="0" sz="1800" u="none" cap="none" strike="noStrike">
              <a:solidFill>
                <a:schemeClr val="dk2"/>
              </a:solidFill>
              <a:latin typeface="Open Sans"/>
              <a:ea typeface="Open Sans"/>
              <a:cs typeface="Open Sans"/>
              <a:sym typeface="Open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46"/>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General Purpose I/0 [GPIO]</a:t>
            </a:r>
            <a:endParaRPr/>
          </a:p>
        </p:txBody>
      </p:sp>
      <p:sp>
        <p:nvSpPr>
          <p:cNvPr id="368" name="Google Shape;368;p46"/>
          <p:cNvSpPr txBox="1"/>
          <p:nvPr>
            <p:ph idx="1" type="body"/>
          </p:nvPr>
        </p:nvSpPr>
        <p:spPr>
          <a:xfrm>
            <a:off x="311700" y="1273945"/>
            <a:ext cx="7039800" cy="33027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15000"/>
              </a:lnSpc>
              <a:spcBef>
                <a:spcPts val="0"/>
              </a:spcBef>
              <a:spcAft>
                <a:spcPts val="0"/>
              </a:spcAft>
              <a:buSzPct val="108107"/>
              <a:buNone/>
            </a:pPr>
            <a:r>
              <a:rPr lang="en"/>
              <a:t>Each general-purpose I/O port has -</a:t>
            </a:r>
            <a:endParaRPr/>
          </a:p>
          <a:p>
            <a:pPr indent="-342900" lvl="0" marL="457200" rtl="0" algn="l">
              <a:lnSpc>
                <a:spcPct val="115000"/>
              </a:lnSpc>
              <a:spcBef>
                <a:spcPts val="0"/>
              </a:spcBef>
              <a:spcAft>
                <a:spcPts val="0"/>
              </a:spcAft>
              <a:buSzPct val="108107"/>
              <a:buFont typeface="Arial"/>
              <a:buAutoNum type="arabicPeriod"/>
            </a:pPr>
            <a:r>
              <a:rPr lang="en"/>
              <a:t>A four 32-bit </a:t>
            </a:r>
            <a:r>
              <a:rPr b="1" lang="en"/>
              <a:t>configuration </a:t>
            </a:r>
            <a:r>
              <a:rPr lang="en"/>
              <a:t>registers </a:t>
            </a:r>
            <a:endParaRPr/>
          </a:p>
          <a:p>
            <a:pPr indent="-342900" lvl="1" marL="914400" rtl="0" algn="l">
              <a:lnSpc>
                <a:spcPct val="115000"/>
              </a:lnSpc>
              <a:spcBef>
                <a:spcPts val="0"/>
              </a:spcBef>
              <a:spcAft>
                <a:spcPts val="0"/>
              </a:spcAft>
              <a:buSzPct val="138996"/>
              <a:buChar char="●"/>
            </a:pPr>
            <a:r>
              <a:rPr lang="en"/>
              <a:t>GPIOx_MODER: Mode Register</a:t>
            </a:r>
            <a:endParaRPr/>
          </a:p>
          <a:p>
            <a:pPr indent="-342900" lvl="1" marL="914400" rtl="0" algn="l">
              <a:lnSpc>
                <a:spcPct val="115000"/>
              </a:lnSpc>
              <a:spcBef>
                <a:spcPts val="0"/>
              </a:spcBef>
              <a:spcAft>
                <a:spcPts val="0"/>
              </a:spcAft>
              <a:buSzPct val="138996"/>
              <a:buChar char="●"/>
            </a:pPr>
            <a:r>
              <a:rPr lang="en"/>
              <a:t>GPIOx_OTYPER : Output Type Register</a:t>
            </a:r>
            <a:endParaRPr/>
          </a:p>
          <a:p>
            <a:pPr indent="-342900" lvl="1" marL="914400" rtl="0" algn="l">
              <a:lnSpc>
                <a:spcPct val="115000"/>
              </a:lnSpc>
              <a:spcBef>
                <a:spcPts val="0"/>
              </a:spcBef>
              <a:spcAft>
                <a:spcPts val="0"/>
              </a:spcAft>
              <a:buSzPct val="138996"/>
              <a:buChar char="●"/>
            </a:pPr>
            <a:r>
              <a:rPr lang="en"/>
              <a:t>GPIOx_OSPEEDR : Output Speed Register</a:t>
            </a:r>
            <a:endParaRPr/>
          </a:p>
          <a:p>
            <a:pPr indent="-342900" lvl="1" marL="914400" rtl="0" algn="l">
              <a:lnSpc>
                <a:spcPct val="115000"/>
              </a:lnSpc>
              <a:spcBef>
                <a:spcPts val="0"/>
              </a:spcBef>
              <a:spcAft>
                <a:spcPts val="0"/>
              </a:spcAft>
              <a:buSzPct val="138996"/>
              <a:buChar char="●"/>
            </a:pPr>
            <a:r>
              <a:rPr lang="en"/>
              <a:t>GPIOx_PUPDR) : Pull-up, Pull-Down Register</a:t>
            </a:r>
            <a:endParaRPr/>
          </a:p>
          <a:p>
            <a:pPr indent="-342900" lvl="0" marL="457200" rtl="0" algn="l">
              <a:lnSpc>
                <a:spcPct val="115000"/>
              </a:lnSpc>
              <a:spcBef>
                <a:spcPts val="0"/>
              </a:spcBef>
              <a:spcAft>
                <a:spcPts val="0"/>
              </a:spcAft>
              <a:buSzPct val="108107"/>
              <a:buFont typeface="Arial"/>
              <a:buAutoNum type="arabicPeriod"/>
            </a:pPr>
            <a:r>
              <a:rPr lang="en"/>
              <a:t>Two 32-bit </a:t>
            </a:r>
            <a:r>
              <a:rPr b="1" lang="en"/>
              <a:t>data</a:t>
            </a:r>
            <a:r>
              <a:rPr lang="en"/>
              <a:t> registers </a:t>
            </a:r>
            <a:endParaRPr/>
          </a:p>
          <a:p>
            <a:pPr indent="-342900" lvl="1" marL="914400" rtl="0" algn="l">
              <a:lnSpc>
                <a:spcPct val="115000"/>
              </a:lnSpc>
              <a:spcBef>
                <a:spcPts val="0"/>
              </a:spcBef>
              <a:spcAft>
                <a:spcPts val="0"/>
              </a:spcAft>
              <a:buSzPct val="138996"/>
              <a:buChar char="●"/>
            </a:pPr>
            <a:r>
              <a:rPr lang="en"/>
              <a:t>GPIOx_IDR: Input Data Register</a:t>
            </a:r>
            <a:endParaRPr/>
          </a:p>
          <a:p>
            <a:pPr indent="-342900" lvl="1" marL="914400" rtl="0" algn="l">
              <a:lnSpc>
                <a:spcPct val="115000"/>
              </a:lnSpc>
              <a:spcBef>
                <a:spcPts val="0"/>
              </a:spcBef>
              <a:spcAft>
                <a:spcPts val="0"/>
              </a:spcAft>
              <a:buSzPct val="138996"/>
              <a:buChar char="●"/>
            </a:pPr>
            <a:r>
              <a:rPr lang="en"/>
              <a:t>GPIOx_ODR: Output Data Register</a:t>
            </a:r>
            <a:endParaRPr/>
          </a:p>
          <a:p>
            <a:pPr indent="-342900" lvl="0" marL="457200" rtl="0" algn="l">
              <a:lnSpc>
                <a:spcPct val="115000"/>
              </a:lnSpc>
              <a:spcBef>
                <a:spcPts val="0"/>
              </a:spcBef>
              <a:spcAft>
                <a:spcPts val="0"/>
              </a:spcAft>
              <a:buSzPct val="108107"/>
              <a:buFont typeface="Arial"/>
              <a:buAutoNum type="arabicPeriod"/>
            </a:pPr>
            <a:r>
              <a:rPr lang="en"/>
              <a:t>A 32-</a:t>
            </a:r>
            <a:r>
              <a:rPr b="1" lang="en"/>
              <a:t>bit set/reset</a:t>
            </a:r>
            <a:r>
              <a:rPr lang="en"/>
              <a:t> register (GPIOx_BSRR), </a:t>
            </a:r>
            <a:endParaRPr/>
          </a:p>
          <a:p>
            <a:pPr indent="-342900" lvl="0" marL="457200" rtl="0" algn="l">
              <a:lnSpc>
                <a:spcPct val="115000"/>
              </a:lnSpc>
              <a:spcBef>
                <a:spcPts val="0"/>
              </a:spcBef>
              <a:spcAft>
                <a:spcPts val="0"/>
              </a:spcAft>
              <a:buSzPct val="108107"/>
              <a:buFont typeface="Arial"/>
              <a:buAutoNum type="arabicPeriod"/>
            </a:pPr>
            <a:r>
              <a:rPr lang="en"/>
              <a:t>A 32-bit</a:t>
            </a:r>
            <a:r>
              <a:rPr b="1" lang="en"/>
              <a:t> locking</a:t>
            </a:r>
            <a:r>
              <a:rPr lang="en"/>
              <a:t> register (GPIOx_LCKR) </a:t>
            </a:r>
            <a:endParaRPr/>
          </a:p>
          <a:p>
            <a:pPr indent="-342900" lvl="0" marL="457200" rtl="0" algn="l">
              <a:lnSpc>
                <a:spcPct val="115000"/>
              </a:lnSpc>
              <a:spcBef>
                <a:spcPts val="0"/>
              </a:spcBef>
              <a:spcAft>
                <a:spcPts val="0"/>
              </a:spcAft>
              <a:buSzPct val="108107"/>
              <a:buFont typeface="Arial"/>
              <a:buAutoNum type="arabicPeriod"/>
            </a:pPr>
            <a:r>
              <a:rPr lang="en"/>
              <a:t>Two 32-bit </a:t>
            </a:r>
            <a:r>
              <a:rPr b="1" lang="en"/>
              <a:t>alternate function selection</a:t>
            </a:r>
            <a:endParaRPr/>
          </a:p>
          <a:p>
            <a:pPr indent="-342900" lvl="1" marL="914400" rtl="0" algn="l">
              <a:lnSpc>
                <a:spcPct val="115000"/>
              </a:lnSpc>
              <a:spcBef>
                <a:spcPts val="0"/>
              </a:spcBef>
              <a:spcAft>
                <a:spcPts val="0"/>
              </a:spcAft>
              <a:buSzPct val="138996"/>
              <a:buChar char="●"/>
            </a:pPr>
            <a:r>
              <a:rPr lang="en"/>
              <a:t>GPIOx_AFRH: Alternetive Register High</a:t>
            </a:r>
            <a:endParaRPr/>
          </a:p>
          <a:p>
            <a:pPr indent="-342900" lvl="1" marL="914400" rtl="0" algn="l">
              <a:lnSpc>
                <a:spcPct val="115000"/>
              </a:lnSpc>
              <a:spcBef>
                <a:spcPts val="0"/>
              </a:spcBef>
              <a:spcAft>
                <a:spcPts val="0"/>
              </a:spcAft>
              <a:buSzPct val="138996"/>
              <a:buChar char="●"/>
            </a:pPr>
            <a:r>
              <a:rPr lang="en"/>
              <a:t>GPIOx_AFRL : Alternetive Register Low</a:t>
            </a:r>
            <a:endParaRPr/>
          </a:p>
          <a:p>
            <a:pPr indent="0" lvl="0" marL="0" rtl="0" algn="l">
              <a:lnSpc>
                <a:spcPct val="115000"/>
              </a:lnSpc>
              <a:spcBef>
                <a:spcPts val="1200"/>
              </a:spcBef>
              <a:spcAft>
                <a:spcPts val="1200"/>
              </a:spcAft>
              <a:buSzPct val="108107"/>
              <a:buNone/>
            </a:pPr>
            <a:r>
              <a:t/>
            </a:r>
            <a:endParaRPr/>
          </a:p>
        </p:txBody>
      </p:sp>
      <p:pic>
        <p:nvPicPr>
          <p:cNvPr id="369" name="Google Shape;369;p46"/>
          <p:cNvPicPr preferRelativeResize="0"/>
          <p:nvPr/>
        </p:nvPicPr>
        <p:blipFill rotWithShape="1">
          <a:blip r:embed="rId3">
            <a:alphaModFix/>
          </a:blip>
          <a:srcRect b="0" l="0" r="0" t="0"/>
          <a:stretch/>
        </p:blipFill>
        <p:spPr>
          <a:xfrm>
            <a:off x="8054275" y="4027150"/>
            <a:ext cx="988350" cy="988350"/>
          </a:xfrm>
          <a:prstGeom prst="rect">
            <a:avLst/>
          </a:prstGeom>
          <a:noFill/>
          <a:ln>
            <a:noFill/>
          </a:ln>
        </p:spPr>
      </p:pic>
      <p:pic>
        <p:nvPicPr>
          <p:cNvPr id="370" name="Google Shape;370;p46"/>
          <p:cNvPicPr preferRelativeResize="0"/>
          <p:nvPr/>
        </p:nvPicPr>
        <p:blipFill rotWithShape="1">
          <a:blip r:embed="rId4">
            <a:alphaModFix/>
          </a:blip>
          <a:srcRect b="0" l="0" r="0" t="0"/>
          <a:stretch/>
        </p:blipFill>
        <p:spPr>
          <a:xfrm>
            <a:off x="5254495" y="744404"/>
            <a:ext cx="3335599" cy="3370396"/>
          </a:xfrm>
          <a:prstGeom prst="rect">
            <a:avLst/>
          </a:prstGeom>
          <a:noFill/>
          <a:ln>
            <a:noFill/>
          </a:ln>
        </p:spPr>
      </p:pic>
      <p:sp>
        <p:nvSpPr>
          <p:cNvPr id="371" name="Google Shape;371;p46"/>
          <p:cNvSpPr/>
          <p:nvPr/>
        </p:nvSpPr>
        <p:spPr>
          <a:xfrm>
            <a:off x="383500" y="2944649"/>
            <a:ext cx="4579500" cy="749100"/>
          </a:xfrm>
          <a:prstGeom prst="roundRect">
            <a:avLst>
              <a:gd fmla="val 16667" name="adj"/>
            </a:avLst>
          </a:prstGeom>
          <a:noFill/>
          <a:ln cap="flat" cmpd="sng" w="57150">
            <a:solidFill>
              <a:srgbClr val="AE4E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27"/>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2. Data Registers (Input Data Register)</a:t>
            </a:r>
            <a:endParaRPr/>
          </a:p>
        </p:txBody>
      </p:sp>
      <p:sp>
        <p:nvSpPr>
          <p:cNvPr id="377" name="Google Shape;377;p27"/>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 sz="1400">
                <a:solidFill>
                  <a:schemeClr val="accent1"/>
                </a:solidFill>
              </a:rPr>
              <a:t>GPIOx_IDR</a:t>
            </a:r>
            <a:r>
              <a:rPr lang="en"/>
              <a:t> </a:t>
            </a:r>
            <a:r>
              <a:rPr b="1" lang="en" sz="1400">
                <a:solidFill>
                  <a:schemeClr val="accent1"/>
                </a:solidFill>
              </a:rPr>
              <a:t>(x=A..H): </a:t>
            </a:r>
            <a:r>
              <a:rPr lang="en" sz="1200">
                <a:solidFill>
                  <a:srgbClr val="666666"/>
                </a:solidFill>
              </a:rPr>
              <a:t>These bits are read-only. They contain the input value of the corresponding I/O port.</a:t>
            </a:r>
            <a:endParaRPr sz="1200">
              <a:solidFill>
                <a:srgbClr val="666666"/>
              </a:solidFill>
            </a:endParaRPr>
          </a:p>
          <a:p>
            <a:pPr indent="0" lvl="0" marL="0" rtl="0" algn="l">
              <a:lnSpc>
                <a:spcPct val="115000"/>
              </a:lnSpc>
              <a:spcBef>
                <a:spcPts val="1200"/>
              </a:spcBef>
              <a:spcAft>
                <a:spcPts val="0"/>
              </a:spcAft>
              <a:buSzPts val="1800"/>
              <a:buNone/>
            </a:pPr>
            <a:r>
              <a:t/>
            </a:r>
            <a:endParaRPr b="1" sz="1400">
              <a:solidFill>
                <a:schemeClr val="accent1"/>
              </a:solidFill>
            </a:endParaRPr>
          </a:p>
          <a:p>
            <a:pPr indent="0" lvl="0" marL="0" rtl="0" algn="l">
              <a:lnSpc>
                <a:spcPct val="115000"/>
              </a:lnSpc>
              <a:spcBef>
                <a:spcPts val="1200"/>
              </a:spcBef>
              <a:spcAft>
                <a:spcPts val="1200"/>
              </a:spcAft>
              <a:buSzPts val="1800"/>
              <a:buNone/>
            </a:pPr>
            <a:r>
              <a:t/>
            </a:r>
            <a:endParaRPr b="1" sz="3600">
              <a:solidFill>
                <a:schemeClr val="accent1"/>
              </a:solidFill>
              <a:latin typeface="PT Sans Narrow"/>
              <a:ea typeface="PT Sans Narrow"/>
              <a:cs typeface="PT Sans Narrow"/>
              <a:sym typeface="PT Sans Narrow"/>
            </a:endParaRPr>
          </a:p>
        </p:txBody>
      </p:sp>
      <p:pic>
        <p:nvPicPr>
          <p:cNvPr id="378" name="Google Shape;378;p27"/>
          <p:cNvPicPr preferRelativeResize="0"/>
          <p:nvPr/>
        </p:nvPicPr>
        <p:blipFill rotWithShape="1">
          <a:blip r:embed="rId3">
            <a:alphaModFix/>
          </a:blip>
          <a:srcRect b="0" l="0" r="0" t="0"/>
          <a:stretch/>
        </p:blipFill>
        <p:spPr>
          <a:xfrm>
            <a:off x="482625" y="1932200"/>
            <a:ext cx="8349676" cy="1532400"/>
          </a:xfrm>
          <a:prstGeom prst="rect">
            <a:avLst/>
          </a:prstGeom>
          <a:noFill/>
          <a:ln>
            <a:noFill/>
          </a:ln>
        </p:spPr>
      </p:pic>
      <p:pic>
        <p:nvPicPr>
          <p:cNvPr id="379" name="Google Shape;379;p27"/>
          <p:cNvPicPr preferRelativeResize="0"/>
          <p:nvPr/>
        </p:nvPicPr>
        <p:blipFill rotWithShape="1">
          <a:blip r:embed="rId4">
            <a:alphaModFix/>
          </a:blip>
          <a:srcRect b="0" l="0" r="0" t="0"/>
          <a:stretch/>
        </p:blipFill>
        <p:spPr>
          <a:xfrm>
            <a:off x="8054275" y="4027150"/>
            <a:ext cx="988350" cy="988350"/>
          </a:xfrm>
          <a:prstGeom prst="rect">
            <a:avLst/>
          </a:prstGeom>
          <a:noFill/>
          <a:ln>
            <a:noFill/>
          </a:ln>
        </p:spPr>
      </p:pic>
      <p:sp>
        <p:nvSpPr>
          <p:cNvPr id="380" name="Google Shape;380;p27"/>
          <p:cNvSpPr txBox="1"/>
          <p:nvPr/>
        </p:nvSpPr>
        <p:spPr>
          <a:xfrm>
            <a:off x="615350" y="3589600"/>
            <a:ext cx="3886800" cy="81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2"/>
                </a:solidFill>
                <a:latin typeface="Open Sans"/>
                <a:ea typeface="Open Sans"/>
                <a:cs typeface="Open Sans"/>
                <a:sym typeface="Open Sans"/>
              </a:rPr>
              <a:t>Bits 31:16 -</a:t>
            </a:r>
            <a:r>
              <a:rPr b="0" i="0" lang="en" sz="1200" u="none" cap="none" strike="noStrike">
                <a:solidFill>
                  <a:schemeClr val="dk2"/>
                </a:solidFill>
                <a:latin typeface="Open Sans"/>
                <a:ea typeface="Open Sans"/>
                <a:cs typeface="Open Sans"/>
                <a:sym typeface="Open Sans"/>
              </a:rPr>
              <a:t> Reserved</a:t>
            </a:r>
            <a:endParaRPr b="0" i="0" sz="12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2"/>
                </a:solidFill>
                <a:latin typeface="Open Sans"/>
                <a:ea typeface="Open Sans"/>
                <a:cs typeface="Open Sans"/>
                <a:sym typeface="Open Sans"/>
              </a:rPr>
              <a:t>Bits 15:0 -</a:t>
            </a:r>
            <a:r>
              <a:rPr b="0" i="0" lang="en" sz="1200" u="none" cap="none" strike="noStrike">
                <a:solidFill>
                  <a:schemeClr val="dk2"/>
                </a:solidFill>
                <a:latin typeface="Open Sans"/>
                <a:ea typeface="Open Sans"/>
                <a:cs typeface="Open Sans"/>
                <a:sym typeface="Open Sans"/>
              </a:rPr>
              <a:t> </a:t>
            </a:r>
            <a:r>
              <a:rPr b="1" i="0" lang="en" sz="1200" u="none" cap="none" strike="noStrike">
                <a:solidFill>
                  <a:schemeClr val="dk2"/>
                </a:solidFill>
                <a:latin typeface="Open Sans"/>
                <a:ea typeface="Open Sans"/>
                <a:cs typeface="Open Sans"/>
                <a:sym typeface="Open Sans"/>
              </a:rPr>
              <a:t>IDRy:</a:t>
            </a:r>
            <a:r>
              <a:rPr b="0" i="0" lang="en" sz="1200" u="none" cap="none" strike="noStrike">
                <a:solidFill>
                  <a:schemeClr val="dk2"/>
                </a:solidFill>
                <a:latin typeface="Open Sans"/>
                <a:ea typeface="Open Sans"/>
                <a:cs typeface="Open Sans"/>
                <a:sym typeface="Open Sans"/>
              </a:rPr>
              <a:t> Port input data (y = 0..15)</a:t>
            </a:r>
            <a:endParaRPr b="0" i="0" sz="12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Open Sans"/>
              <a:ea typeface="Open Sans"/>
              <a:cs typeface="Open Sans"/>
              <a:sym typeface="Open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28"/>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2. Data Registers (Output Data Register)</a:t>
            </a:r>
            <a:endParaRPr/>
          </a:p>
        </p:txBody>
      </p:sp>
      <p:sp>
        <p:nvSpPr>
          <p:cNvPr id="386" name="Google Shape;386;p28"/>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 sz="1400">
                <a:solidFill>
                  <a:schemeClr val="accent1"/>
                </a:solidFill>
              </a:rPr>
              <a:t>GPIOx_ODR</a:t>
            </a:r>
            <a:r>
              <a:rPr lang="en"/>
              <a:t> </a:t>
            </a:r>
            <a:r>
              <a:rPr b="1" lang="en" sz="1400">
                <a:solidFill>
                  <a:schemeClr val="accent1"/>
                </a:solidFill>
              </a:rPr>
              <a:t>(x=A..H): </a:t>
            </a:r>
            <a:r>
              <a:rPr lang="en" sz="1400"/>
              <a:t>These bits can be read and written </a:t>
            </a:r>
            <a:endParaRPr sz="3600">
              <a:latin typeface="PT Sans Narrow"/>
              <a:ea typeface="PT Sans Narrow"/>
              <a:cs typeface="PT Sans Narrow"/>
              <a:sym typeface="PT Sans Narrow"/>
            </a:endParaRPr>
          </a:p>
          <a:p>
            <a:pPr indent="0" lvl="0" marL="0" rtl="0" algn="l">
              <a:lnSpc>
                <a:spcPct val="115000"/>
              </a:lnSpc>
              <a:spcBef>
                <a:spcPts val="1200"/>
              </a:spcBef>
              <a:spcAft>
                <a:spcPts val="1200"/>
              </a:spcAft>
              <a:buSzPts val="1800"/>
              <a:buNone/>
            </a:pPr>
            <a:r>
              <a:t/>
            </a:r>
            <a:endParaRPr b="1" sz="3600">
              <a:solidFill>
                <a:schemeClr val="accent1"/>
              </a:solidFill>
              <a:latin typeface="PT Sans Narrow"/>
              <a:ea typeface="PT Sans Narrow"/>
              <a:cs typeface="PT Sans Narrow"/>
              <a:sym typeface="PT Sans Narrow"/>
            </a:endParaRPr>
          </a:p>
        </p:txBody>
      </p:sp>
      <p:pic>
        <p:nvPicPr>
          <p:cNvPr id="387" name="Google Shape;387;p28"/>
          <p:cNvPicPr preferRelativeResize="0"/>
          <p:nvPr/>
        </p:nvPicPr>
        <p:blipFill rotWithShape="1">
          <a:blip r:embed="rId3">
            <a:alphaModFix/>
          </a:blip>
          <a:srcRect b="0" l="0" r="0" t="0"/>
          <a:stretch/>
        </p:blipFill>
        <p:spPr>
          <a:xfrm>
            <a:off x="380475" y="1694025"/>
            <a:ext cx="8520601" cy="1538100"/>
          </a:xfrm>
          <a:prstGeom prst="rect">
            <a:avLst/>
          </a:prstGeom>
          <a:noFill/>
          <a:ln>
            <a:noFill/>
          </a:ln>
        </p:spPr>
      </p:pic>
      <p:pic>
        <p:nvPicPr>
          <p:cNvPr id="388" name="Google Shape;388;p28"/>
          <p:cNvPicPr preferRelativeResize="0"/>
          <p:nvPr/>
        </p:nvPicPr>
        <p:blipFill rotWithShape="1">
          <a:blip r:embed="rId4">
            <a:alphaModFix/>
          </a:blip>
          <a:srcRect b="0" l="0" r="0" t="0"/>
          <a:stretch/>
        </p:blipFill>
        <p:spPr>
          <a:xfrm>
            <a:off x="8054275" y="4027150"/>
            <a:ext cx="988350" cy="988350"/>
          </a:xfrm>
          <a:prstGeom prst="rect">
            <a:avLst/>
          </a:prstGeom>
          <a:noFill/>
          <a:ln>
            <a:noFill/>
          </a:ln>
        </p:spPr>
      </p:pic>
      <p:sp>
        <p:nvSpPr>
          <p:cNvPr id="389" name="Google Shape;389;p28"/>
          <p:cNvSpPr txBox="1"/>
          <p:nvPr/>
        </p:nvSpPr>
        <p:spPr>
          <a:xfrm>
            <a:off x="602550" y="3404225"/>
            <a:ext cx="3695100" cy="1380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2"/>
                </a:solidFill>
                <a:latin typeface="Open Sans"/>
                <a:ea typeface="Open Sans"/>
                <a:cs typeface="Open Sans"/>
                <a:sym typeface="Open Sans"/>
              </a:rPr>
              <a:t>Bits 31:16 -</a:t>
            </a:r>
            <a:r>
              <a:rPr b="0" i="0" lang="en" sz="1200" u="none" cap="none" strike="noStrike">
                <a:solidFill>
                  <a:schemeClr val="dk2"/>
                </a:solidFill>
                <a:latin typeface="Open Sans"/>
                <a:ea typeface="Open Sans"/>
                <a:cs typeface="Open Sans"/>
                <a:sym typeface="Open Sans"/>
              </a:rPr>
              <a:t> Reserved</a:t>
            </a:r>
            <a:endParaRPr b="0" i="0" sz="12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2"/>
                </a:solidFill>
                <a:latin typeface="Open Sans"/>
                <a:ea typeface="Open Sans"/>
                <a:cs typeface="Open Sans"/>
                <a:sym typeface="Open Sans"/>
              </a:rPr>
              <a:t>Bits 15:0 -</a:t>
            </a:r>
            <a:r>
              <a:rPr b="0" i="0" lang="en" sz="1200" u="none" cap="none" strike="noStrike">
                <a:solidFill>
                  <a:schemeClr val="dk2"/>
                </a:solidFill>
                <a:latin typeface="Open Sans"/>
                <a:ea typeface="Open Sans"/>
                <a:cs typeface="Open Sans"/>
                <a:sym typeface="Open Sans"/>
              </a:rPr>
              <a:t> </a:t>
            </a:r>
            <a:r>
              <a:rPr b="1" i="0" lang="en" sz="1200" u="none" cap="none" strike="noStrike">
                <a:solidFill>
                  <a:schemeClr val="dk2"/>
                </a:solidFill>
                <a:latin typeface="Open Sans"/>
                <a:ea typeface="Open Sans"/>
                <a:cs typeface="Open Sans"/>
                <a:sym typeface="Open Sans"/>
              </a:rPr>
              <a:t>ODRy:</a:t>
            </a:r>
            <a:r>
              <a:rPr b="0" i="0" lang="en" sz="1200" u="none" cap="none" strike="noStrike">
                <a:solidFill>
                  <a:schemeClr val="dk2"/>
                </a:solidFill>
                <a:latin typeface="Open Sans"/>
                <a:ea typeface="Open Sans"/>
                <a:cs typeface="Open Sans"/>
                <a:sym typeface="Open Sans"/>
              </a:rPr>
              <a:t> Port output data (y = 0..15)</a:t>
            </a:r>
            <a:endParaRPr b="0" i="0" sz="1800" u="none" cap="none" strike="noStrike">
              <a:solidFill>
                <a:schemeClr val="dk2"/>
              </a:solidFill>
              <a:latin typeface="Open Sans"/>
              <a:ea typeface="Open Sans"/>
              <a:cs typeface="Open Sans"/>
              <a:sym typeface="Open Sans"/>
            </a:endParaRPr>
          </a:p>
        </p:txBody>
      </p:sp>
      <p:sp>
        <p:nvSpPr>
          <p:cNvPr id="390" name="Google Shape;390;p28"/>
          <p:cNvSpPr txBox="1"/>
          <p:nvPr/>
        </p:nvSpPr>
        <p:spPr>
          <a:xfrm>
            <a:off x="3875575" y="4420650"/>
            <a:ext cx="4178700" cy="769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1" lang="en" sz="1000" u="none" cap="none" strike="noStrike">
                <a:solidFill>
                  <a:schemeClr val="dk2"/>
                </a:solidFill>
                <a:latin typeface="Open Sans"/>
                <a:ea typeface="Open Sans"/>
                <a:cs typeface="Open Sans"/>
                <a:sym typeface="Open Sans"/>
              </a:rPr>
              <a:t>Note: For atomic bit set/reset, the ODR bits can be individually set and reset by writing to the GPIOx_BSRR register (x = A..H).</a:t>
            </a:r>
            <a:endParaRPr b="0" i="1" sz="10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Open Sans"/>
              <a:ea typeface="Open Sans"/>
              <a:cs typeface="Open Sans"/>
              <a:sym typeface="Open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29"/>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3. Set/Rest Register (Bit Set Reset Register)</a:t>
            </a:r>
            <a:endParaRPr/>
          </a:p>
        </p:txBody>
      </p:sp>
      <p:sp>
        <p:nvSpPr>
          <p:cNvPr id="396" name="Google Shape;396;p29"/>
          <p:cNvSpPr txBox="1"/>
          <p:nvPr>
            <p:ph idx="1" type="body"/>
          </p:nvPr>
        </p:nvSpPr>
        <p:spPr>
          <a:xfrm>
            <a:off x="311700" y="1029800"/>
            <a:ext cx="8520600" cy="330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 sz="1400">
                <a:solidFill>
                  <a:schemeClr val="accent1"/>
                </a:solidFill>
              </a:rPr>
              <a:t>GPIOx_BSRR</a:t>
            </a:r>
            <a:r>
              <a:rPr b="1" lang="en">
                <a:solidFill>
                  <a:schemeClr val="accent1"/>
                </a:solidFill>
              </a:rPr>
              <a:t> </a:t>
            </a:r>
            <a:r>
              <a:rPr b="1" lang="en" sz="1400">
                <a:solidFill>
                  <a:schemeClr val="accent1"/>
                </a:solidFill>
              </a:rPr>
              <a:t>(x=A..H): </a:t>
            </a:r>
            <a:r>
              <a:rPr lang="en" sz="1200"/>
              <a:t>These bits are write-only and can be accessed in word, half-word or byte mode.</a:t>
            </a:r>
            <a:endParaRPr b="1" sz="3800">
              <a:solidFill>
                <a:schemeClr val="accent1"/>
              </a:solidFill>
              <a:latin typeface="PT Sans Narrow"/>
              <a:ea typeface="PT Sans Narrow"/>
              <a:cs typeface="PT Sans Narrow"/>
              <a:sym typeface="PT Sans Narrow"/>
            </a:endParaRPr>
          </a:p>
          <a:p>
            <a:pPr indent="0" lvl="0" marL="0" rtl="0" algn="l">
              <a:lnSpc>
                <a:spcPct val="115000"/>
              </a:lnSpc>
              <a:spcBef>
                <a:spcPts val="1200"/>
              </a:spcBef>
              <a:spcAft>
                <a:spcPts val="1200"/>
              </a:spcAft>
              <a:buSzPts val="1800"/>
              <a:buNone/>
            </a:pPr>
            <a:r>
              <a:t/>
            </a:r>
            <a:endParaRPr b="1" sz="3600">
              <a:solidFill>
                <a:schemeClr val="accent1"/>
              </a:solidFill>
              <a:latin typeface="PT Sans Narrow"/>
              <a:ea typeface="PT Sans Narrow"/>
              <a:cs typeface="PT Sans Narrow"/>
              <a:sym typeface="PT Sans Narrow"/>
            </a:endParaRPr>
          </a:p>
        </p:txBody>
      </p:sp>
      <p:pic>
        <p:nvPicPr>
          <p:cNvPr id="397" name="Google Shape;397;p29"/>
          <p:cNvPicPr preferRelativeResize="0"/>
          <p:nvPr/>
        </p:nvPicPr>
        <p:blipFill rotWithShape="1">
          <a:blip r:embed="rId3">
            <a:alphaModFix/>
          </a:blip>
          <a:srcRect b="0" l="0" r="0" t="0"/>
          <a:stretch/>
        </p:blipFill>
        <p:spPr>
          <a:xfrm>
            <a:off x="391600" y="1441475"/>
            <a:ext cx="8598049" cy="1582950"/>
          </a:xfrm>
          <a:prstGeom prst="rect">
            <a:avLst/>
          </a:prstGeom>
          <a:noFill/>
          <a:ln>
            <a:noFill/>
          </a:ln>
        </p:spPr>
      </p:pic>
      <p:sp>
        <p:nvSpPr>
          <p:cNvPr id="398" name="Google Shape;398;p29"/>
          <p:cNvSpPr txBox="1"/>
          <p:nvPr/>
        </p:nvSpPr>
        <p:spPr>
          <a:xfrm>
            <a:off x="236220" y="3313475"/>
            <a:ext cx="4393655" cy="1112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2"/>
                </a:solidFill>
                <a:latin typeface="Open Sans"/>
                <a:ea typeface="Open Sans"/>
                <a:cs typeface="Open Sans"/>
                <a:sym typeface="Open Sans"/>
              </a:rPr>
              <a:t>Bits 31:16 -</a:t>
            </a:r>
            <a:r>
              <a:rPr b="0" i="0" lang="en" sz="1200" u="none" cap="none" strike="noStrike">
                <a:solidFill>
                  <a:schemeClr val="dk2"/>
                </a:solidFill>
                <a:latin typeface="Open Sans"/>
                <a:ea typeface="Open Sans"/>
                <a:cs typeface="Open Sans"/>
                <a:sym typeface="Open Sans"/>
              </a:rPr>
              <a:t> </a:t>
            </a:r>
            <a:r>
              <a:rPr b="1" i="0" lang="en" sz="1200" u="none" cap="none" strike="noStrike">
                <a:solidFill>
                  <a:schemeClr val="dk2"/>
                </a:solidFill>
                <a:latin typeface="Open Sans"/>
                <a:ea typeface="Open Sans"/>
                <a:cs typeface="Open Sans"/>
                <a:sym typeface="Open Sans"/>
              </a:rPr>
              <a:t>BRy:</a:t>
            </a:r>
            <a:r>
              <a:rPr b="0" i="0" lang="en" sz="1200" u="none" cap="none" strike="noStrike">
                <a:solidFill>
                  <a:schemeClr val="dk2"/>
                </a:solidFill>
                <a:latin typeface="Open Sans"/>
                <a:ea typeface="Open Sans"/>
                <a:cs typeface="Open Sans"/>
                <a:sym typeface="Open Sans"/>
              </a:rPr>
              <a:t> Port x reset bit y (y = 0..15)</a:t>
            </a:r>
            <a:endParaRPr b="0" i="0" sz="12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2"/>
              </a:solidFill>
              <a:latin typeface="Open Sans"/>
              <a:ea typeface="Open Sans"/>
              <a:cs typeface="Open Sans"/>
              <a:sym typeface="Open Sans"/>
            </a:endParaRPr>
          </a:p>
          <a:p>
            <a:pPr indent="-285750" lvl="0" marL="285750" marR="0" rtl="0" algn="l">
              <a:lnSpc>
                <a:spcPct val="100000"/>
              </a:lnSpc>
              <a:spcBef>
                <a:spcPts val="0"/>
              </a:spcBef>
              <a:spcAft>
                <a:spcPts val="0"/>
              </a:spcAft>
              <a:buClr>
                <a:srgbClr val="000000"/>
              </a:buClr>
              <a:buSzPts val="1200"/>
              <a:buFont typeface="Arial"/>
              <a:buChar char="•"/>
            </a:pPr>
            <a:r>
              <a:rPr b="1" i="0" lang="en" sz="1400" u="none" cap="none" strike="noStrike">
                <a:solidFill>
                  <a:schemeClr val="dk2"/>
                </a:solidFill>
                <a:latin typeface="Open Sans"/>
                <a:ea typeface="Open Sans"/>
                <a:cs typeface="Open Sans"/>
                <a:sym typeface="Open Sans"/>
              </a:rPr>
              <a:t>0: No action on the corresponding ODRx bit</a:t>
            </a:r>
            <a:endParaRPr b="1" i="0" sz="1400" u="none" cap="none" strike="noStrike">
              <a:solidFill>
                <a:schemeClr val="dk2"/>
              </a:solidFill>
              <a:latin typeface="Open Sans"/>
              <a:ea typeface="Open Sans"/>
              <a:cs typeface="Open Sans"/>
              <a:sym typeface="Open Sans"/>
            </a:endParaRPr>
          </a:p>
          <a:p>
            <a:pPr indent="-285750" lvl="0" marL="285750" marR="0" rtl="0" algn="l">
              <a:lnSpc>
                <a:spcPct val="100000"/>
              </a:lnSpc>
              <a:spcBef>
                <a:spcPts val="0"/>
              </a:spcBef>
              <a:spcAft>
                <a:spcPts val="0"/>
              </a:spcAft>
              <a:buClr>
                <a:srgbClr val="000000"/>
              </a:buClr>
              <a:buSzPts val="1200"/>
              <a:buFont typeface="Arial"/>
              <a:buChar char="•"/>
            </a:pPr>
            <a:r>
              <a:rPr b="1" i="0" lang="en" sz="1400" u="none" cap="none" strike="noStrike">
                <a:solidFill>
                  <a:schemeClr val="dk2"/>
                </a:solidFill>
                <a:latin typeface="Open Sans"/>
                <a:ea typeface="Open Sans"/>
                <a:cs typeface="Open Sans"/>
                <a:sym typeface="Open Sans"/>
              </a:rPr>
              <a:t>1: Resets the corresponding ODRx bit</a:t>
            </a:r>
            <a:endParaRPr b="1" i="0" sz="14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2"/>
              </a:solidFill>
              <a:latin typeface="Open Sans"/>
              <a:ea typeface="Open Sans"/>
              <a:cs typeface="Open Sans"/>
              <a:sym typeface="Open Sans"/>
            </a:endParaRPr>
          </a:p>
        </p:txBody>
      </p:sp>
      <p:sp>
        <p:nvSpPr>
          <p:cNvPr id="399" name="Google Shape;399;p29"/>
          <p:cNvSpPr txBox="1"/>
          <p:nvPr/>
        </p:nvSpPr>
        <p:spPr>
          <a:xfrm>
            <a:off x="4587240" y="3206000"/>
            <a:ext cx="4344935" cy="1233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2"/>
                </a:solidFill>
                <a:latin typeface="Open Sans"/>
                <a:ea typeface="Open Sans"/>
                <a:cs typeface="Open Sans"/>
                <a:sym typeface="Open Sans"/>
              </a:rPr>
              <a:t>Bits 15:0 -</a:t>
            </a:r>
            <a:r>
              <a:rPr b="0" i="0" lang="en" sz="1200" u="none" cap="none" strike="noStrike">
                <a:solidFill>
                  <a:schemeClr val="dk2"/>
                </a:solidFill>
                <a:latin typeface="Open Sans"/>
                <a:ea typeface="Open Sans"/>
                <a:cs typeface="Open Sans"/>
                <a:sym typeface="Open Sans"/>
              </a:rPr>
              <a:t> </a:t>
            </a:r>
            <a:r>
              <a:rPr b="1" i="0" lang="en" sz="1200" u="none" cap="none" strike="noStrike">
                <a:solidFill>
                  <a:schemeClr val="dk2"/>
                </a:solidFill>
                <a:latin typeface="Open Sans"/>
                <a:ea typeface="Open Sans"/>
                <a:cs typeface="Open Sans"/>
                <a:sym typeface="Open Sans"/>
              </a:rPr>
              <a:t>BSy:</a:t>
            </a:r>
            <a:r>
              <a:rPr b="0" i="0" lang="en" sz="1200" u="none" cap="none" strike="noStrike">
                <a:solidFill>
                  <a:schemeClr val="dk2"/>
                </a:solidFill>
                <a:latin typeface="Open Sans"/>
                <a:ea typeface="Open Sans"/>
                <a:cs typeface="Open Sans"/>
                <a:sym typeface="Open Sans"/>
              </a:rPr>
              <a:t> Port x set bit y (y= 0..15)</a:t>
            </a:r>
            <a:endParaRPr b="0" i="0" sz="12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2"/>
              </a:solidFill>
              <a:latin typeface="Open Sans"/>
              <a:ea typeface="Open Sans"/>
              <a:cs typeface="Open Sans"/>
              <a:sym typeface="Open Sans"/>
            </a:endParaRPr>
          </a:p>
          <a:p>
            <a:pPr indent="-285750" lvl="0" marL="285750" marR="0" rtl="0" algn="l">
              <a:lnSpc>
                <a:spcPct val="100000"/>
              </a:lnSpc>
              <a:spcBef>
                <a:spcPts val="0"/>
              </a:spcBef>
              <a:spcAft>
                <a:spcPts val="0"/>
              </a:spcAft>
              <a:buClr>
                <a:srgbClr val="000000"/>
              </a:buClr>
              <a:buSzPts val="1200"/>
              <a:buFont typeface="Arial"/>
              <a:buChar char="•"/>
            </a:pPr>
            <a:r>
              <a:rPr b="1" i="0" lang="en" sz="1400" u="none" cap="none" strike="noStrike">
                <a:solidFill>
                  <a:schemeClr val="dk2"/>
                </a:solidFill>
                <a:latin typeface="Open Sans"/>
                <a:ea typeface="Open Sans"/>
                <a:cs typeface="Open Sans"/>
                <a:sym typeface="Open Sans"/>
              </a:rPr>
              <a:t>0: No action on the corresponding ODRx bit</a:t>
            </a:r>
            <a:endParaRPr b="1" i="0" sz="1400" u="none" cap="none" strike="noStrike">
              <a:solidFill>
                <a:schemeClr val="dk2"/>
              </a:solidFill>
              <a:latin typeface="Open Sans"/>
              <a:ea typeface="Open Sans"/>
              <a:cs typeface="Open Sans"/>
              <a:sym typeface="Open Sans"/>
            </a:endParaRPr>
          </a:p>
          <a:p>
            <a:pPr indent="-285750" lvl="0" marL="285750" marR="0" rtl="0" algn="l">
              <a:lnSpc>
                <a:spcPct val="100000"/>
              </a:lnSpc>
              <a:spcBef>
                <a:spcPts val="0"/>
              </a:spcBef>
              <a:spcAft>
                <a:spcPts val="0"/>
              </a:spcAft>
              <a:buClr>
                <a:srgbClr val="000000"/>
              </a:buClr>
              <a:buSzPts val="1200"/>
              <a:buFont typeface="Arial"/>
              <a:buChar char="•"/>
            </a:pPr>
            <a:r>
              <a:rPr b="1" i="0" lang="en" sz="1400" u="none" cap="none" strike="noStrike">
                <a:solidFill>
                  <a:schemeClr val="dk2"/>
                </a:solidFill>
                <a:latin typeface="Open Sans"/>
                <a:ea typeface="Open Sans"/>
                <a:cs typeface="Open Sans"/>
                <a:sym typeface="Open Sans"/>
              </a:rPr>
              <a:t>1: Sets the corresponding ODRx bit</a:t>
            </a:r>
            <a:endParaRPr b="1" i="0" sz="14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Open Sans"/>
              <a:ea typeface="Open Sans"/>
              <a:cs typeface="Open Sans"/>
              <a:sym typeface="Open Sans"/>
            </a:endParaRPr>
          </a:p>
        </p:txBody>
      </p:sp>
      <p:sp>
        <p:nvSpPr>
          <p:cNvPr id="400" name="Google Shape;400;p29"/>
          <p:cNvSpPr txBox="1"/>
          <p:nvPr/>
        </p:nvSpPr>
        <p:spPr>
          <a:xfrm>
            <a:off x="2673775" y="4439900"/>
            <a:ext cx="3688500" cy="326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chemeClr val="dk2"/>
                </a:solidFill>
                <a:latin typeface="Open Sans"/>
                <a:ea typeface="Open Sans"/>
                <a:cs typeface="Open Sans"/>
                <a:sym typeface="Open Sans"/>
              </a:rPr>
              <a:t>Note: If both BSx and BRx are set, BSx has priority.</a:t>
            </a:r>
            <a:endParaRPr b="1" i="0" sz="1800" u="none" cap="none" strike="noStrike">
              <a:solidFill>
                <a:schemeClr val="dk2"/>
              </a:solidFill>
              <a:latin typeface="Open Sans"/>
              <a:ea typeface="Open Sans"/>
              <a:cs typeface="Open Sans"/>
              <a:sym typeface="Open Sans"/>
            </a:endParaRPr>
          </a:p>
        </p:txBody>
      </p:sp>
      <p:pic>
        <p:nvPicPr>
          <p:cNvPr id="401" name="Google Shape;401;p29"/>
          <p:cNvPicPr preferRelativeResize="0"/>
          <p:nvPr/>
        </p:nvPicPr>
        <p:blipFill rotWithShape="1">
          <a:blip r:embed="rId4">
            <a:alphaModFix/>
          </a:blip>
          <a:srcRect b="0" l="0" r="0" t="0"/>
          <a:stretch/>
        </p:blipFill>
        <p:spPr>
          <a:xfrm>
            <a:off x="8054275" y="4027150"/>
            <a:ext cx="988350" cy="9883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47"/>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4. Locking register Register</a:t>
            </a:r>
            <a:endParaRPr/>
          </a:p>
        </p:txBody>
      </p:sp>
      <p:sp>
        <p:nvSpPr>
          <p:cNvPr id="407" name="Google Shape;407;p47"/>
          <p:cNvSpPr txBox="1"/>
          <p:nvPr>
            <p:ph idx="1" type="body"/>
          </p:nvPr>
        </p:nvSpPr>
        <p:spPr>
          <a:xfrm>
            <a:off x="311700" y="1029800"/>
            <a:ext cx="8520600" cy="330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 sz="1400">
                <a:solidFill>
                  <a:schemeClr val="accent1"/>
                </a:solidFill>
              </a:rPr>
              <a:t>GPIOx_LCKR:</a:t>
            </a:r>
            <a:r>
              <a:rPr b="1" lang="en">
                <a:solidFill>
                  <a:schemeClr val="accent1"/>
                </a:solidFill>
              </a:rPr>
              <a:t> </a:t>
            </a:r>
            <a:r>
              <a:rPr b="1" lang="en" sz="1400">
                <a:solidFill>
                  <a:schemeClr val="accent1"/>
                </a:solidFill>
              </a:rPr>
              <a:t>(x=A..H):</a:t>
            </a:r>
            <a:r>
              <a:rPr lang="en" sz="1200"/>
              <a:t> Using this register, you can freeze the GPIO configurations. Once you do the proper lock key write sequence, it will lock the GPIOx_MODER, GPIOx_OTYPER, GPIOx_OSPEEDR, GPIOx_PUPDR, GPIOx_AFRL, and GPIOx_AFRH registers.</a:t>
            </a:r>
            <a:endParaRPr/>
          </a:p>
          <a:p>
            <a:pPr indent="0" lvl="0" marL="0" rtl="0" algn="l">
              <a:lnSpc>
                <a:spcPct val="115000"/>
              </a:lnSpc>
              <a:spcBef>
                <a:spcPts val="0"/>
              </a:spcBef>
              <a:spcAft>
                <a:spcPts val="0"/>
              </a:spcAft>
              <a:buSzPts val="1800"/>
              <a:buNone/>
            </a:pPr>
            <a:r>
              <a:rPr lang="en" sz="1200"/>
              <a:t>Bits [15:0] – LCKy: Port Set Bit, (y = 0 … 15)</a:t>
            </a:r>
            <a:endParaRPr/>
          </a:p>
          <a:p>
            <a:pPr indent="-171450" lvl="0" marL="171450" rtl="0" algn="l">
              <a:lnSpc>
                <a:spcPct val="115000"/>
              </a:lnSpc>
              <a:spcBef>
                <a:spcPts val="0"/>
              </a:spcBef>
              <a:spcAft>
                <a:spcPts val="0"/>
              </a:spcAft>
              <a:buSzPts val="1800"/>
              <a:buChar char="●"/>
            </a:pPr>
            <a:r>
              <a:rPr b="1" lang="en" sz="1200"/>
              <a:t>0 – Port configuration is not locked</a:t>
            </a:r>
            <a:endParaRPr/>
          </a:p>
          <a:p>
            <a:pPr indent="-171450" lvl="0" marL="171450" rtl="0" algn="l">
              <a:lnSpc>
                <a:spcPct val="115000"/>
              </a:lnSpc>
              <a:spcBef>
                <a:spcPts val="0"/>
              </a:spcBef>
              <a:spcAft>
                <a:spcPts val="0"/>
              </a:spcAft>
              <a:buSzPts val="1800"/>
              <a:buChar char="●"/>
            </a:pPr>
            <a:r>
              <a:rPr b="1" lang="en" sz="1200"/>
              <a:t>1 – Port configuration is locked</a:t>
            </a:r>
            <a:endParaRPr/>
          </a:p>
          <a:p>
            <a:pPr indent="0" lvl="0" marL="0" rtl="0" algn="l">
              <a:lnSpc>
                <a:spcPct val="115000"/>
              </a:lnSpc>
              <a:spcBef>
                <a:spcPts val="0"/>
              </a:spcBef>
              <a:spcAft>
                <a:spcPts val="0"/>
              </a:spcAft>
              <a:buSzPts val="1800"/>
              <a:buNone/>
            </a:pPr>
            <a:r>
              <a:rPr lang="en" sz="1200"/>
              <a:t>Bits [16] – LCKK: Lock Key</a:t>
            </a:r>
            <a:endParaRPr/>
          </a:p>
          <a:p>
            <a:pPr indent="-171450" lvl="0" marL="171450" rtl="0" algn="l">
              <a:lnSpc>
                <a:spcPct val="115000"/>
              </a:lnSpc>
              <a:spcBef>
                <a:spcPts val="0"/>
              </a:spcBef>
              <a:spcAft>
                <a:spcPts val="0"/>
              </a:spcAft>
              <a:buSzPts val="1800"/>
              <a:buChar char="●"/>
            </a:pPr>
            <a:r>
              <a:rPr b="1" lang="en" sz="1200"/>
              <a:t>0 – Port configuration lock key is not active</a:t>
            </a:r>
            <a:endParaRPr/>
          </a:p>
          <a:p>
            <a:pPr indent="-171450" lvl="0" marL="171450" rtl="0" algn="l">
              <a:lnSpc>
                <a:spcPct val="115000"/>
              </a:lnSpc>
              <a:spcBef>
                <a:spcPts val="0"/>
              </a:spcBef>
              <a:spcAft>
                <a:spcPts val="0"/>
              </a:spcAft>
              <a:buSzPts val="1800"/>
              <a:buChar char="●"/>
            </a:pPr>
            <a:r>
              <a:rPr b="1" lang="en" sz="1200"/>
              <a:t>1 – Port configuration lock key is not active</a:t>
            </a:r>
            <a:endParaRPr b="1" sz="1200"/>
          </a:p>
        </p:txBody>
      </p:sp>
      <p:pic>
        <p:nvPicPr>
          <p:cNvPr id="408" name="Google Shape;408;p47"/>
          <p:cNvPicPr preferRelativeResize="0"/>
          <p:nvPr/>
        </p:nvPicPr>
        <p:blipFill rotWithShape="1">
          <a:blip r:embed="rId3">
            <a:alphaModFix/>
          </a:blip>
          <a:srcRect b="0" l="0" r="0" t="0"/>
          <a:stretch/>
        </p:blipFill>
        <p:spPr>
          <a:xfrm>
            <a:off x="8054275" y="4027150"/>
            <a:ext cx="988350" cy="988350"/>
          </a:xfrm>
          <a:prstGeom prst="rect">
            <a:avLst/>
          </a:prstGeom>
          <a:noFill/>
          <a:ln>
            <a:noFill/>
          </a:ln>
        </p:spPr>
      </p:pic>
      <p:pic>
        <p:nvPicPr>
          <p:cNvPr descr="Step-by-Step STM32 GPIO Tutorial | Bare Metal Programming" id="409" name="Google Shape;409;p47"/>
          <p:cNvPicPr preferRelativeResize="0"/>
          <p:nvPr/>
        </p:nvPicPr>
        <p:blipFill rotWithShape="1">
          <a:blip r:embed="rId4">
            <a:alphaModFix/>
          </a:blip>
          <a:srcRect b="26138" l="0" r="0" t="0"/>
          <a:stretch/>
        </p:blipFill>
        <p:spPr>
          <a:xfrm>
            <a:off x="368934" y="3482341"/>
            <a:ext cx="7378701" cy="126491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48"/>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5. Alternate function selection Register</a:t>
            </a:r>
            <a:endParaRPr/>
          </a:p>
        </p:txBody>
      </p:sp>
      <p:pic>
        <p:nvPicPr>
          <p:cNvPr id="415" name="Google Shape;415;p48"/>
          <p:cNvPicPr preferRelativeResize="0"/>
          <p:nvPr/>
        </p:nvPicPr>
        <p:blipFill rotWithShape="1">
          <a:blip r:embed="rId3">
            <a:alphaModFix/>
          </a:blip>
          <a:srcRect b="0" l="0" r="0" t="0"/>
          <a:stretch/>
        </p:blipFill>
        <p:spPr>
          <a:xfrm>
            <a:off x="8054275" y="4027150"/>
            <a:ext cx="988350" cy="988350"/>
          </a:xfrm>
          <a:prstGeom prst="rect">
            <a:avLst/>
          </a:prstGeom>
          <a:noFill/>
          <a:ln>
            <a:noFill/>
          </a:ln>
        </p:spPr>
      </p:pic>
      <p:sp>
        <p:nvSpPr>
          <p:cNvPr id="416" name="Google Shape;416;p48"/>
          <p:cNvSpPr txBox="1"/>
          <p:nvPr>
            <p:ph idx="1" type="body"/>
          </p:nvPr>
        </p:nvSpPr>
        <p:spPr>
          <a:xfrm>
            <a:off x="311700" y="881525"/>
            <a:ext cx="8520600" cy="4403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t/>
            </a:r>
            <a:endParaRPr b="1" sz="1400">
              <a:solidFill>
                <a:schemeClr val="accent1"/>
              </a:solidFill>
            </a:endParaRPr>
          </a:p>
          <a:p>
            <a:pPr indent="0" lvl="0" marL="0" rtl="0" algn="l">
              <a:lnSpc>
                <a:spcPct val="115000"/>
              </a:lnSpc>
              <a:spcBef>
                <a:spcPts val="0"/>
              </a:spcBef>
              <a:spcAft>
                <a:spcPts val="0"/>
              </a:spcAft>
              <a:buSzPts val="1800"/>
              <a:buNone/>
            </a:pPr>
            <a:r>
              <a:rPr b="1" lang="en" sz="1400">
                <a:solidFill>
                  <a:schemeClr val="accent1"/>
                </a:solidFill>
              </a:rPr>
              <a:t>GPIOx_AFRL: (x=A..H) , GPIOx_AFRH: (x=A..H):</a:t>
            </a:r>
            <a:r>
              <a:rPr lang="en" sz="1400"/>
              <a:t> Each GPIO pin has around sixteen alternative functions like SPI, I2C, UART, etc. So we can tell the STM32 to use our required functions.</a:t>
            </a:r>
            <a:endParaRPr sz="1400"/>
          </a:p>
          <a:p>
            <a:pPr indent="-171450" lvl="0" marL="171450" rtl="0" algn="l">
              <a:lnSpc>
                <a:spcPct val="115000"/>
              </a:lnSpc>
              <a:spcBef>
                <a:spcPts val="0"/>
              </a:spcBef>
              <a:spcAft>
                <a:spcPts val="0"/>
              </a:spcAft>
              <a:buSzPts val="1800"/>
              <a:buChar char="●"/>
            </a:pPr>
            <a:r>
              <a:rPr b="1" lang="en" sz="1400"/>
              <a:t>GPIOx_AFRL</a:t>
            </a:r>
            <a:r>
              <a:rPr lang="en" sz="1400"/>
              <a:t> 32-bit register is grouped by 4 bits. So This GPIOx_AFRL register is used to select the alternate functions of Pin 0 to Pin 7</a:t>
            </a:r>
            <a:endParaRPr/>
          </a:p>
          <a:p>
            <a:pPr indent="-171450" lvl="0" marL="171450" rtl="0" algn="l">
              <a:lnSpc>
                <a:spcPct val="115000"/>
              </a:lnSpc>
              <a:spcBef>
                <a:spcPts val="0"/>
              </a:spcBef>
              <a:spcAft>
                <a:spcPts val="0"/>
              </a:spcAft>
              <a:buSzPts val="1800"/>
              <a:buChar char="●"/>
            </a:pPr>
            <a:r>
              <a:rPr b="1" lang="en" sz="1400"/>
              <a:t>GPIOx_AFRH</a:t>
            </a:r>
            <a:r>
              <a:rPr lang="en" sz="1400"/>
              <a:t> 32-bit register is also grouped by 4 bits. So This GPIOx_AFRH register is used to select the alternate functions of Pin 8 to Pin 15</a:t>
            </a:r>
            <a:endParaRPr/>
          </a:p>
          <a:p>
            <a:pPr indent="-171450" lvl="0" marL="285750" rtl="0" algn="l">
              <a:lnSpc>
                <a:spcPct val="115000"/>
              </a:lnSpc>
              <a:spcBef>
                <a:spcPts val="0"/>
              </a:spcBef>
              <a:spcAft>
                <a:spcPts val="0"/>
              </a:spcAft>
              <a:buSzPts val="1800"/>
              <a:buNone/>
            </a:pPr>
            <a:r>
              <a:t/>
            </a:r>
            <a:endParaRPr sz="1200"/>
          </a:p>
          <a:p>
            <a:pPr indent="-285750" lvl="0" marL="285750" rtl="0" algn="l">
              <a:lnSpc>
                <a:spcPct val="115000"/>
              </a:lnSpc>
              <a:spcBef>
                <a:spcPts val="0"/>
              </a:spcBef>
              <a:spcAft>
                <a:spcPts val="0"/>
              </a:spcAft>
              <a:buSzPts val="1800"/>
              <a:buChar char="●"/>
            </a:pPr>
            <a:r>
              <a:rPr lang="en" sz="1200"/>
              <a:t>0000: AF0 (Alternate Function 0)</a:t>
            </a:r>
            <a:endParaRPr/>
          </a:p>
          <a:p>
            <a:pPr indent="-285750" lvl="0" marL="285750" rtl="0" algn="l">
              <a:lnSpc>
                <a:spcPct val="115000"/>
              </a:lnSpc>
              <a:spcBef>
                <a:spcPts val="0"/>
              </a:spcBef>
              <a:spcAft>
                <a:spcPts val="0"/>
              </a:spcAft>
              <a:buSzPts val="1800"/>
              <a:buChar char="●"/>
            </a:pPr>
            <a:r>
              <a:rPr lang="en" sz="1200"/>
              <a:t>0001: AF1 (Alternate Function 1)</a:t>
            </a:r>
            <a:endParaRPr/>
          </a:p>
          <a:p>
            <a:pPr indent="-285750" lvl="0" marL="285750" rtl="0" algn="l">
              <a:lnSpc>
                <a:spcPct val="115000"/>
              </a:lnSpc>
              <a:spcBef>
                <a:spcPts val="0"/>
              </a:spcBef>
              <a:spcAft>
                <a:spcPts val="0"/>
              </a:spcAft>
              <a:buSzPts val="1800"/>
              <a:buChar char="●"/>
            </a:pPr>
            <a:r>
              <a:rPr lang="en" sz="1200"/>
              <a:t>0010: AF2 (Alternate Function 2)</a:t>
            </a:r>
            <a:endParaRPr/>
          </a:p>
          <a:p>
            <a:pPr indent="-285750" lvl="0" marL="285750" rtl="0" algn="l">
              <a:lnSpc>
                <a:spcPct val="115000"/>
              </a:lnSpc>
              <a:spcBef>
                <a:spcPts val="0"/>
              </a:spcBef>
              <a:spcAft>
                <a:spcPts val="0"/>
              </a:spcAft>
              <a:buSzPts val="1800"/>
              <a:buChar char="●"/>
            </a:pPr>
            <a:r>
              <a:rPr lang="en" sz="1200"/>
              <a:t>0011: AF3 (Alternate Function 3)</a:t>
            </a:r>
            <a:endParaRPr/>
          </a:p>
          <a:p>
            <a:pPr indent="0" lvl="0" marL="457200" rtl="0" algn="l">
              <a:lnSpc>
                <a:spcPct val="115000"/>
              </a:lnSpc>
              <a:spcBef>
                <a:spcPts val="0"/>
              </a:spcBef>
              <a:spcAft>
                <a:spcPts val="0"/>
              </a:spcAft>
              <a:buSzPts val="1800"/>
              <a:buNone/>
            </a:pPr>
            <a:r>
              <a:rPr lang="en"/>
              <a:t>……..</a:t>
            </a:r>
            <a:endParaRPr/>
          </a:p>
          <a:p>
            <a:pPr indent="-285750" lvl="0" marL="285750" rtl="0" algn="l">
              <a:lnSpc>
                <a:spcPct val="115000"/>
              </a:lnSpc>
              <a:spcBef>
                <a:spcPts val="0"/>
              </a:spcBef>
              <a:spcAft>
                <a:spcPts val="0"/>
              </a:spcAft>
              <a:buSzPts val="1800"/>
              <a:buChar char="●"/>
            </a:pPr>
            <a:r>
              <a:rPr lang="en" sz="1200"/>
              <a:t>1</a:t>
            </a:r>
            <a:r>
              <a:rPr lang="en" sz="1200"/>
              <a:t>111: AF15 (Alternate Function 15)</a:t>
            </a:r>
            <a:endParaRPr/>
          </a:p>
        </p:txBody>
      </p:sp>
      <p:pic>
        <p:nvPicPr>
          <p:cNvPr descr="GPIOx_AFRL Alternate Function Register" id="417" name="Google Shape;417;p48"/>
          <p:cNvPicPr preferRelativeResize="0"/>
          <p:nvPr/>
        </p:nvPicPr>
        <p:blipFill rotWithShape="1">
          <a:blip r:embed="rId4">
            <a:alphaModFix/>
          </a:blip>
          <a:srcRect b="25741" l="0" r="0" t="0"/>
          <a:stretch/>
        </p:blipFill>
        <p:spPr>
          <a:xfrm>
            <a:off x="3394075" y="2865757"/>
            <a:ext cx="5486400" cy="967104"/>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352"/>
              </a:srgbClr>
            </a:outerShdw>
          </a:effectLst>
        </p:spPr>
      </p:pic>
      <p:pic>
        <p:nvPicPr>
          <p:cNvPr descr="GPIOx_AFRH register" id="418" name="Google Shape;418;p48"/>
          <p:cNvPicPr preferRelativeResize="0"/>
          <p:nvPr/>
        </p:nvPicPr>
        <p:blipFill rotWithShape="1">
          <a:blip r:embed="rId5">
            <a:alphaModFix/>
          </a:blip>
          <a:srcRect b="27256" l="0" r="0" t="0"/>
          <a:stretch/>
        </p:blipFill>
        <p:spPr>
          <a:xfrm>
            <a:off x="3394075" y="4061142"/>
            <a:ext cx="5486400" cy="914718"/>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352"/>
              </a:srgbClr>
            </a:outerShdw>
          </a:effectLst>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pic>
        <p:nvPicPr>
          <p:cNvPr id="423" name="Google Shape;423;p49"/>
          <p:cNvPicPr preferRelativeResize="0"/>
          <p:nvPr/>
        </p:nvPicPr>
        <p:blipFill rotWithShape="1">
          <a:blip r:embed="rId3">
            <a:alphaModFix/>
          </a:blip>
          <a:srcRect b="0" l="0" r="0" t="0"/>
          <a:stretch/>
        </p:blipFill>
        <p:spPr>
          <a:xfrm>
            <a:off x="-1" y="193160"/>
            <a:ext cx="9040035" cy="4828419"/>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30"/>
          <p:cNvSpPr txBox="1"/>
          <p:nvPr>
            <p:ph type="title"/>
          </p:nvPr>
        </p:nvSpPr>
        <p:spPr>
          <a:xfrm>
            <a:off x="277900" y="2120350"/>
            <a:ext cx="8520600" cy="707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990"/>
              <a:buNone/>
            </a:pPr>
            <a:r>
              <a:rPr lang="en" sz="4640"/>
              <a:t>THANK YOU!</a:t>
            </a:r>
            <a:endParaRPr sz="4640"/>
          </a:p>
        </p:txBody>
      </p:sp>
      <p:pic>
        <p:nvPicPr>
          <p:cNvPr id="429" name="Google Shape;429;p30"/>
          <p:cNvPicPr preferRelativeResize="0"/>
          <p:nvPr/>
        </p:nvPicPr>
        <p:blipFill rotWithShape="1">
          <a:blip r:embed="rId3">
            <a:alphaModFix/>
          </a:blip>
          <a:srcRect b="0" l="0" r="0" t="0"/>
          <a:stretch/>
        </p:blipFill>
        <p:spPr>
          <a:xfrm>
            <a:off x="8054275" y="4027150"/>
            <a:ext cx="988350" cy="9883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HP</dc:creator>
</cp:coreProperties>
</file>